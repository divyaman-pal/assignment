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457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6B6D4"/>
                </a:solidFill>
                <a:latin typeface="Calibri"/>
              </a:rPr>
              <a:t>PRODUCT CASE STUDY  ·  3-DAY USAGE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206240" cy="20116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Aise  ·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AI Coach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42062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1">
                <a:solidFill>
                  <a:srgbClr val="CBD5E1"/>
                </a:solidFill>
                <a:latin typeface="Calibri"/>
              </a:rPr>
              <a:t>From AI tool → Relationship 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" y="4434840"/>
            <a:ext cx="182880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572000"/>
            <a:ext cx="4206240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CBD5E1"/>
                </a:solidFill>
                <a:latin typeface="Calibri"/>
              </a:rPr>
              <a:t>5 critical product gaps identified · 5 solutions designed · competitive benchmark across 8 platforms · 2-week execution roadmap to lift D7 retention from 10% → 32%.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64748B"/>
                </a:solidFill>
                <a:latin typeface="Calibri"/>
              </a:rPr>
              <a:t>Confidential  ·  v1.0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50292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APP UNDER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777240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com.vel.aise.app  ·  Google Play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0" y="1325880"/>
            <a:ext cx="62179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0" y="150876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64748B"/>
                </a:solidFill>
                <a:latin typeface="Calibri"/>
              </a:rPr>
              <a:t>PREPARED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783080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 i="0">
                <a:solidFill>
                  <a:srgbClr val="0B2545"/>
                </a:solidFill>
                <a:latin typeface="Calibri"/>
              </a:rPr>
              <a:t>DIVYAMAN PAL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28600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B.Tech, Civil Engineering  ·  IIT Kanpur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606040"/>
            <a:ext cx="64008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1">
                <a:solidFill>
                  <a:srgbClr val="2563EB"/>
                </a:solidFill>
                <a:latin typeface="Calibri"/>
              </a:rPr>
              <a:t>divyamp23@iitk.ac.in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0" y="3017520"/>
            <a:ext cx="621792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0" y="3246120"/>
            <a:ext cx="621792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3246120"/>
            <a:ext cx="91440" cy="2103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337560"/>
            <a:ext cx="60350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6B6D4"/>
                </a:solidFill>
                <a:latin typeface="Calibri"/>
              </a:rPr>
              <a:t>THE THESIS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657600"/>
            <a:ext cx="6035040" cy="1645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F172A"/>
                </a:solidFill>
                <a:latin typeface="Calibri"/>
              </a:rPr>
              <a:t>Aise feels like a chatbot, not a coach. Voice is robotic, conversations have no memory, the AI has no personality, and there's no learning loop. Five fixes — built in 14 days — convert it from a tool to a relationship system: 3× D7 retention, 4× session length, real moat in the India market.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5577840"/>
            <a:ext cx="1188720" cy="41148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5577840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01  VOICE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43700" y="5577840"/>
            <a:ext cx="1188720" cy="41148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43700" y="5577840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  MEMORY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1000" y="5577840"/>
            <a:ext cx="1188720" cy="41148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5577840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03  PERSONA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58300" y="5577840"/>
            <a:ext cx="1188720" cy="411480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8300" y="5577840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 FEEDBACK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515600" y="5577840"/>
            <a:ext cx="1188720" cy="41148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0" y="5577840"/>
            <a:ext cx="1188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05  EXPERIMENT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6080760"/>
            <a:ext cx="6217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64748B"/>
                </a:solidFill>
                <a:latin typeface="Calibri"/>
              </a:rPr>
              <a:t>5 IDENTIFIED GAPS  ·  5 PROPOSED SOLUTIONS  ·  15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5 product gaps cap Aise's D7 retention at ~10% — fixing them in 14 days lifts retention to 32% (3×) and conversation length 4×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3759098" cy="2697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1188720"/>
            <a:ext cx="3759098" cy="36576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1188720"/>
            <a:ext cx="375909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01 · OBSERVATION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4592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1">
                <a:solidFill>
                  <a:srgbClr val="EF4444"/>
                </a:solidFill>
                <a:latin typeface="Calibri"/>
              </a:rPr>
              <a:t>What 3 days of use revealed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Voice = robotic, ~2.2s latency (3× peer benchmark)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Conversations restart from zero every session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AI says "As an AI..." — feels generic, not a coach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No way to thumbs-up or rate any response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No visible improvement / personalization over 3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66160"/>
            <a:ext cx="3393338" cy="237744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66160"/>
            <a:ext cx="3393338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5 STRUCTURAL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16298" y="1188720"/>
            <a:ext cx="3759098" cy="2697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16298" y="1188720"/>
            <a:ext cx="3759098" cy="36576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6298" y="1188720"/>
            <a:ext cx="375909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02 · COMPETITIVE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9178" y="164592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1">
                <a:solidFill>
                  <a:srgbClr val="F59E0B"/>
                </a:solidFill>
                <a:latin typeface="Calibri"/>
              </a:rPr>
              <a:t>Where peers already 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9178" y="196596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Sesame/Pi: &lt;600ms voice latency, emotion-aware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Replika: deep long-term memory · custom persona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Character.AI: per-character persona depth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ChatGPT Voice: thumbs-up + memory feature live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Aise has no defensible moat outside India context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99178" y="3566160"/>
            <a:ext cx="3393338" cy="237744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99178" y="3566160"/>
            <a:ext cx="3393338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AISE LAGS ON 5/6 DIMS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8276" y="1188720"/>
            <a:ext cx="3759098" cy="2697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58276" y="1188720"/>
            <a:ext cx="3759098" cy="36576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8276" y="1188720"/>
            <a:ext cx="3759098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03 · OPPORTUNITY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1156" y="1645920"/>
            <a:ext cx="3393338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1">
                <a:solidFill>
                  <a:srgbClr val="10B981"/>
                </a:solidFill>
                <a:latin typeface="Calibri"/>
              </a:rPr>
              <a:t>Sequenced 14-day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1156" y="1965960"/>
            <a:ext cx="3393338" cy="1691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L1 · Memory layer (highest D7 impact)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L2 · Voice naturalness (immersion + WOM)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L3 · Persona engine (vs generic AI feel)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L4 · Feedback loop (continuous quality)</a:t>
            </a:r>
          </a:p>
          <a:p>
            <a:pPr algn="l">
              <a:lnSpc>
                <a:spcPct val="145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•  L5 · A/B experimentation (rapid iteration)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41156" y="3566160"/>
            <a:ext cx="3393338" cy="237744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41156" y="3566160"/>
            <a:ext cx="3393338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RELATIONSHIP &gt; TOOL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4069080"/>
            <a:ext cx="3931920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114800"/>
            <a:ext cx="37947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THE PRIZE  ·  POST-INTERVENTION KPIS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480560"/>
            <a:ext cx="1874519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480560"/>
            <a:ext cx="54864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480560"/>
            <a:ext cx="86868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3×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480560"/>
            <a:ext cx="868679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D7 retention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85999" y="4480560"/>
            <a:ext cx="1874519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5999" y="4480560"/>
            <a:ext cx="54864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23159" y="4480560"/>
            <a:ext cx="86868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2563EB"/>
                </a:solidFill>
                <a:latin typeface="Calibri"/>
              </a:rPr>
              <a:t>4×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19" y="4480560"/>
            <a:ext cx="868679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Avg session length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5111496"/>
            <a:ext cx="1874519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5111496"/>
            <a:ext cx="54864" cy="594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111496"/>
            <a:ext cx="86868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6B6D4"/>
                </a:solidFill>
                <a:latin typeface="Calibri"/>
              </a:rPr>
              <a:t>3×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5111496"/>
            <a:ext cx="868679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Voice session duration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285999" y="5111496"/>
            <a:ext cx="1874519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5999" y="5111496"/>
            <a:ext cx="54864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423159" y="5111496"/>
            <a:ext cx="86868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7C3AED"/>
                </a:solidFill>
                <a:latin typeface="Calibri"/>
              </a:rPr>
              <a:t>&lt;800ms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46119" y="5111496"/>
            <a:ext cx="868679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Voice first-token latency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5760" y="5742432"/>
            <a:ext cx="1874519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5742432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742432"/>
            <a:ext cx="86868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+50pts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5880" y="5742432"/>
            <a:ext cx="868679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NPS  ·  satisfaction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285999" y="5742432"/>
            <a:ext cx="1874519" cy="5943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85999" y="5742432"/>
            <a:ext cx="54864" cy="59436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23159" y="5742432"/>
            <a:ext cx="86868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14 days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46119" y="5742432"/>
            <a:ext cx="868679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To ship MVP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43400" y="4069080"/>
            <a:ext cx="7589520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80560" y="4114800"/>
            <a:ext cx="74523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D0-D30 RETENTION  ·  CURRENT VS POST-INTERVENTION TARGET</a:t>
            </a:r>
          </a:p>
        </p:txBody>
      </p:sp>
      <p:pic>
        <p:nvPicPr>
          <p:cNvPr id="59" name="Picture 58" descr="retention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434840"/>
            <a:ext cx="7315200" cy="2011680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3-day usage on Pixel 7 · benchmarks: Sesame demo (Mar 2024), Pi product, Replika public, Character.AI app, ChatGPT Voice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3 days · 12 sessions · ~90 min total — sufficient to surface structural product gaps that no marketing can mask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576072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5623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THE APP  ·  AISE  ·  COM.VEL.AISE.APP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91640"/>
            <a:ext cx="548640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691640"/>
            <a:ext cx="5486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91640"/>
            <a:ext cx="13716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2563EB"/>
                </a:solidFill>
                <a:latin typeface="Calibri"/>
              </a:rP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691640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AI conversational coach with voice + chat-based characters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2139696"/>
            <a:ext cx="548640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139696"/>
            <a:ext cx="54864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139696"/>
            <a:ext cx="13716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6B6D4"/>
                </a:solidFill>
                <a:latin typeface="Calibri"/>
              </a:rPr>
              <a:t>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139696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Multiple AI personas users talk to via voice or 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2587752"/>
            <a:ext cx="548640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2587752"/>
            <a:ext cx="54864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587752"/>
            <a:ext cx="13716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C3AED"/>
                </a:solidFill>
                <a:latin typeface="Calibri"/>
              </a:rPr>
              <a:t>PROMISE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587752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On-demand coaching for personal growth, mental wellness, focus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035808"/>
            <a:ext cx="548640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3035808"/>
            <a:ext cx="54864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35808"/>
            <a:ext cx="13716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0B981"/>
                </a:solidFill>
                <a:latin typeface="Calibri"/>
              </a:rPr>
              <a:t>FORMAT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3035808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Voice call mode + text chat mode · session-based interactions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3483864"/>
            <a:ext cx="548640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483864"/>
            <a:ext cx="54864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483864"/>
            <a:ext cx="13716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59E0B"/>
                </a:solidFill>
                <a:latin typeface="Calibri"/>
              </a:rPr>
              <a:t>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3483864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Freemium · ad-supported / paid upgrade path (assumed)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3931920"/>
            <a:ext cx="548640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3931920"/>
            <a:ext cx="54864" cy="4114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3931920"/>
            <a:ext cx="13716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MARKET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931920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India-focused branding · likely tier 2/3 + young professionals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4379976"/>
            <a:ext cx="548640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4379976"/>
            <a:ext cx="54864" cy="4114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379976"/>
            <a:ext cx="13716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334155"/>
                </a:solidFill>
                <a:latin typeface="Calibri"/>
              </a:rPr>
              <a:t>PRICING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4379976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Free with paid tier (visible)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4828032"/>
            <a:ext cx="548640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1480" y="4828032"/>
            <a:ext cx="54864" cy="4114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828032"/>
            <a:ext cx="13716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334155"/>
                </a:solidFill>
                <a:latin typeface="Calibri"/>
              </a:rPr>
              <a:t>DOWNLOADS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11680" y="4828032"/>
            <a:ext cx="384048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0F172A"/>
                </a:solidFill>
                <a:latin typeface="Calibri"/>
              </a:rPr>
              <a:t>Active install base on Google Play (India)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1188720"/>
            <a:ext cx="576072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1234440"/>
            <a:ext cx="5623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3-DAY USAGE LOG  ·  WHAT I OBSERVED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1691640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309360" y="1691640"/>
            <a:ext cx="54864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46520" y="1810512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1810512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173736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2563EB"/>
                </a:solidFill>
                <a:latin typeface="Calibri"/>
              </a:rPr>
              <a:t>Onboarding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1938528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Picked a coach. Voice felt synthetic from word 1. Tried voice + text modes.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09360" y="2231136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9360" y="2231136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46520" y="2350008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2350008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2276856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F59E0B"/>
                </a:solidFill>
                <a:latin typeface="Calibri"/>
              </a:rPr>
              <a:t>Conversation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0" y="2478024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Asked about career goal. Got generic motivational reply ("Work hard..."). Closed.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309360" y="2770632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09360" y="2770632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446520" y="2889504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2889504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0" y="2816352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EF4444"/>
                </a:solidFill>
                <a:latin typeface="Calibri"/>
              </a:rPr>
              <a:t>Re-open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0" y="301752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Coach didn't remember Day 1 goal. Had to re-introduce myself entirely.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309360" y="3310128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309360" y="3310128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446520" y="3429000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46520" y="3429000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32320" y="3355848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EF4444"/>
                </a:solidFill>
                <a:latin typeface="Calibri"/>
              </a:rPr>
              <a:t>Voice mode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32320" y="3557016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Tried voice 3 times. Latency ~2 seconds before AI starts. Loses conversational feel.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09360" y="3849624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09360" y="3849624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446520" y="3968496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46520" y="3968496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32320" y="3895344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F59E0B"/>
                </a:solidFill>
                <a:latin typeface="Calibri"/>
              </a:rPr>
              <a:t>Persona check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0" y="4096512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Same coach felt mood-flat across topics. No tonal adaptation when I sounded sad.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309360" y="4389120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09360" y="4389120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446520" y="4507992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46520" y="4507992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32320" y="443484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F59E0B"/>
                </a:solidFill>
                <a:latin typeface="Calibri"/>
              </a:rPr>
              <a:t>Feedback search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2320" y="4636008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Looked for thumbs-up / rating button. None visible after responses.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09360" y="4928616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309360" y="4928616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446520" y="5047488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46520" y="5047488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DAY 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132320" y="4974336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EF4444"/>
                </a:solidFill>
                <a:latin typeface="Calibri"/>
              </a:rPr>
              <a:t>Final session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32320" y="5175504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By session 12, I felt like talking to a script. Closed app.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309360" y="5468112"/>
            <a:ext cx="5486400" cy="502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09360" y="5468112"/>
            <a:ext cx="54864" cy="5029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446520" y="5586984"/>
            <a:ext cx="594360" cy="256032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46520" y="5586984"/>
            <a:ext cx="59436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VERDICT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132320" y="5513832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Verdict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32320" y="5715000"/>
            <a:ext cx="45720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Strong India-focus + clean UI + good intent. But no relationship layer = no D7.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Personal usage log · 3 days × 4 sessions/day · Pixel 7 Android · Voice + chat modes both tested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DIAGNOSIS  ·  5 GAPS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5 critical gaps span the AI stack — from voice (hearing) to memory (continuity) to feedback (learning)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2255459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86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1188720"/>
            <a:ext cx="2255459" cy="50292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280160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234440"/>
            <a:ext cx="15696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VOICE</a:t>
            </a:r>
          </a:p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UNNATURAL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1783080"/>
            <a:ext cx="2255459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 i="0">
                <a:solidFill>
                  <a:srgbClr val="EF4444"/>
                </a:solidFill>
                <a:latin typeface="Calibri"/>
              </a:rPr>
              <a:t>🎙️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6249" y="2606040"/>
            <a:ext cx="1371600" cy="27432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6249" y="2606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971800"/>
            <a:ext cx="1981139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1">
                <a:solidFill>
                  <a:srgbClr val="334155"/>
                </a:solidFill>
                <a:latin typeface="Calibri"/>
              </a:rPr>
              <a:t>Robotic TTS · 2.2s latency · no emotion · no fillers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11880"/>
            <a:ext cx="1981139" cy="2514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03320"/>
            <a:ext cx="1798259" cy="2331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Voice feels synthetic from sec 1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First-token latency ~2,200ms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Same prosody every sentence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No natural pauses or hesitations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21219" y="1188720"/>
            <a:ext cx="2255459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8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21219" y="1188720"/>
            <a:ext cx="2255459" cy="50292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2659" y="1280160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5579" y="1234440"/>
            <a:ext cx="15696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NO MEMORY</a:t>
            </a:r>
          </a:p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ACROSS SESSIONS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1219" y="1783080"/>
            <a:ext cx="2255459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 i="0">
                <a:solidFill>
                  <a:srgbClr val="F59E0B"/>
                </a:solidFill>
                <a:latin typeface="Calibri"/>
              </a:rPr>
              <a:t>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148" y="2606040"/>
            <a:ext cx="137160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63148" y="2606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58379" y="2971800"/>
            <a:ext cx="1981139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1">
                <a:solidFill>
                  <a:srgbClr val="334155"/>
                </a:solidFill>
                <a:latin typeface="Calibri"/>
              </a:rPr>
              <a:t>Every conversation starts from scratch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58379" y="3611880"/>
            <a:ext cx="1981139" cy="2514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49819" y="3703320"/>
            <a:ext cx="1798259" cy="2331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Coach forgot Day-1 goal on Day-2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Re-introduction every session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No persistence of preferences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No goal tracking between sessions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68118" y="1188720"/>
            <a:ext cx="2255459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968118" y="1188720"/>
            <a:ext cx="2255459" cy="50292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9558" y="1280160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62478" y="1234440"/>
            <a:ext cx="15696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GENERIC AI</a:t>
            </a:r>
          </a:p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PERSONA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8118" y="1783080"/>
            <a:ext cx="2255459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 i="0">
                <a:solidFill>
                  <a:srgbClr val="7C3AED"/>
                </a:solidFill>
                <a:latin typeface="Calibri"/>
              </a:rPr>
              <a:t>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10047" y="2606040"/>
            <a:ext cx="1371600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10047" y="2606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05278" y="2971800"/>
            <a:ext cx="1981139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1">
                <a:solidFill>
                  <a:srgbClr val="334155"/>
                </a:solidFill>
                <a:latin typeface="Calibri"/>
              </a:rPr>
              <a:t>Says "As an AI..." · same tone for all topics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05278" y="3611880"/>
            <a:ext cx="1981139" cy="2514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96718" y="3703320"/>
            <a:ext cx="1798259" cy="2331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No distinct character voice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Tone flat across moods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Falls back to GPT-style platitudes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Brand voice indistinguishable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017" y="1188720"/>
            <a:ext cx="2255459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5017" y="1188720"/>
            <a:ext cx="2255459" cy="502920"/>
          </a:xfrm>
          <a:prstGeom prst="roundRect">
            <a:avLst>
              <a:gd name="adj" fmla="val 4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457" y="1280160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377" y="1234440"/>
            <a:ext cx="15696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NO FEEDBACK</a:t>
            </a:r>
          </a:p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017" y="1783080"/>
            <a:ext cx="2255459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 i="0">
                <a:solidFill>
                  <a:srgbClr val="06B6D4"/>
                </a:solidFill>
                <a:latin typeface="Calibri"/>
              </a:rPr>
              <a:t>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56946" y="2606040"/>
            <a:ext cx="1371600" cy="274320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56946" y="2606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2177" y="2971800"/>
            <a:ext cx="1981139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1">
                <a:solidFill>
                  <a:srgbClr val="334155"/>
                </a:solidFill>
                <a:latin typeface="Calibri"/>
              </a:rPr>
              <a:t>No thumbs · no ratings · no signals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2177" y="3611880"/>
            <a:ext cx="1981139" cy="2514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43617" y="3703320"/>
            <a:ext cx="1798259" cy="2331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Cannot rate any response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No end-of-session pulse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Drop-offs invisible to PM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Quality regression undetectable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661916" y="1188720"/>
            <a:ext cx="2255459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86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661916" y="1188720"/>
            <a:ext cx="2255459" cy="50292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53356" y="1280160"/>
            <a:ext cx="50292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56276" y="1234440"/>
            <a:ext cx="1569659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NO</a:t>
            </a:r>
          </a:p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EXPERIMENTATION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61916" y="1783080"/>
            <a:ext cx="2255459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4400" b="0" i="0">
                <a:solidFill>
                  <a:srgbClr val="10B981"/>
                </a:solidFill>
                <a:latin typeface="Calibri"/>
              </a:rPr>
              <a:t>🔬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103845" y="2606040"/>
            <a:ext cx="1371600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03845" y="260604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99076" y="2971800"/>
            <a:ext cx="1981139" cy="594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850" b="0" i="1">
                <a:solidFill>
                  <a:srgbClr val="334155"/>
                </a:solidFill>
                <a:latin typeface="Calibri"/>
              </a:rPr>
              <a:t>No A/B harness · no prompt versioning · slow iteration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799076" y="3611880"/>
            <a:ext cx="1981139" cy="2514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90516" y="3703320"/>
            <a:ext cx="1798259" cy="2331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No prompt versioning visible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Slow learn-cycle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No metrics dashboard surfaced</a:t>
            </a:r>
          </a:p>
          <a:p>
            <a:pPr algn="l">
              <a:lnSpc>
                <a:spcPct val="145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•  Cannot test new personas safely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Inferred from 3-day in-app testing · severity scored on user-impact × frequency-of-occurrence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Aise leads on India-context (1 of 6 dims) — but lags on every other dimension peers have already shipped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68580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6720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PRODUCT-DIMENSION HEAT MAP  ·  AISE VS 7 PEERS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45920"/>
            <a:ext cx="6309360" cy="36576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4592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6459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VOICE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6459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6459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PERSONA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6459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16459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EXPER.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64592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INDIA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011680"/>
            <a:ext cx="6309360" cy="36576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01168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EF4444"/>
                </a:solidFill>
                <a:latin typeface="Calibri"/>
              </a:rPr>
              <a:t>Aise (current)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8840" y="207568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20116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71800" y="207568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20116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207568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20116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17720" y="207568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20116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0680" y="207568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20116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2075688"/>
            <a:ext cx="3200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201168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2377440"/>
            <a:ext cx="630936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237744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Replika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48840" y="244144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1680" y="23774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71800" y="244144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834640" y="23774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94760" y="244144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0" y="23774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17720" y="244144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23774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244144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23774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2441448"/>
            <a:ext cx="320040" cy="237744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26480" y="237744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2743200"/>
            <a:ext cx="63093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274320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Pi (Inflection)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148840" y="280720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11680" y="27432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71800" y="280720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34640" y="27432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794760" y="280720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0" y="27432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617720" y="280720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27432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40680" y="280720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0" y="27432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3640" y="2807208"/>
            <a:ext cx="320040" cy="237744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26480" y="274320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1480" y="3108960"/>
            <a:ext cx="630936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310896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Character.AI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148840" y="317296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11680" y="310896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971800" y="317296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4640" y="310896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794760" y="317296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600" y="310896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17720" y="317296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0560" y="310896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40680" y="317296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03520" y="310896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263640" y="3172968"/>
            <a:ext cx="320040" cy="237744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26480" y="310896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3474720"/>
            <a:ext cx="63093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347472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Sesame AI (Maya)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148840" y="353872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11680" y="34747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971800" y="353872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0" y="34747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794760" y="353872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657600" y="34747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617720" y="353872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480560" y="34747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5440680" y="353872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03520" y="347472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63640" y="3538728"/>
            <a:ext cx="320040" cy="237744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0" y="347472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3840480"/>
            <a:ext cx="630936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920" y="384048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ChatGPT Voice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148840" y="390448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11680" y="38404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71800" y="390448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834640" y="38404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794760" y="390448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657600" y="38404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617720" y="390448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480560" y="38404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440680" y="390448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303520" y="384048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263640" y="3904488"/>
            <a:ext cx="320040" cy="237744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126480" y="384048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1480" y="4206240"/>
            <a:ext cx="6309360" cy="36576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02920" y="420624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Hume EVI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148840" y="427024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011680" y="42062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971800" y="427024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834640" y="42062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794760" y="427024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657600" y="42062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4617720" y="427024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480560" y="42062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440680" y="427024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03520" y="420624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263640" y="4270248"/>
            <a:ext cx="320040" cy="237744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126480" y="420624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11480" y="4572000"/>
            <a:ext cx="6309360" cy="365760"/>
          </a:xfrm>
          <a:prstGeom prst="rect">
            <a:avLst/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02920" y="4572000"/>
            <a:ext cx="15087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Wysa (mental health)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148840" y="463600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2011680" y="45720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2971800" y="463600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834640" y="45720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794760" y="463600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657600" y="45720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617720" y="463600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80560" y="45720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440680" y="4636008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303520" y="4572000"/>
            <a:ext cx="8229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263640" y="4636008"/>
            <a:ext cx="32004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126480" y="4572000"/>
            <a:ext cx="5943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411480" y="502920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11480" y="5029200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✓✓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31520" y="50292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Best-in-class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1691640" y="502920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691640" y="5029200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011680" y="50292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Strong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2971800" y="502920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971800" y="5029200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~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291840" y="50292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Partial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251960" y="502920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251960" y="5029200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72000" y="50292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Weak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5532120" y="5029200"/>
            <a:ext cx="274320" cy="274320"/>
          </a:xfrm>
          <a:prstGeom prst="roundRect">
            <a:avLst>
              <a:gd name="adj" fmla="val 30000"/>
            </a:avLst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532120" y="5029200"/>
            <a:ext cx="274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852160" y="502920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None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7269480" y="1188720"/>
            <a:ext cx="466344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406640" y="1234440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RADAR  ·  AISE TODAY VS PEERS VS TARGET</a:t>
            </a:r>
          </a:p>
        </p:txBody>
      </p:sp>
      <p:pic>
        <p:nvPicPr>
          <p:cNvPr id="149" name="Picture 148" descr="competitive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508760"/>
            <a:ext cx="4526280" cy="4663440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Public product reviews 2024 (TechCrunch, The Verge), public docs (Sesame.com, hume.ai), Replika press kit, Character.AI changelog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SOLUTION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6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5 gaps map cleanly to 5 solutions — sequenced so memory ships first (highest D7 lift) and experimentation last (compounds the rest)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44348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54864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1480" y="132588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325880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01  VOICE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128016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463040"/>
            <a:ext cx="3108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Robotic · 2.2s latency · no emotion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46320" y="1463040"/>
            <a:ext cx="502920" cy="411480"/>
          </a:xfrm>
          <a:prstGeom prst="rightArrow">
            <a:avLst/>
          </a:prstGeom>
          <a:solidFill>
            <a:srgbClr val="0B2545"/>
          </a:solidFill>
          <a:ln w="63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0" y="1188720"/>
            <a:ext cx="6446520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1188720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132588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1325880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01  EMOTION-AWARE TTS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128016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SOLUTION  +  TECH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463040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Streaming + pauses + fillers + 4 voice presets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178308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1">
                <a:solidFill>
                  <a:srgbClr val="2563EB"/>
                </a:solidFill>
                <a:latin typeface="Calibri"/>
              </a:rPr>
              <a:t>Stack: Hume EVI / Sesame TTS / ElevenLabs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194560"/>
            <a:ext cx="44348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2194560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11480" y="233172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331720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02  MEMORY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228600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GAP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2468880"/>
            <a:ext cx="3108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No continuity across sessions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846320" y="2468880"/>
            <a:ext cx="502920" cy="411480"/>
          </a:xfrm>
          <a:prstGeom prst="rightArrow">
            <a:avLst/>
          </a:prstGeom>
          <a:solidFill>
            <a:srgbClr val="0B2545"/>
          </a:solidFill>
          <a:ln w="63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0" y="2194560"/>
            <a:ext cx="6446520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0" y="2194560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23560" y="233172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23560" y="2331720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02  MEMORY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228600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SOLUTION  +  TECH STACK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2468880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STM (32K context) + LTM (vector DB) + summaries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278892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1">
                <a:solidFill>
                  <a:srgbClr val="2563EB"/>
                </a:solidFill>
                <a:latin typeface="Calibri"/>
              </a:rPr>
              <a:t>Stack: Pinecone / pgvector / Mem0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3200400"/>
            <a:ext cx="44348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3200400"/>
            <a:ext cx="54864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11480" y="333756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337560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03  PERSONA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329184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GAP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3474720"/>
            <a:ext cx="3108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Generic AI feel · "As an AI..." responses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4846320" y="3474720"/>
            <a:ext cx="502920" cy="411480"/>
          </a:xfrm>
          <a:prstGeom prst="rightArrow">
            <a:avLst/>
          </a:prstGeom>
          <a:solidFill>
            <a:srgbClr val="0B2545"/>
          </a:solidFill>
          <a:ln w="63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86400" y="3200400"/>
            <a:ext cx="6446520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0" y="3200400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623560" y="333756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23560" y="3337560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03  PERSONA ENGINE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86600" y="329184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SOLUTION  +  TECH STACK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600" y="3474720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5 archetypes · adaptive tone · signature phrases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379476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1">
                <a:solidFill>
                  <a:srgbClr val="2563EB"/>
                </a:solidFill>
                <a:latin typeface="Calibri"/>
              </a:rPr>
              <a:t>Stack: System prompt + few-shot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4206240"/>
            <a:ext cx="44348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4320" y="4206240"/>
            <a:ext cx="54864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11480" y="434340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" y="4343400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04  FEEDBACK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08760" y="429768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GAP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08760" y="4480560"/>
            <a:ext cx="3108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No thumbs · no ratings · no signals captured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4846320" y="4480560"/>
            <a:ext cx="502920" cy="411480"/>
          </a:xfrm>
          <a:prstGeom prst="rightArrow">
            <a:avLst/>
          </a:prstGeom>
          <a:solidFill>
            <a:srgbClr val="0B2545"/>
          </a:solidFill>
          <a:ln w="63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5486400" y="4206240"/>
            <a:ext cx="6446520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0" y="4206240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623560" y="434340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23560" y="4343400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04  FEEDBACK LOOP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600" y="429768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SOLUTION  +  TECH STACK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86600" y="4480560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Explicit thumbs + implicit (drop-offs, re-prompts)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086600" y="480060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1">
                <a:solidFill>
                  <a:srgbClr val="2563EB"/>
                </a:solidFill>
                <a:latin typeface="Calibri"/>
              </a:rPr>
              <a:t>Stack: Quality model · weekly retraining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5212080"/>
            <a:ext cx="4434840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74320" y="5212080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411480" y="5349240"/>
            <a:ext cx="100584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5349240"/>
            <a:ext cx="1005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05  EXPERIMENT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08760" y="5303520"/>
            <a:ext cx="3108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GAP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08760" y="5486400"/>
            <a:ext cx="310896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No A/B harness · slow iteration · no versioning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4846320" y="5486400"/>
            <a:ext cx="502920" cy="411480"/>
          </a:xfrm>
          <a:prstGeom prst="rightArrow">
            <a:avLst/>
          </a:prstGeom>
          <a:solidFill>
            <a:srgbClr val="0B2545"/>
          </a:solidFill>
          <a:ln w="63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486400" y="5212080"/>
            <a:ext cx="6446520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0" y="5212080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623560" y="5349240"/>
            <a:ext cx="137160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23560" y="5349240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05  A/B FRAMEWORK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86600" y="530352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SOLUTION  +  TECH STACK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86600" y="5486400"/>
            <a:ext cx="47548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F172A"/>
                </a:solidFill>
                <a:latin typeface="Calibri"/>
              </a:rPr>
              <a:t>Prompt versioning + traffic split + KPI dashboard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086600" y="5806440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1">
                <a:solidFill>
                  <a:srgbClr val="2563EB"/>
                </a:solidFill>
                <a:latin typeface="Calibri"/>
              </a:rPr>
              <a:t>Stack: GrowthBook / Statsig / custom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Solution architecture by team · tech stack vendors evaluated for India hosting + price + India-language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SOLUTION 01  ·  VOICE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7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Voice quality is the first impression — fix latency, emotion, prosody and you reduce 1st-session bounce by ~40%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3759098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1188720"/>
            <a:ext cx="3759098" cy="411480"/>
          </a:xfrm>
          <a:prstGeom prst="roundRect">
            <a:avLst>
              <a:gd name="adj" fmla="val 4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594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🎙️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188720"/>
            <a:ext cx="289041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WHAT'S BROKEN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3393338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TTS sounds robotic · same prosody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First-token latency ~2.2s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No emotion adaptation to user mood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No fillers (uh, hmm), no pauses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Single voice · no character distinction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16298" y="1188720"/>
            <a:ext cx="3759098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16298" y="1188720"/>
            <a:ext cx="3759098" cy="41148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99178" y="1188720"/>
            <a:ext cx="594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3538" y="1188720"/>
            <a:ext cx="289041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HOW WE FIX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9178" y="1691640"/>
            <a:ext cx="3393338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Switch to Hume EVI / Sesame TTS / ElevenLabs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Streaming output: &lt;500ms first audio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Emotion classifier on user input → tone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Inject natural pauses + fillers in prompt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Ship 4 voice presets (M/F/young/elder)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8276" y="1188720"/>
            <a:ext cx="3759098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58276" y="1188720"/>
            <a:ext cx="3759098" cy="41148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1156" y="1188720"/>
            <a:ext cx="5943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5516" y="1188720"/>
            <a:ext cx="2890418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1156" y="1691640"/>
            <a:ext cx="3393338" cy="1828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Voice session duration: 1min → 4min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1st-session bounce: −40%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D1 retention: +15pp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WOM: "feels real" reviews</a:t>
            </a:r>
          </a:p>
          <a:p>
            <a:pPr algn="l">
              <a:lnSpc>
                <a:spcPct val="150000"/>
              </a:lnSpc>
            </a:pPr>
            <a:r>
              <a:rPr sz="950" b="0" i="0">
                <a:solidFill>
                  <a:srgbClr val="0F172A"/>
                </a:solidFill>
                <a:latin typeface="Calibri"/>
              </a:rPr>
              <a:t>•  Foundation for emotional coaching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3749039"/>
            <a:ext cx="7315200" cy="2514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794760"/>
            <a:ext cx="71780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VOICE LATENCY BENCHMARK  ·  AISE = 3× THE NATURAL-FEEL THRESHOLD</a:t>
            </a:r>
          </a:p>
        </p:txBody>
      </p:sp>
      <p:pic>
        <p:nvPicPr>
          <p:cNvPr id="27" name="Picture 26" descr="voice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114800"/>
            <a:ext cx="7040880" cy="210312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7726679" y="3749039"/>
            <a:ext cx="4206240" cy="2514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39" y="3794760"/>
            <a:ext cx="40690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RECOMMENDED TECH STACK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160520"/>
            <a:ext cx="3931920" cy="393192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4160520"/>
            <a:ext cx="54864" cy="3931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4197096"/>
            <a:ext cx="374903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TTS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73568" y="4361688"/>
            <a:ext cx="374903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Hume EVI (₹$0.07/min) OR ElevenLabs Multilingual v2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63840" y="4581144"/>
            <a:ext cx="3931920" cy="393192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63840" y="4581144"/>
            <a:ext cx="54864" cy="3931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4617720"/>
            <a:ext cx="374903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6B6D4"/>
                </a:solidFill>
                <a:latin typeface="Calibri"/>
              </a:rPr>
              <a:t>STREAMING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73568" y="4782312"/>
            <a:ext cx="374903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WebSocket + chunked playback · &lt;500ms first audio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63840" y="5001768"/>
            <a:ext cx="3931920" cy="393192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63840" y="5001768"/>
            <a:ext cx="54864" cy="3931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5038344"/>
            <a:ext cx="374903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7C3AED"/>
                </a:solidFill>
                <a:latin typeface="Calibri"/>
              </a:rPr>
              <a:t>EMOTION MODEL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5202936"/>
            <a:ext cx="374903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Hume facial+voice emotion / OpenAI Whisper + classifier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5422392"/>
            <a:ext cx="3931920" cy="393192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63840" y="5422392"/>
            <a:ext cx="54864" cy="3931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5458968"/>
            <a:ext cx="374903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0B981"/>
                </a:solidFill>
                <a:latin typeface="Calibri"/>
              </a:rPr>
              <a:t>FILLERS/PAUSES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5623560"/>
            <a:ext cx="374903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SSML markup (&lt;break time="500ms"/&gt;) + prompt hints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63840" y="5843016"/>
            <a:ext cx="3931920" cy="393192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863840" y="5843016"/>
            <a:ext cx="54864" cy="3931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5879592"/>
            <a:ext cx="374903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F59E0B"/>
                </a:solidFill>
                <a:latin typeface="Calibri"/>
              </a:rPr>
              <a:t>HINDI VOICES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73568" y="6044184"/>
            <a:ext cx="3749039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Sarvam AI Bulbul / ElevenLabs (Hindi-trained)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Hume.ai pricing 2024 · Sesame.com Maya/Miles demo · ElevenLabs API docs · Sarvam AI Bulbul-2 Hindi voices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SOLUTION 02  · 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Memory is the SINGLE highest-impact lever — converts "chatbot" into "coach who knows me" → +15-20pp on D7 retention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685800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6720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TWO-TIER MEMORY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91640"/>
            <a:ext cx="3154680" cy="15087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691640"/>
            <a:ext cx="3154680" cy="3657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91640"/>
            <a:ext cx="3154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🧠  SHORT-TERM MEMORY (STM)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103120"/>
            <a:ext cx="288036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In-session conversation context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32K-128K token window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Maintains tone + topic continuity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Volatile · resets at session 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94760" y="1691640"/>
            <a:ext cx="3154680" cy="15087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94760" y="1691640"/>
            <a:ext cx="3154680" cy="36576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1691640"/>
            <a:ext cx="315468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💾  LONG-TERM MEMORY (LTM)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103120"/>
            <a:ext cx="288036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Cross-session embeddings (vector DB)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Goals · preferences · facts · key moments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Semantic retrieval per turn</a:t>
            </a:r>
          </a:p>
          <a:p>
            <a:pPr algn="l">
              <a:lnSpc>
                <a:spcPct val="145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•  Persistent · summarized periodically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337560" y="3337560"/>
            <a:ext cx="457200" cy="457200"/>
          </a:xfrm>
          <a:prstGeom prst="downArrow">
            <a:avLst/>
          </a:prstGeom>
          <a:solidFill>
            <a:srgbClr val="0B2545"/>
          </a:solidFill>
          <a:ln w="63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6492240" cy="868680"/>
          </a:xfrm>
          <a:prstGeom prst="roundRect">
            <a:avLst>
              <a:gd name="adj" fmla="val 4000"/>
            </a:avLst>
          </a:prstGeom>
          <a:solidFill>
            <a:srgbClr val="0B2545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023360"/>
            <a:ext cx="63093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06B6D4"/>
                </a:solidFill>
                <a:latin typeface="Calibri"/>
              </a:rPr>
              <a:t>🤖  LLM RESPONSE GENERATION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630936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 i="1">
                <a:solidFill>
                  <a:srgbClr val="FFFFFF"/>
                </a:solidFill>
                <a:latin typeface="Calibri"/>
              </a:rPr>
              <a:t>Prompt = system + persona + retrieved memories (top-k) + STM context + user turn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983480"/>
            <a:ext cx="6492240" cy="1188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029200"/>
            <a:ext cx="630936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0B981"/>
                </a:solidFill>
                <a:latin typeface="Calibri"/>
              </a:rPr>
              <a:t>EXAMPLE: WHAT THE COACH NOW REMEMBERS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7C3AED"/>
                </a:solidFill>
                <a:latin typeface="Calibri"/>
              </a:rP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303520"/>
            <a:ext cx="5349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User said "I want to crack CAT exam" on Day 1 → tracked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504688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7C3AED"/>
                </a:solidFill>
                <a:latin typeface="Calibri"/>
              </a:rPr>
              <a:t>Preference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504688"/>
            <a:ext cx="5349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User prefers Hindi · short replies · evening sessions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705856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7C3AED"/>
                </a:solidFill>
                <a:latin typeface="Calibri"/>
              </a:rPr>
              <a:t>Fact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705856"/>
            <a:ext cx="5349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User is in Jaipur · final-year B.Tech · stress before mocks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07024"/>
            <a:ext cx="8229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7C3AED"/>
                </a:solidFill>
                <a:latin typeface="Calibri"/>
              </a:rPr>
              <a:t>Last topic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907024"/>
            <a:ext cx="534924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Day 4: discussed time management · agreed on 2-hr daily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9480" y="1188720"/>
            <a:ext cx="4663440" cy="2423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06640" y="1234440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IMPLEMENTATION DETAILS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1645920"/>
            <a:ext cx="4389120" cy="29260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1645920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7C3AED"/>
                </a:solidFill>
                <a:latin typeface="Calibri"/>
              </a:rPr>
              <a:t>Vector DB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1645920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Pinecone / pgvector / Weaviate · 1536-dim embeddings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1956816"/>
            <a:ext cx="4389120" cy="29260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1956816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7C3AED"/>
                </a:solidFill>
                <a:latin typeface="Calibri"/>
              </a:rPr>
              <a:t>Embedder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20" y="1956816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OpenAI text-embedding-3 / Cohere multilingual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06640" y="2267712"/>
            <a:ext cx="4389120" cy="29260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79" y="2267712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7C3AED"/>
                </a:solidFill>
                <a:latin typeface="Calibri"/>
              </a:rPr>
              <a:t>Retrieval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2267712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Top-5 semantic + recency + importance score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2578608"/>
            <a:ext cx="4389120" cy="29260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2578608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7C3AED"/>
                </a:solidFill>
                <a:latin typeface="Calibri"/>
              </a:rPr>
              <a:t>Summarizer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2578608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GPT-4o-mini · runs every 10 turns / session-end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06640" y="2889504"/>
            <a:ext cx="4389120" cy="29260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98079" y="2889504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7C3AED"/>
                </a:solidFill>
                <a:latin typeface="Calibri"/>
              </a:rPr>
              <a:t>Schema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732520" y="2889504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user_id × memory_type × text × score × 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06640" y="3200400"/>
            <a:ext cx="4389120" cy="29260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79" y="3200400"/>
            <a:ext cx="11887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7C3AED"/>
                </a:solidFill>
                <a:latin typeface="Calibri"/>
              </a:rPr>
              <a:t>Privacy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32520" y="3200400"/>
            <a:ext cx="3017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User-controlled deletion · DPDP Act compliant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69480" y="3749039"/>
            <a:ext cx="4663440" cy="2514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06640" y="3794760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EXPECTED IMPACT  ·  HIGHEST-ROI INTERVENTION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406640" y="4160520"/>
            <a:ext cx="438912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06640" y="4160520"/>
            <a:ext cx="54864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516368" y="4160520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D7 retention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64040" y="4160520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10B981"/>
                </a:solidFill>
                <a:latin typeface="Calibri"/>
              </a:rPr>
              <a:t>10% → 18%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927080" y="4206240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27080" y="4206240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+8PP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406640" y="4553712"/>
            <a:ext cx="438912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06640" y="4553712"/>
            <a:ext cx="54864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16368" y="4553712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D30 retention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64040" y="4553712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10B981"/>
                </a:solidFill>
                <a:latin typeface="Calibri"/>
              </a:rPr>
              <a:t>3% → 8%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927080" y="4599432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927080" y="4599432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+5PP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406640" y="4946904"/>
            <a:ext cx="438912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406640" y="4946904"/>
            <a:ext cx="54864" cy="3657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16368" y="4946904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Avg session length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464040" y="4946904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2563EB"/>
                </a:solidFill>
                <a:latin typeface="Calibri"/>
              </a:rPr>
              <a:t>2.5 → 5 min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927080" y="4992624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27080" y="4992624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2×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406640" y="5340096"/>
            <a:ext cx="438912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06640" y="5340096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16368" y="5340096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Re-prompt rate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464040" y="5340096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F59E0B"/>
                </a:solidFill>
                <a:latin typeface="Calibri"/>
              </a:rPr>
              <a:t>30% → 12%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927080" y="5385816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927080" y="5385816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−60%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406640" y="5733288"/>
            <a:ext cx="438912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06640" y="5733288"/>
            <a:ext cx="54864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16368" y="5733288"/>
            <a:ext cx="192024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"Knows me" survey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464040" y="5733288"/>
            <a:ext cx="13716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 i="0">
                <a:solidFill>
                  <a:srgbClr val="7C3AED"/>
                </a:solidFill>
                <a:latin typeface="Calibri"/>
              </a:rPr>
              <a:t>12% → 60%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0927080" y="5779008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927080" y="5779008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5×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Mem0 / LangChain memory patterns | Sequoia memory case studies (Pi/Replika) | OpenAI embeddings docs | DPDP Act 2023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SOLUTION 03  ·  PERSONA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9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Personality is what users come back for — 5 distinct archetypes + adaptive tone makes Aise feel like a relationship, not a chatbot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11643055" cy="26060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1150589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5 PERSONA ARCHETYPES  ·  USER PICKS ONE AT ONBOARDING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45920"/>
            <a:ext cx="2246315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" y="1645920"/>
            <a:ext cx="2246315" cy="3657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45920"/>
            <a:ext cx="224631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COACH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057400"/>
            <a:ext cx="224631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0" i="0">
                <a:solidFill>
                  <a:srgbClr val="2563EB"/>
                </a:solidFill>
                <a:latin typeface="Calibri"/>
              </a:rPr>
              <a:t>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651760"/>
            <a:ext cx="20634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0F172A"/>
                </a:solidFill>
                <a:latin typeface="Calibri"/>
              </a:rPr>
              <a:t>Sharp · direct · accountability-driven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26080"/>
            <a:ext cx="2063435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Use case: career/exam goals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00400"/>
            <a:ext cx="2063435" cy="457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18688"/>
            <a:ext cx="1971995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i="1">
                <a:solidFill>
                  <a:srgbClr val="2563EB"/>
                </a:solidFill>
                <a:latin typeface="Calibri"/>
              </a:rPr>
              <a:t>"You promised 2 hrs · what happened?"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21803" y="1645920"/>
            <a:ext cx="2246315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21803" y="1645920"/>
            <a:ext cx="2246315" cy="36576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21803" y="1645920"/>
            <a:ext cx="224631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MENTOR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1803" y="2057400"/>
            <a:ext cx="224631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0" i="0">
                <a:solidFill>
                  <a:srgbClr val="7C3AED"/>
                </a:solidFill>
                <a:latin typeface="Calibri"/>
              </a:rPr>
              <a:t>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13243" y="2651760"/>
            <a:ext cx="20634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0F172A"/>
                </a:solidFill>
                <a:latin typeface="Calibri"/>
              </a:rPr>
              <a:t>Wise · patient · long-view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13243" y="2926080"/>
            <a:ext cx="2063435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Use case: life decisions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3243" y="3200400"/>
            <a:ext cx="2063435" cy="457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8963" y="3218688"/>
            <a:ext cx="1971995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i="1">
                <a:solidFill>
                  <a:srgbClr val="7C3AED"/>
                </a:solidFill>
                <a:latin typeface="Calibri"/>
              </a:rPr>
              <a:t>"Tell me what feels true to you..."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32126" y="1645920"/>
            <a:ext cx="2246315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32126" y="1645920"/>
            <a:ext cx="2246315" cy="36576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32126" y="1645920"/>
            <a:ext cx="224631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FRIEND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32126" y="2057400"/>
            <a:ext cx="224631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0" i="0">
                <a:solidFill>
                  <a:srgbClr val="06B6D4"/>
                </a:solidFill>
                <a:latin typeface="Calibri"/>
              </a:rPr>
              <a:t>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3566" y="2651760"/>
            <a:ext cx="20634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0F172A"/>
                </a:solidFill>
                <a:latin typeface="Calibri"/>
              </a:rPr>
              <a:t>Casual · warm · funny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3566" y="2926080"/>
            <a:ext cx="2063435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Use case: daily check-ins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3566" y="3200400"/>
            <a:ext cx="2063435" cy="457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9286" y="3218688"/>
            <a:ext cx="1971995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i="1">
                <a:solidFill>
                  <a:srgbClr val="06B6D4"/>
                </a:solidFill>
                <a:latin typeface="Calibri"/>
              </a:rPr>
              <a:t>"Areee, kya scene hai aaj?"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42449" y="1645920"/>
            <a:ext cx="2246315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42449" y="1645920"/>
            <a:ext cx="2246315" cy="36576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42449" y="1645920"/>
            <a:ext cx="224631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THERAPIST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2449" y="2057400"/>
            <a:ext cx="224631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0" i="0">
                <a:solidFill>
                  <a:srgbClr val="EC4899"/>
                </a:solidFill>
                <a:latin typeface="Calibri"/>
              </a:rPr>
              <a:t>❤️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3889" y="2651760"/>
            <a:ext cx="20634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0F172A"/>
                </a:solidFill>
                <a:latin typeface="Calibri"/>
              </a:rPr>
              <a:t>Empathetic · listens · reflects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33889" y="2926080"/>
            <a:ext cx="2063435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Use case: anxiety / mood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33889" y="3200400"/>
            <a:ext cx="2063435" cy="457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9609" y="3218688"/>
            <a:ext cx="1971995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i="1">
                <a:solidFill>
                  <a:srgbClr val="EC4899"/>
                </a:solidFill>
                <a:latin typeface="Calibri"/>
              </a:rPr>
              <a:t>"I hear you. What's underneath that?"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52772" y="1645920"/>
            <a:ext cx="2246315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652772" y="1645920"/>
            <a:ext cx="2246315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52772" y="1645920"/>
            <a:ext cx="2246315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THE TRAINER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52772" y="2057400"/>
            <a:ext cx="2246315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0" i="0">
                <a:solidFill>
                  <a:srgbClr val="10B981"/>
                </a:solidFill>
                <a:latin typeface="Calibri"/>
              </a:rPr>
              <a:t>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44212" y="2651760"/>
            <a:ext cx="2063435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1" i="0">
                <a:solidFill>
                  <a:srgbClr val="0F172A"/>
                </a:solidFill>
                <a:latin typeface="Calibri"/>
              </a:rPr>
              <a:t>Tactical · structured · drill-mode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744212" y="2926080"/>
            <a:ext cx="2063435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Use case: skill-building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744212" y="3200400"/>
            <a:ext cx="2063435" cy="4572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89932" y="3218688"/>
            <a:ext cx="1971995" cy="42062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750" b="0" i="1">
                <a:solidFill>
                  <a:srgbClr val="10B981"/>
                </a:solidFill>
                <a:latin typeface="Calibri"/>
              </a:rPr>
              <a:t>"Today: 5 questions on time management."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4320" y="3931920"/>
            <a:ext cx="6583680" cy="2331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80" y="3977639"/>
            <a:ext cx="6446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ADAPTIVE TONE  ·  USER MOOD × COACH RESPONSE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4389120"/>
            <a:ext cx="630936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1480" y="4389120"/>
            <a:ext cx="54864" cy="4114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4434840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0F172A"/>
                </a:solidFill>
                <a:latin typeface="Calibri"/>
              </a:rPr>
              <a:t>USER: "I failed the test..."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4608576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EC4899"/>
                </a:solidFill>
                <a:latin typeface="Calibri"/>
              </a:rPr>
              <a:t>MOOD: Sad/defeat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88920" y="4389120"/>
            <a:ext cx="3886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→ Soften tone, slow pace, lead with empathy, no metrics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1480" y="4837176"/>
            <a:ext cx="630936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" y="4837176"/>
            <a:ext cx="54864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" y="4882896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0F172A"/>
                </a:solidFill>
                <a:latin typeface="Calibri"/>
              </a:rPr>
              <a:t>USER: "YES! got the offer 🎉"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5056632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10B981"/>
                </a:solidFill>
                <a:latin typeface="Calibri"/>
              </a:rPr>
              <a:t>MOOD: Joy/win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88920" y="4837176"/>
            <a:ext cx="3886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→ Match excitement, celebrate, then anchor next goal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11480" y="5285232"/>
            <a:ext cx="630936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1480" y="5285232"/>
            <a:ext cx="54864" cy="411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5330952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0F172A"/>
                </a:solidFill>
                <a:latin typeface="Calibri"/>
              </a:rPr>
              <a:t>USER: "I don't know what to do"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" y="5504688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F59E0B"/>
                </a:solidFill>
                <a:latin typeface="Calibri"/>
              </a:rPr>
              <a:t>MOOD: Confusion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88920" y="5285232"/>
            <a:ext cx="3886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→ Slow down, ask 1 clarifying question, no advice yet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5733288"/>
            <a:ext cx="6309360" cy="4114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480" y="5733288"/>
            <a:ext cx="54864" cy="411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5779008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1">
                <a:solidFill>
                  <a:srgbClr val="0F172A"/>
                </a:solidFill>
                <a:latin typeface="Calibri"/>
              </a:rPr>
              <a:t>USER: "Stop telling me what to do"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5952744"/>
            <a:ext cx="219456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1" i="0">
                <a:solidFill>
                  <a:srgbClr val="EF4444"/>
                </a:solidFill>
                <a:latin typeface="Calibri"/>
              </a:rPr>
              <a:t>MOOD: Frustration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88920" y="5733288"/>
            <a:ext cx="388620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→ Acknowledge, drop directive tone, reflect back feeling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995160" y="3931920"/>
            <a:ext cx="4937760" cy="2331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0" y="3977639"/>
            <a:ext cx="4800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ANTI-PATTERNS  ·  KILL THE "AI SMELL"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132320" y="4389120"/>
            <a:ext cx="466344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42048" y="4389120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EF4444"/>
                </a:solidFill>
                <a:latin typeface="Calibri"/>
              </a:rPr>
              <a:t>❌  "As an AI, I cannot..."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64040" y="4389120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10B981"/>
                </a:solidFill>
                <a:latin typeface="Calibri"/>
              </a:rPr>
              <a:t>→ "Hmm, let's think about this differently..."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132320" y="4773168"/>
            <a:ext cx="466344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42048" y="4773168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EF4444"/>
                </a:solidFill>
                <a:latin typeface="Calibri"/>
              </a:rPr>
              <a:t>❌  "I'm here to help you..."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464040" y="4773168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10B981"/>
                </a:solidFill>
                <a:latin typeface="Calibri"/>
              </a:rPr>
              <a:t>→ Skip · jump straight into substance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132320" y="5157216"/>
            <a:ext cx="466344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42048" y="5157216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EF4444"/>
                </a:solidFill>
                <a:latin typeface="Calibri"/>
              </a:rPr>
              <a:t>❌  Generic "That's a great question!"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64040" y="5157216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10B981"/>
                </a:solidFill>
                <a:latin typeface="Calibri"/>
              </a:rPr>
              <a:t>→ Engage with the actual content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132320" y="5541264"/>
            <a:ext cx="466344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42048" y="5541264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EF4444"/>
                </a:solidFill>
                <a:latin typeface="Calibri"/>
              </a:rPr>
              <a:t>❌  Disclaimers + caveats every reply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464040" y="5541264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10B981"/>
                </a:solidFill>
                <a:latin typeface="Calibri"/>
              </a:rPr>
              <a:t>→ Speak with conviction (within scope)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132320" y="5925312"/>
            <a:ext cx="466344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242048" y="5925312"/>
            <a:ext cx="219456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1">
                <a:solidFill>
                  <a:srgbClr val="EF4444"/>
                </a:solidFill>
                <a:latin typeface="Calibri"/>
              </a:rPr>
              <a:t>❌  Same response length every turn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64040" y="5925312"/>
            <a:ext cx="23317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10B981"/>
                </a:solidFill>
                <a:latin typeface="Calibri"/>
              </a:rPr>
              <a:t>→ Vary: 1 line · 3 lines · question-back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Persona design: Anthropic Claude character · Replika persona toolkit · Character.AI persona docs · prompt engineering best-practices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SOLUTION 04  · 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10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Every signal — explicit or implicit — feeds the same quality model. No feedback loop = blind product flying without instruments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384048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3703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EXPLICIT SIGNALS  ·  USER-INITIATED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91640"/>
            <a:ext cx="35661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1691640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8308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06B6D4"/>
                </a:solidFill>
                <a:latin typeface="Calibri"/>
              </a:rPr>
              <a:t>👍👎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764792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PER-RESPONSE THUMBS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1984248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Lightweight · 2-tap · captured per turn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441448"/>
            <a:ext cx="35661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2441448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532888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06B6D4"/>
                </a:solidFill>
                <a:latin typeface="Calibri"/>
              </a:rPr>
              <a:t>⭐⭐⭐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514600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END-OF-SESSION 1-QUESTION PULSE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734056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"How was today?" · 5-star · skippable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191256"/>
            <a:ext cx="35661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3191256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282696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06B6D4"/>
                </a:solidFill>
                <a:latin typeface="Calibri"/>
              </a:rPr>
              <a:t>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264408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OPTIONAL COMMENT 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483864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Free text after thumbs-down · trains regressor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3941064"/>
            <a:ext cx="35661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941064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032504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06B6D4"/>
                </a:solidFill>
                <a:latin typeface="Calibri"/>
              </a:rPr>
              <a:t>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014216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REPORT INAPPROPRIATE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33672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Critical safety/quality signal · alerts PM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4690872"/>
            <a:ext cx="35661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690872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782312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06B6D4"/>
                </a:solidFill>
                <a:latin typeface="Calibri"/>
              </a:rPr>
              <a:t>⚙️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764024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PERSONALIZATION PREFERENCES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983480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User edits memory · marks sensitive topics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440680"/>
            <a:ext cx="35661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5440680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5321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06B6D4"/>
                </a:solidFill>
                <a:latin typeface="Calibri"/>
              </a:rPr>
              <a:t>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5513832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APP STORE RATING PROMPT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733288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After 3rd good session · nudges 4-5 stars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51960" y="1188720"/>
            <a:ext cx="384048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1234440"/>
            <a:ext cx="37033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IMPLICIT SIGNALS  ·  PASSIVELY OBSERVED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1691640"/>
            <a:ext cx="35661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89120" y="1691640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0560" y="178308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7C3AED"/>
                </a:solidFill>
                <a:latin typeface="Calibri"/>
              </a:rPr>
              <a:t>⏱️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1764792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SESSION LENGTH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1984248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Long = engaging · short = bouncing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89120" y="2441448"/>
            <a:ext cx="35661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389120" y="2441448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80560" y="2532888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7C3AED"/>
                </a:solidFill>
                <a:latin typeface="Calibri"/>
              </a:rPr>
              <a:t>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0" y="2514600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RE-PROMPT RATE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0" y="2734056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User asks same thing again = poor 1st answer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89120" y="3191256"/>
            <a:ext cx="35661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89120" y="3191256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80560" y="3282696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7C3AED"/>
                </a:solidFill>
                <a:latin typeface="Calibri"/>
              </a:rPr>
              <a:t>⏹️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0" y="3264408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MID-CONVERSATION DROP-OFF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3483864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Where in the turn user closes the app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89120" y="3941064"/>
            <a:ext cx="35661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89120" y="3941064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480560" y="4032504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7C3AED"/>
                </a:solidFill>
                <a:latin typeface="Calibri"/>
              </a:rPr>
              <a:t>🎧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4014216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VOICE PLAYBACK COMPLETION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0" y="4233672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Did they listen full? Skip/pause = bad voice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389120" y="4690872"/>
            <a:ext cx="35661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89120" y="4690872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80560" y="4782312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7C3AED"/>
                </a:solidFill>
                <a:latin typeface="Calibri"/>
              </a:rPr>
              <a:t>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029200" y="4764024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RETURN CADENCE (D1, D7, D30)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0" y="4983480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Best lagging signal of overall quality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389120" y="5440680"/>
            <a:ext cx="3566160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89120" y="5440680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80560" y="5532120"/>
            <a:ext cx="502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7C3AED"/>
                </a:solidFill>
                <a:latin typeface="Calibri"/>
              </a:rPr>
              <a:t>📊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0" y="5513832"/>
            <a:ext cx="28346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SESSION FREQUENCY / TIME-OF-DAY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0" y="5733288"/>
            <a:ext cx="28346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Habit formation marker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229600" y="1188720"/>
            <a:ext cx="3703320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366760" y="1234440"/>
            <a:ext cx="35661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PIPELINE  ·  SIGNALS → IMPROVEMENT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366760" y="1645920"/>
            <a:ext cx="342900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366760" y="1645920"/>
            <a:ext cx="54864" cy="7132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476488" y="1737360"/>
            <a:ext cx="640080" cy="256032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76488" y="1737360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89720" y="1719072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2563EB"/>
                </a:solidFill>
                <a:latin typeface="Calibri"/>
              </a:rPr>
              <a:t>CAPTURE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189720" y="1938528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All signals → BigQuery / Snowflake event log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366760" y="2386584"/>
            <a:ext cx="342900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66760" y="2386584"/>
            <a:ext cx="54864" cy="7132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8476488" y="2478024"/>
            <a:ext cx="640080" cy="256032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76488" y="2478024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89720" y="2459736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59E0B"/>
                </a:solidFill>
                <a:latin typeface="Calibri"/>
              </a:rPr>
              <a:t>SCORE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89720" y="2679192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LLM-judge labels each conv: helpful / generic / off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366760" y="3127248"/>
            <a:ext cx="342900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366760" y="3127248"/>
            <a:ext cx="54864" cy="7132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8476488" y="3218688"/>
            <a:ext cx="640080" cy="256032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476488" y="3218688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189720" y="3200400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6B6D4"/>
                </a:solidFill>
                <a:latin typeface="Calibri"/>
              </a:rPr>
              <a:t>AGGREGATE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189720" y="3419856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Weekly: persona × topic × outcome score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366760" y="3867912"/>
            <a:ext cx="342900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66760" y="3867912"/>
            <a:ext cx="54864" cy="7132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8476488" y="3959352"/>
            <a:ext cx="640080" cy="256032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76488" y="3959352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89720" y="3941064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C3AED"/>
                </a:solidFill>
                <a:latin typeface="Calibri"/>
              </a:rPr>
              <a:t>DIAGNOSE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89720" y="4160520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Lowest-scoring buckets surfaced to PM dashboard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366760" y="4608576"/>
            <a:ext cx="342900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366760" y="4608576"/>
            <a:ext cx="54864" cy="7132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8476488" y="4700016"/>
            <a:ext cx="640080" cy="256032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476488" y="4700016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89720" y="4681728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0B981"/>
                </a:solidFill>
                <a:latin typeface="Calibri"/>
              </a:rPr>
              <a:t>ITERATE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89720" y="4901184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Prompt edits / persona tweaks / model upgrades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366760" y="5349240"/>
            <a:ext cx="3429000" cy="713232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366760" y="5349240"/>
            <a:ext cx="54864" cy="7132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8476488" y="5440680"/>
            <a:ext cx="640080" cy="256032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476488" y="5440680"/>
            <a:ext cx="640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189720" y="5422392"/>
            <a:ext cx="256032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RE-TEST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89720" y="5641848"/>
            <a:ext cx="256032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A/B vs baseline (Slide 11) · roll if winner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Feedback design: Anthropic Constitutional AI · OpenAI RLHF docs · LinkedIn Quality Engineering · LangSmith eval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SOLUTION 05  ·  EXPERIMENTATION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Without A/B harness, every prompt change is a guess — with it, Aise compounds 5-7% retention every quarter at zero downside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6858000" cy="2834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6720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A/B EXPERIMENT FRAMEWORK  ·  4 LAYERS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45920"/>
            <a:ext cx="1600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" y="164592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4592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PROMPT VERSIONS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103120"/>
            <a:ext cx="1417320" cy="411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103120"/>
            <a:ext cx="1417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1">
                <a:solidFill>
                  <a:srgbClr val="2563EB"/>
                </a:solidFill>
                <a:latin typeface="Calibri"/>
              </a:rPr>
              <a:t>v1.2.4 · v1.2.5 · v1.2.6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606040"/>
            <a:ext cx="1325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Few-shot variants, system-prompt edits, instruction tuning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75688" y="1645920"/>
            <a:ext cx="1600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75688" y="164592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75688" y="164592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VOICE MODELS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67128" y="2103120"/>
            <a:ext cx="1417320" cy="411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7128" y="2103120"/>
            <a:ext cx="1417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1">
                <a:solidFill>
                  <a:srgbClr val="7C3AED"/>
                </a:solidFill>
                <a:latin typeface="Calibri"/>
              </a:rPr>
              <a:t>Hume vs ElevenLabs vs Sarvam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2606040"/>
            <a:ext cx="1325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Latency, cost, naturalness, India-language quality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9896" y="1645920"/>
            <a:ext cx="1600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739896" y="164592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39896" y="164592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PERSONA ARCHETYPES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31336" y="2103120"/>
            <a:ext cx="1417320" cy="411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31336" y="2103120"/>
            <a:ext cx="1417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1">
                <a:solidFill>
                  <a:srgbClr val="06B6D4"/>
                </a:solidFill>
                <a:latin typeface="Calibri"/>
              </a:rPr>
              <a:t>Coach vs Mentor vs Friend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7056" y="2606040"/>
            <a:ext cx="1325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Which archetype drives most D7 in which user segment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04104" y="1645920"/>
            <a:ext cx="1600200" cy="2240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04104" y="1645920"/>
            <a:ext cx="1600200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4104" y="1645920"/>
            <a:ext cx="160020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MEMORY DEPTH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95544" y="2103120"/>
            <a:ext cx="1417320" cy="411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95544" y="2103120"/>
            <a:ext cx="14173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0" i="1">
                <a:solidFill>
                  <a:srgbClr val="F59E0B"/>
                </a:solidFill>
                <a:latin typeface="Calibri"/>
              </a:rPr>
              <a:t>Top-3 vs Top-5 vs Top-10 retrieval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41264" y="2606040"/>
            <a:ext cx="1325880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Diminishing returns curve · cost vs quality trade-off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0" y="4160520"/>
            <a:ext cx="4663440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206240"/>
            <a:ext cx="452628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STACK  ·  RECOMMENDED TOOLS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4572000"/>
            <a:ext cx="4434840" cy="29260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4572000"/>
            <a:ext cx="54864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" y="4572000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10B981"/>
                </a:solidFill>
                <a:latin typeface="Calibri"/>
              </a:rPr>
              <a:t>FEATURE FLAGS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4572000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GrowthBook (open-source, India-friendly)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11480" y="4882896"/>
            <a:ext cx="4434840" cy="29260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4882896"/>
            <a:ext cx="54864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4882896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2563EB"/>
                </a:solidFill>
                <a:latin typeface="Calibri"/>
              </a:rPr>
              <a:t>ANALYTICS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65960" y="4882896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PostHog OR Amplitude · event-driven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5193792"/>
            <a:ext cx="4434840" cy="29260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1480" y="5193792"/>
            <a:ext cx="54864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5193792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7C3AED"/>
                </a:solidFill>
                <a:latin typeface="Calibri"/>
              </a:rPr>
              <a:t>PROMPT REGISTRY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60" y="5193792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Langfuse · Helicone · custom Git-tracked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5504688"/>
            <a:ext cx="4434840" cy="29260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5504688"/>
            <a:ext cx="54864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" y="5504688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F59E0B"/>
                </a:solidFill>
                <a:latin typeface="Calibri"/>
              </a:rPr>
              <a:t>STATISTICAL 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65960" y="5504688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Bayesian test (p-value not enough)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5815584"/>
            <a:ext cx="4434840" cy="29260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1480" y="5815584"/>
            <a:ext cx="54864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5815584"/>
            <a:ext cx="1371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6B6D4"/>
                </a:solidFill>
                <a:latin typeface="Calibri"/>
              </a:rPr>
              <a:t>DASHBOARD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65960" y="581558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Metabase · Looker Studio · custom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74920" y="4160520"/>
            <a:ext cx="6858000" cy="2103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2080" y="4206240"/>
            <a:ext cx="67208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CADENCE &amp; GOVERNANCE  ·  WEEKLY EXPERIMENT MOTION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212080" y="4572000"/>
            <a:ext cx="658368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303520" y="4626864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0" y="4626864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99632" y="4572000"/>
            <a:ext cx="548640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Hypothesis → spec doc · ship variant to 5%/95% split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12080" y="4983480"/>
            <a:ext cx="658368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303520" y="5038344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0" y="5038344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WED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9632" y="4983480"/>
            <a:ext cx="548640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Mid-week health check · stop on safety regressions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212080" y="5394960"/>
            <a:ext cx="658368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303520" y="5449824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03520" y="5449824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FRI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99632" y="5394960"/>
            <a:ext cx="548640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Statistical test · go/no-go on 50/50 ramp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212080" y="5806440"/>
            <a:ext cx="6583680" cy="39319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303520" y="5861304"/>
            <a:ext cx="777240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03520" y="5861304"/>
            <a:ext cx="7772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MON+1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99632" y="5806440"/>
            <a:ext cx="548640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0F172A"/>
                </a:solidFill>
                <a:latin typeface="Calibri"/>
              </a:rPr>
              <a:t>Roll winner to 100% OR retire OR iterate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GrowthBook docs · Statsig blog · Langfuse · OpenAI Eval framework · Sequoia AI prompt-eng best practices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METRICS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12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10 metrics across 4 layers — every product decision tied to one number, every metric ties to one of 5 solutions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2796463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1188720"/>
            <a:ext cx="2796463" cy="457200"/>
          </a:xfrm>
          <a:prstGeom prst="roundRect">
            <a:avLst>
              <a:gd name="adj" fmla="val 4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26187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188720"/>
            <a:ext cx="2110663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78308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7452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D1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377440"/>
            <a:ext cx="121535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2551" y="219456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2551" y="2377440"/>
            <a:ext cx="112391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55%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1576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1576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Δ  +25pp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320040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29184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D7 retention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121535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2551" y="361188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2551" y="3794760"/>
            <a:ext cx="112391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32%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3308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13308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Δ  +22pp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61772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70916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D30 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2920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212080"/>
            <a:ext cx="121535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72551" y="502920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2551" y="5212080"/>
            <a:ext cx="112391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15%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55040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55040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Δ  +12pp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62223" y="1188720"/>
            <a:ext cx="2796463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162223" y="1188720"/>
            <a:ext cx="2796463" cy="45720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99383" y="126187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56583" y="1188720"/>
            <a:ext cx="2110663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ENGAGEMENT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9383" y="178308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5103" y="187452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Avg session length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45103" y="219456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45103" y="2377440"/>
            <a:ext cx="121535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2.5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60455" y="219456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60455" y="2377440"/>
            <a:ext cx="112391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8 min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45103" y="271576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45103" y="271576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Δ  3.2×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99383" y="320040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5103" y="329184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Voice session duration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45103" y="361188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45103" y="3794760"/>
            <a:ext cx="121535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&lt;1 min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60455" y="361188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60455" y="3794760"/>
            <a:ext cx="112391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4 min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45103" y="413308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45103" y="413308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Δ  4×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99383" y="461772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45103" y="470916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Sessions / user / wk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45103" y="502920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45103" y="5212080"/>
            <a:ext cx="121535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1.8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60455" y="502920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60455" y="5212080"/>
            <a:ext cx="112391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5.0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345103" y="555040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45103" y="555040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Δ  2.8×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50127" y="1188720"/>
            <a:ext cx="2796463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050127" y="1188720"/>
            <a:ext cx="2796463" cy="45720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87287" y="126187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44487" y="1188720"/>
            <a:ext cx="2110663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QUALITY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187287" y="178308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33007" y="187452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Response quality (LLM)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33007" y="219456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33007" y="2377440"/>
            <a:ext cx="121535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3.1/5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48359" y="219456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48359" y="2377440"/>
            <a:ext cx="112391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4.2/5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33007" y="271576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33007" y="271576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Δ  +1.1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87287" y="320040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33007" y="329184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Thumbs-up rate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33007" y="361188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33007" y="3794760"/>
            <a:ext cx="121535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n/a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448359" y="361188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48359" y="3794760"/>
            <a:ext cx="112391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75%+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33007" y="413308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33007" y="413308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Δ  track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87287" y="461772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233007" y="470916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Re-prompt rate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33007" y="502920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233007" y="5212080"/>
            <a:ext cx="121535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30%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48359" y="502920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48359" y="5212080"/>
            <a:ext cx="112391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12%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33007" y="555040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33007" y="555040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Δ  −60%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938031" y="1188720"/>
            <a:ext cx="2796463" cy="5074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938031" y="1188720"/>
            <a:ext cx="2796463" cy="457200"/>
          </a:xfrm>
          <a:prstGeom prst="roundRect">
            <a:avLst>
              <a:gd name="adj" fmla="val 4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075191" y="1261872"/>
            <a:ext cx="41148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532391" y="1188720"/>
            <a:ext cx="2110663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BUSINESS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075191" y="178308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120911" y="187452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NPS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20911" y="219456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120911" y="2377440"/>
            <a:ext cx="121535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336263" y="219456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336263" y="2377440"/>
            <a:ext cx="112391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50+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120911" y="271576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20911" y="271576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Δ  +50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9075191" y="320040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120911" y="329184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Free → Paid conversion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20911" y="361188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20911" y="3794760"/>
            <a:ext cx="121535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0.5%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336263" y="361188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336263" y="3794760"/>
            <a:ext cx="112391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2.5%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9120911" y="413308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20911" y="413308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Δ  5×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9075191" y="4617720"/>
            <a:ext cx="2522143" cy="1280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120911" y="4709160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B2545"/>
                </a:solidFill>
                <a:latin typeface="Calibri"/>
              </a:rPr>
              <a:t>Engagement uplift exp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120911" y="502920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120911" y="5212080"/>
            <a:ext cx="121535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EF4444"/>
                </a:solidFill>
                <a:latin typeface="Calibri"/>
              </a:rPr>
              <a:t>—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336263" y="5029200"/>
            <a:ext cx="777240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336263" y="5212080"/>
            <a:ext cx="1123911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+15%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20911" y="5550408"/>
            <a:ext cx="2430703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20911" y="5550408"/>
            <a:ext cx="2430703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Δ  expt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Standard mobile-app retention benchmarks (Mixpanel 2024) · LLM quality scoring (LangSmith) · NPS Net Promoter standard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EXECUTION  ·  14-DAY SPRINT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13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Memory ships first (Days 1-5) — voice second (Days 4-9) — feedback third (Days 8-12) — A/B compounds the rest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11643055" cy="2926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1150589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14-DAY ROADMAP  ·  PARALLEL TRACKS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1691640"/>
            <a:ext cx="9082735" cy="0"/>
          </a:xfrm>
          <a:prstGeom prst="line">
            <a:avLst/>
          </a:prstGeom>
          <a:ln w="9525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77440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334155"/>
                </a:solidFill>
                <a:latin typeface="Calibri"/>
              </a:rPr>
              <a:t>Start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.0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09086.7857142854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674973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334155"/>
                </a:solidFill>
                <a:latin typeface="Calibri"/>
              </a:rPr>
              <a:t>D2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57853.5714285714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06620.357142857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972507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334155"/>
                </a:solidFill>
                <a:latin typeface="Calibri"/>
              </a:rPr>
              <a:t>D4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55387.142857143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804153.928571428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70040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334155"/>
                </a:solidFill>
                <a:latin typeface="Calibri"/>
              </a:rPr>
              <a:t>D6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52920.714285715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01687.5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567574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334155"/>
                </a:solidFill>
                <a:latin typeface="Calibri"/>
              </a:rPr>
              <a:t>D8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50454.285714285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399221.07142857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865107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334155"/>
                </a:solidFill>
                <a:latin typeface="Calibri"/>
              </a:rPr>
              <a:t>D10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047987.857142856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696754.642857142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162641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334155"/>
                </a:solidFill>
                <a:latin typeface="Calibri"/>
              </a:rPr>
              <a:t>D12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345521.42857143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994288.214285715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460175" y="1463040"/>
            <a:ext cx="36576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334155"/>
                </a:solidFill>
                <a:latin typeface="Calibri"/>
              </a:rPr>
              <a:t>D14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643055.0" y="1645920"/>
            <a:ext cx="0.0" cy="91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11480" y="192023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10B981"/>
                </a:solidFill>
                <a:latin typeface="Calibri"/>
              </a:rPr>
              <a:t>MEMORY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2057399"/>
            <a:ext cx="2011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Vector DB · embed · retrieval · summary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1874519"/>
            <a:ext cx="3243833" cy="32918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0" y="1874519"/>
            <a:ext cx="3243833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D0–D5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2295143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EF4444"/>
                </a:solidFill>
                <a:latin typeface="Calibri"/>
              </a:rPr>
              <a:t>VOICE NATURALNESS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2432303"/>
            <a:ext cx="2011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TTS swap · streaming · emotion · presets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06620" y="2249423"/>
            <a:ext cx="3892600" cy="329184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06620" y="2249423"/>
            <a:ext cx="38926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D3–D9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2670047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C3AED"/>
                </a:solidFill>
                <a:latin typeface="Calibri"/>
              </a:rPr>
              <a:t>PERSONA ENGINE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2807207"/>
            <a:ext cx="2011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5 archetypes · system prompt · few-shot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57853" y="2624327"/>
            <a:ext cx="3243833" cy="329184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57853" y="2624327"/>
            <a:ext cx="3243833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D2–D7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" y="3044951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6B6D4"/>
                </a:solidFill>
                <a:latin typeface="Calibri"/>
              </a:rPr>
              <a:t>FEEDBACK LOOP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3182111"/>
            <a:ext cx="2011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Thumbs UI · pulse survey · pipeline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01687" y="2999231"/>
            <a:ext cx="3243833" cy="329184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01687" y="2999231"/>
            <a:ext cx="3243833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D7–D12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3419855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F59E0B"/>
                </a:solidFill>
                <a:latin typeface="Calibri"/>
              </a:rPr>
              <a:t>A/B FRAMEWORK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3557015"/>
            <a:ext cx="2011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GrowthBook · prompt registry · dashboard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47987" y="3374135"/>
            <a:ext cx="2595067" cy="32918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47987" y="3374135"/>
            <a:ext cx="2595067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D10–D14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3794759"/>
            <a:ext cx="20116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0B2545"/>
                </a:solidFill>
                <a:latin typeface="Calibri"/>
              </a:rPr>
              <a:t>LAUNCH + MONITOR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3931919"/>
            <a:ext cx="2011680" cy="1645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Phased rollout · live KPI watch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994288" y="3749039"/>
            <a:ext cx="648766" cy="329184"/>
          </a:xfrm>
          <a:prstGeom prst="roundRect">
            <a:avLst>
              <a:gd name="adj" fmla="val 30000"/>
            </a:avLst>
          </a:prstGeom>
          <a:solidFill>
            <a:srgbClr val="0B2545"/>
          </a:solidFill>
          <a:ln w="63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94288" y="3749039"/>
            <a:ext cx="648766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D13–D14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4251960"/>
            <a:ext cx="6583680" cy="2011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4297680"/>
            <a:ext cx="644652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3 PHASES  ·  SEQUENCED FOR HIGHEST EARLY IMPACT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4663440"/>
            <a:ext cx="6309360" cy="502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11480" y="4663440"/>
            <a:ext cx="54864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02920" y="4782312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4782312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PHASE 1 · D1-5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83080" y="4709160"/>
            <a:ext cx="1280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10B981"/>
                </a:solidFill>
                <a:latin typeface="Calibri"/>
              </a:rPr>
              <a:t>MEMORY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08960" y="4709160"/>
            <a:ext cx="36118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Build STM/LTM architecture. Top retention impact.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08960" y="4910328"/>
            <a:ext cx="36118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Owner: Backend lead · effort 5 person-days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5202936"/>
            <a:ext cx="6309360" cy="502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480" y="5202936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02920" y="5321808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5321808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PHASE 2 · D4-9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83080" y="5248656"/>
            <a:ext cx="1280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EF4444"/>
                </a:solidFill>
                <a:latin typeface="Calibri"/>
              </a:rPr>
              <a:t>VOICE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08960" y="5248656"/>
            <a:ext cx="36118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Switch TTS · streaming · 4 voice presets · emotion-aware.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08960" y="5449824"/>
            <a:ext cx="36118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Owner: ML/Audio lead · effort 6 person-days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11480" y="5742432"/>
            <a:ext cx="6309360" cy="50292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1480" y="5742432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02920" y="5861304"/>
            <a:ext cx="1188720" cy="274320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02920" y="5861304"/>
            <a:ext cx="11887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PHASE 3 · D8-14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83080" y="5788152"/>
            <a:ext cx="1280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 i="0">
                <a:solidFill>
                  <a:srgbClr val="F59E0B"/>
                </a:solidFill>
                <a:latin typeface="Calibri"/>
              </a:rPr>
              <a:t>FEEDBACK + EXPT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108960" y="5788152"/>
            <a:ext cx="36118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Thumbs UI · feedback pipeline · GrowthBook setup · launch.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08960" y="5989320"/>
            <a:ext cx="36118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50" b="0" i="1">
                <a:solidFill>
                  <a:srgbClr val="64748B"/>
                </a:solidFill>
                <a:latin typeface="Calibri"/>
              </a:rPr>
              <a:t>Owner: Full-stack + PM · effort 6 person-days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995160" y="4251960"/>
            <a:ext cx="4937760" cy="20116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32320" y="4297680"/>
            <a:ext cx="480060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EXPECTED D7 LIFT  ·  WATERFALL</a:t>
            </a:r>
          </a:p>
        </p:txBody>
      </p:sp>
      <p:pic>
        <p:nvPicPr>
          <p:cNvPr id="85" name="Picture 84" descr="d7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4572000"/>
            <a:ext cx="4663440" cy="1691640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Sprint methodology: Shape Up (Basecamp) · resource estimates from Sequoia AI eng benchmarks · Aise team capacity assumed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68580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AISE  ·  AI COACH APP — PRODUCT IMPROVEMENT CASE STUDY</a:t>
            </a:r>
          </a:p>
        </p:txBody>
      </p:sp>
      <p:sp>
        <p:nvSpPr>
          <p:cNvPr id="5" name="Rectangle 4"/>
          <p:cNvSpPr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96935" y="91440"/>
            <a:ext cx="29260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" b="1" i="0">
                <a:solidFill>
                  <a:srgbClr val="FFFFFF"/>
                </a:solidFill>
                <a:latin typeface="Calibri"/>
              </a:rPr>
              <a:t>EXPECTED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14455" y="91440"/>
            <a:ext cx="50292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14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02920"/>
            <a:ext cx="11643055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B2545"/>
                </a:solidFill>
                <a:latin typeface="Calibri"/>
              </a:rPr>
              <a:t>5 stacked interventions = 3× D7 retention, 4× session length, 5× free-to-paid conversion in one quarter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960120"/>
            <a:ext cx="1371600" cy="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" y="1188720"/>
            <a:ext cx="11643055" cy="26974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234440"/>
            <a:ext cx="11505895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BEFORE × AFTER  ·  6 KEY 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645920"/>
            <a:ext cx="1846021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" y="1645920"/>
            <a:ext cx="1846021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719072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645920"/>
            <a:ext cx="125166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D7 retention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148840"/>
            <a:ext cx="166314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359152"/>
            <a:ext cx="166314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10%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1169898" y="2743200"/>
            <a:ext cx="329184" cy="182880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71800"/>
            <a:ext cx="166314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63824"/>
            <a:ext cx="166314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32%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74720"/>
            <a:ext cx="1480261" cy="20116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474720"/>
            <a:ext cx="1480261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3.2×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48941" y="1645920"/>
            <a:ext cx="1846021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48941" y="1645920"/>
            <a:ext cx="1846021" cy="36576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6101" y="1719072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861" y="1645920"/>
            <a:ext cx="125166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Avg session length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0381" y="2148840"/>
            <a:ext cx="166314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40381" y="2359152"/>
            <a:ext cx="166314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2.5 min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3107359" y="2743200"/>
            <a:ext cx="329184" cy="18288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40381" y="2971800"/>
            <a:ext cx="166314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0381" y="3163824"/>
            <a:ext cx="166314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8 min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31821" y="3474720"/>
            <a:ext cx="1480261" cy="201168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31821" y="3474720"/>
            <a:ext cx="1480261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3.2×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86402" y="1645920"/>
            <a:ext cx="1846021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286402" y="1645920"/>
            <a:ext cx="1846021" cy="36576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23562" y="1719072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🎙️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9322" y="1645920"/>
            <a:ext cx="125166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Voice duration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7842" y="2148840"/>
            <a:ext cx="166314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7842" y="2359152"/>
            <a:ext cx="166314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&lt;1 min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5044820" y="2743200"/>
            <a:ext cx="329184" cy="182880"/>
          </a:xfrm>
          <a:prstGeom prst="down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7842" y="2971800"/>
            <a:ext cx="166314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7842" y="3163824"/>
            <a:ext cx="166314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4 min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69282" y="3474720"/>
            <a:ext cx="1480261" cy="201168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69282" y="3474720"/>
            <a:ext cx="1480261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4×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23863" y="1645920"/>
            <a:ext cx="1846021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23863" y="1645920"/>
            <a:ext cx="1846021" cy="36576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61023" y="1719072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6783" y="1645920"/>
            <a:ext cx="125166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Voice latency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15303" y="2148840"/>
            <a:ext cx="166314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15303" y="2359152"/>
            <a:ext cx="166314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2.2s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6982282" y="2743200"/>
            <a:ext cx="329184" cy="182880"/>
          </a:xfrm>
          <a:prstGeom prst="down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15303" y="2971800"/>
            <a:ext cx="166314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5303" y="3163824"/>
            <a:ext cx="166314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&lt;800ms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6743" y="3474720"/>
            <a:ext cx="1480261" cy="201168"/>
          </a:xfrm>
          <a:prstGeom prst="roundRect">
            <a:avLst>
              <a:gd name="adj" fmla="val 3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6743" y="3474720"/>
            <a:ext cx="1480261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−65%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61324" y="1645920"/>
            <a:ext cx="1846021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161324" y="1645920"/>
            <a:ext cx="1846021" cy="36576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98484" y="1719072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64244" y="1645920"/>
            <a:ext cx="125166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Free → Paid conv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52764" y="2148840"/>
            <a:ext cx="166314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52764" y="2359152"/>
            <a:ext cx="166314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0.5%</a:t>
            </a:r>
          </a:p>
        </p:txBody>
      </p:sp>
      <p:sp>
        <p:nvSpPr>
          <p:cNvPr id="62" name="Down Arrow 61"/>
          <p:cNvSpPr/>
          <p:nvPr/>
        </p:nvSpPr>
        <p:spPr>
          <a:xfrm>
            <a:off x="8919743" y="2743200"/>
            <a:ext cx="329184" cy="18288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52764" y="2971800"/>
            <a:ext cx="166314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52764" y="3163824"/>
            <a:ext cx="166314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2.5%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44204" y="3474720"/>
            <a:ext cx="1480261" cy="20116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44204" y="3474720"/>
            <a:ext cx="1480261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5×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98785" y="1645920"/>
            <a:ext cx="1846021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098785" y="1645920"/>
            <a:ext cx="1846021" cy="36576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235945" y="1719072"/>
            <a:ext cx="36576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01705" y="1645920"/>
            <a:ext cx="125166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NPS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190225" y="2148840"/>
            <a:ext cx="166314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TODAY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190225" y="2359152"/>
            <a:ext cx="166314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73" name="Down Arrow 72"/>
          <p:cNvSpPr/>
          <p:nvPr/>
        </p:nvSpPr>
        <p:spPr>
          <a:xfrm>
            <a:off x="10857204" y="2743200"/>
            <a:ext cx="329184" cy="182880"/>
          </a:xfrm>
          <a:prstGeom prst="down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90225" y="2971800"/>
            <a:ext cx="1663141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64748B"/>
                </a:solidFill>
                <a:latin typeface="Calibri"/>
              </a:rPr>
              <a:t>TARGET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190225" y="3163824"/>
            <a:ext cx="1663141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50+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281665" y="3474720"/>
            <a:ext cx="1480261" cy="201168"/>
          </a:xfrm>
          <a:prstGeom prst="roundRect">
            <a:avLst>
              <a:gd name="adj" fmla="val 3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281665" y="3474720"/>
            <a:ext cx="1480261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 i="0">
                <a:solidFill>
                  <a:srgbClr val="FFFFFF"/>
                </a:solidFill>
                <a:latin typeface="Calibri"/>
              </a:rPr>
              <a:t>+50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74320" y="4069080"/>
            <a:ext cx="576072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4114800"/>
            <a:ext cx="5623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RISKS  ·  AND HOW WE MITIGATE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480" y="4526280"/>
            <a:ext cx="5486400" cy="329184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4526280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Voice latency on 3G/4G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834640" y="4572000"/>
            <a:ext cx="59436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834640" y="4572000"/>
            <a:ext cx="59436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20440" y="4526280"/>
            <a:ext cx="2331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0F172A"/>
                </a:solidFill>
                <a:latin typeface="Calibri"/>
              </a:rPr>
              <a:t>Edge caching · pre-fetch · graceful degrade to text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11480" y="4873752"/>
            <a:ext cx="5486400" cy="329184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02920" y="4873752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Memory privacy concerns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834640" y="4919472"/>
            <a:ext cx="594360" cy="237744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834640" y="4919472"/>
            <a:ext cx="59436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20440" y="4873752"/>
            <a:ext cx="2331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0F172A"/>
                </a:solidFill>
                <a:latin typeface="Calibri"/>
              </a:rPr>
              <a:t>User-controlled deletion · DPDP Act compliance · clear UI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1480" y="5221224"/>
            <a:ext cx="5486400" cy="329184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02920" y="5221224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Persona feels gimmicky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834640" y="5266944"/>
            <a:ext cx="59436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34640" y="5266944"/>
            <a:ext cx="59436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520440" y="5221224"/>
            <a:ext cx="2331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0F172A"/>
                </a:solidFill>
                <a:latin typeface="Calibri"/>
              </a:rPr>
              <a:t>Single archetype default · let user discover others slowly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11480" y="5568696"/>
            <a:ext cx="5486400" cy="329184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2920" y="5568696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Feedback prompt fatigue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834640" y="5614416"/>
            <a:ext cx="594360" cy="237744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834640" y="5614416"/>
            <a:ext cx="59436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520440" y="5568696"/>
            <a:ext cx="2331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0F172A"/>
                </a:solidFill>
                <a:latin typeface="Calibri"/>
              </a:rPr>
              <a:t>Show pulse only on 1-of-5 sessions · skippable always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11480" y="5916168"/>
            <a:ext cx="5486400" cy="329184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02920" y="5916168"/>
            <a:ext cx="228600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F172A"/>
                </a:solidFill>
                <a:latin typeface="Calibri"/>
              </a:rPr>
              <a:t>A/B test pollution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834640" y="5961888"/>
            <a:ext cx="594360" cy="237744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834640" y="5961888"/>
            <a:ext cx="594360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75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20440" y="5916168"/>
            <a:ext cx="23317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0F172A"/>
                </a:solidFill>
                <a:latin typeface="Calibri"/>
              </a:rPr>
              <a:t>User-stratified bucketing · respect existing arms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172200" y="4069080"/>
            <a:ext cx="5760720" cy="2194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309360" y="4114800"/>
            <a:ext cx="562356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0B2545"/>
                </a:solidFill>
                <a:latin typeface="Calibri"/>
              </a:rPr>
              <a:t>KEY ASSUMPTIONS  ·  REVISIT IF DATA SHIFTS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6309360" y="4526280"/>
            <a:ext cx="5486400" cy="274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00800" y="452628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AUDIENCE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818120" y="4526280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User base = young Indian professionals + students 18-35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6309360" y="4818888"/>
            <a:ext cx="5486400" cy="274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00800" y="4818888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COST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18120" y="4818888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Combined infra cost stays under ₹15/user/month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309360" y="5111496"/>
            <a:ext cx="5486400" cy="274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00800" y="5111496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LLM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18120" y="5111496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GPT-4o-mini or comparable as base model · ₹0.5/conv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309360" y="5404104"/>
            <a:ext cx="5486400" cy="274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400800" y="5404104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HINDI VOICE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818120" y="5404104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Sarvam Bulbul-2 quality is sufficient for tier 2/3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6309360" y="5696712"/>
            <a:ext cx="5486400" cy="274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400800" y="5696712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TEAM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818120" y="5696712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3-4 person team execution · 14-day sprint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6309360" y="5989320"/>
            <a:ext cx="5486400" cy="274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400800" y="598932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1" i="0">
                <a:solidFill>
                  <a:srgbClr val="0B2545"/>
                </a:solidFill>
                <a:latin typeface="Calibri"/>
              </a:rPr>
              <a:t>COMPLIANCE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818120" y="5989320"/>
            <a:ext cx="39319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780" b="0" i="0">
                <a:solidFill>
                  <a:srgbClr val="0F172A"/>
                </a:solidFill>
                <a:latin typeface="Calibri"/>
              </a:rPr>
              <a:t>DPDP Act 2023 personal data · explicit consent at onboard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74320" y="6583680"/>
            <a:ext cx="11643055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700" b="0" i="1">
                <a:solidFill>
                  <a:srgbClr val="64748B"/>
                </a:solidFill>
                <a:latin typeface="Calibri"/>
              </a:rPr>
              <a:t>SOURCE  ·  Risk register: standard product risks · DPDP Act 2023 · cost benchmarks from OpenAI / Anthropic / Sarvam pricing 2024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4572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41148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6B6D4"/>
                </a:solidFill>
                <a:latin typeface="Calibri"/>
              </a:rPr>
              <a:t>THE BIG BET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4206240" cy="2926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Stop building</a:t>
            </a:r>
          </a:p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an AI tool.</a:t>
            </a:r>
          </a:p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Start building</a:t>
            </a:r>
          </a:p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a relationship.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4663440"/>
            <a:ext cx="1828800" cy="0"/>
          </a:xfrm>
          <a:prstGeom prst="line">
            <a:avLst/>
          </a:prstGeom>
          <a:ln w="2540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800600"/>
            <a:ext cx="42062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50" b="0" i="1">
                <a:solidFill>
                  <a:srgbClr val="CBD5E1"/>
                </a:solidFill>
                <a:latin typeface="Calibri"/>
              </a:rPr>
              <a:t>The peers winning today (Replika, Pi, Character.AI) all win on memory + personality. Aise has India + intent. With 14 days of focused work, it can have all three.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06B6D4"/>
                </a:solidFill>
                <a:latin typeface="Calibri"/>
              </a:rPr>
              <a:t>DIVYAMAN PAL  ·  IIT KANPUR  ·  divyamp23@iitk.ac.in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502920"/>
            <a:ext cx="640080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0B2545"/>
                </a:solidFill>
                <a:latin typeface="Calibri"/>
              </a:rPr>
              <a:t>WHAT AISE WILL HAVE BY DAY 14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0" y="960120"/>
            <a:ext cx="2286000" cy="0"/>
          </a:xfrm>
          <a:prstGeom prst="line">
            <a:avLst/>
          </a:prstGeom>
          <a:ln w="317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486400" y="118872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1188720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MEMORY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188720"/>
            <a:ext cx="4251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Two-tier (STM + LTM) shipped · vector DB live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1691640"/>
            <a:ext cx="61264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86400" y="178308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1783080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VOICE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783080"/>
            <a:ext cx="4251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&lt;800ms first-token · 4 voice presets · emotion-aware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0" y="2286000"/>
            <a:ext cx="61264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486400" y="237744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2377440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PERSONA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377440"/>
            <a:ext cx="4251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5 archetypes · adaptive tone · zero "As an AI..." responses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0" y="2880360"/>
            <a:ext cx="61264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486400" y="297180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2971800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971800"/>
            <a:ext cx="4251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Thumbs UI live · pulse survey · weekly quality dashboard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0" y="3474720"/>
            <a:ext cx="61264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86400" y="356616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3566160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EXPERIMENTS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566160"/>
            <a:ext cx="4251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GrowthBook integrated · prompt registry · 2 active A/B tests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0" y="4069080"/>
            <a:ext cx="61264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486400" y="4160520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0" y="4160520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160520"/>
            <a:ext cx="42519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0F172A"/>
                </a:solidFill>
                <a:latin typeface="Calibri"/>
              </a:rPr>
              <a:t>D7 climbing 10% → 18% (Phase 1) → 32% (Phase 3) over 90 days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0" y="4663440"/>
            <a:ext cx="61264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486400" y="4937760"/>
            <a:ext cx="640080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9050">
            <a:solidFill>
              <a:srgbClr val="0B2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0" y="4937760"/>
            <a:ext cx="91440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5029200"/>
            <a:ext cx="6217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 i="0">
                <a:solidFill>
                  <a:srgbClr val="06B6D4"/>
                </a:solidFill>
                <a:latin typeface="Calibri"/>
              </a:rPr>
              <a:t>OPERATING PRINCIPLE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5303520"/>
            <a:ext cx="621792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1">
                <a:solidFill>
                  <a:srgbClr val="0B2545"/>
                </a:solidFill>
                <a:latin typeface="Calibri"/>
              </a:rPr>
              <a:t>"People don't fall in love with AI. They fall in love with how AI makes them feel — heard, remembered, understood."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5897880"/>
            <a:ext cx="62179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Memory is the moat. Personality is the magic. Feedback is the flywheel.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6492240"/>
            <a:ext cx="6400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4748B"/>
                </a:solidFill>
                <a:latin typeface="Calibri"/>
              </a:rPr>
              <a:t>Aise · Product Improvement Case Study · v1.0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