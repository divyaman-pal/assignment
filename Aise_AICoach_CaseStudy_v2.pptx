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8495" y="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AF7F2"/>
                </a:solidFill>
                <a:latin typeface="Calibri"/>
              </a:rPr>
              <a:t>ISSUE 01  ·  PRODUCT REVIEWS  ·  2025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502920" cy="0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96012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E76F51"/>
                </a:solidFill>
                <a:latin typeface="Calibri"/>
              </a:rPr>
              <a:t>A PRODUCT REVIEW  ·  AFTER 3 DAYS OF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8686800" cy="2194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8000" b="1">
                <a:solidFill>
                  <a:srgbClr val="1A1A1A"/>
                </a:solidFill>
                <a:latin typeface="Calibri"/>
              </a:rPr>
              <a:t>Aise</a:t>
            </a:r>
            <a:r>
              <a:rPr sz="18000" b="1">
                <a:solidFill>
                  <a:srgbClr val="E76F51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77724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2D2D2D"/>
                </a:solidFill>
                <a:latin typeface="Calibri"/>
              </a:rPr>
              <a:t>Why a thoughtful AI coach feels like a chatbot —</a:t>
            </a:r>
          </a:p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2D2D2D"/>
                </a:solidFill>
                <a:latin typeface="Calibri"/>
              </a:rPr>
              <a:t>and the five fixes that turn the tool into a relationship.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4846320"/>
            <a:ext cx="77724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983480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C4453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THE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2D2D2D"/>
                </a:solidFill>
                <a:latin typeface="Calibri"/>
              </a:rPr>
              <a:t>Five product holes I noticed by Day 2 of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983480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3D405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02920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THE PEERS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30352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2D2D2D"/>
                </a:solidFill>
                <a:latin typeface="Calibri"/>
              </a:rPr>
              <a:t>What Replika, Pi, Sesame &amp; Hume already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983480"/>
            <a:ext cx="457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2A9D8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0352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2D2D2D"/>
                </a:solidFill>
                <a:latin typeface="Calibri"/>
              </a:rPr>
              <a:t>A 14-day rebuild memo for the Aise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REVIEWED &amp; WRITTEN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AF7F2"/>
                </a:solidFill>
                <a:latin typeface="Calibri"/>
              </a:rPr>
              <a:t>Divyaman Pal  ·  IIT Kanpur  ·  divyamp23@iitk.ac.in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5" y="635508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1">
                <a:solidFill>
                  <a:srgbClr val="FAF7F2"/>
                </a:solidFill>
                <a:latin typeface="Calibri"/>
              </a:rPr>
              <a:t>App  ·  com.vel.aise.app on Google 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897380"/>
            <a:ext cx="91440" cy="274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1783080"/>
            <a:ext cx="91440" cy="50292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851660"/>
            <a:ext cx="9144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9840" y="1691640"/>
            <a:ext cx="91440" cy="6858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1828800"/>
            <a:ext cx="91440" cy="41148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15600" y="1737360"/>
            <a:ext cx="91440" cy="5943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98480" y="1874520"/>
            <a:ext cx="91440" cy="32004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881360" y="1805940"/>
            <a:ext cx="9144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064240" y="1897380"/>
            <a:ext cx="91440" cy="274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247120" y="1828800"/>
            <a:ext cx="91440" cy="41148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251460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1">
                <a:solidFill>
                  <a:srgbClr val="8B8680"/>
                </a:solidFill>
                <a:latin typeface="Calibri"/>
              </a:rPr>
              <a:t>voice · memory · persona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FOREWORD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I downloaded Aise on a Tuesday, talked to it for three mornings, and stopped on Friday — here's why.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WHY I'M WRITING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649224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78308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783080"/>
            <a:ext cx="49377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I'm a recent IIT-K grad who tries new AI products carefully and notes what works and what doesn't. I'm not affiliated with the Aise team.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649224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4864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5176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651760"/>
            <a:ext cx="49377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Aise is positioned as an AI coaching app — voice + chat — with multiple personas. The promise is clear: a daily companion for personal growth.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29000"/>
            <a:ext cx="649224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2044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520440"/>
            <a:ext cx="49377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I tried the app on a Pixel device for three consecutive days. Roughly four short sessions per day. Some voice, some text. No edge-case prodding — just normal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649224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54864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8912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WHY THIS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389120"/>
            <a:ext cx="49377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By day three I felt the same gaps that, in my view, hold back many AI consumer apps in India. They are all fixable. This is a memo, not a takedown.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1188720"/>
            <a:ext cx="466344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2A9D8F"/>
                </a:solidFill>
                <a:latin typeface="Calibri"/>
              </a:rPr>
              <a:t>GROUND RULES OF THIS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6916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0" y="16916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6916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17373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Observations are mine — calibrated against published peer features, not internal Aise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3774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06640" y="23774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23774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4231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Where I cite numbers (latency, etc.), the source is public — Sesame demo, Pi blog, OpenAI release notes.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0632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30632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0632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1089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I do not invent Aise-specific metrics (D7, NPS, etc.). I haven't been given them; I won't fabricate them.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37490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6640" y="37490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37490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7947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I do not name personas, screenshots, or proprietary content from the app.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44348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06640" y="44348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4348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4805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Where I project an outcome, I label it 'directional' — the magnitude is for the team to validate.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5120640"/>
            <a:ext cx="4434840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406640" y="5120640"/>
            <a:ext cx="457200" cy="640080"/>
          </a:xfrm>
          <a:prstGeom prst="roundRect">
            <a:avLst>
              <a:gd name="adj" fmla="val 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120640"/>
            <a:ext cx="4572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16636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Where peers are clearly ahead, I say so plainly. Where Aise leads, I say so plainly.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Personal usage · Pixel-class Android · 3 consecutive days · ~4 sessions/day · voice + text mixed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What I knew going in, and what I tried to test — kept the test set deliberately narrow and ordinary.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576072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THE APP  ·  WHAT IS AISE?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830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76F51"/>
                </a:solidFill>
                <a:latin typeface="Calibri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783080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coaching app — voice + text chat with multiple AI characters/personas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49424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249424"/>
            <a:ext cx="54864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40864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2A9D8F"/>
                </a:solidFill>
                <a:latin typeface="Calibri"/>
              </a:rPr>
              <a:t>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340864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On-demand coaching · personal growth, focus, mood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807208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07208"/>
            <a:ext cx="54864" cy="50292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3D405B"/>
                </a:solidFill>
                <a:latin typeface="Calibri"/>
              </a:rPr>
              <a:t>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98648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Pick a coach · talk in voice or type · session-based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64992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364992"/>
            <a:ext cx="54864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56432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9C46A"/>
                </a:solidFill>
                <a:latin typeface="Calibri"/>
              </a:rPr>
              <a:t>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56432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Visible Hindi support — appears tailored to Indian users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922776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922776"/>
            <a:ext cx="54864" cy="502920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14216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84A98C"/>
                </a:solidFill>
                <a:latin typeface="Calibri"/>
              </a:rP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014216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Free with paid tier visible in-app (assumed freemium)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4805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480560"/>
            <a:ext cx="54864" cy="502920"/>
          </a:xfrm>
          <a:prstGeom prst="rect">
            <a:avLst/>
          </a:prstGeom>
          <a:solidFill>
            <a:srgbClr val="8B8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7200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8B8680"/>
                </a:solidFill>
                <a:latin typeface="Calibri"/>
              </a:rPr>
              <a:t>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572000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Google Play  ·  com.vel.aise.app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188720"/>
            <a:ext cx="576072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23444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2A9D8F"/>
                </a:solidFill>
                <a:latin typeface="Calibri"/>
              </a:rPr>
              <a:t>3-DAY USAGE LOG  ·  WHAT I OBSERVED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1691640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1691640"/>
            <a:ext cx="54864" cy="53949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182880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828800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173736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76F51"/>
                </a:solidFill>
                <a:latin typeface="Calibri"/>
              </a:rPr>
              <a:t>ONBOARDING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1938528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Picked a coach. Voice immediately felt synthetic. Tried both voice &amp; text modes side-by-side.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2267712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2267712"/>
            <a:ext cx="54864" cy="53949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46520" y="2404872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404872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313432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C44536"/>
                </a:solidFill>
                <a:latin typeface="Calibri"/>
              </a:rPr>
              <a:t>FIRST CHAT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2514600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Asked about a near-term goal. Got a response that felt generic — could've been written for anyone.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2843784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2843784"/>
            <a:ext cx="54864" cy="53949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2980944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298094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2889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C44536"/>
                </a:solidFill>
                <a:latin typeface="Calibri"/>
              </a:rPr>
              <a:t>SECOND 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3090672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The coach didn't recall the goal from yesterday. I had to re-introduce context to get usable replies.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419856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3419856"/>
            <a:ext cx="54864" cy="53949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46520" y="3557016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557016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346557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76F51"/>
                </a:solidFill>
                <a:latin typeface="Calibri"/>
              </a:rPr>
              <a:t>VOICE MODE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3666744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Voice felt slow to start; no fillers, no pauses. Conversation rhythm felt one-sided.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3995928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3995928"/>
            <a:ext cx="54864" cy="53949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446520" y="4133088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133088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40416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76F51"/>
                </a:solidFill>
                <a:latin typeface="Calibri"/>
              </a:rPr>
              <a:t>MOOD CHECK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4242816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Tone stayed flat across topics. When I sounded down, the coach didn't shift.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4572000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4572000"/>
            <a:ext cx="54864" cy="53949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446520" y="47091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4709160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461772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9C46A"/>
                </a:solidFill>
                <a:latin typeface="Calibri"/>
              </a:rPr>
              <a:t>FEEDBACK SEARCH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818888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Looked for a thumbs-up or rating after a useful reply. Couldn't find one.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09360" y="5148072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5148072"/>
            <a:ext cx="54864" cy="53949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6520" y="5285232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5285232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5193792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9C46A"/>
                </a:solidFill>
                <a:latin typeface="Calibri"/>
              </a:rPr>
              <a:t>FINAL SESSION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32320" y="5394960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By session ten or so, the relationship hadn't deepened. The pull to come back tomorrow wasn't there.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09360" y="5724144"/>
            <a:ext cx="5486400" cy="5394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09360" y="5724144"/>
            <a:ext cx="54864" cy="5394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46520" y="5861304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586130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2320" y="576986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MY READ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32320" y="5971032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Strong intent + clean UI + India-focus. But no relationship layer = no reason to return on Day 4.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Personal observation only — no internal Aise metrics consulted, no edge-case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THE 5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Five gaps span the AI stack — voice (hearing), memory (continuity), persona (warmth), feedback (learning), experimentation (compounding).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2255459" cy="502920"/>
          </a:xfrm>
          <a:prstGeom prst="roundRect">
            <a:avLst>
              <a:gd name="adj" fmla="val 2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ROBOTIC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C44536"/>
                </a:solidFill>
                <a:latin typeface="Calibri"/>
              </a:rPr>
              <a:t>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88969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1">
                <a:solidFill>
                  <a:srgbClr val="2D2D2D"/>
                </a:solidFill>
                <a:latin typeface="Calibri"/>
              </a:rPr>
              <a:t>Voice felt synthetic from the first sentence. No emotional adaptation. Latency made it feel turn-based, not conversational.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1981139" cy="24688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40"/>
            <a:ext cx="1798259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Same prosody every line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Noticeable wait before voice starts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fillers · no pauses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One voice across all topics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1219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21219" y="1188720"/>
            <a:ext cx="2255459" cy="502920"/>
          </a:xfrm>
          <a:prstGeom prst="roundRect">
            <a:avLst>
              <a:gd name="adj" fmla="val 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2659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5579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 MEMORY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ACROSS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1219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E76F51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099" y="2606040"/>
            <a:ext cx="188969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1">
                <a:solidFill>
                  <a:srgbClr val="2D2D2D"/>
                </a:solidFill>
                <a:latin typeface="Calibri"/>
              </a:rPr>
              <a:t>Day-2 conversation began like Day 1. No continuity of goal, preference, or recent moments.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58379" y="3657600"/>
            <a:ext cx="1981139" cy="24688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9819" y="3749040"/>
            <a:ext cx="1798259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Coach forgot the Day-1 context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Re-introduction every session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goal tracking carried forward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Preferences re-asked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68118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68118" y="1188720"/>
            <a:ext cx="2255459" cy="502920"/>
          </a:xfrm>
          <a:prstGeom prst="roundRect">
            <a:avLst>
              <a:gd name="adj" fmla="val 2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9558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2478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GENERIC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AI VOICE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118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E9C46A"/>
                </a:solidFill>
                <a:latin typeface="Calibri"/>
              </a:rPr>
              <a:t>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0998" y="2606040"/>
            <a:ext cx="188969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1">
                <a:solidFill>
                  <a:srgbClr val="2D2D2D"/>
                </a:solidFill>
                <a:latin typeface="Calibri"/>
              </a:rPr>
              <a:t>Replies sounded like they could be addressed to anyone. No distinct character, no signature phrasing.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5278" y="3657600"/>
            <a:ext cx="1981139" cy="24688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6718" y="3749040"/>
            <a:ext cx="1798259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felt 'character' in the coach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Tone flat across moods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Falls into 'as an AI...' pattern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Hard to remember the coach later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017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017" y="1188720"/>
            <a:ext cx="2255459" cy="50292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457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377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 FEEDBACK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017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2A9D8F"/>
                </a:solidFill>
                <a:latin typeface="Calibri"/>
              </a:rPr>
              <a:t>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7897" y="2606040"/>
            <a:ext cx="188969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1">
                <a:solidFill>
                  <a:srgbClr val="2D2D2D"/>
                </a:solidFill>
                <a:latin typeface="Calibri"/>
              </a:rPr>
              <a:t>I couldn't tell the app what worked or what didn't — no thumbs, no rating, no end-of-session pulse.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177" y="3657600"/>
            <a:ext cx="1981139" cy="24688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617" y="3749040"/>
            <a:ext cx="1798259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way to mark a good response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end-of-session prompt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Drop-offs aren't surfaceable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Quality slips can't be caught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61916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4A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61916" y="1188720"/>
            <a:ext cx="2255459" cy="502920"/>
          </a:xfrm>
          <a:prstGeom prst="roundRect">
            <a:avLst>
              <a:gd name="adj" fmla="val 2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3356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6276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 VISIBLE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1916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84A98C"/>
                </a:solidFill>
                <a:latin typeface="Calibri"/>
              </a:rPr>
              <a:t>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4796" y="2606040"/>
            <a:ext cx="188969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1">
                <a:solidFill>
                  <a:srgbClr val="2D2D2D"/>
                </a:solidFill>
                <a:latin typeface="Calibri"/>
              </a:rPr>
              <a:t>Across three days, the experience felt static. Nothing about my use seemed to be informing what I got next.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99076" y="3657600"/>
            <a:ext cx="1981139" cy="24688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90516" y="3749040"/>
            <a:ext cx="1798259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personalization felt over time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A/B variants observable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No iteration cadence visible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•  Feels frozen, not improving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Each gap is a qualitative observation from 3-day use — severity is my read, not Aise-internal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WHAT PEERS ALREADY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Peers have publicly shipped solutions to four of Aise's five gaps — Aise's only standalone strength is India context.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FEATURE PRESENCE  ·  AISE VS 7 PEERS (PUBLICLY VERIFIABLE)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6309360" cy="3657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EXPER.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4592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AF7F2"/>
                </a:solidFill>
                <a:latin typeface="Calibri"/>
              </a:rPr>
              <a:t>INDIA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01168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EE5E0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1168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44536"/>
                </a:solidFill>
                <a:latin typeface="Calibri"/>
              </a:rPr>
              <a:t>Aise (current)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0756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20756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20756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20756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0756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07568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01168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37744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37744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Replika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244144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237744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274320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274320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Pi (Inflection)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8072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28072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0" y="28072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63440" y="28072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28072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280720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274320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310896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10896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Character.AI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94560" y="31729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168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17520" y="31729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40480" y="31729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63440" y="31729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0" y="31729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09360" y="317296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310896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347472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347472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Sesame AI (Maya/Miles)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94560" y="353872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1168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17520" y="353872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40480" y="353872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663440" y="353872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6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0" y="353872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09360" y="353872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47472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384048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384048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ChatGPT Voice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94560" y="39044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1168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017520" y="39044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3464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40480" y="39044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63440" y="39044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056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0" y="390448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9360" y="390448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26480" y="384048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11480" y="420624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420624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Hume EVI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194560" y="42702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1168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17520" y="42702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3464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40480" y="42702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5760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63440" y="42702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056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86400" y="42702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0352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427024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26480" y="420624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" y="4572000"/>
            <a:ext cx="630936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457200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Wysa (mental health)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94560" y="46360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1168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017520" y="46360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3464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840480" y="46360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65760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63440" y="46360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8056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0" y="463600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0352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309360" y="4636008"/>
            <a:ext cx="228600" cy="23774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26480" y="457200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148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1148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152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Best-in-class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69164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69164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01168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Solid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97180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7180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184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Partial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5196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25196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Missing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53212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DD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53212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85216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n/a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269480" y="1188720"/>
            <a:ext cx="466344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VISUAL  ·  AISE TODAY VS PEERS VS PROPOSED</a:t>
            </a:r>
          </a:p>
        </p:txBody>
      </p:sp>
      <p:pic>
        <p:nvPicPr>
          <p:cNvPr id="149" name="Picture 148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526280" cy="466344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Scoring: my read after 3-day use, calibrated against public docs — Sesame.com, Pi.ai, Replika.com, hume.ai, character.ai, openai.com, wysa.com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5 GAPS → 5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Each gap maps to a known, well-documented solution — none of these are new ideas; they're tablestakes peers have shipped.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4434840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4864" cy="96012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132588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32588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28016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46304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Robotic · slow start · no emotion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46320" y="1463040"/>
            <a:ext cx="502920" cy="41148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1188720"/>
            <a:ext cx="6446520" cy="9601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18872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132588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32588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01  EMOTION-AWARE 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28016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SHAPE OF THE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4630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Streaming output · pauses &amp; fillers · multiple voice presets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55648"/>
            <a:ext cx="4754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1">
                <a:solidFill>
                  <a:srgbClr val="3D405B"/>
                </a:solidFill>
                <a:latin typeface="Calibri"/>
              </a:rPr>
              <a:t>References: Sesame TTS, ElevenLabs Multilingual v2, Hume EVI, Sarvam Bulbul-2 (Hindi)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194560"/>
            <a:ext cx="4434840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54864" cy="960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233172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3172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28600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46888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No continuity across sessions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846320" y="2468880"/>
            <a:ext cx="502920" cy="41148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0" y="2194560"/>
            <a:ext cx="6446520" cy="9601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219456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23560" y="233172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233172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02  TWO-TIER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2860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SHAPE OF THE 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46888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Short-term context window + long-term semantic store with summaries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761488"/>
            <a:ext cx="4754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1">
                <a:solidFill>
                  <a:srgbClr val="3D405B"/>
                </a:solidFill>
                <a:latin typeface="Calibri"/>
              </a:rPr>
              <a:t>Patterns: vector store (e.g., pgvector / Pinecone), Mem0, OpenAI Memory pattern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200400"/>
            <a:ext cx="4434840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200400"/>
            <a:ext cx="54864" cy="9601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1480" y="333756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33756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 PERSONA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2918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347472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Generic AI voice · 'as an AI...' patterns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846320" y="3474720"/>
            <a:ext cx="502920" cy="41148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0" y="3200400"/>
            <a:ext cx="6446520" cy="9601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320040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23560" y="333756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3337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03  PERSONA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32918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SHAPE OF THE FIX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47472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Distinct character archetypes · adaptive tone by user mood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767328"/>
            <a:ext cx="4754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1">
                <a:solidFill>
                  <a:srgbClr val="3D405B"/>
                </a:solidFill>
                <a:latin typeface="Calibri"/>
              </a:rPr>
              <a:t>References: Character.AI persona docs, Anthropic Claude character work, prompt-eng best practice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4206240"/>
            <a:ext cx="4434840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20624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11480" y="434340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34340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 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8760" y="42976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GAP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448056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No way for user to signal good/bad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846320" y="4480560"/>
            <a:ext cx="502920" cy="41148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86400" y="4206240"/>
            <a:ext cx="6446520" cy="9601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420624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23560" y="434340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434340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04  FEEDBACK CAPTURE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429768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SHAPE OF THE FIX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448056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Per-response thumbs + end-of-session pulse + implicit drop-off telemetry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4773168"/>
            <a:ext cx="4754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1">
                <a:solidFill>
                  <a:srgbClr val="3D405B"/>
                </a:solidFill>
                <a:latin typeface="Calibri"/>
              </a:rPr>
              <a:t>References: ChatGPT thumbs · LangSmith eval · Anthropic Constitutional AI feedback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212080"/>
            <a:ext cx="4434840" cy="960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4A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212080"/>
            <a:ext cx="54864" cy="960120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11480" y="534924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534924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05  EXPERIMENT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08760" y="530352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GAP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08760" y="548640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No visible iteration / improvement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846320" y="5486400"/>
            <a:ext cx="502920" cy="41148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486400" y="5212080"/>
            <a:ext cx="6446520" cy="9601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0" y="521208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623560" y="53492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23560" y="534924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05  A/B HARNESS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600" y="530352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8B8680"/>
                </a:solidFill>
                <a:latin typeface="Calibri"/>
              </a:rPr>
              <a:t>SHAPE OF THE FIX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86600" y="54864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Prompt versioning · feature-flag-gated rollout · weekly experiment cadence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86600" y="5779008"/>
            <a:ext cx="4754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1">
                <a:solidFill>
                  <a:srgbClr val="3D405B"/>
                </a:solidFill>
                <a:latin typeface="Calibri"/>
              </a:rPr>
              <a:t>References: GrowthBook, Statsig, Langfuse, Helicone — all support prompt-level experiments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Each fix has prior art — the goal is to assemble known patterns thoughtfully, not invent new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01  · 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Fix the voice and you change the first impression — peers have publicly demoed sub-800ms first-token; that is the bar to clear.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3759098" cy="411480"/>
          </a:xfrm>
          <a:prstGeom prst="roundRect">
            <a:avLst>
              <a:gd name="adj" fmla="val 2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 FELT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Voice sounded synthetic from the first reply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Noticeable wait before voice starts speaking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Tone stayed flat regardless of topic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No natural pauses, no fillers — just sentences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Same voice across personas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6298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16298" y="1188720"/>
            <a:ext cx="3759098" cy="411480"/>
          </a:xfrm>
          <a:prstGeom prst="roundRect">
            <a:avLst>
              <a:gd name="adj" fmla="val 2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9178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3538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178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Adopt a streaming-capable TTS (Hume / Sesame / 11Labs)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Stream audio while text is generating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Insert pauses &amp; fillers in the system prompt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Detect user mood → switch tone (happy/calm/serious)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Ship 3–5 voice presets so users can pick a vibe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8276" y="1188720"/>
            <a:ext cx="3759098" cy="41148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516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BUYS US (DIRECTIONAL)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First-impression flips from "chatbot" to "someone"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Voice mode becomes the default, not a fallback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Word-of-mouth: people show their friends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Foundation for emotion-aware coaching later</a:t>
            </a:r>
          </a:p>
          <a:p>
            <a:pPr algn="l">
              <a:lnSpc>
                <a:spcPct val="155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•  Hindi-first voices unlock Bharat tier-2/3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749039"/>
            <a:ext cx="7498079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94760"/>
            <a:ext cx="736091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VOICE LATENCY  ·  PUBLIC PEER REFERENCES (AISE SHOWN QUALITATIVELY)</a:t>
            </a:r>
          </a:p>
        </p:txBody>
      </p:sp>
      <p:pic>
        <p:nvPicPr>
          <p:cNvPr id="27" name="Picture 26" descr="voic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7223760" cy="21031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909560" y="3749039"/>
            <a:ext cx="4023360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794760"/>
            <a:ext cx="3886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CANDIDATE TECH STACK  ·  REVIEW WITH ENG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60520"/>
            <a:ext cx="3749039" cy="38404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60520"/>
            <a:ext cx="54864" cy="38404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197096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TTS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361688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Hume EVI / ElevenLabs / Sesame / OpenAI TTS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581144"/>
            <a:ext cx="3749039" cy="38404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581144"/>
            <a:ext cx="54864" cy="384048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4617720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3D405B"/>
                </a:solidFill>
                <a:latin typeface="Calibri"/>
              </a:rPr>
              <a:t>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782312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Chunked WebSocket playback for first-audio speed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001768"/>
            <a:ext cx="3749039" cy="38404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5001768"/>
            <a:ext cx="54864" cy="38404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5038344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EMOTION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5202936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Whisper STT + emotion classifier or Hume native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422392"/>
            <a:ext cx="3749039" cy="38404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5422392"/>
            <a:ext cx="54864" cy="38404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5458968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9C46A"/>
                </a:solidFill>
                <a:latin typeface="Calibri"/>
              </a:rPr>
              <a:t>HINDI VOICES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623560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Sarvam Bulbul-2 / ElevenLabs Hindi voices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843016"/>
            <a:ext cx="3749039" cy="38404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5843016"/>
            <a:ext cx="54864" cy="384048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6448" y="5879592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84A98C"/>
                </a:solidFill>
                <a:latin typeface="Calibri"/>
              </a:rPr>
              <a:t>PAUSES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6044184"/>
            <a:ext cx="35661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SSML &lt;break/&gt; + prompt instructions for fillers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Latency anchors: Sesame.com Mar-2024 demo · Pi.ai public claims · OpenAI ChatGPT Voice (2024) · qualitative bar from product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02  · 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Memory is what turns a chatbot into a coach — the architecture is well-trodden; it's an integration job, not a research project.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TWO-TIER MEMORY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3154680" cy="1508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154680" cy="365760"/>
          </a:xfrm>
          <a:prstGeom prst="roundRect">
            <a:avLst>
              <a:gd name="adj" fmla="val 10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🧠  SHORT-TERM (STM)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28803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In-session conversation context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Generous token window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Maintains tone &amp; topic continuity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Volatile · resets at session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1691640"/>
            <a:ext cx="3154680" cy="1508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94760" y="1691640"/>
            <a:ext cx="3154680" cy="36576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691640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💾  LONG-TERM (LTM)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103120"/>
            <a:ext cx="28803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Cross-session vector store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Goals · preferences · facts · key moments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Top-k semantic retrieval per turn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•  Persistent · summarised periodically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37560" y="3337560"/>
            <a:ext cx="457200" cy="457200"/>
          </a:xfrm>
          <a:prstGeom prst="downArrow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6492240" cy="86868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6309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🤖  PROMPT  =  SYSTEM + PERSONA + RETRIEVED MEMORIES + STM + USER 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6309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1">
                <a:solidFill>
                  <a:srgbClr val="FAF7F2"/>
                </a:solidFill>
                <a:latin typeface="Calibri"/>
              </a:rPr>
              <a:t>Each turn pulls top-k memories by semantic relevance + recency + importance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83480"/>
            <a:ext cx="6492240" cy="11887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6309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WHAT THE COACH MIGHT REMEMBER (ILLUSTRATIVE — NOT REAL USER DATA)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303520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said "I want to crack CAT this November" → tracked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0468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Preference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504688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Prefers Hindi · short replies · evening sessions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05856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Fact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705856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Final-year B.Tech · in Jaipur · stress before mocks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07024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Last topic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907024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Day 4 was about time-management · agreed on 2-hr daily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1188720"/>
            <a:ext cx="466344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BUILD CHOICES · WORTH DEBATING WITH ENG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1645920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64592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Vector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64592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pgvector if Postgres-native · Pinecone / Weaviate as managed alts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029968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2029968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Embeddings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029968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OpenAI / Cohere multilingual — Hindi quality matters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2414016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2414016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Retrieval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2414016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Top-k semantic + recency decay + importance score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2798064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2798064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Summarizer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798064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Periodic compaction every N turns / session-end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3182112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3182112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Privacy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182112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User-controlled deletion · DPDP Act compliance · clear UI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3749039"/>
            <a:ext cx="4663440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379476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WHAT MEMORY CHANGES (DIRECTIONAL)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06640" y="4160520"/>
            <a:ext cx="4389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06640" y="4160520"/>
            <a:ext cx="54864" cy="38404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16368" y="4160520"/>
            <a:ext cx="1371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CONTINUITY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4160520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Day-2 conversation feels like Day-2, not Day-1 again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4581144"/>
            <a:ext cx="4389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06640" y="4581144"/>
            <a:ext cx="54864" cy="38404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4581144"/>
            <a:ext cx="1371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76F51"/>
                </a:solidFill>
                <a:latin typeface="Calibri"/>
              </a:rPr>
              <a:t>PERSONAL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4581144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feels "this coach knows me" — qualitative shift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6640" y="5001768"/>
            <a:ext cx="4389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06640" y="5001768"/>
            <a:ext cx="54864" cy="384048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8" y="5001768"/>
            <a:ext cx="1371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3D405B"/>
                </a:solidFill>
                <a:latin typeface="Calibri"/>
              </a:rPr>
              <a:t>LESS RE-PROMPT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5001768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stops re-introducing the same context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06640" y="5422392"/>
            <a:ext cx="4389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06640" y="5422392"/>
            <a:ext cx="54864" cy="38404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16368" y="5422392"/>
            <a:ext cx="1371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9C46A"/>
                </a:solidFill>
                <a:latin typeface="Calibri"/>
              </a:rPr>
              <a:t>GOAL TRACKING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5422392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Coach can hold the user accountable to stated goals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06640" y="5843016"/>
            <a:ext cx="4389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4A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06640" y="5843016"/>
            <a:ext cx="54864" cy="384048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16368" y="5843016"/>
            <a:ext cx="1371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84A98C"/>
                </a:solidFill>
                <a:latin typeface="Calibri"/>
              </a:rPr>
              <a:t>FOUNDATION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15400" y="5843016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Unlocks every future personalisation feature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Patterns: standard RAG + memory architectures (LangChain/LlamaIndex/Mem0) · Replika &amp; Pi public memory features · DPDP Act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03  · 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Distinct personas + adaptive tone is what turns 'an AI' into 'a coach' — and pulls users back the next morning.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11643055" cy="2606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50589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5 SUGGESTED ARCHETYPES  ·  USER PICKS ONE AT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2246315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3D405B"/>
                </a:solidFill>
                <a:latin typeface="Calibri"/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Sharp · direct · accountability-first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For: career &amp; exam goals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2063435" cy="45720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3D405B"/>
                </a:solidFill>
                <a:latin typeface="Calibri"/>
              </a:rPr>
              <a:t>"You said 2 hours — what did you actually do?"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21803" y="1645920"/>
            <a:ext cx="2246315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21803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1803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MENTOR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1803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E76F51"/>
                </a:solidFill>
                <a:latin typeface="Calibri"/>
              </a:rPr>
              <a:t>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3243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Wise · patient · long-view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3243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For: life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3243" y="3200400"/>
            <a:ext cx="2063435" cy="45720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8963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E76F51"/>
                </a:solidFill>
                <a:latin typeface="Calibri"/>
              </a:rPr>
              <a:t>"Tell me what feels true to you..."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32126" y="1645920"/>
            <a:ext cx="2246315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32126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2126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FRIEND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2126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2A9D8F"/>
                </a:solidFill>
                <a:latin typeface="Calibr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3566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Casual · warm · funny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3566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For: daily check-ins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3566" y="3200400"/>
            <a:ext cx="2063435" cy="45720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9286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2A9D8F"/>
                </a:solidFill>
                <a:latin typeface="Calibri"/>
              </a:rPr>
              <a:t>"Areee, kya chal raha hai aaj?"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2449" y="1645920"/>
            <a:ext cx="2246315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42449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449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THERAPIST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449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C44536"/>
                </a:solidFill>
                <a:latin typeface="Calibri"/>
              </a:rPr>
              <a:t>❤️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3889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Empathetic · listens · reflects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3889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For: anxiety / mood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33889" y="3200400"/>
            <a:ext cx="2063435" cy="45720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609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C44536"/>
                </a:solidFill>
                <a:latin typeface="Calibri"/>
              </a:rPr>
              <a:t>"I hear you. What's underneath that?"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52772" y="1645920"/>
            <a:ext cx="2246315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4A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52772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2772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TRAINER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2772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84A98C"/>
                </a:solidFill>
                <a:latin typeface="Calibri"/>
              </a:rPr>
              <a:t>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4212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Tactical · structured · drill-mode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44212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For: skill-building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44212" y="3200400"/>
            <a:ext cx="2063435" cy="45720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9932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84A98C"/>
                </a:solidFill>
                <a:latin typeface="Calibri"/>
              </a:rPr>
              <a:t>"Today, five questions on time management."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3931920"/>
            <a:ext cx="658368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977639"/>
            <a:ext cx="6446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ADAPTIVE TONE  ·  USER MOOD SHIFTS HOW THE COACH TALKS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4389120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4389120"/>
            <a:ext cx="54864" cy="41148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434840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1A1A1A"/>
                </a:solidFill>
                <a:latin typeface="Calibri"/>
              </a:rPr>
              <a:t>USER: "I failed the test..."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608576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C44536"/>
                </a:solidFill>
                <a:latin typeface="Calibri"/>
              </a:rPr>
              <a:t>Sad / defeat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389120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→ Soften tone · slow pace · lead with empathy · skip metrics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4837176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4837176"/>
            <a:ext cx="54864" cy="4114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882896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1A1A1A"/>
                </a:solidFill>
                <a:latin typeface="Calibri"/>
              </a:rPr>
              <a:t>USER: "YES! Got the offer!"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056632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2A9D8F"/>
                </a:solidFill>
                <a:latin typeface="Calibri"/>
              </a:rPr>
              <a:t>Joy / win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837176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→ Match the excitement · celebrate · then anchor next goal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5285232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" y="5285232"/>
            <a:ext cx="54864" cy="4114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330952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1A1A1A"/>
                </a:solidFill>
                <a:latin typeface="Calibri"/>
              </a:rPr>
              <a:t>USER: "I don't know what to do"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504688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E9C46A"/>
                </a:solidFill>
                <a:latin typeface="Calibri"/>
              </a:rPr>
              <a:t>Confusion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5285232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→ Slow down · ask one clarifying question · no advice yet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733288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733288"/>
            <a:ext cx="54864" cy="4114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79008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1A1A1A"/>
                </a:solidFill>
                <a:latin typeface="Calibri"/>
              </a:rPr>
              <a:t>USER: "Stop telling me what to do"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5952744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E76F51"/>
                </a:solidFill>
                <a:latin typeface="Calibri"/>
              </a:rPr>
              <a:t>Frustration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733288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→ Acknowledge · drop directive tone · reflect feeling back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95160" y="3931920"/>
            <a:ext cx="493776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977639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ANTI-PATTERNS  ·  THINGS THAT BREAK THE FEEL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20" y="4389120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2048" y="438912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C44536"/>
                </a:solidFill>
                <a:latin typeface="Calibri"/>
              </a:rPr>
              <a:t>✗  "As an AI, I cannot..."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43891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9D8F"/>
                </a:solidFill>
                <a:latin typeface="Calibri"/>
              </a:rPr>
              <a:t>→ "Hmm, let's think about this differently..."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32320" y="4773168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42048" y="4773168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C44536"/>
                </a:solidFill>
                <a:latin typeface="Calibri"/>
              </a:rPr>
              <a:t>✗  "I'm here to help you with..."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64040" y="477316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9D8F"/>
                </a:solidFill>
                <a:latin typeface="Calibri"/>
              </a:rPr>
              <a:t>→ Skip · jump straight into substance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32320" y="5157216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5157216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C44536"/>
                </a:solidFill>
                <a:latin typeface="Calibri"/>
              </a:rPr>
              <a:t>✗  Generic "That's a great question!"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64040" y="515721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9D8F"/>
                </a:solidFill>
                <a:latin typeface="Calibri"/>
              </a:rPr>
              <a:t>→ Engage with the actual content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5541264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2048" y="5541264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C44536"/>
                </a:solidFill>
                <a:latin typeface="Calibri"/>
              </a:rPr>
              <a:t>✗  Disclaimers + caveats every reply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64040" y="554126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9D8F"/>
                </a:solidFill>
                <a:latin typeface="Calibri"/>
              </a:rPr>
              <a:t>→ Speak with conviction (within scope)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132320" y="5925312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2048" y="5925312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C44536"/>
                </a:solidFill>
                <a:latin typeface="Calibri"/>
              </a:rPr>
              <a:t>✗  Same response length every turn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64040" y="592531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9D8F"/>
                </a:solidFill>
                <a:latin typeface="Calibri"/>
              </a:rPr>
              <a:t>→ Vary: 1 line · 3 lines · question back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Persona references: Character.AI persona system, Anthropic Claude character work, prompt-engineering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04  · 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Without a feedback loop, every prompt change is a guess — capture explicit &amp; implicit signals; both feed the same quality model.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384048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3703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EXPLICIT  ·  USER-INITIATED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👍👎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76479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PER-RESPONSE THUMBS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98424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2-tap · captured per 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441448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41448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3288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⭐⭐⭐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14600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END-OF-SESSION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3405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1 question · skippable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191256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91256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8269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64408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OPTIONAL COMMENT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48386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After thumbs-down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41064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41064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3250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014216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REPORT INAPPROPRIATE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3367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Critical safety signal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690872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690872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8231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764024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PERSONALISATION PREFERENCES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98348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edits memory · marks topics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440680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440680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321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2A9D8F"/>
                </a:solidFill>
                <a:latin typeface="Calibri"/>
              </a:rPr>
              <a:t>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51383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APP-STORE RATING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73328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After 3rd good session · soft nudge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1188720"/>
            <a:ext cx="384048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1234440"/>
            <a:ext cx="3703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D405B"/>
                </a:solidFill>
                <a:latin typeface="Calibri"/>
              </a:rPr>
              <a:t>IMPLICIT  ·  PASSIVELY OBSERVED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91640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1691640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⏱️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76479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SESSION LENGTH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198424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Long = engaging · short = bouncing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2441448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2441448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253288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2514600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RE-PROMPT 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273405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asks again = first answer was poor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191256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0" y="3191256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0" y="328269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⏹️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264408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MID-CONVERSATION DROP-OFF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48386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Where in the turn user closes the app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3941064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3941064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403250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014216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VOICE PLAYBACK COMPLETION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23367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Did they listen full? Skip = bad voice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89120" y="4690872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4690872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60" y="478231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4764024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RETURN CADENCE (D1, D7)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98348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Best lagging signal of overall quality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89120" y="5440680"/>
            <a:ext cx="356616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5440680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0" y="55321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3D405B"/>
                </a:solidFill>
                <a:latin typeface="Calibri"/>
              </a:rPr>
              <a:t>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51383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A1A1A"/>
                </a:solidFill>
                <a:latin typeface="Calibri"/>
              </a:rPr>
              <a:t>TIME-OF-DAY PATTERN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0" y="573328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Habit formation marker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29600" y="1188720"/>
            <a:ext cx="370332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1234440"/>
            <a:ext cx="3566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FROM SIGNAL → IMPROVEMENT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66760" y="1645920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66760" y="1645920"/>
            <a:ext cx="54864" cy="7132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76488" y="1737360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6488" y="17373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171907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76F51"/>
                </a:solidFill>
                <a:latin typeface="Calibri"/>
              </a:rPr>
              <a:t>CAPTURE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9720" y="1938528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All signals → event log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66760" y="2386584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66760" y="2386584"/>
            <a:ext cx="54864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476488" y="2478024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76488" y="247802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20" y="2459736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9C46A"/>
                </a:solidFill>
                <a:latin typeface="Calibri"/>
              </a:rPr>
              <a:t>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9720" y="2679192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LLM-judge labels each conv: helpful/off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66760" y="3127248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66760" y="3127248"/>
            <a:ext cx="54864" cy="7132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476488" y="3218688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76488" y="321868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3200400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3D405B"/>
                </a:solidFill>
                <a:latin typeface="Calibri"/>
              </a:rPr>
              <a:t>AGGREGATE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89720" y="3419856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Weekly: persona × topic × outcome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66760" y="3867912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66760" y="3867912"/>
            <a:ext cx="54864" cy="713232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476488" y="3959352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76488" y="39593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9720" y="3941064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44536"/>
                </a:solidFill>
                <a:latin typeface="Calibri"/>
              </a:rPr>
              <a:t>DIAGNOSE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89720" y="4160520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Lowest-scoring buckets surfaced to PM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66760" y="4608576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66760" y="4608576"/>
            <a:ext cx="54864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476488" y="4700016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76488" y="470001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89720" y="4681728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ITERATE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89720" y="4901184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Prompt edits · persona tweaks · model upgrades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366760" y="5349240"/>
            <a:ext cx="3429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366760" y="5349240"/>
            <a:ext cx="54864" cy="713232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476488" y="5440680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76488" y="544068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89720" y="542239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84A98C"/>
                </a:solidFill>
                <a:latin typeface="Calibri"/>
              </a:rPr>
              <a:t>RE-TEST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89720" y="5641848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A1A1A"/>
                </a:solidFill>
                <a:latin typeface="Calibri"/>
              </a:rPr>
              <a:t>A/B vs baseline · roll if clear winner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References: ChatGPT thumbs · LangSmith eval · Constitutional AI · LinkedIn quality engineering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05  ·  EXPERIMENTATION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Without an A/B harness, prompt changes ship blind — with one, every release is measurable and reversible.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WHAT TO A/B TEST  ·  4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160020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PROMPT 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1417320" cy="4114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E76F51"/>
                </a:solidFill>
                <a:latin typeface="Calibri"/>
              </a:rPr>
              <a:t>v1.2.4 · v1.2.5 · v1.2.6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Few-shot variants, system-prompt edits, instruction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75688" y="1645920"/>
            <a:ext cx="160020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75688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VOICE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7128" y="2103120"/>
            <a:ext cx="1417320" cy="4114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3D405B"/>
                </a:solidFill>
                <a:latin typeface="Calibri"/>
              </a:rPr>
              <a:t>Hume vs ElevenLabs vs Sarvam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Latency, cost, naturalness, India-language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9896" y="1645920"/>
            <a:ext cx="160020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39896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9896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PERSONA MIX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31336" y="2103120"/>
            <a:ext cx="1417320" cy="4114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2A9D8F"/>
                </a:solidFill>
                <a:latin typeface="Calibri"/>
              </a:rPr>
              <a:t>Coach vs Mentor vs Friend by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056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Which archetype drives most return-rate in which segment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4104" y="1645920"/>
            <a:ext cx="1600200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04104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4104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MEMORY DEPTH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95544" y="2103120"/>
            <a:ext cx="1417320" cy="41148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E9C46A"/>
                </a:solidFill>
                <a:latin typeface="Calibri"/>
              </a:rPr>
              <a:t>Top-3 vs Top-5 vs Top-10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264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Diminishing-returns curve · cost vs quality trade-off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160520"/>
            <a:ext cx="4663440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2062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CANDIDATE STACK  ·  ALL HAVE FREE TIERS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572000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572000"/>
            <a:ext cx="54864" cy="2926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57200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FEATURE FLAGS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457200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GrowthBook (open-source) · Statsig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882896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882896"/>
            <a:ext cx="54864" cy="292608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882896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3D405B"/>
                </a:solidFill>
                <a:latin typeface="Calibri"/>
              </a:rPr>
              <a:t>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488289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PostHog · Amplitude — event-driven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193792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193792"/>
            <a:ext cx="54864" cy="2926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193792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PROMPT REGISTRY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519379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Langfuse · Helicone · Git-tracked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504688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504688"/>
            <a:ext cx="54864" cy="2926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504688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9C46A"/>
                </a:solidFill>
                <a:latin typeface="Calibri"/>
              </a:rPr>
              <a:t>STAT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" y="550468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Bayesian comparison · sequential testing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815584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5815584"/>
            <a:ext cx="54864" cy="292608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815584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84A98C"/>
                </a:solidFill>
                <a:latin typeface="Calibri"/>
              </a:rPr>
              <a:t>DASHBOARD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581558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Metabase · Looker Studio · custom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74920" y="4160520"/>
            <a:ext cx="6858000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42062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3D405B"/>
                </a:solidFill>
                <a:latin typeface="Calibri"/>
              </a:rPr>
              <a:t>CADENCE  ·  ONE EXPERIMENT, EVERY WEEK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12080" y="457200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03520" y="462686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0" y="462686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2" y="457200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Hypothesis → spec doc · ship variant on small traffic split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2080" y="498348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303520" y="503834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503834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2" y="498348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Mid-week health check · stop on safety regressions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12080" y="539496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03520" y="544982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0" y="544982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539496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Statistical test · go / no-go on broader rollout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12080" y="580644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303520" y="586130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3520" y="586130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MON+1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99632" y="580644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Roll winner to 100% · OR retire · OR iterate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Tools cited are open-source or have public free tiers · cadence patterned on Statsig / GrowthBook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WHAT TO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Track the right things first — baselines come from your own production data, not from any deck.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2796463" cy="45720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D1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First-impression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Direction: improve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D7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Habit-formation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Direction: improve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D30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Relationship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Direction: improve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2223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62223" y="1188720"/>
            <a:ext cx="2796463" cy="457200"/>
          </a:xfrm>
          <a:prstGeom prst="roundRect">
            <a:avLst>
              <a:gd name="adj" fmla="val 2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9383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6583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ENGAGEMENT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9383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5103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Avg session length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5103" y="224028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Depth of one interaction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5103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5103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3D405B"/>
                </a:solidFill>
                <a:latin typeface="Calibri"/>
              </a:rPr>
              <a:t>Direction: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9383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5103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Voice session duration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5103" y="365760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Voice quality + immersion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45103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5103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3D405B"/>
                </a:solidFill>
                <a:latin typeface="Calibri"/>
              </a:rPr>
              <a:t>Direction: improve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9383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5103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Sessions / user /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5103" y="507492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Habit cadence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45103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5103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3D405B"/>
                </a:solidFill>
                <a:latin typeface="Calibri"/>
              </a:rPr>
              <a:t>Direction: improve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50127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50127" y="1188720"/>
            <a:ext cx="2796463" cy="457200"/>
          </a:xfrm>
          <a:prstGeom prst="roundRect">
            <a:avLst>
              <a:gd name="adj" fmla="val 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87287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4487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7287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3007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Response quality (LLM-judge)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3007" y="224028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Auto-graded reply usefulness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3007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3007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Direction: improve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7287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3007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Thumbs-up 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007" y="365760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Direct user signal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33007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33007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Direction: improve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87287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3007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Re-prompt rate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33007" y="507492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How often user has to re-ask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33007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3007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Direction: improve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38031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38031" y="1188720"/>
            <a:ext cx="2796463" cy="457200"/>
          </a:xfrm>
          <a:prstGeom prst="roundRect">
            <a:avLst>
              <a:gd name="adj" fmla="val 2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5191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32391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75191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20911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NPS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20911" y="224028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Recommend-to-a-friend score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20911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20911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9C46A"/>
                </a:solidFill>
                <a:latin typeface="Calibri"/>
              </a:rPr>
              <a:t>Direction: improve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75191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20911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Free → Paid conversion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20911" y="365760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Willingness-to-pay signal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20911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20911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9C46A"/>
                </a:solidFill>
                <a:latin typeface="Calibri"/>
              </a:rPr>
              <a:t>Direction: improve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75191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20911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Paid retention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20911" y="5074920"/>
            <a:ext cx="243070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Stickiness of monetised cohort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120911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F1EB"/>
          </a:solidFill>
          <a:ln w="63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20911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E9C46A"/>
                </a:solidFill>
                <a:latin typeface="Calibri"/>
              </a:rPr>
              <a:t>Direction: improve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Targets intentionally not specified — baselines should come from Aise's own production data; this deck doesn't have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  ·  14-DAY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Memory ships first — voice second — feedback third — A/B harness gets in by Day 14 to compound everything from there 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11643055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50589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14-DAY ROADMAP  ·  PARALLEL TRACKS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691640"/>
            <a:ext cx="9082735" cy="0"/>
          </a:xfrm>
          <a:prstGeom prst="line">
            <a:avLst/>
          </a:prstGeom>
          <a:ln w="9525">
            <a:solidFill>
              <a:srgbClr val="DDD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77440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Start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.0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9086.7857142854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74973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57853.5714285714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06620.357142857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72507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55387.142857143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04153.928571428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0040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52920.71428571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01687.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67574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50454.28571428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99221.07142857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65107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47987.857142856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6754.642857142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162641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45521.42857143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94288.21428571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460175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2D2D2D"/>
                </a:solidFill>
                <a:latin typeface="Calibri"/>
              </a:rPr>
              <a:t>D14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643055.0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192023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76F51"/>
                </a:solidFill>
                <a:latin typeface="Calibri"/>
              </a:rPr>
              <a:t>MEMORY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057399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Vector store · embeddings · retrieval · summary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1874519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 w="63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1874519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D0–D5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95143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44536"/>
                </a:solidFill>
                <a:latin typeface="Calibri"/>
              </a:rPr>
              <a:t>VOICE NATURALNESS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2432303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TTS swap · streaming · pauses · 4 voice presets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6620" y="2249423"/>
            <a:ext cx="3892600" cy="329184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 w="635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6620" y="2249423"/>
            <a:ext cx="3892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D3–D9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2670047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3D405B"/>
                </a:solidFill>
                <a:latin typeface="Calibri"/>
              </a:rPr>
              <a:t>PERSONA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2807207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Define 5 archetypes · system prompts · few-shot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7853" y="2624327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3D405B"/>
          </a:solidFill>
          <a:ln w="6350">
            <a:solidFill>
              <a:srgbClr val="3D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7853" y="2624327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D2–D7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044951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FEEDBACK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182111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Thumbs UI · pulse survey · pipeline plumbing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1687" y="2999231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 w="63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1687" y="2999231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D7–D12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419855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9C46A"/>
                </a:solidFill>
                <a:latin typeface="Calibri"/>
              </a:rPr>
              <a:t>A/B HARNESS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557015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Flag tool · prompt registry · first 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7987" y="3374135"/>
            <a:ext cx="2595067" cy="329184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 w="63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7987" y="3374135"/>
            <a:ext cx="2595067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D10–D14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79475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84A98C"/>
                </a:solidFill>
                <a:latin typeface="Calibri"/>
              </a:rPr>
              <a:t>SOFT-LAUNCH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3931919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Phased rollout · live metric watch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94288" y="3749039"/>
            <a:ext cx="648766" cy="329184"/>
          </a:xfrm>
          <a:prstGeom prst="roundRect">
            <a:avLst>
              <a:gd name="adj" fmla="val 30000"/>
            </a:avLst>
          </a:prstGeom>
          <a:solidFill>
            <a:srgbClr val="84A98C"/>
          </a:solidFill>
          <a:ln w="6350">
            <a:solidFill>
              <a:srgbClr val="84A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94288" y="3749039"/>
            <a:ext cx="648766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D13–D14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251960"/>
            <a:ext cx="685800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29768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THREE PHASES  ·  EARLIEST RETURN FIRST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4663440"/>
            <a:ext cx="658368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4663440"/>
            <a:ext cx="54864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2920" y="478231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478231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1 · D1–5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3080" y="4709160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E76F51"/>
                </a:solidFill>
                <a:latin typeface="Calibri"/>
              </a:rPr>
              <a:t>MEMORY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0" y="470916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Two-tier memory plumbing. Highest qualitative leap.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4910328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Owner: Backend · estimate: 5 person-days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202936"/>
            <a:ext cx="658368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202936"/>
            <a:ext cx="54864" cy="50292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02920" y="5321808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32180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2 · D4–9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83080" y="5248656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C44536"/>
                </a:solidFill>
                <a:latin typeface="Calibri"/>
              </a:rPr>
              <a:t>VOICE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5248656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TTS swap · streaming · 4 voice presets · emotion-aware tone.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0" y="5449824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Owner: ML/Audio · estimate: 6 person-days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5742432"/>
            <a:ext cx="6583680" cy="50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5742432"/>
            <a:ext cx="54864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2920" y="5861304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586130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3 · D8–14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3080" y="5788152"/>
            <a:ext cx="13716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E9C46A"/>
                </a:solidFill>
                <a:latin typeface="Calibri"/>
              </a:rPr>
              <a:t>FEEDBACK + A/B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0" y="5788152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Thumbs UI · feedback pipeline · A/B harness · soft-launch.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598932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8B8680"/>
                </a:solidFill>
                <a:latin typeface="Calibri"/>
              </a:rPr>
              <a:t>Owner: Full-stack + PM · estimate: 6 person-days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69480" y="4251960"/>
            <a:ext cx="466344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6640" y="429768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2A9D8F"/>
                </a:solidFill>
                <a:latin typeface="Calibri"/>
              </a:rPr>
              <a:t>WHY THIS ORDER  ·  LEVER STACK</a:t>
            </a:r>
          </a:p>
        </p:txBody>
      </p:sp>
      <p:pic>
        <p:nvPicPr>
          <p:cNvPr id="85" name="Picture 84" descr="lever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572000"/>
            <a:ext cx="4526280" cy="1691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Sequencing principle: earliest qualitative leap ships first · resource estimates assume a 3–4 person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A1A1A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RISKS &amp; WHAT TO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8B8680"/>
                </a:solidFill>
                <a:latin typeface="Calibri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Three real risks worth pre-empting — and the assumptions I'd ask the Aise team to confirm before committing.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RISKS  ·  AND HOW TO MITIGATE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Voice latency on patchy 3G/4G in tier-2/3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1810512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810512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075688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Pre-fetch first chunk · graceful degrade to text · cache common openers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450592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450592"/>
            <a:ext cx="54864" cy="713232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42032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Memory raises privacy concerns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256946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256946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User-controlled deletion in settings · DPDP Act compliance · clear consent UI at onboard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209544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209544"/>
            <a:ext cx="54864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00984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Persona feels gimmicky / forced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3328416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3328416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593592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Default to one archetype · reveal others slowly · let user discover, not pick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968496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968496"/>
            <a:ext cx="54864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59936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Feedback prompt fatigue → ratings stop arriving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408736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087368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52544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Show pulse on 1-of-5 sessions · always skippable · never block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27448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727448"/>
            <a:ext cx="54864" cy="713232"/>
          </a:xfrm>
          <a:prstGeom prst="rect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18888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A/B test contamination across cohorts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84632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48463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111496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User-stratified bucketing · respect existing arms · pre-register hypotheses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486400"/>
            <a:ext cx="658368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486400"/>
            <a:ext cx="54864" cy="7132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57784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Voice provider cost runs hot at scale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94760" y="5605272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5605272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870448"/>
            <a:ext cx="6400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8B8680"/>
                </a:solidFill>
                <a:latin typeface="Calibri"/>
              </a:rPr>
              <a:t>MITIGATION  ·  Cache common system prompts · fall back to cheaper TTS for low-engagement turns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69480" y="1188720"/>
            <a:ext cx="4663440" cy="507492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9525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2A9D8F"/>
                </a:solidFill>
                <a:latin typeface="Calibri"/>
              </a:rPr>
              <a:t>ASSUMPTIONS TO VALIDATE  ·  ASK THE TEAM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1691640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06640" y="1691640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16368" y="1764792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AUDIENCE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6368" y="1965960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Core users are young Indian professionals + students 18–35, comfortable with English+Hindi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6640" y="2322576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322576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16368" y="2395728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ENGINEERING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6368" y="2596896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Team has 3–4 contributors who can ship in 14 days with focused scope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06640" y="2953512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06640" y="2953512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16368" y="3026664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BACKBONE LLM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16368" y="3227832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An LLM with comparable quality to GPT-4o-mini is acceptable as base model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0" y="3584448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06640" y="3584448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16368" y="365760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VOICE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16368" y="3858768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Hindi-language voice quality from Sarvam / 11Labs is acceptable for tier-2/3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06640" y="4215384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0" y="4215384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16368" y="4288536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PRIVACY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6368" y="4489704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User consent and DPDP-compliant deletion patterns are within current legal capacity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06640" y="4846320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06640" y="4846320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16368" y="4919472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EXISTING 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5120640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Aise has internal D1/D7/voice-duration baselines available to validate impact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06640" y="5477256"/>
            <a:ext cx="443484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D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5477256"/>
            <a:ext cx="54864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16368" y="5550408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A9D8F"/>
                </a:solidFill>
                <a:latin typeface="Calibri"/>
              </a:rPr>
              <a:t>PERSONA FREEDOM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16368" y="5751576"/>
            <a:ext cx="4114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>Product team is willing to pick distinct personas, even at risk of polarisation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8B8680"/>
                </a:solidFill>
                <a:latin typeface="Calibri"/>
              </a:rPr>
              <a:t>NOTE  ·  Risk register: standard product / privacy / scaling risks · assumption list flagged so the team can confirm or correct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AF7F2"/>
                </a:solidFill>
                <a:latin typeface="Calibri"/>
              </a:rPr>
              <a:t>AISE  ·  AI COACH APP — A 3-DAY PRODUCT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14455" y="0"/>
            <a:ext cx="5029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E9C46A"/>
                </a:solidFill>
                <a:latin typeface="Calibri"/>
              </a:rPr>
              <a:t>15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14400"/>
            <a:ext cx="502920" cy="0"/>
          </a:xfrm>
          <a:prstGeom prst="line">
            <a:avLst/>
          </a:prstGeom>
          <a:ln w="381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E76F51"/>
                </a:solidFill>
                <a:latin typeface="Calibri"/>
              </a:rPr>
              <a:t>A NOTE TO THE AISE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7589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A1A1A"/>
                </a:solidFill>
                <a:latin typeface="Calibri"/>
              </a:rPr>
              <a:t>Build the relationship.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589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76F51"/>
                </a:solidFill>
                <a:latin typeface="Calibri"/>
              </a:rPr>
              <a:t>The product will follow.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337560"/>
            <a:ext cx="75895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520440"/>
            <a:ext cx="758952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2D2D2D"/>
                </a:solidFill>
                <a:latin typeface="Calibri"/>
              </a:rPr>
              <a:t>I downloaded Aise because I wanted to talk to a coach. I came back the next day to see if anything had changed. It hadn't. That is the only finding that really matters in this deck — and it is the only one worth fixing first.</a:t>
            </a:r>
          </a:p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2D2D2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2D2D2D"/>
                </a:solidFill>
                <a:latin typeface="Calibri"/>
              </a:rPr>
              <a:t>Fix that, and the rest follows. Voice. Persona. Feedback. Experimentation. They all snap into place once the user has a reason to come back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IF I HAD TO SHIP THREE THINGS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2423160" cy="502920"/>
          </a:xfrm>
          <a:prstGeom prst="roundRect">
            <a:avLst>
              <a:gd name="adj" fmla="val 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9893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Memory — even 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36208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Day-2 should not feel like Day-1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5989320"/>
            <a:ext cx="2423160" cy="502920"/>
          </a:xfrm>
          <a:prstGeom prst="roundRect">
            <a:avLst>
              <a:gd name="adj" fmla="val 2000"/>
            </a:avLst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59893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603504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Voice with pauses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6236208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It's about cadence, not just pitch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5989320"/>
            <a:ext cx="2423160" cy="502920"/>
          </a:xfrm>
          <a:prstGeom prst="roundRect">
            <a:avLst>
              <a:gd name="adj" fmla="val 2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59893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03504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A thumbs-up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6236208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Zero feedback = flying blind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868680"/>
            <a:ext cx="3520440" cy="283464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868680"/>
            <a:ext cx="91440" cy="28346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00584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E76F51"/>
                </a:solidFill>
                <a:latin typeface="Calibri"/>
              </a:rPr>
              <a:t>AN OPERATING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325880"/>
            <a:ext cx="3246120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AF7F2"/>
                </a:solidFill>
                <a:latin typeface="Calibri"/>
              </a:rPr>
              <a:t>"People don't fall in love with AI.</a:t>
            </a:r>
          </a:p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AF7F2"/>
                </a:solidFill>
                <a:latin typeface="Calibri"/>
              </a:rPr>
              <a:t>They fall in love with how AI makes them feel — heard, remembered, understood."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E9C46A"/>
                </a:solidFill>
                <a:latin typeface="Calibri"/>
              </a:rPr>
              <a:t>Memory is the moat.</a:t>
            </a:r>
          </a:p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E9C46A"/>
                </a:solidFill>
                <a:latin typeface="Calibri"/>
              </a:rPr>
              <a:t>Personality is the magic.</a:t>
            </a:r>
          </a:p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E9C46A"/>
                </a:solidFill>
                <a:latin typeface="Calibri"/>
              </a:rPr>
              <a:t>Feedback is the flywheel.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840480"/>
            <a:ext cx="3520440" cy="2423160"/>
          </a:xfrm>
          <a:prstGeom prst="roundRect">
            <a:avLst>
              <a:gd name="adj" fmla="val 2000"/>
            </a:avLst>
          </a:prstGeom>
          <a:solidFill>
            <a:srgbClr val="F5F1E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3840480"/>
            <a:ext cx="91440" cy="2423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93192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A9D8F"/>
                </a:solidFill>
                <a:latin typeface="Calibri"/>
              </a:rPr>
              <a:t>WRITTEN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0624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Divyaman 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7548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D2D2D"/>
                </a:solidFill>
                <a:latin typeface="Calibri"/>
              </a:rPr>
              <a:t>B.Tech, Civil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9834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D2D2D"/>
                </a:solidFill>
                <a:latin typeface="Calibri"/>
              </a:rPr>
              <a:t>Indian Institute of Technology Kanpur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58200" y="5349240"/>
            <a:ext cx="3246120" cy="0"/>
          </a:xfrm>
          <a:prstGeom prst="line">
            <a:avLst/>
          </a:prstGeom>
          <a:ln w="6350">
            <a:solidFill>
              <a:srgbClr val="DDD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58200" y="544068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E76F51"/>
                </a:solidFill>
                <a:latin typeface="Calibri"/>
              </a:rPr>
              <a:t>✉   divyamp23@iitk.ac.in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71500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1">
                <a:solidFill>
                  <a:srgbClr val="8B8680"/>
                </a:solidFill>
                <a:latin typeface="Calibri"/>
              </a:rPr>
              <a:t>📱  com.vel.aise.app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98932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1">
                <a:solidFill>
                  <a:srgbClr val="1A1A1A"/>
                </a:solidFill>
                <a:latin typeface="Calibri"/>
              </a:rPr>
              <a:t>Happy to discuss any part of this.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83680"/>
            <a:ext cx="111858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8B8680"/>
                </a:solidFill>
                <a:latin typeface="Calibri"/>
              </a:rPr>
              <a:t>Aise · A 3-Day Product Review · v2 · Confidential to the Aise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