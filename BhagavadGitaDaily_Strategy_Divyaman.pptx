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0" cy="54864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STRATEGY · FOUNDER'S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420624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Bhagavad</a:t>
            </a:r>
          </a:p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Gita Daily.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AF5EC"/>
                </a:solidFill>
                <a:latin typeface="Calibri"/>
              </a:rPr>
              <a:t>Monetization &amp;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0A03A"/>
                </a:solidFill>
                <a:latin typeface="Calibri"/>
              </a:rPr>
              <a:t>From a 2.2% funnel to a ₹1 Lakh MRR engine.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669280"/>
            <a:ext cx="3657600" cy="0"/>
          </a:xfrm>
          <a:prstGeom prst="line">
            <a:avLst/>
          </a:prstGeom>
          <a:ln w="15240">
            <a:solidFill>
              <a:srgbClr val="E0A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576072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DIVYAMAN 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5332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AF5EC"/>
                </a:solidFill>
                <a:latin typeface="Calibri"/>
              </a:rPr>
              <a:t>B.Tech, Civil Engineering · IIT Kanpur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72784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AF5EC"/>
                </a:solidFill>
                <a:latin typeface="Calibri"/>
              </a:rPr>
              <a:t>divyamp23@iitk.ac.in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7315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080"/>
                </a:solidFill>
                <a:latin typeface="Calibri"/>
              </a:rPr>
              <a:t>PREPARED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005840"/>
            <a:ext cx="6400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A1F3A"/>
                </a:solidFill>
                <a:latin typeface="Calibri"/>
              </a:rPr>
              <a:t>Glido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5087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Strategy Assignment  ·  Confidential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210312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267712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8F4712"/>
                </a:solidFill>
                <a:latin typeface="Calibri"/>
              </a:rPr>
              <a:t>192K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803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A1F3A"/>
                </a:solidFill>
                <a:latin typeface="Calibri"/>
              </a:rPr>
              <a:t>Instagram followers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10312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267712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8F4712"/>
                </a:solidFill>
                <a:latin typeface="Calibri"/>
              </a:rPr>
              <a:t>2.2%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8803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A1F3A"/>
                </a:solidFill>
                <a:latin typeface="Calibri"/>
              </a:rPr>
              <a:t>Visitor → Paid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10312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67712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8F4712"/>
                </a:solidFill>
                <a:latin typeface="Calibri"/>
              </a:rPr>
              <a:t>₹9.2K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8803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A1F3A"/>
                </a:solidFill>
                <a:latin typeface="Calibri"/>
              </a:rPr>
              <a:t>Current MRR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52044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5032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8F4712"/>
                </a:solidFill>
                <a:latin typeface="Calibri"/>
              </a:rPr>
              <a:t>8–12%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297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A1F3A"/>
                </a:solidFill>
                <a:latin typeface="Calibri"/>
              </a:rPr>
              <a:t>Industry conversion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52044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685032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8F4712"/>
                </a:solidFill>
                <a:latin typeface="Calibri"/>
              </a:rPr>
              <a:t>₹1L+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297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A1F3A"/>
                </a:solidFill>
                <a:latin typeface="Calibri"/>
              </a:rPr>
              <a:t>MRR target (90d)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520440"/>
            <a:ext cx="2011680" cy="132588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3685032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8F4712"/>
                </a:solidFill>
                <a:latin typeface="Calibri"/>
              </a:rPr>
              <a:t>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297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A1F3A"/>
                </a:solidFill>
                <a:latin typeface="Calibri"/>
              </a:rPr>
              <a:t>Revenue upside, no new traffic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5074920"/>
            <a:ext cx="6355080" cy="1097280"/>
          </a:xfrm>
          <a:prstGeom prst="roundRect">
            <a:avLst>
              <a:gd name="adj" fmla="val 5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516636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THE THESIS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440680"/>
            <a:ext cx="6035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Not a product problem. Not an audience problem.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funnel problem and a monetization-depth problem — both fixable in 90 days.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640080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May 2025  ·  Strategy Deck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SETTING THE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Why this brand can win — before we touch the funnel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02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080"/>
                </a:solidFill>
                <a:latin typeface="Calibri"/>
              </a:rPr>
              <a:t>Three structural advantages most subscription startups would pay millions to acquire.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37033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164592" cy="329184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8F4712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3246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F3A"/>
                </a:solidFill>
                <a:latin typeface="Calibri"/>
              </a:rPr>
              <a:t>An audience that already trusts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3246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192K followers built on devotion, not dopamine. Trust-based audiences convert 3–5x better than entertainment-based ones — when the funnel matches their psychology.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94560"/>
            <a:ext cx="37033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2194560"/>
            <a:ext cx="164592" cy="329184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46888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8F4712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63240"/>
            <a:ext cx="3246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F3A"/>
                </a:solidFill>
                <a:latin typeface="Calibri"/>
              </a:rPr>
              <a:t>A product that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886200"/>
            <a:ext cx="3246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116 paying users at ₹79/month, sticking. The retention curve has flattened — proof of product-market fit. The job now is not to invent; it is to amplify.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94560"/>
            <a:ext cx="370332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2194560"/>
            <a:ext cx="164592" cy="329184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46888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8F4712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063240"/>
            <a:ext cx="3246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F3A"/>
                </a:solidFill>
                <a:latin typeface="Calibri"/>
              </a:rPr>
              <a:t>A category with no dominant brand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886200"/>
            <a:ext cx="3246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There is a Sadhguru, a Gaur Gopal, a Jay Shetty. There is no daily, intimate, ₹79/month ritual. The 'morning shlok' habit can become this brand's blue-ocean.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669280"/>
            <a:ext cx="11201400" cy="640080"/>
          </a:xfrm>
          <a:prstGeom prst="roundRect">
            <a:avLst>
              <a:gd name="adj" fmla="val 2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E335A"/>
                </a:solidFill>
                <a:latin typeface="Calibri"/>
              </a:rPr>
              <a:t>Strategic implication:  the moat here is psychological, not technological. Defending it requires intimacy, ritual and consistency — not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The 5-minute version of this deck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03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6583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4712"/>
                </a:solidFill>
                <a:latin typeface="Calibri"/>
              </a:rPr>
              <a:t>What is true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658368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3364A"/>
                </a:solidFill>
                <a:latin typeface="Calibri"/>
              </a:rPr>
              <a:t>Bhagavad Gita Daily converts only 2.2% of website visitors into paid subscribers, against an industry benchmark of 8–12% for spiritual &amp; wellness subscriptions at this price point. Closing half that gap delivers 4–5x current revenue with zero new traffic.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3364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3364A"/>
                </a:solidFill>
                <a:latin typeface="Calibri"/>
              </a:rPr>
              <a:t>The brand has the rarest assets in consumer subscription — a loyal, spiritually-engaged audience, a working product, and a live payment funnel. What it does not have is a funnel that respects its user, and a monetization stack that reflects what the audience is willing to pay for.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46304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6002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THE THREE LEVERS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574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  Seal the 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41448"/>
            <a:ext cx="4023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AF5EC"/>
                </a:solidFill>
                <a:latin typeface="Calibri"/>
              </a:rPr>
              <a:t>Stop the bleed at homepage, trial and Day-3 churn. Zero new spend.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38328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  Scale top-of-funnel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767328"/>
            <a:ext cx="4023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AF5EC"/>
                </a:solidFill>
                <a:latin typeface="Calibri"/>
              </a:rPr>
              <a:t>DM automation → content engine → paid acquisition. In that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70916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  Deepen monetization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5093208"/>
            <a:ext cx="4023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AF5EC"/>
                </a:solidFill>
                <a:latin typeface="Calibri"/>
              </a:rPr>
              <a:t>Annual, PDF guides, premium community, card deck, B2B.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77840"/>
            <a:ext cx="6583680" cy="777240"/>
          </a:xfrm>
          <a:prstGeom prst="roundRect">
            <a:avLst>
              <a:gd name="adj" fmla="val 1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F4712"/>
                </a:solidFill>
                <a:latin typeface="Calibri"/>
              </a:rPr>
              <a:t>₹1 Lakh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650992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MRR target by Month 3 — achievable if Lever 01 lands in the first 30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01 · 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The funnel today: three leaks, one fix-order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04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080"/>
                </a:solidFill>
                <a:latin typeface="Calibri"/>
              </a:rPr>
              <a:t>Each row shows where the funnel is, where the industry sits, and which leak to fix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11201400" cy="50292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196596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96596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Conv.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965960"/>
            <a:ext cx="1920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Instagram →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46888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192K followers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46888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~2.7%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1920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5–8%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5603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560320"/>
            <a:ext cx="13716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71800"/>
            <a:ext cx="11201400" cy="50292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Homepage → Form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29718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5,239 → 952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97180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18.2%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971800"/>
            <a:ext cx="1920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35–45%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30632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3063240"/>
            <a:ext cx="13716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7472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7472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Form visit → Trial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347472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952 → 163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47472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17.1%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474720"/>
            <a:ext cx="1920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40–55%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35661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3566160"/>
            <a:ext cx="13716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977640"/>
            <a:ext cx="11201400" cy="50292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97764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Trial → Paid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397764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163 → 116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397764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71.2%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977640"/>
            <a:ext cx="1920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80–90%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4069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4069080"/>
            <a:ext cx="13716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8056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480560"/>
            <a:ext cx="3108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Paid → Retained (30-day)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448056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116 active / 47 churned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448056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71.2%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4480560"/>
            <a:ext cx="1920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85–92%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64040" y="45720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4040" y="4572000"/>
            <a:ext cx="13716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IMPROVE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760720"/>
            <a:ext cx="11201400" cy="502920"/>
          </a:xfrm>
          <a:prstGeom prst="roundRect">
            <a:avLst>
              <a:gd name="adj" fmla="val 3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7607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E335A"/>
                </a:solidFill>
                <a:latin typeface="Calibri"/>
              </a:rPr>
              <a:t>Diagnosis:  88% of every leak sits in steps 2 and 3. Fix those first; they are free, fast and compounding.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01 · 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Who actually subscribes — The Modern Seeker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05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1691640"/>
            <a:ext cx="2011680" cy="2011680"/>
          </a:xfrm>
          <a:prstGeom prst="ellipse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691640"/>
            <a:ext cx="2011680" cy="2011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0" i="0">
                <a:solidFill>
                  <a:srgbClr val="FFFFFF"/>
                </a:solidFill>
                <a:latin typeface="Calibri"/>
              </a:rPr>
              <a:t>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THE MODERN SEEKER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Aged 32–55  ·  Tier 1 / 2 cities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33832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FAF5EC"/>
                </a:solidFill>
                <a:latin typeface="Calibri"/>
              </a:rPr>
              <a:t>Hindi-first or bilingual. Spiritually inclined but time-poor. Curious about Gita, intimidated by it. Shops on UPI, lives on WhatsApp, gifts on festivals.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4712"/>
                </a:solidFill>
                <a:latin typeface="Calibri"/>
              </a:rPr>
              <a:t>JOBS-TO-BE-DONE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1965960"/>
            <a:ext cx="3200400" cy="0"/>
          </a:xfrm>
          <a:prstGeom prst="line">
            <a:avLst/>
          </a:prstGeom>
          <a:ln w="9525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2029968"/>
            <a:ext cx="329184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Anchor my morning with meaning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Make sense of life events through tradition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Feel connected to something larger — daily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Pass the wisdom to my kids and parents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463040"/>
            <a:ext cx="36576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2763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4712"/>
                </a:solidFill>
                <a:latin typeface="Calibri"/>
              </a:rPr>
              <a:t>ANXIETIES THAT KILL CONVERSION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21040" y="1965960"/>
            <a:ext cx="3200400" cy="0"/>
          </a:xfrm>
          <a:prstGeom prst="line">
            <a:avLst/>
          </a:prstGeom>
          <a:ln w="9525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21040" y="2029968"/>
            <a:ext cx="329184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₹5 mandate — "will they keep deducting?"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UPI auto-pay distrust in tier 2/3 cohorts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"Is this just another spiritual reels page?"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Forgetting they signed up → angry chargebacks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94760"/>
            <a:ext cx="36576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5935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4712"/>
                </a:solidFill>
                <a:latin typeface="Calibri"/>
              </a:rPr>
              <a:t>WHAT MAKES THEM PAY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0" y="4297680"/>
            <a:ext cx="3200400" cy="0"/>
          </a:xfrm>
          <a:prstGeom prst="line">
            <a:avLst/>
          </a:prstGeom>
          <a:ln w="9525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4361688"/>
            <a:ext cx="329184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Sample message that feels personally written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A friend forwarded it on WhatsApp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A real face / scholar attached to the brand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Festival or life-event trigger (Navratri, exam)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794760"/>
            <a:ext cx="36576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5935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F4712"/>
                </a:solidFill>
                <a:latin typeface="Calibri"/>
              </a:rPr>
              <a:t>WHAT MAKES THEM STAY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0" y="4297680"/>
            <a:ext cx="3200400" cy="0"/>
          </a:xfrm>
          <a:prstGeom prst="line">
            <a:avLst/>
          </a:prstGeom>
          <a:ln w="9525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21040" y="4361688"/>
            <a:ext cx="3291840" cy="1600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Same time, every morning — without fail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The verse "happens to" speak to today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Felt sense of a teacher, not a bot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Community of people on the same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01 · 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The Trust Equation — why spiritual subscriptions break differently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080"/>
                </a:solidFill>
                <a:latin typeface="Calibri"/>
              </a:rPr>
              <a:t>Most SaaS funnels optimize for friction. Spiritual products must optimize for trust. We adapt the classic Trust Equation: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194560"/>
            <a:ext cx="9418320" cy="137160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9418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TRUST 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97480"/>
            <a:ext cx="9418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( Credibility   +   Reliability   +   Intimacy )   ÷   Self-Orientation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40"/>
            <a:ext cx="9418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FAF5EC"/>
                </a:solidFill>
                <a:latin typeface="Calibri"/>
              </a:rPr>
              <a:t>(adapted from Maister-Green-Galford for consumer spiritual products)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26974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2697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CREDIBILITY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A1F3A"/>
                </a:solidFill>
                <a:latin typeface="Calibri"/>
              </a:rPr>
              <a:t>Who is the teacher?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Add a real founder/scholar face on homepage and WhatsApp. Replace generic tagline with a specific promise.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931920"/>
            <a:ext cx="26974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37560" y="3931920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931920"/>
            <a:ext cx="2697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3434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A1F3A"/>
                </a:solidFill>
                <a:latin typeface="Calibri"/>
              </a:rPr>
              <a:t>Does it arrive every day?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84632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8 AM delivery non-negotiable. Day 3 charge announced 24h before. Status messages even on holidays.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31920"/>
            <a:ext cx="26974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931920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931920"/>
            <a:ext cx="2697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INTIMACY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434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A1F3A"/>
                </a:solidFill>
                <a:latin typeface="Calibri"/>
              </a:rPr>
              <a:t>Does it feel like it knows me?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4632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Persona-poll → personalized first verse. Day-1 welcome that names the journey, not the transaction.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3931920"/>
            <a:ext cx="26974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06840" y="3931920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3931920"/>
            <a:ext cx="2697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SELF-ORIENTATION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3434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A1F3A"/>
                </a:solidFill>
                <a:latin typeface="Calibri"/>
              </a:rPr>
              <a:t>Does it feel like a sale?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84632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Kill competing CTAs. "Cancel anytime — reply STOP". Re-engagement with no discount, just the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02 · LEVER 1 — SEAL 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Three leaks. Three different root causes.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07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LEAK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57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F3A"/>
                </a:solidFill>
                <a:latin typeface="Calibri"/>
              </a:rPr>
              <a:t>Homepage →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8F4712"/>
                </a:solidFill>
                <a:latin typeface="Calibri"/>
              </a:rPr>
              <a:t>82% drop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246120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ROOT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Page is doing too much. Subscribe, browse, learn — all competing.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THE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Single-purpose page. Form above fold. One CTA. Specific hero promise. Sample message preview.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80" y="155448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LEAK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57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F3A"/>
                </a:solidFill>
                <a:latin typeface="Calibri"/>
              </a:rPr>
              <a:t>Form →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8F4712"/>
                </a:solidFill>
                <a:latin typeface="Calibri"/>
              </a:rPr>
              <a:t>83% drop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3246120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118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₹5 UPI mandate scares spiritually-motivated tier-2/3 users.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54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THE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2920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Bilingual mandate explainer. Trust badges. Test removing mandate entirely. Instant WhatsApp welcome.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155448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1554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LEAK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0574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F3A"/>
                </a:solidFill>
                <a:latin typeface="Calibri"/>
              </a:rPr>
              <a:t>Trial → Paid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468880"/>
            <a:ext cx="3200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8F4712"/>
                </a:solidFill>
                <a:latin typeface="Calibri"/>
              </a:rPr>
              <a:t>47 churned (~29%)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66760" y="3246120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66760" y="3337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ROOT CAUSE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61188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Day-3 charge surprises users — too little value experienced in 3 days.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754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THE 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029200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Day 1/2/3 WhatsApp sequence. Pre-charge transparency. 48h re-engagement for cancels.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02 · LEVER 1 — SEAL 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Leak 01 — Make the homepage do one 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08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532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164592" cy="45720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02A2A"/>
                </a:solidFill>
                <a:latin typeface="Calibri"/>
              </a:rPr>
              <a:t>TODAY  ·  Why it leaks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507492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Hero tagline is generic — "Ancient Wisdom, Timeless Truth" tells the user nothing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Competing CTAs: Explore Chapters, Explore Teachings, Start Learning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Social proof contradicts itself: "4,000+" vs "12,000+" on the same page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Form lives below the fold — avg scroll depth only 51.95%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LCP at 3.9s on mobile · 129 sessions hit "undefined is not an object"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Free Gita resources are a reason NOT to 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55321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164592" cy="4572000"/>
          </a:xfrm>
          <a:prstGeom prst="rect">
            <a:avLst/>
          </a:prstGeom>
          <a:solidFill>
            <a:srgbClr val="05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5074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58855"/>
                </a:solidFill>
                <a:latin typeface="Calibri"/>
              </a:rPr>
              <a:t>AFTER  ·  Single-purpose conversion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07492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Hero: "One shlok from the Gita, every morning on WhatsApp — explained for your life today."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One CTA: subscribe form above the fold on mobile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Visible WhatsApp message mock-up next to the CTA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One social proof number, used everywhere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Compress hero image · target LCP &lt; 2.5s · resolve JS errors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•  Move "Explore Chapters" to a post-subscribe experience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172200"/>
            <a:ext cx="1120140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335A"/>
                </a:solidFill>
                <a:latin typeface="Calibri"/>
              </a:rPr>
              <a:t>Expected impact:  Homepage → Form lifts from 18% → 30%+ in 30 days. Zero new ad spend.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02 · LEVER 1 — SEAL 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Leak 02 / 03 — A trial that earns the ₹79 charge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09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080"/>
                </a:solidFill>
                <a:latin typeface="Calibri"/>
              </a:rPr>
              <a:t>The fix is a 3-day WhatsApp activation arc — value experienced before money is moved.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2834640"/>
            <a:ext cx="8869680" cy="0"/>
          </a:xfrm>
          <a:prstGeom prst="line">
            <a:avLst/>
          </a:prstGeom>
          <a:ln w="31750">
            <a:solidFill>
              <a:srgbClr val="C865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527048" y="2670048"/>
            <a:ext cx="329184" cy="329184"/>
          </a:xfrm>
          <a:prstGeom prst="ellipse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651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Sign-up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546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T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520440"/>
            <a:ext cx="20116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Instant WhatsApp welcome — "Your Gita journey starts tomorrow at 8 AM — here's today's shlok 🙏"</a:t>
            </a:r>
          </a:p>
        </p:txBody>
      </p:sp>
      <p:sp>
        <p:nvSpPr>
          <p:cNvPr id="17" name="Oval 16"/>
          <p:cNvSpPr/>
          <p:nvPr/>
        </p:nvSpPr>
        <p:spPr>
          <a:xfrm>
            <a:off x="3744468" y="2670048"/>
            <a:ext cx="329184" cy="329184"/>
          </a:xfrm>
          <a:prstGeom prst="ellipse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6180" y="2651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322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Day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3220" y="31546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8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3220" y="3520440"/>
            <a:ext cx="20116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First shlok + permission to explore. "For the next 3 days, this is completely free."</a:t>
            </a:r>
          </a:p>
        </p:txBody>
      </p:sp>
      <p:sp>
        <p:nvSpPr>
          <p:cNvPr id="22" name="Oval 21"/>
          <p:cNvSpPr/>
          <p:nvPr/>
        </p:nvSpPr>
        <p:spPr>
          <a:xfrm>
            <a:off x="5961888" y="2670048"/>
            <a:ext cx="329184" cy="329184"/>
          </a:xfrm>
          <a:prstGeom prst="ellipse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651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Day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1546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8 AM + 7 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520440"/>
            <a:ext cx="20116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Shlok at 8 AM + evening preview of the next 5 shlokas. Annual upsell teaser appears here.</a:t>
            </a:r>
          </a:p>
        </p:txBody>
      </p:sp>
      <p:sp>
        <p:nvSpPr>
          <p:cNvPr id="27" name="Oval 26"/>
          <p:cNvSpPr/>
          <p:nvPr/>
        </p:nvSpPr>
        <p:spPr>
          <a:xfrm>
            <a:off x="8179308" y="2670048"/>
            <a:ext cx="329184" cy="329184"/>
          </a:xfrm>
          <a:prstGeom prst="ellipse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1020" y="2651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806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Day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8060" y="31546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Pre-charge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8060" y="3520440"/>
            <a:ext cx="20116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"Your trial ends today. ₹79 will be charged at [time]. Reply STOP to cancel."</a:t>
            </a:r>
          </a:p>
        </p:txBody>
      </p:sp>
      <p:sp>
        <p:nvSpPr>
          <p:cNvPr id="32" name="Oval 31"/>
          <p:cNvSpPr/>
          <p:nvPr/>
        </p:nvSpPr>
        <p:spPr>
          <a:xfrm>
            <a:off x="10396728" y="2670048"/>
            <a:ext cx="329184" cy="329184"/>
          </a:xfrm>
          <a:prstGeom prst="ellipse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265176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331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Cancel?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1546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T + 48h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520440"/>
            <a:ext cx="201168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Single re-engagement WhatsApp: today's shlok + "Your spot is still here." 15–20% return.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60720"/>
            <a:ext cx="11201400" cy="502920"/>
          </a:xfrm>
          <a:prstGeom prst="roundRect">
            <a:avLst>
              <a:gd name="adj" fmla="val 3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7607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335A"/>
                </a:solidFill>
                <a:latin typeface="Calibri"/>
              </a:rPr>
              <a:t>Checkout fixes that compound: bilingual mandate explainer · Razorpay/UPI logo · "Cancel anytime" badge · one real testimonial.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02 · LEVER 2 — SCALE TOP-OF-FUNNEL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From 2–3 trials/day to 25 — the math, then the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10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11201400" cy="137160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THE 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25 trials/day  ÷  17% form-to-trial  =  ~150 form visits/day  →  vs ~16 today  =  9× ToFu lift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54680"/>
            <a:ext cx="164592" cy="310896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PHASE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Weeks 1–4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3A"/>
                </a:solidFill>
                <a:latin typeface="Calibri"/>
              </a:rPr>
              <a:t>DM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ManyChat trigger on 'GITA' comment auto-DMs the form. Story CTA daily. One 15-min Instagram Live/week.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486400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5577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2472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E335A"/>
                </a:solidFill>
                <a:latin typeface="Calibri"/>
              </a:rPr>
              <a:t>30–45% comment→form vs 1–2% bio link.  5× ToFu at zero spend.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1546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154680"/>
            <a:ext cx="164592" cy="310896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31927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PHASE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5661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Weeks 5–12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3A"/>
                </a:solidFill>
                <a:latin typeface="Calibri"/>
              </a:rPr>
              <a:t>Content-led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434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 Reel/day · cross-post to Shorts · 4–6 micro-creator collabs · WhatsApp viral loop in every daily message.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0" y="5486400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0" y="5577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82472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E335A"/>
                </a:solidFill>
                <a:latin typeface="Calibri"/>
              </a:rPr>
              <a:t>Compounding organic. Adds the second 2–3× to ToFu without ads.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1546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154680"/>
            <a:ext cx="164592" cy="310896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31927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PHASE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5661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Month 3+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8404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3A"/>
                </a:solidFill>
                <a:latin typeface="Calibri"/>
              </a:rPr>
              <a:t>Paid acquisition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343400"/>
            <a:ext cx="3200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Meta CTWA at ₹500/day · lookalike of paid subscribers · age 28–55, Hindi spiritual interests, T1+T2 cities.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66760" y="5486400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66760" y="5577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82472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E335A"/>
                </a:solidFill>
                <a:latin typeface="Calibri"/>
              </a:rPr>
              <a:t>Only after homepage→trial &gt; 8%. Target CAC &lt; ₹150, ROAS &gt; 1.5×.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03 · CONTENT →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Closing the value gap between free and paid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11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6B7080"/>
                </a:solidFill>
                <a:latin typeface="Calibri"/>
              </a:rPr>
              <a:t>Today, Instagram followers get the same content for free that subscribers pay for. Make the WhatsApp product feel exclusive — and Instagram a tease, not a substitute.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931920" cy="411480"/>
          </a:xfrm>
          <a:prstGeom prst="roundRect">
            <a:avLst>
              <a:gd name="adj" fmla="val 20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3931920" cy="411480"/>
          </a:xfrm>
          <a:prstGeom prst="roundRect">
            <a:avLst>
              <a:gd name="adj" fmla="val 2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2331720"/>
            <a:ext cx="3337560" cy="411480"/>
          </a:xfrm>
          <a:prstGeom prst="roundRect">
            <a:avLst>
              <a:gd name="adj" fmla="val 20000"/>
            </a:avLst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931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FREE  ·  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337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PAID  ·  WhatsApp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4320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4320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Content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74320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Shlok image / verse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4320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Shlok + meaning + life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11201400" cy="50292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24612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Personalization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4612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One-to-many caption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4612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Reflection tied to today's verse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4904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4904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Cadence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4904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Variable, algorithm-led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4904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8 AM, every morning. No exceptions.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51960"/>
            <a:ext cx="11201400" cy="50292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5196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Relationship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5196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Public broadcast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25196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Private, ritual, companion-like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754880"/>
            <a:ext cx="112014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75488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Discoverability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754880"/>
            <a:ext cx="3749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Anyone can find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754880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A curated channel just for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E335A"/>
                </a:solidFill>
                <a:latin typeface="Calibri"/>
              </a:rPr>
              <a:t>Caption pattern that monetizes:  "Today's shlok ☝  |  Full meaning + how to apply it to your life today → link in bio."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03 · CONTENT →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Five campaigns to test — ranked by expected impact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12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822960" cy="960120"/>
          </a:xfrm>
          <a:prstGeom prst="roundRect">
            <a:avLst>
              <a:gd name="adj" fmla="val 15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8229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0A03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00200"/>
            <a:ext cx="74980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F3A"/>
                </a:solidFill>
                <a:latin typeface="Calibri"/>
              </a:rPr>
              <a:t>What is Krishna saying about your life right 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965960"/>
            <a:ext cx="74980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Story poll: career / relationships / overthinking / lost. Auto-DM relevant shlok + trial link.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73352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★ ★ ★ ★ 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6032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560320"/>
            <a:ext cx="822960" cy="960120"/>
          </a:xfrm>
          <a:prstGeom prst="roundRect">
            <a:avLst>
              <a:gd name="adj" fmla="val 15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60320"/>
            <a:ext cx="8229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0A03A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651760"/>
            <a:ext cx="74980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F3A"/>
                </a:solidFill>
                <a:latin typeface="Calibri"/>
              </a:rPr>
              <a:t>Subscriber Before &amp; After Reels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017520"/>
            <a:ext cx="74980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1-line testimonials from active 116. Format: situation → shlok → outcome. Native social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724912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718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★ ★ ★ ★ 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1188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611880"/>
            <a:ext cx="822960" cy="960120"/>
          </a:xfrm>
          <a:prstGeom prst="roundRect">
            <a:avLst>
              <a:gd name="adj" fmla="val 15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8229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0A03A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703320"/>
            <a:ext cx="74980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F3A"/>
                </a:solidFill>
                <a:latin typeface="Calibri"/>
              </a:rPr>
              <a:t>"Gita for [situation]"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069080"/>
            <a:ext cx="74980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Anxiety, exams, heartbreak, Monday morning, quitting. Shareable + searchable + trial driver.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776472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023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★ ★ ★ ★ 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66344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663440"/>
            <a:ext cx="822960" cy="960120"/>
          </a:xfrm>
          <a:prstGeom prst="roundRect">
            <a:avLst>
              <a:gd name="adj" fmla="val 15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663440"/>
            <a:ext cx="8229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0A03A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754880"/>
            <a:ext cx="74980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F3A"/>
                </a:solidFill>
                <a:latin typeface="Calibri"/>
              </a:rPr>
              <a:t>200K Milestone unlock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120640"/>
            <a:ext cx="74980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First 200 to DM 'GITA200' get 1 month free. PR pitch: India's most-followed Gita page crosses 200K.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828032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07492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★ ★ ★ ☆ 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715000"/>
            <a:ext cx="112014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5715000"/>
            <a:ext cx="822960" cy="960120"/>
          </a:xfrm>
          <a:prstGeom prst="roundRect">
            <a:avLst>
              <a:gd name="adj" fmla="val 15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715000"/>
            <a:ext cx="8229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0A03A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806440"/>
            <a:ext cx="74980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F3A"/>
                </a:solidFill>
                <a:latin typeface="Calibri"/>
              </a:rPr>
              <a:t>Festival gifting (Navratri / Diwali / birthdays)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6172200"/>
            <a:ext cx="74980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Dedicated gift sub page. Spiritual gifting is real and underserved. 100–200 subs/single push.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879592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EXPECTED 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12648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★ ★ ★ ★ 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04 · MONETIZE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From one ₹79 SKU to a full monetization stack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13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554480"/>
            <a:ext cx="1828800" cy="64008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55448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ENTERPRISE  ·  ₹5K–15K/mo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240280"/>
            <a:ext cx="2377440" cy="640080"/>
          </a:xfrm>
          <a:prstGeom prst="rect">
            <a:avLst/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4028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PHYSICAL  ·  ₹599–699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926080"/>
            <a:ext cx="2926080" cy="640080"/>
          </a:xfrm>
          <a:prstGeom prst="rect">
            <a:avLst/>
          </a:prstGeom>
          <a:solidFill>
            <a:srgbClr val="8F4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8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PREMIUM  ·  ₹199/mo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611880"/>
            <a:ext cx="3474720" cy="64008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3474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DIGITAL  ·  ₹99–149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97680"/>
            <a:ext cx="4023360" cy="640080"/>
          </a:xfrm>
          <a:prstGeom prst="rect">
            <a:avLst/>
          </a:prstGeom>
          <a:solidFill>
            <a:srgbClr val="E0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4023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ANNUAL  ·  ₹699/yr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457200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CORE  ·  ₹79/mo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15000"/>
            <a:ext cx="4572000" cy="54864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E335A"/>
                </a:solidFill>
                <a:latin typeface="Calibri"/>
              </a:rPr>
              <a:t>FREE  ·  Instagram + sample shlok  (acquisition layer)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1554480"/>
            <a:ext cx="5943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MONTHLY REVENUE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0116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080"/>
                </a:solidFill>
                <a:latin typeface="Calibri"/>
              </a:rPr>
              <a:t>(post-Month 3 base case)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4688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Core monthly · 800 subs × ₹79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4688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₹63,200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798064"/>
            <a:ext cx="548640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288036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Annual · 50 prepay × ₹699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8803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₹34,950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3209544"/>
            <a:ext cx="548640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80760" y="329184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Premium community · 100 × ₹199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2918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₹19,900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3621024"/>
            <a:ext cx="548640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80760" y="37033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PDF guides · 150 sales × ₹99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7033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₹14,850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0760" y="4032504"/>
            <a:ext cx="548640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80760" y="41148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Card deck · 50 × ₹599 (gross)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41148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₹29,950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0760" y="4443984"/>
            <a:ext cx="548640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80760" y="45262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Corporate · 3 clients @ avg ₹10K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45262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₹30,000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4855464"/>
            <a:ext cx="548640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080760" y="4983480"/>
            <a:ext cx="5486400" cy="502920"/>
          </a:xfrm>
          <a:prstGeom prst="roundRect">
            <a:avLst>
              <a:gd name="adj" fmla="val 20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98348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Blended monthly revenue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498348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E0A03A"/>
                </a:solidFill>
                <a:latin typeface="Calibri"/>
              </a:rPr>
              <a:t>₹1.92L+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04 · MONETIZE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Three revenue streams to launch first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14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3657600" cy="411480"/>
          </a:xfrm>
          <a:prstGeom prst="roundRect">
            <a:avLst>
              <a:gd name="adj" fmla="val 18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Annual plan  ·  ₹699/yr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E335A"/>
                </a:solidFill>
                <a:latin typeface="Calibri"/>
              </a:rPr>
              <a:t>Reduces 12-month churn to ~0%. Cash flow upfront.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320040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Pitch on Day-2 of trial via WhatsApp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"Save ₹249 vs monthly" — anchored, not discounted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15–20% take rate of new subscribers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120–160 plans/month → ₹84K–₹1.1L upfront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303519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5394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GO-LIVE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Month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554480"/>
            <a:ext cx="3657600" cy="411480"/>
          </a:xfrm>
          <a:prstGeom prst="roundRect">
            <a:avLst>
              <a:gd name="adj" fmla="val 18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55448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Situation PDF guides  ·  ₹99–149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03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E335A"/>
                </a:solidFill>
                <a:latin typeface="Calibri"/>
              </a:rPr>
              <a:t>Anxiety · Career · Relationships · Students · Grief.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43200"/>
            <a:ext cx="320040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Built from 2,227 existing posts — zero CMS cost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Sell via Story link sticker + WhatsApp broadcast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Bundle of 5 at ₹399 to anchor value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150 sales/month → ₹14K+ at ~100% margin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5303519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0" y="5394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623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Month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554480"/>
            <a:ext cx="3657600" cy="411480"/>
          </a:xfrm>
          <a:prstGeom prst="roundRect">
            <a:avLst>
              <a:gd name="adj" fmla="val 18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55448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Premium community  ·  ₹199/mo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103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E335A"/>
                </a:solidFill>
                <a:latin typeface="Calibri"/>
              </a:rPr>
              <a:t>Live Q&amp;A, chapter deep-dives, scholar access.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743200"/>
            <a:ext cx="320040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Capped at 100–150 — scarcity is the feature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Upsold to subscribers at 3-month mark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8–12% take rate of paid base</a:t>
            </a:r>
          </a:p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•  64–96 members → ₹12.7K–₹19.1K/month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66760" y="5303519"/>
            <a:ext cx="310896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66760" y="5394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7080"/>
                </a:solidFill>
                <a:latin typeface="Calibri"/>
              </a:rPr>
              <a:t>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6235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F4712"/>
                </a:solidFill>
                <a:latin typeface="Calibri"/>
              </a:rPr>
              <a:t>Month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04 · MONETIZE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Corporate Gita Daily — the asymmetric B2B bet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15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MARKET SIZING (illustrative)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TAM  ·  Indian corporate wellness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77440"/>
            <a:ext cx="3840480" cy="365760"/>
          </a:xfrm>
          <a:prstGeom prst="roundRect">
            <a:avLst>
              <a:gd name="adj" fmla="val 3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₹4,000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79776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080"/>
                </a:solidFill>
                <a:latin typeface="Calibri"/>
              </a:rPr>
              <a:t>Growing at 15%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SAM  ·  Mid-size firms, traditional sectors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₹400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85616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080"/>
                </a:solidFill>
                <a:latin typeface="Calibri"/>
              </a:rPr>
              <a:t>BFSI · FMCG · 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SOM (Year 1)  ·  Lighthouse pilots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8912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₹50–80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91456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080"/>
                </a:solidFill>
                <a:latin typeface="Calibri"/>
              </a:rPr>
              <a:t>10–15 anchor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1">
                <a:solidFill>
                  <a:srgbClr val="2E335A"/>
                </a:solidFill>
                <a:latin typeface="Calibri"/>
              </a:rPr>
              <a:t>Why now: HR teams in BFSI, FMCG and manufacturing are buying "mindfulness at work". A Gita-based programme is differentiated and culturally resonant — not another meditation app.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463040"/>
            <a:ext cx="55321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645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4712"/>
                </a:solidFill>
                <a:latin typeface="Calibri"/>
              </a:rPr>
              <a:t>GO-TO-MARKET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031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10312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Daily WhatsApp/email shlok with workplace lens · monthly engagement report · optional quarterly scholar talk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46520" y="2697480"/>
            <a:ext cx="49377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46520" y="28803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Buyer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88036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HR Heads at 500–5,000 employee firms in BFSI, FMCG, manufacturing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46520" y="3474720"/>
            <a:ext cx="49377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46520" y="36576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Pricing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65760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₹5K (≤50) · ₹10K (50–200) · ₹15K (200+)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46520" y="4251960"/>
            <a:ext cx="49377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46520" y="44348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Motion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43484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15-min LinkedIn outreach · pilot offer · case-study fly-wheel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46520" y="5029200"/>
            <a:ext cx="49377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46520" y="52120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Strategic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212080"/>
            <a:ext cx="3840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B2C credibility halo — every corporate logo is a B2B social proof asset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46520" y="5806440"/>
            <a:ext cx="49377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Competitive landscape — owning the daily-ritual quadrant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16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691640"/>
            <a:ext cx="76809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852160.0" y="1691640"/>
            <a:ext cx="0.0" cy="4389120"/>
          </a:xfrm>
          <a:prstGeom prst="line">
            <a:avLst/>
          </a:prstGeom>
          <a:ln w="1524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11680" y="3886200.0"/>
            <a:ext cx="7680960" cy="0.0"/>
          </a:xfrm>
          <a:prstGeom prst="line">
            <a:avLst/>
          </a:prstGeom>
          <a:ln w="1524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7033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Generic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7033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Daily ritual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28016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↑  High intimacy / personal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612648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080"/>
                </a:solidFill>
                <a:latin typeface="Calibri"/>
              </a:rPr>
              <a:t>↓  Broadcast / one-to-many</a:t>
            </a:r>
          </a:p>
        </p:txBody>
      </p:sp>
      <p:sp>
        <p:nvSpPr>
          <p:cNvPr id="17" name="Oval 16"/>
          <p:cNvSpPr/>
          <p:nvPr/>
        </p:nvSpPr>
        <p:spPr>
          <a:xfrm>
            <a:off x="3886200" y="2834640"/>
            <a:ext cx="274320" cy="274320"/>
          </a:xfrm>
          <a:prstGeom prst="ellipse">
            <a:avLst/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2880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Sadhguru / Isha</a:t>
            </a:r>
          </a:p>
        </p:txBody>
      </p:sp>
      <p:sp>
        <p:nvSpPr>
          <p:cNvPr id="19" name="Oval 18"/>
          <p:cNvSpPr/>
          <p:nvPr/>
        </p:nvSpPr>
        <p:spPr>
          <a:xfrm>
            <a:off x="5166360" y="2468880"/>
            <a:ext cx="274320" cy="274320"/>
          </a:xfrm>
          <a:prstGeom prst="ellipse">
            <a:avLst/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2514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Gaur Gopal</a:t>
            </a:r>
          </a:p>
        </p:txBody>
      </p:sp>
      <p:sp>
        <p:nvSpPr>
          <p:cNvPr id="21" name="Oval 20"/>
          <p:cNvSpPr/>
          <p:nvPr/>
        </p:nvSpPr>
        <p:spPr>
          <a:xfrm>
            <a:off x="3337560" y="4846320"/>
            <a:ext cx="274320" cy="274320"/>
          </a:xfrm>
          <a:prstGeom prst="ellipse">
            <a:avLst/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48920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Jay Shetty</a:t>
            </a:r>
          </a:p>
        </p:txBody>
      </p:sp>
      <p:sp>
        <p:nvSpPr>
          <p:cNvPr id="23" name="Oval 22"/>
          <p:cNvSpPr/>
          <p:nvPr/>
        </p:nvSpPr>
        <p:spPr>
          <a:xfrm>
            <a:off x="7726680" y="4937760"/>
            <a:ext cx="274320" cy="274320"/>
          </a:xfrm>
          <a:prstGeom prst="ellipse">
            <a:avLst/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498348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Headspace / Calm</a:t>
            </a:r>
          </a:p>
        </p:txBody>
      </p:sp>
      <p:sp>
        <p:nvSpPr>
          <p:cNvPr id="25" name="Oval 24"/>
          <p:cNvSpPr/>
          <p:nvPr/>
        </p:nvSpPr>
        <p:spPr>
          <a:xfrm>
            <a:off x="2788920" y="5394960"/>
            <a:ext cx="274320" cy="274320"/>
          </a:xfrm>
          <a:prstGeom prst="ellipse">
            <a:avLst/>
          </a:prstGeom>
          <a:solidFill>
            <a:srgbClr val="2E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544068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Generic Gita pages</a:t>
            </a:r>
          </a:p>
        </p:txBody>
      </p:sp>
      <p:sp>
        <p:nvSpPr>
          <p:cNvPr id="27" name="Oval 26"/>
          <p:cNvSpPr/>
          <p:nvPr/>
        </p:nvSpPr>
        <p:spPr>
          <a:xfrm>
            <a:off x="7854696" y="2414016"/>
            <a:ext cx="384048" cy="384048"/>
          </a:xfrm>
          <a:prstGeom prst="ellipse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251460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Bhagavad Gita 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148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★ The white-space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63640"/>
            <a:ext cx="11201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17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2E335A"/>
                </a:solidFill>
                <a:latin typeface="Calibri"/>
              </a:rPr>
              <a:t>The defensible position: a daily, intimate, vernacular ritual at the price of a coffee. No incumbent owns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What makes this defensible — three compounding loops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17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LOOP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Daily-habit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0A03A"/>
                </a:solidFill>
                <a:latin typeface="Calibri"/>
              </a:rPr>
              <a:t>8 AM ritual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5EC"/>
                </a:solidFill>
                <a:latin typeface="Calibri"/>
              </a:rPr>
              <a:t>The morning shlok becomes a habit, like coffee. Habit-based products have the lowest churn in consumer subscription.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LOOP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19456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Trust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803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0A03A"/>
                </a:solidFill>
                <a:latin typeface="Calibri"/>
              </a:rPr>
              <a:t>Founder + scholar 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5EC"/>
                </a:solidFill>
                <a:latin typeface="Calibri"/>
              </a:rPr>
              <a:t>A real teacher attached to the brand cannot be cloned by a content farm. Trust compounds with each retained subscriber.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5544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8745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LOOP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9456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Data moat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803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E0A03A"/>
                </a:solidFill>
                <a:latin typeface="Calibri"/>
              </a:rPr>
              <a:t>Persona-poll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291840"/>
            <a:ext cx="30175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AF5EC"/>
                </a:solidFill>
                <a:latin typeface="Calibri"/>
              </a:rPr>
              <a:t>Every story poll feeds personalization data that lets the next subscriber be onboarded smarter than the last. AI-ready.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3776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02352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PIRATE-METRIC (AARRR) 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321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686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Acquisition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24728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DM automation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55321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55686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Activation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824728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Day-1 WhatsApp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55321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55686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5824728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8 AM ritual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55321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55686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Referral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5824728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Forward-to-friend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553212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556869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5824728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Tiered stack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Risk register — what can go wrong, and our pre-mortem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18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11201400" cy="41148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074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554480"/>
            <a:ext cx="11887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554480"/>
            <a:ext cx="1325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611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65960"/>
            <a:ext cx="11201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65960"/>
            <a:ext cx="50749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F3A"/>
                </a:solidFill>
                <a:latin typeface="Calibri"/>
              </a:rPr>
              <a:t>Mandate distrust spikes refund / chargeback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075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F4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07568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0756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07568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36118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Bilingual mandate explainer · pre-charge transparency · easy STOP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60320"/>
            <a:ext cx="11201400" cy="5943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60320"/>
            <a:ext cx="50749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F3A"/>
                </a:solidFill>
                <a:latin typeface="Calibri"/>
              </a:rPr>
              <a:t>Removing ₹5 mandate inflates trials but drops paid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2670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67004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2670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67004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60320"/>
            <a:ext cx="36118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A/B test by week. Hold-out cohort. Switch back if Trial→Paid &lt;70%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154680"/>
            <a:ext cx="11201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54680"/>
            <a:ext cx="50749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F3A"/>
                </a:solidFill>
                <a:latin typeface="Calibri"/>
              </a:rPr>
              <a:t>Founder-led content fatigue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326440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F4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326440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326440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26440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154680"/>
            <a:ext cx="36118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Onboard 2 contributing scholars by Month 3. Brand &gt; person.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749040"/>
            <a:ext cx="11201400" cy="5943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49040"/>
            <a:ext cx="50749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F3A"/>
                </a:solidFill>
                <a:latin typeface="Calibri"/>
              </a:rPr>
              <a:t>Instagram algorithm dependency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0" y="38587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F4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385876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38587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385876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49040"/>
            <a:ext cx="36118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Diversify to Shorts, ShareChat, Moj. Email backup of WhatsApp.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343400"/>
            <a:ext cx="11201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43400"/>
            <a:ext cx="50749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F3A"/>
                </a:solidFill>
                <a:latin typeface="Calibri"/>
              </a:rPr>
              <a:t>WhatsApp policy / compliance change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0" y="44531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44531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44531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8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445312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343400"/>
            <a:ext cx="36118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Move to WhatsApp Business API + email mirror by Month 2.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937760"/>
            <a:ext cx="11201400" cy="5943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937760"/>
            <a:ext cx="50749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F3A"/>
                </a:solidFill>
                <a:latin typeface="Calibri"/>
              </a:rPr>
              <a:t>Premium community quality dilution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15000" y="5047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0" y="504748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5047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5047488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937760"/>
            <a:ext cx="36118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Hard cap at 150. Founder + scholar moderation. Quarterly cull.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OPERATE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North-Star metric &amp; weekly dashboard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19 /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11201400" cy="1280160"/>
          </a:xfrm>
          <a:prstGeom prst="roundRect">
            <a:avLst>
              <a:gd name="adj" fmla="val 4000"/>
            </a:avLst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0A03A"/>
                </a:solidFill>
                <a:latin typeface="Calibri"/>
              </a:rPr>
              <a:t>NORTH-STAR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Daily Retained Reads — # of subscribers who opened today's WhatsApp shlok within 12 hours.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AF5EC"/>
                </a:solidFill>
                <a:latin typeface="Calibri"/>
              </a:rPr>
              <a:t>Captures product (read), retention (today), and value (the ritual). Beats raw MRR for early-stage steering.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11201400" cy="36576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92608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92608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Day-30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92608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Day-60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92608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Day-90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91840"/>
            <a:ext cx="11201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Daily new trials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29184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2–3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2918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8–10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29184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15–18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2918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20–30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57600"/>
            <a:ext cx="11201400" cy="3657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Homepage → Form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65760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18.2%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65760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65760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365760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40%+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023360"/>
            <a:ext cx="11201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Form → Trial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0233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17.1%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02336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02336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35%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402336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40%+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389120"/>
            <a:ext cx="11201400" cy="3657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Trial → Paid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38912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71.2%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3891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78%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38912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82%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43891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88%+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54880"/>
            <a:ext cx="11201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Monthly churn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75488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~29%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475488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&lt;20%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75488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&lt;12%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60" y="475488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&lt;8%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120640"/>
            <a:ext cx="11201400" cy="3657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120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Active paid subscribers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12064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116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230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12064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480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512064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800+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486400"/>
            <a:ext cx="11201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4864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Monthly MRR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548640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₹9.2K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548640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₹18K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548640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₹38K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548640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₹63K+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8521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F3A"/>
                </a:solidFill>
                <a:latin typeface="Calibri"/>
              </a:rPr>
              <a:t>Blended monthly revenue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12080" y="5852160"/>
            <a:ext cx="1600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₹9.2K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585216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₹22K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58200" y="585216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64A"/>
                </a:solidFill>
                <a:latin typeface="Calibri"/>
              </a:rPr>
              <a:t>₹70K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585216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₹1.0L+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9260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OPERATE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3A"/>
                </a:solidFill>
                <a:latin typeface="Calibri"/>
              </a:rPr>
              <a:t>90-day execution roadmap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298448"/>
            <a:ext cx="11155680" cy="0"/>
          </a:xfrm>
          <a:prstGeom prst="line">
            <a:avLst/>
          </a:prstGeom>
          <a:ln w="1270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Monetization &amp; Growth Strategy  ·  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20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11201400" cy="36576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15087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50876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508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150876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Success 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874520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7452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Week 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79" y="187452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Fix the leak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87452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64A"/>
                </a:solidFill>
                <a:latin typeface="Calibri"/>
              </a:rPr>
              <a:t>Redesign homepage fold · move form above fold · fix social proof contradiction · resolve JS errors · compress images · add mandate explainer.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7452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Dev +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1874520"/>
            <a:ext cx="1691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Homepage → Form &gt; 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51176"/>
            <a:ext cx="11201400" cy="64008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51176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Week 2–3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79" y="2551176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Seal the 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551176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64A"/>
                </a:solidFill>
                <a:latin typeface="Calibri"/>
              </a:rPr>
              <a:t>Deploy 3-day WhatsApp activation sequence (Day 1/2/3) · re-engagement flow for 47 churned users · pre-charge transparency message.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551176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Product +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551176"/>
            <a:ext cx="1691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Trial → Paid &gt;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27832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27832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Week 3–4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3227832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DM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227832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64A"/>
                </a:solidFill>
                <a:latin typeface="Calibri"/>
              </a:rPr>
              <a:t>ManyChat 'GITA' trigger · update post captions · first Story poll campaign · daily Story CTA.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227832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3227832"/>
            <a:ext cx="1691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Daily trials 8–10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04488"/>
            <a:ext cx="11201400" cy="64008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04488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Month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79" y="3904488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New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0448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64A"/>
                </a:solidFill>
                <a:latin typeface="Calibri"/>
              </a:rPr>
              <a:t>Launch annual plan · publish 3 PDF guides · gift-subscription page live in time for upcoming festival.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904488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904488"/>
            <a:ext cx="1691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₹30K+ non-subscription revenue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581144"/>
            <a:ext cx="11201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81144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Month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79" y="4581144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Scale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581144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64A"/>
                </a:solidFill>
                <a:latin typeface="Calibri"/>
              </a:rPr>
              <a:t>Daily Reels · 2 creator collabs · premium community waitlist · pitch first 3 corporate clients.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581144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Content + Sales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581144"/>
            <a:ext cx="1691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Daily trials 20–25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257800"/>
            <a:ext cx="11201400" cy="64008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25780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4712"/>
                </a:solidFill>
                <a:latin typeface="Calibri"/>
              </a:rPr>
              <a:t>Month 3+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79" y="5257800"/>
            <a:ext cx="1828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Paid acquisition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5257800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64A"/>
                </a:solidFill>
                <a:latin typeface="Calibri"/>
              </a:rPr>
              <a:t>Meta CTWA at ₹500/day · lookalike from subscriber list · weekly CAC review.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257800"/>
            <a:ext cx="1371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64A"/>
                </a:solidFill>
                <a:latin typeface="Calibri"/>
              </a:rPr>
              <a:t>Growth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5257800"/>
            <a:ext cx="1691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3A"/>
                </a:solidFill>
                <a:latin typeface="Calibri"/>
              </a:rPr>
              <a:t>CAC &lt; ₹150 · ROAS &gt; 1.5×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3A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E0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A03A"/>
                </a:solidFill>
                <a:latin typeface="Calibri"/>
              </a:rPr>
              <a:t>THE BIG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0624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Fix the funnel before you scale it.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Deepen monetization before you buy traffic.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42062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1">
                <a:solidFill>
                  <a:srgbClr val="FAF5EC"/>
                </a:solidFill>
                <a:latin typeface="Calibri"/>
              </a:rPr>
              <a:t>Most spiritual subscriptions die buying ads into broken funnels. We will not. The 90-day plan is sequenced so the first ₹0 of new spend earns the right to the next ₹1 of paid acquisition.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8229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F4712"/>
                </a:solidFill>
                <a:latin typeface="Calibri"/>
              </a:rPr>
              <a:t>WHAT WE WILL HAVE BY MONTH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325880"/>
            <a:ext cx="45720" cy="50292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3258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Funnel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32588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Homepage → Trial above 8%, Trial → Paid above 88%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1828800"/>
            <a:ext cx="63093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94960" y="1920240"/>
            <a:ext cx="45720" cy="50292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92024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92024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800+ active paying subscribers (vs 116 today)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" y="2423160"/>
            <a:ext cx="63093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94960" y="2514600"/>
            <a:ext cx="45720" cy="50292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146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₹1.0L+ blended MRR — 11× current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60" y="3017520"/>
            <a:ext cx="63093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94960" y="3108960"/>
            <a:ext cx="45720" cy="50292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310896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0896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Annual, PDF guides, premium community live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94960" y="3611880"/>
            <a:ext cx="63093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94960" y="3703320"/>
            <a:ext cx="45720" cy="50292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70332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70332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3 corporate pilots in motion · paid ads live with positive ROAS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4960" y="4206240"/>
            <a:ext cx="63093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394960" y="4297680"/>
            <a:ext cx="45720" cy="502920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429768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3A"/>
                </a:solidFill>
                <a:latin typeface="Calibri"/>
              </a:rPr>
              <a:t>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29768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64A"/>
                </a:solidFill>
                <a:latin typeface="Calibri"/>
              </a:rPr>
              <a:t>200K+ Instagram, first PR mention as India's daily Gita ritual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94960" y="4800600"/>
            <a:ext cx="6309360" cy="0"/>
          </a:xfrm>
          <a:prstGeom prst="line">
            <a:avLst/>
          </a:prstGeom>
          <a:ln w="6350">
            <a:solidFill>
              <a:srgbClr val="E5D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94960" y="5349240"/>
            <a:ext cx="6355080" cy="118872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5440680"/>
            <a:ext cx="6035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F4712"/>
                </a:solidFill>
                <a:latin typeface="Calibri"/>
              </a:rPr>
              <a:t>FROM THE GITA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5669280"/>
            <a:ext cx="6035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E335A"/>
                </a:solidFill>
                <a:latin typeface="Calibri"/>
              </a:rPr>
              <a:t>"You have a right to perform your prescribed duty, but not to the fruits of action."  —  2.47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E335A"/>
                </a:solidFill>
                <a:latin typeface="Calibri"/>
              </a:rPr>
              <a:t>Operating principle: ship the funnel; the MRR will follow.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656539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080"/>
                </a:solidFill>
                <a:latin typeface="Calibri"/>
              </a:rPr>
              <a:t>Bhagavad Gita Daily  ·  Strategy Deck v1.0  ·  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2377440"/>
            <a:ext cx="640080" cy="64008"/>
          </a:xfrm>
          <a:prstGeom prst="rect">
            <a:avLst/>
          </a:prstGeom>
          <a:solidFill>
            <a:srgbClr val="C86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AF5EC"/>
                </a:solidFill>
                <a:latin typeface="Calibri"/>
              </a:rPr>
              <a:t>Happy to walk through any section in detail.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6634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7548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8F4712"/>
                </a:solidFill>
                <a:latin typeface="Calibri"/>
              </a:rPr>
              <a:t>DIVYAMAN 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50292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A1F3A"/>
                </a:solidFill>
                <a:latin typeface="Calibri"/>
              </a:rPr>
              <a:t>B.Tech, Civil Engineering · IIT Kanpur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28523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A1F3A"/>
                </a:solidFill>
                <a:latin typeface="Calibri"/>
              </a:rPr>
              <a:t>divyamp23@iitk.ac.in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55595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080"/>
                </a:solidFill>
                <a:latin typeface="Calibri"/>
              </a:rPr>
              <a:t>Strategy · Founder's Office  ·  Glido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