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6858000" y="0"/>
            <a:ext cx="5349240" cy="6858000"/>
          </a:xfrm>
          <a:prstGeom prst="rtTriangle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7772400" y="0"/>
            <a:ext cx="4434840" cy="6858000"/>
          </a:xfrm>
          <a:prstGeom prst="rtTriangle">
            <a:avLst/>
          </a:prstGeom>
          <a:solidFill>
            <a:srgbClr val="E89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82880"/>
            <a:ext cx="64008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365760"/>
            <a:ext cx="1645920" cy="777240"/>
          </a:xfrm>
          <a:prstGeom prst="roundRect">
            <a:avLst>
              <a:gd name="adj" fmla="val 18000"/>
            </a:avLst>
          </a:prstGeom>
          <a:solidFill>
            <a:srgbClr val="4A2418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65760"/>
            <a:ext cx="164592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IIT KANPUR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365760"/>
            <a:ext cx="1920240" cy="777240"/>
          </a:xfrm>
          <a:prstGeom prst="roundRect">
            <a:avLst>
              <a:gd name="adj" fmla="val 18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365760"/>
            <a:ext cx="192024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GLIDO LABS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65760"/>
            <a:ext cx="2103120" cy="777240"/>
          </a:xfrm>
          <a:prstGeom prst="roundRect">
            <a:avLst>
              <a:gd name="adj" fmla="val 18000"/>
            </a:avLst>
          </a:prstGeom>
          <a:solidFill>
            <a:srgbClr val="E89B47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365760"/>
            <a:ext cx="210312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FOUNDER'S OFFICE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691640"/>
            <a:ext cx="7315200" cy="269748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828800"/>
            <a:ext cx="70408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0A03A"/>
                </a:solidFill>
                <a:latin typeface="Calibri"/>
              </a:rPr>
              <a:t>STRATEGY ASSIGNMENT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331720"/>
            <a:ext cx="7040880" cy="1234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BHAGAVAD GITA DAILY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520440"/>
            <a:ext cx="70408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FFFFFF"/>
                </a:solidFill>
                <a:latin typeface="Calibri"/>
              </a:rPr>
              <a:t>Monetization &amp; Growth Strategy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0" y="1828800"/>
            <a:ext cx="3200400" cy="32004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828800"/>
            <a:ext cx="3200400" cy="3200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0" b="0" i="0">
                <a:solidFill>
                  <a:srgbClr val="B55512"/>
                </a:solidFill>
                <a:latin typeface="Calibri"/>
              </a:rPr>
              <a:t>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4663440"/>
            <a:ext cx="7315200" cy="1920240"/>
          </a:xfrm>
          <a:prstGeom prst="roundRect">
            <a:avLst>
              <a:gd name="adj" fmla="val 4000"/>
            </a:avLst>
          </a:prstGeom>
          <a:solidFill>
            <a:srgbClr val="E89B47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754880"/>
            <a:ext cx="7315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PREPARED BY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5074920"/>
            <a:ext cx="731520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DIVYAMAN PAL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5577840"/>
            <a:ext cx="73152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B.Tech, Civil Engineering · Indian Institute of Technology Kanpur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5989320"/>
            <a:ext cx="73152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divyamp23@iitk.ac.in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5029200"/>
            <a:ext cx="34747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5074920"/>
            <a:ext cx="3474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THE THESIS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5349240"/>
            <a:ext cx="347472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1">
                <a:solidFill>
                  <a:srgbClr val="2A1A0F"/>
                </a:solidFill>
                <a:latin typeface="Calibri"/>
              </a:rPr>
              <a:t>Not a product or audience problem.</a:t>
            </a:r>
          </a:p>
          <a:p>
            <a:pPr algn="ctr">
              <a:lnSpc>
                <a:spcPct val="130000"/>
              </a:lnSpc>
            </a:pPr>
            <a:r>
              <a:rPr sz="1000" b="0" i="1">
                <a:solidFill>
                  <a:srgbClr val="2A1A0F"/>
                </a:solidFill>
                <a:latin typeface="Calibri"/>
              </a:rPr>
              <a:t>A funnel + monetization-depth problem — both fixable in 90 days.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317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MARKET FAILURE DIAGNOSIS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THE TRUST EQUATION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FUNNEL OPTIMIZATION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ACQUISITION ENGINE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RETENTION &amp; MONETIZATION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MODEL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EXECUTION &amp; OUTCOMES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02920"/>
            <a:ext cx="1164305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MAPPING THE FUNNEL FAILURE — WHY 2.2% CONVERTS WHEN INDUSTRY CONVERTS 8–12%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5760720" cy="5349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5760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ROOT CAUSE ANALYSIS — 5 WHYS METHOD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1371600"/>
            <a:ext cx="5303520" cy="594360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1371600"/>
            <a:ext cx="512064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2A1A0F"/>
                </a:solidFill>
                <a:latin typeface="Calibri"/>
              </a:rPr>
              <a:t>PROBLEM:  192K loyal followers, ₹79 product, 116 paying users — yet only 2.2% of website visitors convert. Funnel collapses at every step.</a:t>
            </a:r>
          </a:p>
        </p:txBody>
      </p:sp>
      <p:sp>
        <p:nvSpPr>
          <p:cNvPr id="23" name="Pentagon 22"/>
          <p:cNvSpPr/>
          <p:nvPr/>
        </p:nvSpPr>
        <p:spPr>
          <a:xfrm>
            <a:off x="502920" y="2103120"/>
            <a:ext cx="2011680" cy="566928"/>
          </a:xfrm>
          <a:prstGeom prst="homePlate">
            <a:avLst>
              <a:gd name="adj" fmla="val 55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103120"/>
            <a:ext cx="187452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WHY ARE VISITORS NOT SUBSCRIBING?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06040" y="2103120"/>
            <a:ext cx="3246120" cy="566928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97480" y="2103120"/>
            <a:ext cx="306324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Homepage tries to be a marketing site, a Gita resource hub AND a subscription page. Avg scroll 51.95%, form below the fold.</a:t>
            </a:r>
          </a:p>
        </p:txBody>
      </p:sp>
      <p:sp>
        <p:nvSpPr>
          <p:cNvPr id="27" name="Pentagon 26"/>
          <p:cNvSpPr/>
          <p:nvPr/>
        </p:nvSpPr>
        <p:spPr>
          <a:xfrm>
            <a:off x="502920" y="2834640"/>
            <a:ext cx="2011680" cy="566928"/>
          </a:xfrm>
          <a:prstGeom prst="homePlate">
            <a:avLst>
              <a:gd name="adj" fmla="val 55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2834640"/>
            <a:ext cx="187452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WHY DO USERS NOT START THE TRIAL?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06040" y="2834640"/>
            <a:ext cx="3246120" cy="566928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97480" y="2834640"/>
            <a:ext cx="306324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₹5 UPI mandate scares spiritually-motivated tier 2/3 users unfamiliar with auto-deductions; no plain-language explainer at checkout.</a:t>
            </a:r>
          </a:p>
        </p:txBody>
      </p:sp>
      <p:sp>
        <p:nvSpPr>
          <p:cNvPr id="31" name="Pentagon 30"/>
          <p:cNvSpPr/>
          <p:nvPr/>
        </p:nvSpPr>
        <p:spPr>
          <a:xfrm>
            <a:off x="502920" y="3566160"/>
            <a:ext cx="2011680" cy="566928"/>
          </a:xfrm>
          <a:prstGeom prst="homePlate">
            <a:avLst>
              <a:gd name="adj" fmla="val 55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3566160"/>
            <a:ext cx="187452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WHY DO TRIAL USERS CHURN ON DAY 3?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06040" y="3566160"/>
            <a:ext cx="3246120" cy="566928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97480" y="3566160"/>
            <a:ext cx="306324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47 of 163 (29%) cancel — Day-3 charge is a surprise; 3 days is too short to feel value; no transparency before deduction.</a:t>
            </a:r>
          </a:p>
        </p:txBody>
      </p:sp>
      <p:sp>
        <p:nvSpPr>
          <p:cNvPr id="35" name="Pentagon 34"/>
          <p:cNvSpPr/>
          <p:nvPr/>
        </p:nvSpPr>
        <p:spPr>
          <a:xfrm>
            <a:off x="502920" y="4297680"/>
            <a:ext cx="2011680" cy="566928"/>
          </a:xfrm>
          <a:prstGeom prst="homePlate">
            <a:avLst>
              <a:gd name="adj" fmla="val 55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297680"/>
            <a:ext cx="187452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WHY DON'T FOLLOWERS BECOME SUBSCRIBERS?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606040" y="4297680"/>
            <a:ext cx="3246120" cy="566928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97480" y="4297680"/>
            <a:ext cx="306324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Instagram serves the same shlok content for free; no visible value gap between the free and paid product.</a:t>
            </a:r>
          </a:p>
        </p:txBody>
      </p:sp>
      <p:sp>
        <p:nvSpPr>
          <p:cNvPr id="39" name="Pentagon 38"/>
          <p:cNvSpPr/>
          <p:nvPr/>
        </p:nvSpPr>
        <p:spPr>
          <a:xfrm>
            <a:off x="502920" y="5029200"/>
            <a:ext cx="2011680" cy="566928"/>
          </a:xfrm>
          <a:prstGeom prst="homePlate">
            <a:avLst>
              <a:gd name="adj" fmla="val 55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5029200"/>
            <a:ext cx="187452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WHY IS GROWTH NOT COMPOUNDING?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606040" y="5029200"/>
            <a:ext cx="3246120" cy="566928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97480" y="5029200"/>
            <a:ext cx="306324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No DM automation, no daily Reels engine, no viral loop in WhatsApp messages — top of funnel grows linearly, not exponentially.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5669280"/>
            <a:ext cx="5303520" cy="457200"/>
          </a:xfrm>
          <a:prstGeom prst="roundRect">
            <a:avLst>
              <a:gd name="adj" fmla="val 3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5669280"/>
            <a:ext cx="51206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1">
                <a:solidFill>
                  <a:srgbClr val="FFFFFF"/>
                </a:solidFill>
                <a:latin typeface="Calibri"/>
              </a:rPr>
              <a:t>ROOT CAUSE  ·  Funnel was built for users who already trust the brand. It must be re-built for users who must be earned.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72200" y="868680"/>
            <a:ext cx="5715000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2200" y="960120"/>
            <a:ext cx="57150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FISHBONE (ISHIKAWA) ANALYSIS — FUNNEL FAILURE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492240" y="2606040"/>
            <a:ext cx="4160520" cy="0"/>
          </a:xfrm>
          <a:prstGeom prst="line">
            <a:avLst/>
          </a:prstGeom>
          <a:ln w="25400">
            <a:solidFill>
              <a:srgbClr val="4A2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10561320" y="2194560"/>
            <a:ext cx="868680" cy="868680"/>
          </a:xfrm>
          <a:prstGeom prst="ellipse">
            <a:avLst/>
          </a:prstGeom>
          <a:solidFill>
            <a:srgbClr val="B55512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61320" y="2194560"/>
            <a:ext cx="868680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POOR</a:t>
            </a:r>
          </a:p>
          <a:p>
            <a:pPr algn="ctr">
              <a:lnSpc>
                <a:spcPct val="10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FUNNEL</a:t>
            </a:r>
          </a:p>
          <a:p>
            <a:pPr algn="ctr">
              <a:lnSpc>
                <a:spcPct val="10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CONV.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360920" y="1965960"/>
            <a:ext cx="502920" cy="640080"/>
          </a:xfrm>
          <a:prstGeom prst="line">
            <a:avLst/>
          </a:prstGeom>
          <a:ln>
            <a:solidFill>
              <a:srgbClr val="4A2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6949440" y="169164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E89B47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49440" y="1691640"/>
            <a:ext cx="8686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PRODUCT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2011680"/>
            <a:ext cx="15544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•  Generic hero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2176272"/>
            <a:ext cx="15544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•  No sample preview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778240" y="1965960"/>
            <a:ext cx="502920" cy="640080"/>
          </a:xfrm>
          <a:prstGeom prst="line">
            <a:avLst/>
          </a:prstGeom>
          <a:ln>
            <a:solidFill>
              <a:srgbClr val="4A2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8366760" y="169164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E89B47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66760" y="1691640"/>
            <a:ext cx="8686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PROCESS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01000" y="2011680"/>
            <a:ext cx="15544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•  ₹5 mandate fear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01000" y="2176272"/>
            <a:ext cx="15544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•  No Day-3 transparency</a:t>
            </a:r>
          </a:p>
        </p:txBody>
      </p:sp>
      <p:cxnSp>
        <p:nvCxnSpPr>
          <p:cNvPr id="60" name="Connector 59"/>
          <p:cNvCxnSpPr/>
          <p:nvPr/>
        </p:nvCxnSpPr>
        <p:spPr>
          <a:xfrm flipV="1">
            <a:off x="7360920" y="2606040"/>
            <a:ext cx="502920" cy="594360"/>
          </a:xfrm>
          <a:prstGeom prst="line">
            <a:avLst/>
          </a:prstGeom>
          <a:ln>
            <a:solidFill>
              <a:srgbClr val="4A2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583680" y="2834640"/>
            <a:ext cx="15544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•  Tier 2/3 UPI distrust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0" y="2999232"/>
            <a:ext cx="15544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•  No teacher face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949440" y="320040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E89B47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949440" y="3200400"/>
            <a:ext cx="8686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PEOPLE</a:t>
            </a:r>
          </a:p>
        </p:txBody>
      </p:sp>
      <p:cxnSp>
        <p:nvCxnSpPr>
          <p:cNvPr id="65" name="Connector 64"/>
          <p:cNvCxnSpPr/>
          <p:nvPr/>
        </p:nvCxnSpPr>
        <p:spPr>
          <a:xfrm flipV="1">
            <a:off x="8778240" y="2606040"/>
            <a:ext cx="502920" cy="594360"/>
          </a:xfrm>
          <a:prstGeom prst="line">
            <a:avLst/>
          </a:prstGeom>
          <a:ln>
            <a:solidFill>
              <a:srgbClr val="4A2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8001000" y="2834640"/>
            <a:ext cx="15544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•  No DM automation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01000" y="2999232"/>
            <a:ext cx="15544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•  No viral loop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366760" y="320040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E89B47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66760" y="3200400"/>
            <a:ext cx="8686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PROMOTION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355080" y="3520440"/>
            <a:ext cx="5349240" cy="292608"/>
          </a:xfrm>
          <a:prstGeom prst="roundRect">
            <a:avLst>
              <a:gd name="adj" fmla="val 30000"/>
            </a:avLst>
          </a:prstGeom>
          <a:solidFill>
            <a:srgbClr val="FAE0B6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46520" y="3520440"/>
            <a:ext cx="51663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1">
                <a:solidFill>
                  <a:srgbClr val="2A1A0F"/>
                </a:solidFill>
                <a:latin typeface="Calibri"/>
              </a:rPr>
              <a:t>KEY TAKEAWAY  ·  Failure is structural across all 4 levers — not a single silver-bullet fix.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172200" y="4023360"/>
            <a:ext cx="5715000" cy="2194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72200" y="4114800"/>
            <a:ext cx="57150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VALUE PROPOSITION CANVAS — THE MODERN SEEKER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355080" y="4526280"/>
            <a:ext cx="2423160" cy="1600200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00800" y="4553712"/>
            <a:ext cx="23317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B55512"/>
                </a:solidFill>
                <a:latin typeface="Calibri"/>
              </a:rPr>
              <a:t>PRODUCT (GAIN CREATORS)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00800" y="4754880"/>
            <a:ext cx="233172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8 AM daily WhatsApp shlok</a:t>
            </a:r>
          </a:p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Meaning + life-application</a:t>
            </a:r>
          </a:p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3-day taste-test trial</a:t>
            </a:r>
          </a:p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Annual lock-in (₹699)</a:t>
            </a:r>
          </a:p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Premium community (₹199)</a:t>
            </a:r>
          </a:p>
        </p:txBody>
      </p:sp>
      <p:sp>
        <p:nvSpPr>
          <p:cNvPr id="77" name="Oval 76"/>
          <p:cNvSpPr/>
          <p:nvPr/>
        </p:nvSpPr>
        <p:spPr>
          <a:xfrm>
            <a:off x="9006840" y="4526280"/>
            <a:ext cx="2697480" cy="1600200"/>
          </a:xfrm>
          <a:prstGeom prst="ellipse">
            <a:avLst/>
          </a:prstGeom>
          <a:solidFill>
            <a:srgbClr val="FAE0B6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052560" y="4617720"/>
            <a:ext cx="26060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B55512"/>
                </a:solidFill>
                <a:latin typeface="Calibri"/>
              </a:rPr>
              <a:t>JOBS-TO-BE-DONE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52560" y="4846320"/>
            <a:ext cx="2606040" cy="12801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Anchor my morning ·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Make sense of life events ·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Feel connected daily ·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Pass tradition forward</a:t>
            </a:r>
          </a:p>
        </p:txBody>
      </p:sp>
      <p:sp>
        <p:nvSpPr>
          <p:cNvPr id="80" name="Right Arrow 79"/>
          <p:cNvSpPr/>
          <p:nvPr/>
        </p:nvSpPr>
        <p:spPr>
          <a:xfrm>
            <a:off x="8732520" y="5166360"/>
            <a:ext cx="365760" cy="274320"/>
          </a:xfrm>
          <a:prstGeom prst="rightArrow">
            <a:avLst/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274320" y="6263640"/>
            <a:ext cx="11643055" cy="502920"/>
          </a:xfrm>
          <a:prstGeom prst="roundRect">
            <a:avLst>
              <a:gd name="adj" fmla="val 10000"/>
            </a:avLst>
          </a:prstGeom>
          <a:solidFill>
            <a:srgbClr val="B55512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65760" y="6263640"/>
            <a:ext cx="11460175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PILLAR 1 STRATEGIC TAKEAWAY  ·  The funnel breaks because product, process, people and promotion all fail at the same point — earning trust before asking for ₹79.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317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MARKET FAILURE DIAGNOSIS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THE TRUST EQUATION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FUNNEL OPTIMIZATION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ACQUISITION ENGINE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RETENTION &amp; MONETIZATION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MODEL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EXECUTION &amp; OUTCOMES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02920"/>
            <a:ext cx="1164305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EXECUTIVE FRAMEWORK — TRUST EQUATION ADAPTED FOR DAILY SPIRITUAL SUBSCRIPTIONS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11643055" cy="365760"/>
          </a:xfrm>
          <a:prstGeom prst="roundRect">
            <a:avLst>
              <a:gd name="adj" fmla="val 8000"/>
            </a:avLst>
          </a:prstGeom>
          <a:solidFill>
            <a:srgbClr val="B55512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868680"/>
            <a:ext cx="1164305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TRUST  =  ( CREDIBILITY  +  RELIABILITY  +  INTIMACY )  ÷  SELF-ORIENTATION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1417320"/>
            <a:ext cx="3759098" cy="4434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74320" y="1417320"/>
            <a:ext cx="3759098" cy="457200"/>
          </a:xfrm>
          <a:prstGeom prst="roundRect">
            <a:avLst>
              <a:gd name="adj" fmla="val 10000"/>
            </a:avLst>
          </a:prstGeom>
          <a:solidFill>
            <a:srgbClr val="B55512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1417320"/>
            <a:ext cx="3759098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PILLAR 1  ·  PSYCHOLOGICAL TRUST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011680"/>
            <a:ext cx="3393338" cy="292608"/>
          </a:xfrm>
          <a:prstGeom prst="roundRect">
            <a:avLst>
              <a:gd name="adj" fmla="val 50000"/>
            </a:avLst>
          </a:prstGeom>
          <a:solidFill>
            <a:srgbClr val="E89B47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011680"/>
            <a:ext cx="3393338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PRE-CLICK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331720"/>
            <a:ext cx="339333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2A1A0F"/>
                </a:solidFill>
                <a:latin typeface="Calibri"/>
              </a:rPr>
              <a:t>Earn the click before asking for the rupee.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2697480"/>
            <a:ext cx="3393338" cy="10058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752344"/>
            <a:ext cx="321045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STRATEGIC IMPERATIVE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971800"/>
            <a:ext cx="3210458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Reframe the brand from "another spiritual page" to "the one daily ritual you set your morning by."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749040"/>
            <a:ext cx="3393338" cy="10058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803904"/>
            <a:ext cx="321045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MECHANISM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023360"/>
            <a:ext cx="3210458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Hero rewrite: "One shlok every morning on WhatsApp — explained for your life today."  Real founder/scholar face on homepage.  Single social-proof number used everywhere.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800600"/>
            <a:ext cx="3393338" cy="10058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855464"/>
            <a:ext cx="321045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OUTCOME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074920"/>
            <a:ext cx="3210458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Homepage → Form lifts from 18% → 30%+ in 30 days. Zero new spend.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16298" y="1417320"/>
            <a:ext cx="3759098" cy="4434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216298" y="1417320"/>
            <a:ext cx="3759098" cy="457200"/>
          </a:xfrm>
          <a:prstGeom prst="roundRect">
            <a:avLst>
              <a:gd name="adj" fmla="val 10000"/>
            </a:avLst>
          </a:prstGeom>
          <a:solidFill>
            <a:srgbClr val="B55512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16298" y="1417320"/>
            <a:ext cx="3759098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PILLAR 2  ·  TRANSACTIONAL TRUST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99178" y="2011680"/>
            <a:ext cx="3393338" cy="292608"/>
          </a:xfrm>
          <a:prstGeom prst="roundRect">
            <a:avLst>
              <a:gd name="adj" fmla="val 50000"/>
            </a:avLst>
          </a:prstGeom>
          <a:solidFill>
            <a:srgbClr val="E89B47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99178" y="2011680"/>
            <a:ext cx="3393338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AT-CHECKOUT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99178" y="2331720"/>
            <a:ext cx="339333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2A1A0F"/>
                </a:solidFill>
                <a:latin typeface="Calibri"/>
              </a:rPr>
              <a:t>Make ₹5 mandate feel like a handshake, not a hostage.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99178" y="2697480"/>
            <a:ext cx="3393338" cy="10058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90618" y="2752344"/>
            <a:ext cx="321045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STRATEGIC IMPERATIVE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90618" y="2971800"/>
            <a:ext cx="3210458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Replace silent friction with bilingual transparency. Treat the mandate as a conversation, not a contract.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99178" y="3749040"/>
            <a:ext cx="3393338" cy="10058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90618" y="3803904"/>
            <a:ext cx="321045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MECHANISM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90618" y="4023360"/>
            <a:ext cx="3210458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Hindi+English mandate explainer · Razorpay logo · "Cancel anytime" badge · one real testimonial · WhatsApp opt-in confirmation immediately after submit.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99178" y="4800600"/>
            <a:ext cx="3393338" cy="10058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90618" y="4855464"/>
            <a:ext cx="321045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OUTCOME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90618" y="5074920"/>
            <a:ext cx="3210458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Form → Trial lifts from 17% → 30%+. A/B test removing ₹5 mandate entirely.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58276" y="1417320"/>
            <a:ext cx="3759098" cy="4434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158276" y="1417320"/>
            <a:ext cx="3759098" cy="457200"/>
          </a:xfrm>
          <a:prstGeom prst="roundRect">
            <a:avLst>
              <a:gd name="adj" fmla="val 10000"/>
            </a:avLst>
          </a:prstGeom>
          <a:solidFill>
            <a:srgbClr val="B55512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58276" y="1417320"/>
            <a:ext cx="3759098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PILLAR 3  ·  EXPERIENTIAL TRUST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341156" y="2011680"/>
            <a:ext cx="3393338" cy="292608"/>
          </a:xfrm>
          <a:prstGeom prst="roundRect">
            <a:avLst>
              <a:gd name="adj" fmla="val 50000"/>
            </a:avLst>
          </a:prstGeom>
          <a:solidFill>
            <a:srgbClr val="E89B47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41156" y="2011680"/>
            <a:ext cx="3393338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POST-PAY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41156" y="2331720"/>
            <a:ext cx="339333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2A1A0F"/>
                </a:solidFill>
                <a:latin typeface="Calibri"/>
              </a:rPr>
              <a:t>Earn the next 11 months in the first 3 days.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41156" y="2697480"/>
            <a:ext cx="3393338" cy="10058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32596" y="2752344"/>
            <a:ext cx="321045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STRATEGIC IMPERATIVE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32596" y="2971800"/>
            <a:ext cx="3210458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Day-3 charge must feel like a milestone, not a surprise. Trial is not a test — it is the product.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341156" y="3749040"/>
            <a:ext cx="3393338" cy="10058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32596" y="3803904"/>
            <a:ext cx="321045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MECHANISM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32596" y="4023360"/>
            <a:ext cx="3210458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Day 1/2/3 WhatsApp arc: welcome → preview → pre-charge transparency. Re-engagement WhatsApp 48h after cancellation. "Reply STOP" radical opt-out.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341156" y="4800600"/>
            <a:ext cx="3393338" cy="10058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32596" y="4855464"/>
            <a:ext cx="321045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OUTCOME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32596" y="5074920"/>
            <a:ext cx="3210458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Trial → Paid lifts from 71% → 88%+. 47 churned users get a 15–20% reactivation.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74320" y="5989320"/>
            <a:ext cx="11643055" cy="502920"/>
          </a:xfrm>
          <a:prstGeom prst="roundRect">
            <a:avLst>
              <a:gd name="adj" fmla="val 10000"/>
            </a:avLst>
          </a:prstGeom>
          <a:solidFill>
            <a:srgbClr val="B55512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5760" y="5989320"/>
            <a:ext cx="11460175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PILLAR 2 STRATEGIC TAKEAWAY  ·  Trust is not a feature; it is the product. Each pillar reduces a different fear, at a different moment, in a different language.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317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MARKET FAILURE DIAGNOSIS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THE TRUST EQUATION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FUNNEL OPTIMIZATION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ACQUISITION ENGINE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RETENTION &amp; MONETIZATION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MODEL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EXECUTION &amp; OUTCOMES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02920"/>
            <a:ext cx="1164305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FROM 2.2% TO 8%+ — THE THREE LEAKS, THE FIX-ORDER, THE EXPECTED IMPACT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6858000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68580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FUNNEL DIAGNOSTIC — TODAY VS BENCHMARK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417320"/>
            <a:ext cx="6675120" cy="393192"/>
          </a:xfrm>
          <a:prstGeom prst="rect">
            <a:avLst/>
          </a:prstGeom>
          <a:solidFill>
            <a:srgbClr val="B55512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1417320"/>
            <a:ext cx="224028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1417320"/>
            <a:ext cx="132588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40" y="1417320"/>
            <a:ext cx="7315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CONV.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1417320"/>
            <a:ext cx="11887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BENCHMARK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97880" y="1417320"/>
            <a:ext cx="11887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1810512"/>
            <a:ext cx="66751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1810512"/>
            <a:ext cx="224028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Instagram → Website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1810512"/>
            <a:ext cx="132588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192K followers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40" y="1810512"/>
            <a:ext cx="7315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2.7%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1810512"/>
            <a:ext cx="11887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5–8%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0" y="1874520"/>
            <a:ext cx="1005840" cy="265176"/>
          </a:xfrm>
          <a:prstGeom prst="roundRect">
            <a:avLst>
              <a:gd name="adj" fmla="val 50000"/>
            </a:avLst>
          </a:prstGeom>
          <a:solidFill>
            <a:srgbClr val="B02C2C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1874520"/>
            <a:ext cx="1005840" cy="2651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2203704"/>
            <a:ext cx="6675120" cy="393192"/>
          </a:xfrm>
          <a:prstGeom prst="rect">
            <a:avLst/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2203704"/>
            <a:ext cx="224028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Homepage → Form visit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1760" y="2203704"/>
            <a:ext cx="132588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5,239 → 952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77640" y="2203704"/>
            <a:ext cx="7315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18.2%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9160" y="2203704"/>
            <a:ext cx="11887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35–45%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0" y="2267712"/>
            <a:ext cx="1005840" cy="265176"/>
          </a:xfrm>
          <a:prstGeom prst="roundRect">
            <a:avLst>
              <a:gd name="adj" fmla="val 50000"/>
            </a:avLst>
          </a:prstGeom>
          <a:solidFill>
            <a:srgbClr val="B02C2C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0" y="2267712"/>
            <a:ext cx="1005840" cy="2651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2596896"/>
            <a:ext cx="66751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2596896"/>
            <a:ext cx="224028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Form visit → Trial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51760" y="2596896"/>
            <a:ext cx="132588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952 → 163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77640" y="2596896"/>
            <a:ext cx="7315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17.1%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09160" y="2596896"/>
            <a:ext cx="11887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40–55%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0" y="2660904"/>
            <a:ext cx="1005840" cy="265176"/>
          </a:xfrm>
          <a:prstGeom prst="roundRect">
            <a:avLst>
              <a:gd name="adj" fmla="val 50000"/>
            </a:avLst>
          </a:prstGeom>
          <a:solidFill>
            <a:srgbClr val="B02C2C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0" y="2660904"/>
            <a:ext cx="1005840" cy="2651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2990088"/>
            <a:ext cx="6675120" cy="393192"/>
          </a:xfrm>
          <a:prstGeom prst="rect">
            <a:avLst/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2990088"/>
            <a:ext cx="224028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Trial → Paid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51760" y="2990088"/>
            <a:ext cx="132588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163 → 116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77640" y="2990088"/>
            <a:ext cx="7315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71.2%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09160" y="2990088"/>
            <a:ext cx="11887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80–90%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943600" y="3054096"/>
            <a:ext cx="1005840" cy="265176"/>
          </a:xfrm>
          <a:prstGeom prst="roundRect">
            <a:avLst>
              <a:gd name="adj" fmla="val 50000"/>
            </a:avLst>
          </a:prstGeom>
          <a:solidFill>
            <a:srgbClr val="E89B47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0" y="3054096"/>
            <a:ext cx="1005840" cy="2651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IMPROVE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3383280"/>
            <a:ext cx="66751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3383280"/>
            <a:ext cx="224028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Paid → Retained (30-day)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51760" y="3383280"/>
            <a:ext cx="132588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116 active / 47 churned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77640" y="3383280"/>
            <a:ext cx="7315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71.2%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09160" y="3383280"/>
            <a:ext cx="11887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85–92%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943600" y="3447288"/>
            <a:ext cx="1005840" cy="265176"/>
          </a:xfrm>
          <a:prstGeom prst="roundRect">
            <a:avLst>
              <a:gd name="adj" fmla="val 50000"/>
            </a:avLst>
          </a:prstGeom>
          <a:solidFill>
            <a:srgbClr val="E89B47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3600" y="3447288"/>
            <a:ext cx="1005840" cy="2651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IMPROVE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269480" y="868680"/>
            <a:ext cx="4617720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269480" y="960120"/>
            <a:ext cx="4617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THREE LEAKS · THREE ROOT CAUSES · THREE FIXES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406640" y="1371600"/>
            <a:ext cx="868680" cy="777240"/>
          </a:xfrm>
          <a:prstGeom prst="roundRect">
            <a:avLst>
              <a:gd name="adj" fmla="val 20000"/>
            </a:avLst>
          </a:prstGeom>
          <a:solidFill>
            <a:srgbClr val="B55512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06640" y="1371600"/>
            <a:ext cx="86868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E0A03A"/>
                </a:solidFill>
                <a:latin typeface="Calibri"/>
              </a:rPr>
              <a:t>LEAK 01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366760" y="1371600"/>
            <a:ext cx="3429000" cy="7772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58200" y="1399032"/>
            <a:ext cx="3246120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2A1A0F"/>
                </a:solidFill>
                <a:latin typeface="Calibri"/>
              </a:rPr>
              <a:t>Homepage → Form  ·  82% drop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58200" y="1645920"/>
            <a:ext cx="3246120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ROOT  ·  Page does too much. Form below the fold. Generic hero.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458200" y="1874520"/>
            <a:ext cx="3246120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B55512"/>
                </a:solidFill>
                <a:latin typeface="Calibri"/>
              </a:rPr>
              <a:t>FIX  ·  Single-purpose page · form above fold · sample message preview.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406640" y="2212848"/>
            <a:ext cx="868680" cy="777240"/>
          </a:xfrm>
          <a:prstGeom prst="roundRect">
            <a:avLst>
              <a:gd name="adj" fmla="val 20000"/>
            </a:avLst>
          </a:prstGeom>
          <a:solidFill>
            <a:srgbClr val="B55512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406640" y="2212848"/>
            <a:ext cx="86868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E0A03A"/>
                </a:solidFill>
                <a:latin typeface="Calibri"/>
              </a:rPr>
              <a:t>LEAK 02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366760" y="2212848"/>
            <a:ext cx="3429000" cy="7772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458200" y="2240280"/>
            <a:ext cx="3246120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2A1A0F"/>
                </a:solidFill>
                <a:latin typeface="Calibri"/>
              </a:rPr>
              <a:t>Form → Trial  ·  83% drop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58200" y="2487168"/>
            <a:ext cx="3246120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ROOT  ·  ₹5 UPI mandate scares spiritually-motivated users.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58200" y="2715768"/>
            <a:ext cx="3246120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B55512"/>
                </a:solidFill>
                <a:latin typeface="Calibri"/>
              </a:rPr>
              <a:t>FIX  ·  Bilingual mandate explainer · trust badges · A/B remove mandate.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406640" y="3054096"/>
            <a:ext cx="868680" cy="777240"/>
          </a:xfrm>
          <a:prstGeom prst="roundRect">
            <a:avLst>
              <a:gd name="adj" fmla="val 20000"/>
            </a:avLst>
          </a:prstGeom>
          <a:solidFill>
            <a:srgbClr val="B55512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406640" y="3054096"/>
            <a:ext cx="86868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E0A03A"/>
                </a:solidFill>
                <a:latin typeface="Calibri"/>
              </a:rPr>
              <a:t>LEAK 03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366760" y="3054096"/>
            <a:ext cx="3429000" cy="7772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458200" y="3081528"/>
            <a:ext cx="3246120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2A1A0F"/>
                </a:solidFill>
                <a:latin typeface="Calibri"/>
              </a:rPr>
              <a:t>Trial → Paid  ·  29% churn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58200" y="3328416"/>
            <a:ext cx="3246120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ROOT  ·  Day-3 charge surprises users; &lt;3 days of value.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58200" y="3557016"/>
            <a:ext cx="3246120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B55512"/>
                </a:solidFill>
                <a:latin typeface="Calibri"/>
              </a:rPr>
              <a:t>FIX  ·  Day 1/2/3 WhatsApp arc · pre-charge transparency · 48h re-engage.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74320" y="4023360"/>
            <a:ext cx="11643055" cy="2240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74320" y="4114800"/>
            <a:ext cx="1164305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TRIAL ACTIVATION ARC — A 3-DAY WHATSAPP SEQUENCE THAT EARNS THE ₹79 CHARGE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508760" y="5074920"/>
            <a:ext cx="9098280" cy="54864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325880" y="4937760"/>
            <a:ext cx="365760" cy="365760"/>
          </a:xfrm>
          <a:prstGeom prst="ellipse">
            <a:avLst/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325880" y="4937760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E0A03A"/>
                </a:solidFill>
                <a:latin typeface="Calibri"/>
              </a:rP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7220" y="4526280"/>
            <a:ext cx="17830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4A2418"/>
                </a:solidFill>
                <a:latin typeface="Calibri"/>
              </a:rPr>
              <a:t>SIGN-UP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17220" y="5349240"/>
            <a:ext cx="17830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T = 0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17220" y="5623560"/>
            <a:ext cx="1783080" cy="86868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62940" y="5641848"/>
            <a:ext cx="1691640" cy="8321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Instant WhatsApp:</a:t>
            </a:r>
          </a:p>
          <a:p>
            <a:pPr algn="ctr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"Your Gita journey starts tomorrow at 8 AM 🙏"</a:t>
            </a:r>
          </a:p>
        </p:txBody>
      </p:sp>
      <p:sp>
        <p:nvSpPr>
          <p:cNvPr id="91" name="Oval 90"/>
          <p:cNvSpPr/>
          <p:nvPr/>
        </p:nvSpPr>
        <p:spPr>
          <a:xfrm>
            <a:off x="3600450" y="4937760"/>
            <a:ext cx="365760" cy="365760"/>
          </a:xfrm>
          <a:prstGeom prst="ellipse">
            <a:avLst/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600450" y="4937760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E0A03A"/>
                </a:solidFill>
                <a:latin typeface="Calibri"/>
              </a:rP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891790" y="4526280"/>
            <a:ext cx="17830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4A2418"/>
                </a:solidFill>
                <a:latin typeface="Calibri"/>
              </a:rPr>
              <a:t>DAY 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891790" y="5349240"/>
            <a:ext cx="17830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8 AM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2891790" y="5623560"/>
            <a:ext cx="1783080" cy="86868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937510" y="5641848"/>
            <a:ext cx="1691640" cy="8321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First shlok + permission to explore.</a:t>
            </a:r>
          </a:p>
          <a:p>
            <a:pPr algn="ctr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"For 3 days, this is completely free."</a:t>
            </a:r>
          </a:p>
        </p:txBody>
      </p:sp>
      <p:sp>
        <p:nvSpPr>
          <p:cNvPr id="97" name="Oval 96"/>
          <p:cNvSpPr/>
          <p:nvPr/>
        </p:nvSpPr>
        <p:spPr>
          <a:xfrm>
            <a:off x="5875020" y="4937760"/>
            <a:ext cx="365760" cy="365760"/>
          </a:xfrm>
          <a:prstGeom prst="ellipse">
            <a:avLst/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875020" y="4937760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E0A03A"/>
                </a:solidFill>
                <a:latin typeface="Calibri"/>
              </a:rPr>
              <a:t>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166360" y="4526280"/>
            <a:ext cx="17830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4A2418"/>
                </a:solidFill>
                <a:latin typeface="Calibri"/>
              </a:rPr>
              <a:t>DAY 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166360" y="5349240"/>
            <a:ext cx="17830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8 AM + 7 PM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5166360" y="5623560"/>
            <a:ext cx="1783080" cy="86868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212080" y="5641848"/>
            <a:ext cx="1691640" cy="8321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Shlok + evening preview of next 5 shlokas.</a:t>
            </a:r>
          </a:p>
          <a:p>
            <a:pPr algn="ctr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Annual upsell teaser appears here.</a:t>
            </a:r>
          </a:p>
        </p:txBody>
      </p:sp>
      <p:sp>
        <p:nvSpPr>
          <p:cNvPr id="103" name="Oval 102"/>
          <p:cNvSpPr/>
          <p:nvPr/>
        </p:nvSpPr>
        <p:spPr>
          <a:xfrm>
            <a:off x="8149590" y="4937760"/>
            <a:ext cx="365760" cy="365760"/>
          </a:xfrm>
          <a:prstGeom prst="ellipse">
            <a:avLst/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149590" y="4937760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E0A03A"/>
                </a:solidFill>
                <a:latin typeface="Calibri"/>
              </a:rPr>
              <a:t>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440930" y="4526280"/>
            <a:ext cx="17830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4A2418"/>
                </a:solidFill>
                <a:latin typeface="Calibri"/>
              </a:rPr>
              <a:t>DAY 3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440930" y="5349240"/>
            <a:ext cx="17830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PRE-CHARGE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7440930" y="5623560"/>
            <a:ext cx="1783080" cy="86868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486650" y="5641848"/>
            <a:ext cx="1691640" cy="8321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"Trial ends today. ₹79 will be charged.</a:t>
            </a:r>
          </a:p>
          <a:p>
            <a:pPr algn="ctr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Reply STOP to cancel."</a:t>
            </a:r>
          </a:p>
        </p:txBody>
      </p:sp>
      <p:sp>
        <p:nvSpPr>
          <p:cNvPr id="109" name="Oval 108"/>
          <p:cNvSpPr/>
          <p:nvPr/>
        </p:nvSpPr>
        <p:spPr>
          <a:xfrm>
            <a:off x="10424160" y="4937760"/>
            <a:ext cx="365760" cy="365760"/>
          </a:xfrm>
          <a:prstGeom prst="ellipse">
            <a:avLst/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0424160" y="4937760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E0A03A"/>
                </a:solidFill>
                <a:latin typeface="Calibri"/>
              </a:rPr>
              <a:t>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715500" y="4526280"/>
            <a:ext cx="17830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4A2418"/>
                </a:solidFill>
                <a:latin typeface="Calibri"/>
              </a:rPr>
              <a:t>CANCEL?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715500" y="5349240"/>
            <a:ext cx="17830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T + 48H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9715500" y="5623560"/>
            <a:ext cx="1783080" cy="86868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761220" y="5641848"/>
            <a:ext cx="1691640" cy="8321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Re-engagement WhatsApp: "Your spot is</a:t>
            </a:r>
          </a:p>
          <a:p>
            <a:pPr algn="ctr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still here." 15–20% reactivation.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274320" y="6355080"/>
            <a:ext cx="11643055" cy="502920"/>
          </a:xfrm>
          <a:prstGeom prst="roundRect">
            <a:avLst>
              <a:gd name="adj" fmla="val 10000"/>
            </a:avLst>
          </a:prstGeom>
          <a:solidFill>
            <a:srgbClr val="B55512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365760" y="6355080"/>
            <a:ext cx="11460175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PILLAR 3 STRATEGIC TAKEAWAY  ·  88% of every leak sits in steps 2 and 3. Fixing them costs ₹0 in ad spend, takes 30 days, and 4–5x's revenue at constant traffic.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317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MARKET FAILURE DIAGNOSIS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THE TRUST EQUATION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FUNNEL OPTIMIZATION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ACQUISITION ENGINE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RETENTION &amp; MONETIZATION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MODEL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EXECUTION &amp; OUTCOMES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02920"/>
            <a:ext cx="1164305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TARGET CAC &lt; ₹150  ·  TARGET K-FACTOR &gt; 1.2  ·  THE 5-CHANNEL ACQUISITION MATRIX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7498079" cy="5349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7498079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THE 5-NODE CHANNEL EFFICIENCY MATRIX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1325880"/>
            <a:ext cx="7132320" cy="502920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158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1371600"/>
            <a:ext cx="694944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B55512"/>
                </a:solidFill>
                <a:latin typeface="Calibri"/>
              </a:rPr>
              <a:t>STRATEGIC IMPERATIVE </a:t>
            </a:r>
            <a:r>
              <a:rPr sz="900" b="0">
                <a:solidFill>
                  <a:srgbClr val="2A1A0F"/>
                </a:solidFill>
                <a:latin typeface="Calibri"/>
              </a:rPr>
              <a:t>Reaching 25 trials/day requires 9× ToFu lift. We sequence 5 channels by cost and conversion mechanic — never run paid until the funnel converts &gt; 8%.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920240"/>
            <a:ext cx="7132320" cy="365760"/>
          </a:xfrm>
          <a:prstGeom prst="rect">
            <a:avLst/>
          </a:prstGeom>
          <a:solidFill>
            <a:srgbClr val="B55512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1920240"/>
            <a:ext cx="18288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ACQUISITION CHANNEL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1920240"/>
            <a:ext cx="37033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STRATEGIC MECHANISM &amp; MESSAGING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1920240"/>
            <a:ext cx="7772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BUDGET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192024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TARGET CAC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286000"/>
            <a:ext cx="7132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2286000"/>
            <a:ext cx="18288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DM AUTOMATION (INSTAGRAM)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2286000"/>
            <a:ext cx="370332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ManyChat "GITA" comment trigger → auto-DM with form link. Caption every post with the trigger.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2286000"/>
            <a:ext cx="77724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2286000"/>
            <a:ext cx="82296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₹0 (ORGANIC)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880360"/>
            <a:ext cx="7132320" cy="594360"/>
          </a:xfrm>
          <a:prstGeom prst="rect">
            <a:avLst/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2880360"/>
            <a:ext cx="18288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DAILY REELS + SHORTS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2880360"/>
            <a:ext cx="370332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1 Reel/day on "Gita for [anxiety / exam / heartbreak]". Cross-post YouTube Shorts for older buyers.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2880360"/>
            <a:ext cx="77724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2880360"/>
            <a:ext cx="82296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₹0 (ORGANIC)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474720"/>
            <a:ext cx="7132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3474720"/>
            <a:ext cx="18288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MICRO-CREATOR COLLABS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3474720"/>
            <a:ext cx="370332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20–30 spiritual creators (100K–500K). 30-day free trial for their audience. Barter or revenue-share.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3474720"/>
            <a:ext cx="77724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15%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2280" y="3474720"/>
            <a:ext cx="82296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₹40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069080"/>
            <a:ext cx="7132320" cy="594360"/>
          </a:xfrm>
          <a:prstGeom prst="rect">
            <a:avLst/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4069080"/>
            <a:ext cx="18288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WHATSAPP VIRAL LOOP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31720" y="4069080"/>
            <a:ext cx="370332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Every daily message: "Forward to someone who needs this 🙏". Shareable short link.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4069080"/>
            <a:ext cx="77724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12280" y="4069080"/>
            <a:ext cx="82296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₹0 (ORGANIC)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663440"/>
            <a:ext cx="7132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4663440"/>
            <a:ext cx="18288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META CTWA  ·  AFTER MONTH 2 ONLY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31720" y="4663440"/>
            <a:ext cx="370332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Click-to-WhatsApp ads. Lookalike of paid base. Hindi spiritual interests. T1+T2 cities.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4663440"/>
            <a:ext cx="77724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80%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4663440"/>
            <a:ext cx="82296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₹150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5532120"/>
            <a:ext cx="7132320" cy="594360"/>
          </a:xfrm>
          <a:prstGeom prst="roundRect">
            <a:avLst>
              <a:gd name="adj" fmla="val 1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5532120"/>
            <a:ext cx="694944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1">
                <a:solidFill>
                  <a:srgbClr val="FFFFFF"/>
                </a:solidFill>
                <a:latin typeface="Calibri"/>
              </a:rPr>
              <a:t>BLENDED CAC OUTCOME  ·  Weighted average lands at ~₹125 — well below ₹150 target. 80% organic mix is structurally cheap.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909560" y="868680"/>
            <a:ext cx="3977639" cy="2606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09560" y="960120"/>
            <a:ext cx="3977639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DUAL VIRAL LOOPS  ·  K &gt; 1.2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46720" y="1280160"/>
            <a:ext cx="3703320" cy="457200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158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38160" y="1325880"/>
            <a:ext cx="352044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B55512"/>
                </a:solidFill>
                <a:latin typeface="Calibri"/>
              </a:rPr>
              <a:t>STRATEGIC IMPERATIVE </a:t>
            </a:r>
            <a:r>
              <a:rPr sz="900" b="0">
                <a:solidFill>
                  <a:srgbClr val="2A1A0F"/>
                </a:solidFill>
                <a:latin typeface="Calibri"/>
              </a:rPr>
              <a:t>Every 10 acquired subscribers must organically generate 12+ more.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046720" y="1783080"/>
            <a:ext cx="3703320" cy="73152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92440" y="1801368"/>
            <a:ext cx="36118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LOOP A · WHATSAPP FORWARD-LOOP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92440" y="2011680"/>
            <a:ext cx="36118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Daily message ends with "Forward to someone who needs this 🙏". 116 active users + 28 days = 3,248 send-touches/month.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046720" y="2606040"/>
            <a:ext cx="3703320" cy="73152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92440" y="2624328"/>
            <a:ext cx="36118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LOOP B · CREATOR-AUDIENCE BORROW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92440" y="2834640"/>
            <a:ext cx="36118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30-day free trial offered to micro-creator audiences. One collab → 500–1,000 trials at zero CAC.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909560" y="3566160"/>
            <a:ext cx="3977639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09560" y="3657600"/>
            <a:ext cx="3977639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FINANCIAL SYNTHESIS  ·  PER-SUB UNIT ECON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046720" y="4023360"/>
            <a:ext cx="37033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38160" y="4023360"/>
            <a:ext cx="24231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Revenue per subscriber/year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61320" y="4023360"/>
            <a:ext cx="10972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₹948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46720" y="4334256"/>
            <a:ext cx="37033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138160" y="4334256"/>
            <a:ext cx="24231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Annual prepay (avg blend)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61320" y="4334256"/>
            <a:ext cx="10972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₹699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046720" y="4645152"/>
            <a:ext cx="37033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138160" y="4645152"/>
            <a:ext cx="24231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Blended CAC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61320" y="4645152"/>
            <a:ext cx="10972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₹125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46720" y="4956048"/>
            <a:ext cx="37033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138160" y="4956048"/>
            <a:ext cx="24231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Payback period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561320" y="4956048"/>
            <a:ext cx="10972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1.6 mo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046720" y="5266944"/>
            <a:ext cx="37033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138160" y="5266944"/>
            <a:ext cx="24231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LTV @ 8% monthly churn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561320" y="5266944"/>
            <a:ext cx="10972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₹987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46720" y="5577840"/>
            <a:ext cx="37033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138160" y="5577840"/>
            <a:ext cx="24231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LTV / CAC (Y1)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561320" y="5577840"/>
            <a:ext cx="10972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7.9×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046720" y="5897880"/>
            <a:ext cx="3703320" cy="292608"/>
          </a:xfrm>
          <a:prstGeom prst="roundRect">
            <a:avLst>
              <a:gd name="adj" fmla="val 3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092440" y="5897880"/>
            <a:ext cx="36118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TRUE CONTRIBUTION  ·  ₹823/sub Y1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274320" y="6309360"/>
            <a:ext cx="11643055" cy="502920"/>
          </a:xfrm>
          <a:prstGeom prst="roundRect">
            <a:avLst>
              <a:gd name="adj" fmla="val 10000"/>
            </a:avLst>
          </a:prstGeom>
          <a:solidFill>
            <a:srgbClr val="B55512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65760" y="6309360"/>
            <a:ext cx="11460175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PILLAR 4 STRATEGIC TAKEAWAY  ·  This acquisition engine is structurally cheap (80% organic), demand-elastic (creators), and self-reinforcing (forward loop).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317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MARKET FAILURE DIAGNOSIS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THE TRUST EQUATION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FUNNEL OPTIMIZATION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ACQUISITION ENGINE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RETENTION &amp; MONETIZATION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MODEL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EXECUTION &amp; OUTCOMES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02920"/>
            <a:ext cx="1164305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FROM ONE ₹79 SKU TO A FULL MONETIZATION STACK — HABIT × LOYALTY × DEPTH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667512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66751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HOOK MODEL (NIR EYAL) — RE-ENGINEERING THE MORNING RITUAL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1325880"/>
            <a:ext cx="6355080" cy="502920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158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1371600"/>
            <a:ext cx="617220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B55512"/>
                </a:solidFill>
                <a:latin typeface="Calibri"/>
              </a:rPr>
              <a:t>STRATEGIC IMPERATIVE </a:t>
            </a:r>
            <a:r>
              <a:rPr sz="900" b="0">
                <a:solidFill>
                  <a:srgbClr val="2A1A0F"/>
                </a:solidFill>
                <a:latin typeface="Calibri"/>
              </a:rPr>
              <a:t>Make the 8 AM shlok feel like coffee — non-negotiable, ritualistic, missed when absent. Habit-based products have the lowest churn in subscription.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1920240"/>
            <a:ext cx="1508760" cy="411480"/>
          </a:xfrm>
          <a:prstGeom prst="roundRect">
            <a:avLst>
              <a:gd name="adj" fmla="val 20000"/>
            </a:avLst>
          </a:prstGeom>
          <a:solidFill>
            <a:srgbClr val="B55512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1920240"/>
            <a:ext cx="1508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TRIGGER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377440"/>
            <a:ext cx="1508760" cy="118872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423160"/>
            <a:ext cx="132588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8 AM WhatsApp arrives. Phone vibrates with familiar sender.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920240" y="2011680"/>
            <a:ext cx="182880" cy="228600"/>
          </a:xfrm>
          <a:prstGeom prst="rightArrow">
            <a:avLst/>
          </a:prstGeom>
          <a:solidFill>
            <a:srgbClr val="4A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057400" y="1920240"/>
            <a:ext cx="1508760" cy="411480"/>
          </a:xfrm>
          <a:prstGeom prst="roundRect">
            <a:avLst>
              <a:gd name="adj" fmla="val 20000"/>
            </a:avLst>
          </a:prstGeom>
          <a:solidFill>
            <a:srgbClr val="D96B1E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57400" y="1920240"/>
            <a:ext cx="1508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057400" y="2377440"/>
            <a:ext cx="1508760" cy="118872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48840" y="2423160"/>
            <a:ext cx="132588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User opens. 30 seconds to read shlok + meaning.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520440" y="2011680"/>
            <a:ext cx="182880" cy="228600"/>
          </a:xfrm>
          <a:prstGeom prst="rightArrow">
            <a:avLst/>
          </a:prstGeom>
          <a:solidFill>
            <a:srgbClr val="4A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657600" y="1920240"/>
            <a:ext cx="1508760" cy="411480"/>
          </a:xfrm>
          <a:prstGeom prst="roundRect">
            <a:avLst>
              <a:gd name="adj" fmla="val 20000"/>
            </a:avLst>
          </a:prstGeom>
          <a:solidFill>
            <a:srgbClr val="E89B47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0" y="1920240"/>
            <a:ext cx="1508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REWARD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0" y="2377440"/>
            <a:ext cx="1508760" cy="118872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423160"/>
            <a:ext cx="132588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Small variable insight — "this happens to be exactly what I needed today."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5120640" y="2011680"/>
            <a:ext cx="182880" cy="228600"/>
          </a:xfrm>
          <a:prstGeom prst="rightArrow">
            <a:avLst/>
          </a:prstGeom>
          <a:solidFill>
            <a:srgbClr val="4A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257800" y="1920240"/>
            <a:ext cx="1508760" cy="411480"/>
          </a:xfrm>
          <a:prstGeom prst="roundRect">
            <a:avLst>
              <a:gd name="adj" fmla="val 20000"/>
            </a:avLst>
          </a:prstGeom>
          <a:solidFill>
            <a:srgbClr val="D96B1E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57800" y="1920240"/>
            <a:ext cx="1508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INVEST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57800" y="2377440"/>
            <a:ext cx="1508760" cy="118872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49240" y="2423160"/>
            <a:ext cx="132588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User reflects, screenshots, forwards to a friend → builds attachment.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3246120"/>
            <a:ext cx="6400800" cy="274320"/>
          </a:xfrm>
          <a:prstGeom prst="roundRect">
            <a:avLst>
              <a:gd name="adj" fmla="val 3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3246120"/>
            <a:ext cx="63550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1">
                <a:solidFill>
                  <a:srgbClr val="FFFFFF"/>
                </a:solidFill>
                <a:latin typeface="Calibri"/>
              </a:rPr>
              <a:t>↻  THE LOOP COMPOUNDS  ·  Each completed cycle deepens habit and reduces churn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086600" y="868680"/>
            <a:ext cx="480060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86600" y="960120"/>
            <a:ext cx="48006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3-TIER LOYALTY LADDER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72500" y="1371600"/>
            <a:ext cx="1828800" cy="502920"/>
          </a:xfrm>
          <a:prstGeom prst="rect">
            <a:avLst/>
          </a:prstGeom>
          <a:solidFill>
            <a:srgbClr val="B55512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72500" y="1371600"/>
            <a:ext cx="182880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ELITE  ·  Annual prepay + premium community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06740" y="1920240"/>
            <a:ext cx="2560320" cy="502920"/>
          </a:xfrm>
          <a:prstGeom prst="rect">
            <a:avLst/>
          </a:prstGeom>
          <a:solidFill>
            <a:srgbClr val="D96B1E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06740" y="1920240"/>
            <a:ext cx="25603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INSIDER  ·  PDF guides + Day-30 retention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40980" y="2468880"/>
            <a:ext cx="3291840" cy="502920"/>
          </a:xfrm>
          <a:prstGeom prst="rect">
            <a:avLst/>
          </a:prstGeom>
          <a:solidFill>
            <a:srgbClr val="E89B47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40980" y="2468880"/>
            <a:ext cx="32918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MEMBER  ·  ₹79/mo daily WhatsApp shlok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75220" y="3017520"/>
            <a:ext cx="4023360" cy="502920"/>
          </a:xfrm>
          <a:prstGeom prst="rect">
            <a:avLst/>
          </a:prstGeom>
          <a:solidFill>
            <a:srgbClr val="FAE0B6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75220" y="3017520"/>
            <a:ext cx="40233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4A2418"/>
                </a:solidFill>
                <a:latin typeface="Calibri"/>
              </a:rPr>
              <a:t>FREE  ·  Instagram + sample shlok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4320" y="3657600"/>
            <a:ext cx="11643055" cy="2606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3730752"/>
            <a:ext cx="1164305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MONETIZATION STACK  ·  6 STREAMS  ·  POST-MONTH 3 BLENDED ₹1.92L+/MONTH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4114800"/>
            <a:ext cx="11460175" cy="274320"/>
          </a:xfrm>
          <a:prstGeom prst="rect">
            <a:avLst/>
          </a:prstGeom>
          <a:solidFill>
            <a:srgbClr val="B55512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" y="4114800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TIER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17320" y="4114800"/>
            <a:ext cx="2834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PRODUCT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51960" y="4114800"/>
            <a:ext cx="868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PRICE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20640" y="411480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GO-LIVE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97880" y="4114800"/>
            <a:ext cx="17373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MONTHLY @ SCALE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4114800"/>
            <a:ext cx="4251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STRATEGIC ROLE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4389120"/>
            <a:ext cx="11460175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4389120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55512"/>
                </a:solidFill>
                <a:latin typeface="Calibri"/>
              </a:rPr>
              <a:t>FREE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17320" y="4389120"/>
            <a:ext cx="2834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Instagram content + sample shlok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51960" y="4389120"/>
            <a:ext cx="868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₹0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20640" y="438912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Now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97880" y="4389120"/>
            <a:ext cx="17373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Acquisition layer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35240" y="4389120"/>
            <a:ext cx="4251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Top of funnel — feeds every paid tier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" y="4663440"/>
            <a:ext cx="11460175" cy="27432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1480" y="4663440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55512"/>
                </a:solidFill>
                <a:latin typeface="Calibri"/>
              </a:rPr>
              <a:t>CORE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417320" y="4663440"/>
            <a:ext cx="2834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Daily WhatsApp shlok (monthly)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51960" y="4663440"/>
            <a:ext cx="868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₹79/mo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120640" y="466344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Now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897880" y="4663440"/>
            <a:ext cx="17373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₹63,200 (800 users)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35240" y="4663440"/>
            <a:ext cx="4251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Anchor SKU, defines the ritual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4937760"/>
            <a:ext cx="11460175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11480" y="4937760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55512"/>
                </a:solidFill>
                <a:latin typeface="Calibri"/>
              </a:rPr>
              <a:t>ANNUAL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417320" y="4937760"/>
            <a:ext cx="2834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Daily WhatsApp (annual prepay)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251960" y="4937760"/>
            <a:ext cx="868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₹699/yr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120640" y="493776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Month 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897880" y="4937760"/>
            <a:ext cx="17373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₹34,950 (50 users)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635240" y="4937760"/>
            <a:ext cx="4251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Cuts churn to ~0%, upfront cash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65760" y="5212080"/>
            <a:ext cx="11460175" cy="27432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11480" y="5212080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55512"/>
                </a:solidFill>
                <a:latin typeface="Calibri"/>
              </a:rPr>
              <a:t>DIGITAL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417320" y="5212080"/>
            <a:ext cx="2834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Situation PDF guides (5 topics)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251960" y="5212080"/>
            <a:ext cx="868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₹99–149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120640" y="521208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Month 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897880" y="5212080"/>
            <a:ext cx="17373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₹14,850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635240" y="5212080"/>
            <a:ext cx="4251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Zero-COGS upsell from existing posts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65760" y="5486400"/>
            <a:ext cx="11460175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11480" y="5486400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55512"/>
                </a:solidFill>
                <a:latin typeface="Calibri"/>
              </a:rPr>
              <a:t>PREMIUM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417320" y="5486400"/>
            <a:ext cx="2834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WhatsApp community + scholar Q&amp;A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51960" y="5486400"/>
            <a:ext cx="868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₹199/mo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120640" y="548640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Month 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897880" y="5486400"/>
            <a:ext cx="17373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₹19,900 (100 users)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635240" y="5486400"/>
            <a:ext cx="4251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Gates community, drives status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65760" y="5760720"/>
            <a:ext cx="11460175" cy="27432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11480" y="5760720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55512"/>
                </a:solidFill>
                <a:latin typeface="Calibri"/>
              </a:rPr>
              <a:t>PHYSICAL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417320" y="5760720"/>
            <a:ext cx="2834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108-card Gita wisdom deck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251960" y="5760720"/>
            <a:ext cx="868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₹599–699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120640" y="576072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Month 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897880" y="5760720"/>
            <a:ext cx="17373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₹29,950 (50 units)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635240" y="5760720"/>
            <a:ext cx="4251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Festival gifting, brand artefact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5760" y="6035040"/>
            <a:ext cx="11460175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11480" y="6035040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55512"/>
                </a:solidFill>
                <a:latin typeface="Calibri"/>
              </a:rPr>
              <a:t>ENTERPRISE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417320" y="6035040"/>
            <a:ext cx="2834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Corporate Gita Daily for teams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251960" y="6035040"/>
            <a:ext cx="868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₹5K–15K/mo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120640" y="603504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Month 5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897880" y="6035040"/>
            <a:ext cx="17373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₹30,000 (3 clients)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635240" y="6035040"/>
            <a:ext cx="4251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B2B halo + B2C credibility loop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274320" y="6355080"/>
            <a:ext cx="11643055" cy="502920"/>
          </a:xfrm>
          <a:prstGeom prst="roundRect">
            <a:avLst>
              <a:gd name="adj" fmla="val 10000"/>
            </a:avLst>
          </a:prstGeom>
          <a:solidFill>
            <a:srgbClr val="B55512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65760" y="6355080"/>
            <a:ext cx="11460175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PILLAR 5 STRATEGIC TAKEAWAY  ·  ₹79 is the entry-point, not the ceiling. Monetization depth + habit retention = ₹1.92L+ blended monthly revenue at scale.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317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MARKET FAILURE DIAGNOSIS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THE TRUST EQUATION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FUNNEL OPTIMIZATION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ACQUISITION ENGINE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RETENTION &amp; MONETIZATION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FINANCIAL MODEL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EXECUTION &amp; OUTCOMES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02920"/>
            <a:ext cx="1164305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UNIT ECONOMICS, COHORT MATH &amp; THE PATH TO ₹1 LAKH MRR BY MONTH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2255459" cy="10058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225545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B55512"/>
                </a:solidFill>
                <a:latin typeface="Calibri"/>
              </a:rPr>
              <a:t>87%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1371600"/>
            <a:ext cx="2255459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GROSS MARGIN</a:t>
            </a:r>
          </a:p>
          <a:p>
            <a:pPr algn="ctr">
              <a:lnSpc>
                <a:spcPct val="12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PER SUB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21219" y="868680"/>
            <a:ext cx="2255459" cy="10058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21219" y="960120"/>
            <a:ext cx="225545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B55512"/>
                </a:solidFill>
                <a:latin typeface="Calibri"/>
              </a:rPr>
              <a:t>₹125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21219" y="1371600"/>
            <a:ext cx="2255459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BLENDED</a:t>
            </a:r>
          </a:p>
          <a:p>
            <a:pPr algn="ctr">
              <a:lnSpc>
                <a:spcPct val="12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CAC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68118" y="868680"/>
            <a:ext cx="2255459" cy="10058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68118" y="960120"/>
            <a:ext cx="225545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B55512"/>
                </a:solidFill>
                <a:latin typeface="Calibri"/>
              </a:rPr>
              <a:t>3 MONTHS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68118" y="1371600"/>
            <a:ext cx="2255459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TO ₹1 LAKH</a:t>
            </a:r>
          </a:p>
          <a:p>
            <a:pPr algn="ctr">
              <a:lnSpc>
                <a:spcPct val="12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MRR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017" y="868680"/>
            <a:ext cx="2255459" cy="10058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017" y="960120"/>
            <a:ext cx="225545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B55512"/>
                </a:solidFill>
                <a:latin typeface="Calibri"/>
              </a:rPr>
              <a:t>₹1.92L+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017" y="1371600"/>
            <a:ext cx="2255459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MONTHLY REV</a:t>
            </a:r>
          </a:p>
          <a:p>
            <a:pPr algn="ctr">
              <a:lnSpc>
                <a:spcPct val="12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AT SCALE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61916" y="868680"/>
            <a:ext cx="2255459" cy="10058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61916" y="960120"/>
            <a:ext cx="225545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B55512"/>
                </a:solidFill>
                <a:latin typeface="Calibri"/>
              </a:rPr>
              <a:t>₹699/YR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1916" y="1371600"/>
            <a:ext cx="2255459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ANNUAL</a:t>
            </a:r>
          </a:p>
          <a:p>
            <a:pPr algn="ctr">
              <a:lnSpc>
                <a:spcPct val="12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PREPAY SKU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" y="2011680"/>
            <a:ext cx="4023360" cy="4206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2103120"/>
            <a:ext cx="40233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PER-SUBSCRIBER UNIT ECONOMICS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2514600"/>
            <a:ext cx="3749039" cy="274320"/>
          </a:xfrm>
          <a:prstGeom prst="rect">
            <a:avLst/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2514600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LINE ITEM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2514600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AMOUNT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71800" y="251460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RATIONALE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2788920"/>
            <a:ext cx="3749039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2788920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Revenue / sub / year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94560" y="2788920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+₹948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71800" y="278892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12 × ₹79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3063240"/>
            <a:ext cx="3749039" cy="274320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3063240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WhatsApp + payment fees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94560" y="3063240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−₹95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71800" y="306324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~10% of revenue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337560"/>
            <a:ext cx="3749039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3337560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Content production (alloc.)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94560" y="3337560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−₹30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71800" y="333756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1 scholar contract / 800 subs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3611880"/>
            <a:ext cx="3749039" cy="274320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3611880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Tech + infra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94560" y="3611880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−₹12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71800" y="361188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ManyChat, hosting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3886200"/>
            <a:ext cx="3749039" cy="27432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3886200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GROSS MARGIN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94560" y="3886200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55512"/>
                </a:solidFill>
                <a:latin typeface="Calibri"/>
              </a:rPr>
              <a:t>+₹811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71800" y="388620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85.5% — exceptional for solo SKU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1480" y="4160520"/>
            <a:ext cx="3749039" cy="274320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4160520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Blended CAC (amortized Y1)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194560" y="4160520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−₹125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71800" y="416052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Weighted ad+organic mix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1480" y="4434840"/>
            <a:ext cx="3749039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4434840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Refund / chargeback reserve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94560" y="4434840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−₹15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71800" y="443484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Conservative 2% allowance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4709160"/>
            <a:ext cx="3749039" cy="27432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4709160"/>
            <a:ext cx="1691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TRUE CONTRIBUTION (Y1)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94560" y="4709160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55512"/>
                </a:solidFill>
                <a:latin typeface="Calibri"/>
              </a:rPr>
              <a:t>+₹671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971800" y="470916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85.5% gross margin survives CAC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434840" y="2011680"/>
            <a:ext cx="4023360" cy="4206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434840" y="2103120"/>
            <a:ext cx="40233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LTV / CAC SENSITIVITY (BY MONTHLY CHURN)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72000" y="2514600"/>
            <a:ext cx="3749039" cy="292608"/>
          </a:xfrm>
          <a:prstGeom prst="rect">
            <a:avLst/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617720" y="2514600"/>
            <a:ext cx="13258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MONTHLY CHURN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943600" y="2514600"/>
            <a:ext cx="7772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AVG LIFE (MO)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20840" y="2514600"/>
            <a:ext cx="9144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LTV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635240" y="2514600"/>
            <a:ext cx="868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LTV / CAC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0" y="2807208"/>
            <a:ext cx="3749039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617720" y="2807208"/>
            <a:ext cx="13258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5%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943600" y="2807208"/>
            <a:ext cx="7772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20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720840" y="2807208"/>
            <a:ext cx="9144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₹1,580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635240" y="2807208"/>
            <a:ext cx="868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55512"/>
                </a:solidFill>
                <a:latin typeface="Calibri"/>
              </a:rPr>
              <a:t>12.6×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0" y="3099816"/>
            <a:ext cx="3749039" cy="292608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617720" y="3099816"/>
            <a:ext cx="13258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8%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943600" y="3099816"/>
            <a:ext cx="7772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12.5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720840" y="3099816"/>
            <a:ext cx="9144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₹987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635240" y="3099816"/>
            <a:ext cx="868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55512"/>
                </a:solidFill>
                <a:latin typeface="Calibri"/>
              </a:rPr>
              <a:t>7.9×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0" y="3392424"/>
            <a:ext cx="3749039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617720" y="3392424"/>
            <a:ext cx="13258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12%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943600" y="3392424"/>
            <a:ext cx="7772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8.3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720840" y="3392424"/>
            <a:ext cx="9144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₹655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635240" y="3392424"/>
            <a:ext cx="868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55512"/>
                </a:solidFill>
                <a:latin typeface="Calibri"/>
              </a:rPr>
              <a:t>5.2×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572000" y="3685032"/>
            <a:ext cx="3749039" cy="292608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617720" y="3685032"/>
            <a:ext cx="13258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20%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943600" y="3685032"/>
            <a:ext cx="7772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5.0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720840" y="3685032"/>
            <a:ext cx="9144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₹395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635240" y="3685032"/>
            <a:ext cx="868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55512"/>
                </a:solidFill>
                <a:latin typeface="Calibri"/>
              </a:rPr>
              <a:t>3.2×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572000" y="3977640"/>
            <a:ext cx="3749039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617720" y="3977640"/>
            <a:ext cx="13258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29%  (today)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943600" y="3977640"/>
            <a:ext cx="7772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3.4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720840" y="3977640"/>
            <a:ext cx="9144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₹268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635240" y="3977640"/>
            <a:ext cx="868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55512"/>
                </a:solidFill>
                <a:latin typeface="Calibri"/>
              </a:rPr>
              <a:t>2.1×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572000" y="4663440"/>
            <a:ext cx="3749039" cy="141732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663440" y="4754880"/>
            <a:ext cx="3611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READ-OUT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663440" y="4983480"/>
            <a:ext cx="361188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Halving churn from 29% → 12% triples LTV. Every 1pp of monthly-churn reduction pays back ad-spend the very next month. The Day-3 trial fix (Pillar 3) is the highest-ROI single intervention in this deck.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8595360" y="2011680"/>
            <a:ext cx="3291840" cy="4206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595360" y="2103120"/>
            <a:ext cx="32918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MRR PROJECTION  ·  90 DAYS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8823960" y="5349240"/>
            <a:ext cx="2834640" cy="0"/>
          </a:xfrm>
          <a:prstGeom prst="line">
            <a:avLst/>
          </a:prstGeom>
          <a:ln w="12700">
            <a:solidFill>
              <a:srgbClr val="4A2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8823960" y="2788920"/>
            <a:ext cx="0" cy="2560320"/>
          </a:xfrm>
          <a:prstGeom prst="line">
            <a:avLst/>
          </a:prstGeom>
          <a:ln w="12700">
            <a:solidFill>
              <a:srgbClr val="4A2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 110"/>
          <p:cNvSpPr/>
          <p:nvPr/>
        </p:nvSpPr>
        <p:spPr>
          <a:xfrm>
            <a:off x="9006840" y="5165694"/>
            <a:ext cx="342900" cy="183545"/>
          </a:xfrm>
          <a:prstGeom prst="rect">
            <a:avLst/>
          </a:prstGeom>
          <a:solidFill>
            <a:srgbClr val="E89B47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869680" y="4891374"/>
            <a:ext cx="6172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₹9K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869680" y="5394960"/>
            <a:ext cx="6172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NOW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715500" y="4910328"/>
            <a:ext cx="342900" cy="438912"/>
          </a:xfrm>
          <a:prstGeom prst="rect">
            <a:avLst/>
          </a:prstGeom>
          <a:solidFill>
            <a:srgbClr val="E89B47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578340" y="4636008"/>
            <a:ext cx="6172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₹22K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578340" y="5394960"/>
            <a:ext cx="6172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M1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424160" y="3952701"/>
            <a:ext cx="342900" cy="1396538"/>
          </a:xfrm>
          <a:prstGeom prst="rect">
            <a:avLst/>
          </a:prstGeom>
          <a:solidFill>
            <a:srgbClr val="E89B47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0287000" y="3678381"/>
            <a:ext cx="6172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₹70K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287000" y="5394960"/>
            <a:ext cx="6172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M2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1132820" y="3254432"/>
            <a:ext cx="342900" cy="2094807"/>
          </a:xfrm>
          <a:prstGeom prst="rect">
            <a:avLst/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995660" y="2980112"/>
            <a:ext cx="6172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₹105K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995660" y="5394960"/>
            <a:ext cx="6172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M3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549640" y="2697480"/>
            <a:ext cx="274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A1A0F"/>
                </a:solidFill>
                <a:latin typeface="Calibri"/>
              </a:rPr>
              <a:t>₹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823960" y="5669280"/>
            <a:ext cx="2834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Blended monthly revenue (incl. annual + PDF + premium)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317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MARKET FAILURE DIAGNOSIS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THE TRUST EQUATION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FUNNEL OPTIMIZATION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ACQUISITION ENGINE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RETENTION &amp; MONETIZATION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MODEL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329184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EXECUTION &amp; OUTCOMES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02920"/>
            <a:ext cx="1164305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90-DAY EXECUTION SEQUENCE  ·  KPI DASHBOARD  ·  RISK &amp; MITIGATION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11643055" cy="2240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1164305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90-DAY EXECUTION ROADMAP — SEQUENCED FOR ZERO-SPEND COMPOUNDING FIRST</a:t>
            </a:r>
          </a:p>
        </p:txBody>
      </p:sp>
      <p:sp>
        <p:nvSpPr>
          <p:cNvPr id="21" name="Pentagon 20"/>
          <p:cNvSpPr/>
          <p:nvPr/>
        </p:nvSpPr>
        <p:spPr>
          <a:xfrm>
            <a:off x="365760" y="1371600"/>
            <a:ext cx="1833829" cy="365760"/>
          </a:xfrm>
          <a:prstGeom prst="homePlate">
            <a:avLst>
              <a:gd name="adj" fmla="val 55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1371600"/>
            <a:ext cx="183382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WK 1–2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1783080"/>
            <a:ext cx="1833829" cy="118872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1828800"/>
            <a:ext cx="174238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FIX THE LEAK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2103120"/>
            <a:ext cx="1742389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Homepage redesign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Form above fold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Mandate explainer</a:t>
            </a:r>
          </a:p>
        </p:txBody>
      </p:sp>
      <p:sp>
        <p:nvSpPr>
          <p:cNvPr id="26" name="Pentagon 25"/>
          <p:cNvSpPr/>
          <p:nvPr/>
        </p:nvSpPr>
        <p:spPr>
          <a:xfrm>
            <a:off x="2272741" y="1371600"/>
            <a:ext cx="1833829" cy="365760"/>
          </a:xfrm>
          <a:prstGeom prst="homePlate">
            <a:avLst>
              <a:gd name="adj" fmla="val 55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72741" y="1371600"/>
            <a:ext cx="183382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WK 2–3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72741" y="1783080"/>
            <a:ext cx="1833829" cy="118872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18461" y="1828800"/>
            <a:ext cx="174238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SEAL THE TRIAL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18461" y="2103120"/>
            <a:ext cx="1742389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Day 1/2/3 WhatsApp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Re-engage 47 churns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Pre-charge transparency</a:t>
            </a:r>
          </a:p>
        </p:txBody>
      </p:sp>
      <p:sp>
        <p:nvSpPr>
          <p:cNvPr id="31" name="Pentagon 30"/>
          <p:cNvSpPr/>
          <p:nvPr/>
        </p:nvSpPr>
        <p:spPr>
          <a:xfrm>
            <a:off x="4179722" y="1371600"/>
            <a:ext cx="1833829" cy="365760"/>
          </a:xfrm>
          <a:prstGeom prst="homePlate">
            <a:avLst>
              <a:gd name="adj" fmla="val 55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79722" y="1371600"/>
            <a:ext cx="183382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WK 3–4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79722" y="1783080"/>
            <a:ext cx="1833829" cy="118872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25442" y="1828800"/>
            <a:ext cx="174238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DM AUTOMATION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25442" y="2103120"/>
            <a:ext cx="1742389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ManyChat trigger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Update captions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First Story poll</a:t>
            </a:r>
          </a:p>
        </p:txBody>
      </p:sp>
      <p:sp>
        <p:nvSpPr>
          <p:cNvPr id="36" name="Pentagon 35"/>
          <p:cNvSpPr/>
          <p:nvPr/>
        </p:nvSpPr>
        <p:spPr>
          <a:xfrm>
            <a:off x="6086703" y="1371600"/>
            <a:ext cx="1833829" cy="365760"/>
          </a:xfrm>
          <a:prstGeom prst="homePlate">
            <a:avLst>
              <a:gd name="adj" fmla="val 55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6703" y="1371600"/>
            <a:ext cx="183382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MONTH 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86703" y="1783080"/>
            <a:ext cx="1833829" cy="118872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2423" y="1828800"/>
            <a:ext cx="174238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NEW REVENUE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32423" y="2103120"/>
            <a:ext cx="1742389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Annual ₹699 launch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3 PDF guides live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Gift sub page</a:t>
            </a:r>
          </a:p>
        </p:txBody>
      </p:sp>
      <p:sp>
        <p:nvSpPr>
          <p:cNvPr id="41" name="Pentagon 40"/>
          <p:cNvSpPr/>
          <p:nvPr/>
        </p:nvSpPr>
        <p:spPr>
          <a:xfrm>
            <a:off x="7993684" y="1371600"/>
            <a:ext cx="1833829" cy="365760"/>
          </a:xfrm>
          <a:prstGeom prst="homePlate">
            <a:avLst>
              <a:gd name="adj" fmla="val 55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93684" y="1371600"/>
            <a:ext cx="183382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MONTH 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93684" y="1783080"/>
            <a:ext cx="1833829" cy="118872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39404" y="1828800"/>
            <a:ext cx="174238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SCALE CONTENT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39404" y="2103120"/>
            <a:ext cx="1742389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Daily Reels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2 creator collabs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B2B pitch deck</a:t>
            </a:r>
          </a:p>
        </p:txBody>
      </p:sp>
      <p:sp>
        <p:nvSpPr>
          <p:cNvPr id="46" name="Pentagon 45"/>
          <p:cNvSpPr/>
          <p:nvPr/>
        </p:nvSpPr>
        <p:spPr>
          <a:xfrm>
            <a:off x="9900665" y="1371600"/>
            <a:ext cx="1833829" cy="365760"/>
          </a:xfrm>
          <a:prstGeom prst="homePlate">
            <a:avLst>
              <a:gd name="adj" fmla="val 55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00665" y="1371600"/>
            <a:ext cx="183382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MONTH 3+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00665" y="1783080"/>
            <a:ext cx="1833829" cy="118872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46385" y="1828800"/>
            <a:ext cx="174238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PAID ACQUISITION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46385" y="2103120"/>
            <a:ext cx="1742389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Meta CTWA ₹500/d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Lookalike audience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Weekly CAC review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4320" y="3246120"/>
            <a:ext cx="6583680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3337560"/>
            <a:ext cx="6583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MEASURABLE SUCCESS METRICS  ·  KPI DASHBOARD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3749039"/>
            <a:ext cx="6400800" cy="292608"/>
          </a:xfrm>
          <a:prstGeom prst="rect">
            <a:avLst/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3749039"/>
            <a:ext cx="14630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CATEGORY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74520" y="3749039"/>
            <a:ext cx="2011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KPI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86200" y="3749039"/>
            <a:ext cx="6858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NOW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0" y="3749039"/>
            <a:ext cx="6858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DAY-30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57800" y="3749039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DAY-60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89320" y="3749039"/>
            <a:ext cx="868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DAY-90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4041647"/>
            <a:ext cx="6400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80" y="4041647"/>
            <a:ext cx="14630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FUNNEL HEALTH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74520" y="4041647"/>
            <a:ext cx="2011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Homepage → Form rate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86200" y="4041647"/>
            <a:ext cx="6858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7A6555"/>
                </a:solidFill>
                <a:latin typeface="Calibri"/>
              </a:rPr>
              <a:t>18.2%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0" y="4041647"/>
            <a:ext cx="6858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30%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57800" y="4041647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35%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89320" y="4041647"/>
            <a:ext cx="868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40%+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4334255"/>
            <a:ext cx="6400800" cy="292608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1480" y="4334255"/>
            <a:ext cx="14630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FUNNEL HEALTH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74520" y="4334255"/>
            <a:ext cx="2011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Trial → Paid rate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86200" y="4334255"/>
            <a:ext cx="6858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7A6555"/>
                </a:solidFill>
                <a:latin typeface="Calibri"/>
              </a:rPr>
              <a:t>71.2%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0" y="4334255"/>
            <a:ext cx="6858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78%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57800" y="4334255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82%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89320" y="4334255"/>
            <a:ext cx="868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88%+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5760" y="4626863"/>
            <a:ext cx="6400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1480" y="4626863"/>
            <a:ext cx="14630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ACQUISITION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874520" y="4626863"/>
            <a:ext cx="2011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Daily new trials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886200" y="4626863"/>
            <a:ext cx="6858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7A6555"/>
                </a:solidFill>
                <a:latin typeface="Calibri"/>
              </a:rPr>
              <a:t>2–3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72000" y="4626863"/>
            <a:ext cx="6858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8–10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257800" y="4626863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15–18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89320" y="4626863"/>
            <a:ext cx="868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20–30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5760" y="4919471"/>
            <a:ext cx="6400800" cy="292608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11480" y="4919471"/>
            <a:ext cx="14630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ACQUISITION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874520" y="4919471"/>
            <a:ext cx="2011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Blended CAC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886200" y="4919471"/>
            <a:ext cx="6858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7A6555"/>
                </a:solidFill>
                <a:latin typeface="Calibri"/>
              </a:rPr>
              <a:t>—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72000" y="4919471"/>
            <a:ext cx="6858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₹0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257800" y="4919471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₹80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989320" y="4919471"/>
            <a:ext cx="868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&lt;₹150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5760" y="5212079"/>
            <a:ext cx="6400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11480" y="5212079"/>
            <a:ext cx="14630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RETENTION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874520" y="5212079"/>
            <a:ext cx="2011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Monthly churn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886200" y="5212079"/>
            <a:ext cx="6858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7A6555"/>
                </a:solidFill>
                <a:latin typeface="Calibri"/>
              </a:rPr>
              <a:t>29%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72000" y="5212079"/>
            <a:ext cx="6858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&lt;20%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257800" y="5212079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&lt;12%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989320" y="5212079"/>
            <a:ext cx="868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&lt;8%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65760" y="5504687"/>
            <a:ext cx="6400800" cy="292608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11480" y="5504687"/>
            <a:ext cx="14630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REVENUE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874520" y="5504687"/>
            <a:ext cx="2011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Active paid subscribers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886200" y="5504687"/>
            <a:ext cx="6858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7A6555"/>
                </a:solidFill>
                <a:latin typeface="Calibri"/>
              </a:rPr>
              <a:t>116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72000" y="5504687"/>
            <a:ext cx="6858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230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257800" y="5504687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480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989320" y="5504687"/>
            <a:ext cx="868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800+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65760" y="5797295"/>
            <a:ext cx="6400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11480" y="5797295"/>
            <a:ext cx="14630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REVENUE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874520" y="5797295"/>
            <a:ext cx="2011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Blended monthly revenue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886200" y="5797295"/>
            <a:ext cx="6858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7A6555"/>
                </a:solidFill>
                <a:latin typeface="Calibri"/>
              </a:rPr>
              <a:t>₹9.2K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572000" y="5797295"/>
            <a:ext cx="6858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₹22K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257800" y="5797295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₹70K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989320" y="5797295"/>
            <a:ext cx="868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₹1.0L+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65760" y="6089903"/>
            <a:ext cx="6400800" cy="292608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11480" y="6089903"/>
            <a:ext cx="14630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BRAND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874520" y="6089903"/>
            <a:ext cx="2011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Daily Retained Reads (NSM)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886200" y="6089903"/>
            <a:ext cx="6858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7A6555"/>
                </a:solidFill>
                <a:latin typeface="Calibri"/>
              </a:rPr>
              <a:t>—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572000" y="6089903"/>
            <a:ext cx="6858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—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257800" y="6089903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Track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989320" y="6089903"/>
            <a:ext cx="868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60%+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995160" y="3246120"/>
            <a:ext cx="4892040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995160" y="3337560"/>
            <a:ext cx="48920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RISK &amp; MITIGATION MATRIX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086600" y="3749039"/>
            <a:ext cx="4709160" cy="292608"/>
          </a:xfrm>
          <a:prstGeom prst="rect">
            <a:avLst/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132320" y="3749039"/>
            <a:ext cx="19202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052560" y="3749039"/>
            <a:ext cx="10058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058400" y="3749039"/>
            <a:ext cx="18288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MITIGATION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086600" y="4041647"/>
            <a:ext cx="470916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132320" y="4041647"/>
            <a:ext cx="19202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WhatsApp policy / API ban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9098280" y="4133087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B02C2C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098280" y="4133087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058400" y="4041647"/>
            <a:ext cx="18288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Move to WhatsApp Business API + email mirror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086600" y="4498847"/>
            <a:ext cx="4709160" cy="457200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132320" y="4498847"/>
            <a:ext cx="19202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Mandate distrust → chargebacks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9098280" y="4590287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098280" y="4590287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058400" y="4498847"/>
            <a:ext cx="18288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Bilingual explainer, pre-charge transparency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086600" y="4956047"/>
            <a:ext cx="470916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132320" y="4956047"/>
            <a:ext cx="19202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Founder content fatigue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9098280" y="5047487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89B47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098280" y="5047487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058400" y="4956047"/>
            <a:ext cx="18288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Onboard 2 contributing scholars by Month 3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086600" y="5413247"/>
            <a:ext cx="4709160" cy="457200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7132320" y="5413247"/>
            <a:ext cx="19202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Instagram algo dependency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9098280" y="5504687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098280" y="5504687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058400" y="5413247"/>
            <a:ext cx="18288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Diversify to Shorts, ShareChat. Email backup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7086600" y="5870447"/>
            <a:ext cx="470916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7132320" y="5870447"/>
            <a:ext cx="19202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Premium community quality dilution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9098280" y="5961887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89B47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9098280" y="5961887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058400" y="5870447"/>
            <a:ext cx="18288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Hard cap at 150 members, founder moderation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274320" y="6355080"/>
            <a:ext cx="11643055" cy="502920"/>
          </a:xfrm>
          <a:prstGeom prst="roundRect">
            <a:avLst>
              <a:gd name="adj" fmla="val 10000"/>
            </a:avLst>
          </a:prstGeom>
          <a:solidFill>
            <a:srgbClr val="B55512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365760" y="6355080"/>
            <a:ext cx="11460175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FINAL TAKEAWAY  ·  Fix the funnel before scaling it. Deepen monetization before buying traffic. ₹1 Lakh blended MRR by Month 3 is achievable if Lever 1 lands in 30 days.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317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11643055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B55512"/>
                </a:solidFill>
                <a:latin typeface="Calibri"/>
              </a:rPr>
              <a:t>APPENDIX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0" y="960120"/>
            <a:ext cx="2103120" cy="0"/>
          </a:xfrm>
          <a:prstGeom prst="line">
            <a:avLst/>
          </a:prstGeom>
          <a:ln w="25400">
            <a:solidFill>
              <a:srgbClr val="B555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4320" y="1188720"/>
            <a:ext cx="5760720" cy="5349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5760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FRAMEWORKS USED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5394960" cy="36576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2011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5 WHYS 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69164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Root cause identification of funnel collapse at every step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75688"/>
            <a:ext cx="539496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75688"/>
            <a:ext cx="2011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FISHBONE (ISHIKAWA)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075688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Mapping structural causes across product, process, people, promotion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459736"/>
            <a:ext cx="5394960" cy="36576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459736"/>
            <a:ext cx="2011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VALUE PROPOSITION CANVAS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459736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Mapping Bhagavad Gita Daily product to The Modern Seeker JTBD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843784"/>
            <a:ext cx="539496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843784"/>
            <a:ext cx="2011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TRUST EQUATION (MAISTER)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2843784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Adapted: Trust = (Credibility + Reliability + Intimacy) ÷ Self-Orientation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227832"/>
            <a:ext cx="5394960" cy="36576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227832"/>
            <a:ext cx="2011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HOOK MODEL (NIR EYAL)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3227832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Re-engineering the 8 AM shlok as a non-negotiable habit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611880"/>
            <a:ext cx="539496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611880"/>
            <a:ext cx="2011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AARRR PIRATE METRICS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361188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Acquisition / Activation / Retention / Referral / Revenue mapping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995928"/>
            <a:ext cx="5394960" cy="36576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995928"/>
            <a:ext cx="2011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UNIT ECONOMICS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3995928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Per-sub P&amp;L: ₹948 → ₹671 true contribution at 85.5% gross margin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379976"/>
            <a:ext cx="539496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379976"/>
            <a:ext cx="2011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LTV/CAC SENSITIVITY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06040" y="4379976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Monthly churn 5% → 29% scenarios across 5 cases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764024"/>
            <a:ext cx="5394960" cy="36576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764024"/>
            <a:ext cx="2011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TAM / SAM / SOM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4764024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₹4,000 Cr → ₹400 Cr → ₹50–80 L Y1 for the corporate B2B opportunity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148072"/>
            <a:ext cx="539496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148072"/>
            <a:ext cx="2011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KPI 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06040" y="5148072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8 metrics × 4 milestones (now / 30 / 60 / 90 days)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532120"/>
            <a:ext cx="5394960" cy="36576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532120"/>
            <a:ext cx="2011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RISK &amp; MITIGATION MATRIX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06040" y="553212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5 risks with impact rating and named mitigation owner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916168"/>
            <a:ext cx="539496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916168"/>
            <a:ext cx="2011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90-DAY EXECUTION ROADMAP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06040" y="5916168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6 phases sequenced as ZERO-SPEND → REVENUE → SCALE → PAID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1188720"/>
            <a:ext cx="5715000" cy="5349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72200" y="1280160"/>
            <a:ext cx="57150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SOURCES &amp; DATA REFERENCES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55080" y="1691640"/>
            <a:ext cx="5349240" cy="45720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446520" y="1764792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1764792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ASSIGNMENT BRIEF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1965960"/>
            <a:ext cx="516636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Glido Labs case data — 192K followers, 5,239 visitors, 952 form views, 163 trials, 116 paid, 47 churned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55080" y="2167128"/>
            <a:ext cx="534924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446520" y="2240280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46520" y="2240280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BENCHMARK DATA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2441448"/>
            <a:ext cx="516636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Spiritual / wellness subscriptions converting 8–12% — internal benchmark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55080" y="2642616"/>
            <a:ext cx="5349240" cy="45720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446520" y="2715768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46520" y="2715768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BENCHMARK DATA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46520" y="2916936"/>
            <a:ext cx="516636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Click-to-WhatsApp ads convert 3–5× higher than website ads — Meta India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355080" y="3118104"/>
            <a:ext cx="534924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446520" y="3191256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46520" y="3191256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INDUSTRY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46520" y="3392424"/>
            <a:ext cx="516636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Indian corporate wellness market sized at ₹4,000 Cr, 15% CAGR — Mercer India 2024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355080" y="3593592"/>
            <a:ext cx="5349240" cy="45720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446520" y="3666744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46520" y="3666744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PRODUCT FRAMEWORK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46520" y="3867912"/>
            <a:ext cx="516636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Razorpay UPI mandate UX guidelines; ManyChat Instagram automation conversion data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355080" y="4069080"/>
            <a:ext cx="534924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6446520" y="4142232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46520" y="4142232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CONSUMER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46520" y="4343400"/>
            <a:ext cx="516636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Hindi-first spiritual audience preferences; tier-2/3 UPI auto-pay distrust signals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355080" y="4544568"/>
            <a:ext cx="5349240" cy="45720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446520" y="4617720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46520" y="4617720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UNIT ECONOMICS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46520" y="4818888"/>
            <a:ext cx="516636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Sequoia India Subscription Unit Economics Guide — LTV/CAC framework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355080" y="5020056"/>
            <a:ext cx="534924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6446520" y="5093208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46520" y="5093208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HABIT DESIGN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46520" y="5294376"/>
            <a:ext cx="516636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Nir Eyal — Hooked: How to Build Habit-Forming Products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355080" y="5495544"/>
            <a:ext cx="5349240" cy="45720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6446520" y="5568696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46520" y="5568696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TRUST FRAMEWORK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46520" y="5769864"/>
            <a:ext cx="516636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Maister, Green, Galford — The Trusted Advisor (Trust Equation)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355080" y="5971032"/>
            <a:ext cx="534924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6446520" y="6044184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46520" y="6044184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46520" y="6245352"/>
            <a:ext cx="516636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Eric Ries, The Lean Startup — Build/Measure/Learn loop applied to funnel fixes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317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11643055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B55512"/>
                </a:solidFill>
                <a:latin typeface="Calibri"/>
              </a:rPr>
              <a:t>DETAILED FINANCIAL VALIDATION  ·  12-MONTH COHORT PROJECTION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914400"/>
            <a:ext cx="11643055" cy="5440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1164305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BHAGAVAD GITA DAILY  ·  12-MONTH P&amp;L PROJECTION (₹)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11460175" cy="274320"/>
          </a:xfrm>
          <a:prstGeom prst="rect">
            <a:avLst/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1732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4173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M1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7465" y="14173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M2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3171" y="14173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M3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8877" y="14173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M4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74583" y="14173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M5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0288" y="14173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M6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5994" y="14173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M7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91700" y="14173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M8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7406" y="14173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M9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3111" y="14173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M10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08817" y="14173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M11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14523" y="14173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M12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20229" y="14173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FY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1691640"/>
            <a:ext cx="11460175" cy="274320"/>
          </a:xfrm>
          <a:prstGeom prst="rect">
            <a:avLst/>
          </a:prstGeom>
          <a:solidFill>
            <a:srgbClr val="E89B47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1691640"/>
            <a:ext cx="1146017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REVENUE BUILD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1965960"/>
            <a:ext cx="11460175" cy="274320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196596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Active subscribers (EOM)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19659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116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57465" y="19659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180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3171" y="19659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280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68877" y="19659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410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74583" y="19659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560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80288" y="19659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720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85994" y="19659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880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91700" y="19659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1,020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7406" y="19659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1,170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3111" y="19659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1,330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08817" y="19659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1,500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14523" y="19659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1,700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20229" y="19659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B55512"/>
                </a:solidFill>
                <a:latin typeface="Calibri"/>
              </a:rPr>
              <a:t>1,700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2240280"/>
            <a:ext cx="11460175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224028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Core MRR (₹79 × subs)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51760" y="22402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₹9.2K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57465" y="22402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₹14.2K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63171" y="22402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₹22.1K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68877" y="22402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₹32.4K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74583" y="22402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₹44.2K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80288" y="22402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₹56.9K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85994" y="22402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₹69.5K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91700" y="22402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₹80.6K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97406" y="22402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₹92.4K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03111" y="22402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₹1.1L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08817" y="22402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₹1.2L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14523" y="22402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₹1.3L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20229" y="22402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B55512"/>
                </a:solidFill>
                <a:latin typeface="Calibri"/>
              </a:rPr>
              <a:t>₹7.8L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2514600"/>
            <a:ext cx="11460175" cy="274320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251460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Annual prepay revenue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51760" y="25146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57465" y="25146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₹12.0K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63171" y="25146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₹18.0K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68877" y="25146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₹25.0K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74583" y="25146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₹28.0K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80288" y="25146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₹32.0K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85994" y="25146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₹35.0K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91700" y="25146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₹38.0K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97406" y="25146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₹42.0K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03111" y="25146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₹46.0K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08817" y="25146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₹50.0K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14523" y="25146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₹55.0K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120229" y="25146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B55512"/>
                </a:solidFill>
                <a:latin typeface="Calibri"/>
              </a:rPr>
              <a:t>₹3.8L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" y="2788920"/>
            <a:ext cx="11460175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278892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PDF guides revenue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51760" y="27889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57465" y="27889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₹8.0K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063171" y="27889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₹12.0K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768877" y="27889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₹14.0K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74583" y="27889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₹15.0K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80288" y="27889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₹15.5K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85994" y="27889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₹16.0K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591700" y="27889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₹16.5K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97406" y="27889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₹17.0K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03111" y="27889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₹17.5K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08817" y="27889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₹18.0K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414523" y="27889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₹18.5K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120229" y="27889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B55512"/>
                </a:solidFill>
                <a:latin typeface="Calibri"/>
              </a:rPr>
              <a:t>₹1.7L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65760" y="3063240"/>
            <a:ext cx="11460175" cy="274320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11480" y="306324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Premium community revenue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651760" y="30632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—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357465" y="30632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—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063171" y="30632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₹8.0K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768877" y="30632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₹14.0K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74583" y="30632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₹16.0K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180288" y="30632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₹18.0K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85994" y="30632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₹20.0K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591700" y="30632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₹22.0K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297406" y="30632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₹23.0K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003111" y="30632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₹24.0K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708817" y="30632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₹25.0K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414523" y="30632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₹26.0K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1120229" y="30632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B55512"/>
                </a:solidFill>
                <a:latin typeface="Calibri"/>
              </a:rPr>
              <a:t>₹2.0L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65760" y="3337560"/>
            <a:ext cx="11460175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11480" y="333756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Corporate B2B revenue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651760" y="33375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—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357465" y="33375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—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063171" y="33375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—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768877" y="33375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—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474583" y="33375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₹10.0K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180288" y="33375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₹20.0K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885994" y="33375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₹30.0K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591700" y="33375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₹35.0K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297406" y="33375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₹40.0K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003111" y="33375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₹50.0K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708817" y="33375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₹60.0K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414523" y="33375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₹70.0K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120229" y="33375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B55512"/>
                </a:solidFill>
                <a:latin typeface="Calibri"/>
              </a:rPr>
              <a:t>₹3.1L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65760" y="3611880"/>
            <a:ext cx="11460175" cy="274320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11480" y="361188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TOTAL REVENUE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651760" y="36118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₹9.2K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357465" y="36118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₹34.2K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063171" y="36118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₹60.1K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768877" y="36118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₹85.4K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474583" y="36118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₹1.1L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180288" y="36118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₹1.4L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885994" y="36118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₹1.7L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591700" y="36118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₹1.9L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297406" y="36118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₹2.1L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003111" y="36118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₹2.4L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708817" y="36118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₹2.7L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414523" y="36118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₹3.0L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1120229" y="36118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B55512"/>
                </a:solidFill>
                <a:latin typeface="Calibri"/>
              </a:rPr>
              <a:t>₹18.4L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65760" y="3886200"/>
            <a:ext cx="11460175" cy="274320"/>
          </a:xfrm>
          <a:prstGeom prst="rect">
            <a:avLst/>
          </a:prstGeom>
          <a:solidFill>
            <a:srgbClr val="E89B47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11480" y="3886200"/>
            <a:ext cx="1146017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COSTS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65760" y="4160520"/>
            <a:ext cx="11460175" cy="274320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11480" y="416052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Cost of goods sold (~13%)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651760" y="41605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₹-1.2K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357465" y="41605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₹-4.4K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063171" y="41605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₹-7.8K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768877" y="41605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₹-11.1K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474583" y="41605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₹-14.7K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180288" y="41605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₹-18.5K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885994" y="41605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₹-22.2K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591700" y="41605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₹-25.0K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297406" y="41605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₹-27.9K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003111" y="41605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₹-31.5K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708817" y="41605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₹-35.3K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414523" y="41605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₹-39.5K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1120229" y="416052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B55512"/>
                </a:solidFill>
                <a:latin typeface="Calibri"/>
              </a:rPr>
              <a:t>₹-2.4L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365760" y="4434840"/>
            <a:ext cx="11460175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411480" y="443484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57A55"/>
                </a:solidFill>
                <a:latin typeface="Calibri"/>
              </a:rPr>
              <a:t>Gross profit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651760" y="44348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057A55"/>
                </a:solidFill>
                <a:latin typeface="Calibri"/>
              </a:rPr>
              <a:t>₹8.0K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357465" y="44348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057A55"/>
                </a:solidFill>
                <a:latin typeface="Calibri"/>
              </a:rPr>
              <a:t>₹29.8K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063171" y="44348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057A55"/>
                </a:solidFill>
                <a:latin typeface="Calibri"/>
              </a:rPr>
              <a:t>₹52.3K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768877" y="44348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057A55"/>
                </a:solidFill>
                <a:latin typeface="Calibri"/>
              </a:rPr>
              <a:t>₹74.3K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474583" y="44348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057A55"/>
                </a:solidFill>
                <a:latin typeface="Calibri"/>
              </a:rPr>
              <a:t>₹98.5K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180288" y="44348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057A55"/>
                </a:solidFill>
                <a:latin typeface="Calibri"/>
              </a:rPr>
              <a:t>₹1.2L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885994" y="44348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057A55"/>
                </a:solidFill>
                <a:latin typeface="Calibri"/>
              </a:rPr>
              <a:t>₹1.5L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591700" y="44348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057A55"/>
                </a:solidFill>
                <a:latin typeface="Calibri"/>
              </a:rPr>
              <a:t>₹1.7L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297406" y="44348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057A55"/>
                </a:solidFill>
                <a:latin typeface="Calibri"/>
              </a:rPr>
              <a:t>₹1.9L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003111" y="44348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057A55"/>
                </a:solidFill>
                <a:latin typeface="Calibri"/>
              </a:rPr>
              <a:t>₹2.1L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708817" y="44348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057A55"/>
                </a:solidFill>
                <a:latin typeface="Calibri"/>
              </a:rPr>
              <a:t>₹2.4L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0414523" y="44348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057A55"/>
                </a:solidFill>
                <a:latin typeface="Calibri"/>
              </a:rPr>
              <a:t>₹2.6L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1120229" y="443484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B55512"/>
                </a:solidFill>
                <a:latin typeface="Calibri"/>
              </a:rPr>
              <a:t>₹16.0L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365760" y="4709160"/>
            <a:ext cx="11460175" cy="274320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411480" y="470916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Ad spend (Meta CTWA + collabs)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651760" y="47091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—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3357465" y="47091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₹-5.0K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063171" y="47091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₹-10.0K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768877" y="47091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₹-12.0K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474583" y="47091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₹-15.0K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180288" y="47091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₹-18.0K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885994" y="47091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₹-20.0K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591700" y="47091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₹-22.0K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8297406" y="47091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₹-24.0K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003111" y="47091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₹-26.0K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9708817" y="47091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₹-28.0K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0414523" y="47091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₹-30.0K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1120229" y="470916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B55512"/>
                </a:solidFill>
                <a:latin typeface="Calibri"/>
              </a:rPr>
              <a:t>₹-2.1L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365760" y="4983480"/>
            <a:ext cx="11460175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411480" y="498348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Fixed OPEX (tools + scholar)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2651760" y="49834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₹-25.0K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3357465" y="49834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₹-25.0K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4063171" y="49834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₹-25.0K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768877" y="49834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₹-25.0K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474583" y="49834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₹-25.0K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6180288" y="49834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₹-25.0K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6885994" y="49834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₹-25.0K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7591700" y="49834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₹-25.0K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8297406" y="49834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₹-25.0K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9003111" y="49834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₹-25.0K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9708817" y="49834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₹-25.0K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0414523" y="49834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0">
                <a:solidFill>
                  <a:srgbClr val="2A1A0F"/>
                </a:solidFill>
                <a:latin typeface="Calibri"/>
              </a:rPr>
              <a:t>₹-25.0K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1120229" y="498348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B55512"/>
                </a:solidFill>
                <a:latin typeface="Calibri"/>
              </a:rPr>
              <a:t>₹-3.0L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365760" y="5257800"/>
            <a:ext cx="11460175" cy="274320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411480" y="525780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EBITDA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2651760" y="52578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₹-17.0K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3357465" y="52578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₹-229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4063171" y="52578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₹17.3K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4768877" y="52578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₹37.3K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5474583" y="52578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₹58.5K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6180288" y="52578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₹80.9K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6885994" y="52578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₹1.0L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591700" y="52578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₹1.2L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8297406" y="52578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₹1.4L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9003111" y="52578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₹1.6L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9708817" y="52578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₹1.8L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0414523" y="52578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B55512"/>
                </a:solidFill>
                <a:latin typeface="Calibri"/>
              </a:rPr>
              <a:t>₹2.1L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1120229" y="5257800"/>
            <a:ext cx="70570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B55512"/>
                </a:solidFill>
                <a:latin typeface="Calibri"/>
              </a:rPr>
              <a:t>₹10.9L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Illustrative projection. Assumes Pillar 1 funnel fixes land in Month 1, paid acquisition activates in Month 3+, B2B contracts begin Month 5.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2A1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640080" cy="54864"/>
          </a:xfrm>
          <a:prstGeom prst="rect">
            <a:avLst/>
          </a:prstGeom>
          <a:solidFill>
            <a:srgbClr val="E0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0A03A"/>
                </a:solidFill>
                <a:latin typeface="Calibri"/>
              </a:rPr>
              <a:t>THE BIG BET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4206240" cy="3474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Fix the funnel</a:t>
            </a:r>
          </a:p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before you scale it.</a:t>
            </a:r>
          </a:p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Deepen monetization</a:t>
            </a:r>
          </a:p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before you buy traffic.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420624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1">
                <a:solidFill>
                  <a:srgbClr val="FFF4DE"/>
                </a:solidFill>
                <a:latin typeface="Calibri"/>
              </a:rPr>
              <a:t>Most spiritual subscriptions die buying ads into broken funnels. We will not. The 90-day plan is sequenced so the first ₹0 of new spend earns the right to the next ₹1 of paid acquisition.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502920"/>
            <a:ext cx="65836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WHAT WE WILL HAVE BY MONTH 3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0" y="1005840"/>
            <a:ext cx="64008" cy="59436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1005840"/>
            <a:ext cx="18288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A1A0F"/>
                </a:solidFill>
                <a:latin typeface="Calibri"/>
              </a:rPr>
              <a:t>FUNNEL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005840"/>
            <a:ext cx="45720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A1A0F"/>
                </a:solidFill>
                <a:latin typeface="Calibri"/>
              </a:rPr>
              <a:t>Homepage → Trial above 8%, Trial → Paid above 88%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94960" y="1600200"/>
            <a:ext cx="6492240" cy="0"/>
          </a:xfrm>
          <a:prstGeom prst="line">
            <a:avLst/>
          </a:prstGeom>
          <a:ln w="5080">
            <a:solidFill>
              <a:srgbClr val="4A2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394960" y="1691640"/>
            <a:ext cx="64008" cy="59436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1691640"/>
            <a:ext cx="18288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A1A0F"/>
                </a:solidFill>
                <a:latin typeface="Calibri"/>
              </a:rPr>
              <a:t>AUDIENCE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1691640"/>
            <a:ext cx="45720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A1A0F"/>
                </a:solidFill>
                <a:latin typeface="Calibri"/>
              </a:rPr>
              <a:t>800+ active paying subscribers (vs 116 today)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394960" y="2286000"/>
            <a:ext cx="6492240" cy="0"/>
          </a:xfrm>
          <a:prstGeom prst="line">
            <a:avLst/>
          </a:prstGeom>
          <a:ln w="5080">
            <a:solidFill>
              <a:srgbClr val="4A2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394960" y="2377440"/>
            <a:ext cx="64008" cy="59436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0" y="2377440"/>
            <a:ext cx="18288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A1A0F"/>
                </a:solidFill>
                <a:latin typeface="Calibri"/>
              </a:rPr>
              <a:t>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377440"/>
            <a:ext cx="45720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A1A0F"/>
                </a:solidFill>
                <a:latin typeface="Calibri"/>
              </a:rPr>
              <a:t>₹1.0L+ blended MRR — 11× current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394960" y="2971800"/>
            <a:ext cx="6492240" cy="0"/>
          </a:xfrm>
          <a:prstGeom prst="line">
            <a:avLst/>
          </a:prstGeom>
          <a:ln w="5080">
            <a:solidFill>
              <a:srgbClr val="4A2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394960" y="3063240"/>
            <a:ext cx="64008" cy="59436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3063240"/>
            <a:ext cx="18288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A1A0F"/>
                </a:solidFill>
                <a:latin typeface="Calibri"/>
              </a:rPr>
              <a:t>STACK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3063240"/>
            <a:ext cx="45720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A1A0F"/>
                </a:solidFill>
                <a:latin typeface="Calibri"/>
              </a:rPr>
              <a:t>Annual, PDF guides, premium community live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394960" y="3657600"/>
            <a:ext cx="6492240" cy="0"/>
          </a:xfrm>
          <a:prstGeom prst="line">
            <a:avLst/>
          </a:prstGeom>
          <a:ln w="5080">
            <a:solidFill>
              <a:srgbClr val="4A2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394960" y="3749040"/>
            <a:ext cx="64008" cy="59436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3749040"/>
            <a:ext cx="18288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A1A0F"/>
                </a:solidFill>
                <a:latin typeface="Calibri"/>
              </a:rPr>
              <a:t>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3749040"/>
            <a:ext cx="45720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A1A0F"/>
                </a:solidFill>
                <a:latin typeface="Calibri"/>
              </a:rPr>
              <a:t>3 corporate pilots in motion · paid ads ROAS-positive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394960" y="4343400"/>
            <a:ext cx="6492240" cy="0"/>
          </a:xfrm>
          <a:prstGeom prst="line">
            <a:avLst/>
          </a:prstGeom>
          <a:ln w="5080">
            <a:solidFill>
              <a:srgbClr val="4A2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394960" y="4434840"/>
            <a:ext cx="64008" cy="59436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77840" y="4434840"/>
            <a:ext cx="18288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A1A0F"/>
                </a:solidFill>
                <a:latin typeface="Calibri"/>
              </a:rPr>
              <a:t>BRAND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4434840"/>
            <a:ext cx="45720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A1A0F"/>
                </a:solidFill>
                <a:latin typeface="Calibri"/>
              </a:rPr>
              <a:t>200K+ Instagram, first PR mention as India's daily Gita ritual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394960" y="5029200"/>
            <a:ext cx="6492240" cy="0"/>
          </a:xfrm>
          <a:prstGeom prst="line">
            <a:avLst/>
          </a:prstGeom>
          <a:ln w="5080">
            <a:solidFill>
              <a:srgbClr val="4A2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349240" y="5349240"/>
            <a:ext cx="6675120" cy="123444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0" y="5440680"/>
            <a:ext cx="64922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FROM THE GITA  ·  CHAPTER 2, VERSE 47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5715000"/>
            <a:ext cx="64922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1">
                <a:solidFill>
                  <a:srgbClr val="2A1A0F"/>
                </a:solidFill>
                <a:latin typeface="Calibri"/>
              </a:rPr>
              <a:t>"You have a right to perform your prescribed duty, but not to the fruits of action."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217920"/>
            <a:ext cx="64922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7A6555"/>
                </a:solidFill>
                <a:latin typeface="Calibri"/>
              </a:rPr>
              <a:t>Operating principle: ship the funnel; the MRR will follow.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6583680"/>
            <a:ext cx="6675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7A6555"/>
                </a:solidFill>
                <a:latin typeface="Calibri"/>
              </a:rPr>
              <a:t>Bhagavad Gita Daily  ·  Strategy Deck v2.0  ·  Confidential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583680"/>
            <a:ext cx="4114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E0A03A"/>
                </a:solidFill>
                <a:latin typeface="Calibri"/>
              </a:rPr>
              <a:t>DIVYAMAN PAL  ·  IIT KANPUR  ·  divyamp23@iitk.ac.in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