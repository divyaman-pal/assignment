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6858000" y="0"/>
            <a:ext cx="5349240" cy="6858000"/>
          </a:xfrm>
          <a:prstGeom prst="rtTriangle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7772400" y="0"/>
            <a:ext cx="4434840" cy="6858000"/>
          </a:xfrm>
          <a:prstGeom prst="rtTriangle">
            <a:avLst/>
          </a:prstGeom>
          <a:solidFill>
            <a:srgbClr val="E89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82880"/>
            <a:ext cx="64008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365760"/>
            <a:ext cx="1645920" cy="777240"/>
          </a:xfrm>
          <a:prstGeom prst="roundRect">
            <a:avLst>
              <a:gd name="adj" fmla="val 18000"/>
            </a:avLst>
          </a:prstGeom>
          <a:solidFill>
            <a:srgbClr val="4A2418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65760"/>
            <a:ext cx="16459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IIT KANPUR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65760"/>
            <a:ext cx="1920240" cy="777240"/>
          </a:xfrm>
          <a:prstGeom prst="roundRect">
            <a:avLst>
              <a:gd name="adj" fmla="val 18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65760"/>
            <a:ext cx="192024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GLIDO LABS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65760"/>
            <a:ext cx="2103120" cy="777240"/>
          </a:xfrm>
          <a:prstGeom prst="roundRect">
            <a:avLst>
              <a:gd name="adj" fmla="val 18000"/>
            </a:avLst>
          </a:prstGeom>
          <a:solidFill>
            <a:srgbClr val="E89B47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365760"/>
            <a:ext cx="21031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FOUNDER'S OFFICE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1691640"/>
            <a:ext cx="7315200" cy="2697480"/>
          </a:xfrm>
          <a:prstGeom prst="rect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828800"/>
            <a:ext cx="70408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0A03A"/>
                </a:solidFill>
                <a:latin typeface="Calibri"/>
              </a:rPr>
              <a:t>STRATEGY 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331720"/>
            <a:ext cx="704088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BHAGAVAD GITA DAILY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520440"/>
            <a:ext cx="704088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FFFFFF"/>
                </a:solidFill>
                <a:latin typeface="Calibri"/>
              </a:rPr>
              <a:t>Monetization &amp; Growth Strategy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0" y="1828800"/>
            <a:ext cx="3200400" cy="3200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828800"/>
            <a:ext cx="3200400" cy="3200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0" i="0">
                <a:solidFill>
                  <a:srgbClr val="B55512"/>
                </a:solidFill>
                <a:latin typeface="Calibri"/>
              </a:rPr>
              <a:t>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4663440"/>
            <a:ext cx="7315200" cy="1920240"/>
          </a:xfrm>
          <a:prstGeom prst="roundRect">
            <a:avLst>
              <a:gd name="adj" fmla="val 4000"/>
            </a:avLst>
          </a:prstGeom>
          <a:solidFill>
            <a:srgbClr val="E89B47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54880"/>
            <a:ext cx="7315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PREPARED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5074920"/>
            <a:ext cx="73152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DIVYAMAN 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5577840"/>
            <a:ext cx="73152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B.Tech, Civil Engineering · Indian Institute of Technology Kanpur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989320"/>
            <a:ext cx="73152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Calibri"/>
              </a:rPr>
              <a:t>divyamp23@iitk.ac.in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5029200"/>
            <a:ext cx="34747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5074920"/>
            <a:ext cx="3474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THE THESIS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349240"/>
            <a:ext cx="347472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1">
                <a:solidFill>
                  <a:srgbClr val="2A1A0F"/>
                </a:solidFill>
                <a:latin typeface="Calibri"/>
              </a:rPr>
              <a:t>Not a product or audience problem.</a:t>
            </a:r>
          </a:p>
          <a:p>
            <a:pPr algn="ctr">
              <a:lnSpc>
                <a:spcPct val="130000"/>
              </a:lnSpc>
            </a:pPr>
            <a:r>
              <a:rPr sz="1000" b="0" i="1">
                <a:solidFill>
                  <a:srgbClr val="2A1A0F"/>
                </a:solidFill>
                <a:latin typeface="Calibri"/>
              </a:rPr>
              <a:t>A funnel + monetization-depth problem — both fixable in 90 days.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Funnel converts at 2.2% — 4× below industry — but every leak is fixable in 30 days at zero new spend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1005840"/>
            <a:ext cx="3759098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4320" y="1005840"/>
            <a:ext cx="3759098" cy="41148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005840"/>
            <a:ext cx="3759098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  ·  SITUATION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508760"/>
            <a:ext cx="339333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B55512"/>
                </a:solidFill>
                <a:latin typeface="Calibri"/>
              </a:rPr>
              <a:t>What we have today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828800"/>
            <a:ext cx="3393338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192K Instagram followers — loyal, devotion-based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₹79/mo product, 116 paying users — proven PMF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Live payment funnel · 5,239 monthly visits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Current MRR ~₹9.2K · 71% Trial→Paid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46120"/>
            <a:ext cx="3393338" cy="256032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246120"/>
            <a:ext cx="339333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WHAT IS WORKING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16298" y="1005840"/>
            <a:ext cx="3759098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16298" y="1005840"/>
            <a:ext cx="3759098" cy="41148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16298" y="1005840"/>
            <a:ext cx="3759098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  ·  COMPLICATION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9178" y="1508760"/>
            <a:ext cx="339333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B55512"/>
                </a:solidFill>
                <a:latin typeface="Calibri"/>
              </a:rPr>
              <a:t>Why growth has stalled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9178" y="1828800"/>
            <a:ext cx="3393338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Visitor → Paid conversion stuck at 2.2% (vs 8–12% benchmark)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82% drop on homepage, 83% on form, 29% trial churn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Single ₹79 SKU — no monetization depth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Content is identical free vs paid — no value gap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99178" y="3246120"/>
            <a:ext cx="3393338" cy="256032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9178" y="3246120"/>
            <a:ext cx="339333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WHAT IS BROKEN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8276" y="1005840"/>
            <a:ext cx="3759098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8276" y="1005840"/>
            <a:ext cx="3759098" cy="41148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8276" y="1005840"/>
            <a:ext cx="3759098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  ·  RESOLUTION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1156" y="1508760"/>
            <a:ext cx="339333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B55512"/>
                </a:solidFill>
                <a:latin typeface="Calibri"/>
              </a:rPr>
              <a:t>Three sequenced levers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1156" y="1828800"/>
            <a:ext cx="3393338" cy="1691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L1 · Seal funnel — homepage, mandate, Day-3 transparency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L2 · Scale ToFu — DM automation → content → paid (in order)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L3 · Deepen monetization — annual, PDF, premium, B2B</a:t>
            </a:r>
          </a:p>
          <a:p>
            <a:pPr algn="l">
              <a:lnSpc>
                <a:spcPct val="145000"/>
              </a:lnSpc>
            </a:pPr>
            <a:r>
              <a:rPr sz="900" b="0" i="0">
                <a:solidFill>
                  <a:srgbClr val="2A1A0F"/>
                </a:solidFill>
                <a:latin typeface="Calibri"/>
              </a:rPr>
              <a:t>•  Target  ·  ₹1L+ MRR by Month 3, ₹3L+ by Month 12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41156" y="3246120"/>
            <a:ext cx="3393338" cy="256032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41156" y="3246120"/>
            <a:ext cx="3393338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WHAT WE WILL 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3749039"/>
            <a:ext cx="6766560" cy="2331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3822191"/>
            <a:ext cx="67665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THE FUNNEL — WHERE 192K BECOMES 116</a:t>
            </a:r>
          </a:p>
        </p:txBody>
      </p:sp>
      <p:pic>
        <p:nvPicPr>
          <p:cNvPr id="42" name="Picture 41" descr="funnel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60520"/>
            <a:ext cx="6492240" cy="1874519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178040" y="3749039"/>
            <a:ext cx="4754880" cy="23317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78040" y="3822191"/>
            <a:ext cx="475488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THE PRIZE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0" y="42062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0" y="4206240"/>
            <a:ext cx="777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55512"/>
                </a:solidFill>
                <a:latin typeface="Calibri"/>
              </a:rPr>
              <a:t>11×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3880" y="4206240"/>
            <a:ext cx="132588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MRR uplift in 90 days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646920" y="4206240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38360" y="4206240"/>
            <a:ext cx="777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55512"/>
                </a:solidFill>
                <a:latin typeface="Calibri"/>
              </a:rPr>
              <a:t>₹1L+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4206240"/>
            <a:ext cx="132588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Blended MRR by Month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0" y="4818888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06640" y="4818888"/>
            <a:ext cx="777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55512"/>
                </a:solidFill>
                <a:latin typeface="Calibri"/>
              </a:rPr>
              <a:t>₹3L+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3880" y="4818888"/>
            <a:ext cx="132588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Blended MRR by Month 12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46920" y="4818888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4818888"/>
            <a:ext cx="777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55512"/>
                </a:solidFill>
                <a:latin typeface="Calibri"/>
              </a:rPr>
              <a:t>85.5%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4818888"/>
            <a:ext cx="132588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Gross margin per subscriber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15200" y="5431536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0" y="5431536"/>
            <a:ext cx="777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55512"/>
                </a:solidFill>
                <a:latin typeface="Calibri"/>
              </a:rPr>
              <a:t>7.9×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83880" y="5431536"/>
            <a:ext cx="132588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LTV / CAC at 8% churn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46920" y="5431536"/>
            <a:ext cx="2240280" cy="566928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38360" y="5431536"/>
            <a:ext cx="777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55512"/>
                </a:solidFill>
                <a:latin typeface="Calibri"/>
              </a:rPr>
              <a:t>M5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5431536"/>
            <a:ext cx="132588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Operational EBITDA breakeven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case data (2025) | IMARC India Subscription Apps Benchmark 2024 | Sequoia India Subscription Unit Economics Guide | Team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Funnel failure is structural, not tactical — four root causes act simultaneously across product, process, people and promotion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576072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576072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ROOT CAUSE ANALYSIS — 5 WHYS METHOD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1371600"/>
            <a:ext cx="5303520" cy="502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137160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PROBLEM:  192K loyal followers, ₹79 product, 116 paying users — yet only 2.2% of website visitors convert.</a:t>
            </a:r>
          </a:p>
        </p:txBody>
      </p:sp>
      <p:sp>
        <p:nvSpPr>
          <p:cNvPr id="23" name="Pentagon 22"/>
          <p:cNvSpPr/>
          <p:nvPr/>
        </p:nvSpPr>
        <p:spPr>
          <a:xfrm>
            <a:off x="502920" y="2011680"/>
            <a:ext cx="2011680" cy="50292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011680"/>
            <a:ext cx="187452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WHY ARE VISITORS NOT SUBSCRIBING?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2011680"/>
            <a:ext cx="3246120" cy="502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97480" y="2011680"/>
            <a:ext cx="3063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Homepage tries to be a marketing site, a Gita resource hub AND a subscription page. Avg scroll 51.95%, form below the fold.</a:t>
            </a:r>
          </a:p>
        </p:txBody>
      </p:sp>
      <p:sp>
        <p:nvSpPr>
          <p:cNvPr id="27" name="Pentagon 26"/>
          <p:cNvSpPr/>
          <p:nvPr/>
        </p:nvSpPr>
        <p:spPr>
          <a:xfrm>
            <a:off x="502920" y="2624328"/>
            <a:ext cx="2011680" cy="50292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624328"/>
            <a:ext cx="187452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WHY DO USERS NOT START THE TRIAL?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2624328"/>
            <a:ext cx="3246120" cy="502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97480" y="2624328"/>
            <a:ext cx="3063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₹5 UPI mandate scares spiritually-motivated tier 2/3 users; no plain-language explainer at checkout.</a:t>
            </a:r>
          </a:p>
        </p:txBody>
      </p:sp>
      <p:sp>
        <p:nvSpPr>
          <p:cNvPr id="31" name="Pentagon 30"/>
          <p:cNvSpPr/>
          <p:nvPr/>
        </p:nvSpPr>
        <p:spPr>
          <a:xfrm>
            <a:off x="502920" y="3236976"/>
            <a:ext cx="2011680" cy="50292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236976"/>
            <a:ext cx="187452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WHY DO TRIAL USERS CHURN ON DAY 3?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06040" y="3236976"/>
            <a:ext cx="3246120" cy="502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97480" y="3236976"/>
            <a:ext cx="3063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47 of 163 (29%) cancel — Day-3 charge is a surprise; 3 days is too short to feel value; no transparency before deduction.</a:t>
            </a:r>
          </a:p>
        </p:txBody>
      </p:sp>
      <p:sp>
        <p:nvSpPr>
          <p:cNvPr id="35" name="Pentagon 34"/>
          <p:cNvSpPr/>
          <p:nvPr/>
        </p:nvSpPr>
        <p:spPr>
          <a:xfrm>
            <a:off x="502920" y="3849624"/>
            <a:ext cx="2011680" cy="50292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849624"/>
            <a:ext cx="187452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WHY DON'T FOLLOWERS BECOME SUBSCRIBERS?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06040" y="3849624"/>
            <a:ext cx="3246120" cy="502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97480" y="3849624"/>
            <a:ext cx="3063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Instagram serves the same shlok content for free; no visible value gap between the free and paid product.</a:t>
            </a:r>
          </a:p>
        </p:txBody>
      </p:sp>
      <p:sp>
        <p:nvSpPr>
          <p:cNvPr id="39" name="Pentagon 38"/>
          <p:cNvSpPr/>
          <p:nvPr/>
        </p:nvSpPr>
        <p:spPr>
          <a:xfrm>
            <a:off x="502920" y="4462272"/>
            <a:ext cx="2011680" cy="50292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462272"/>
            <a:ext cx="187452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WHY IS GROWTH NOT COMPOUNDING?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06040" y="4462272"/>
            <a:ext cx="3246120" cy="502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97480" y="4462272"/>
            <a:ext cx="30632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No DM automation, no daily Reels engine, no viral loop in WhatsApp messages — top of funnel grows linearly, not exponentially.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349240"/>
            <a:ext cx="5303520" cy="411480"/>
          </a:xfrm>
          <a:prstGeom prst="roundRect">
            <a:avLst>
              <a:gd name="adj" fmla="val 3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5349240"/>
            <a:ext cx="51206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1">
                <a:solidFill>
                  <a:srgbClr val="FFFFFF"/>
                </a:solidFill>
                <a:latin typeface="Calibri"/>
              </a:rPr>
              <a:t>ROOT CAUSE  ·  Funnel was built for users who already trust the brand. It must be re-built for users who must be earned.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72200" y="868680"/>
            <a:ext cx="57150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72200" y="960120"/>
            <a:ext cx="57150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FISHBONE (ISHIKAWA) ANALYSIS — 4-LEVER STRUCTURAL FAILURE (MECE)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92240" y="2331720"/>
            <a:ext cx="4160520" cy="0"/>
          </a:xfrm>
          <a:prstGeom prst="line">
            <a:avLst/>
          </a:prstGeom>
          <a:ln w="25400"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561320" y="1920240"/>
            <a:ext cx="868680" cy="868680"/>
          </a:xfrm>
          <a:prstGeom prst="ellipse">
            <a:avLst/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61320" y="1920240"/>
            <a:ext cx="8686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POOR</a:t>
            </a:r>
          </a:p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FUNNEL</a:t>
            </a:r>
          </a:p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CONV.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360920" y="1691640"/>
            <a:ext cx="502920" cy="640080"/>
          </a:xfrm>
          <a:prstGeom prst="line">
            <a:avLst/>
          </a:prstGeom>
          <a:ln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6949440" y="141732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1417320"/>
            <a:ext cx="86868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1737360"/>
            <a:ext cx="155448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•  Generic hero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1901952"/>
            <a:ext cx="155448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•  No sample preview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778240" y="1691640"/>
            <a:ext cx="502920" cy="640080"/>
          </a:xfrm>
          <a:prstGeom prst="line">
            <a:avLst/>
          </a:prstGeom>
          <a:ln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366760" y="141732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60" y="1417320"/>
            <a:ext cx="86868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PROCESS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1737360"/>
            <a:ext cx="155448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•  ₹5 mandate fear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1000" y="1901952"/>
            <a:ext cx="155448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•  No Day-3 transparency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7360920" y="2331720"/>
            <a:ext cx="502920" cy="594360"/>
          </a:xfrm>
          <a:prstGeom prst="line">
            <a:avLst/>
          </a:prstGeom>
          <a:ln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83680" y="2560320"/>
            <a:ext cx="155448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•  Tier 2/3 UPI distrust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2724912"/>
            <a:ext cx="155448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•  No teacher face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949440" y="292608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49440" y="2926080"/>
            <a:ext cx="86868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PEOPLE</a:t>
            </a:r>
          </a:p>
        </p:txBody>
      </p:sp>
      <p:cxnSp>
        <p:nvCxnSpPr>
          <p:cNvPr id="65" name="Connector 64"/>
          <p:cNvCxnSpPr/>
          <p:nvPr/>
        </p:nvCxnSpPr>
        <p:spPr>
          <a:xfrm flipV="1">
            <a:off x="8778240" y="2331720"/>
            <a:ext cx="502920" cy="594360"/>
          </a:xfrm>
          <a:prstGeom prst="line">
            <a:avLst/>
          </a:prstGeom>
          <a:ln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8001000" y="2560320"/>
            <a:ext cx="155448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•  No DM automation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2724912"/>
            <a:ext cx="155448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•  No viral loop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66760" y="292608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2926080"/>
            <a:ext cx="868680" cy="25603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PROMOTION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355080" y="3200400"/>
            <a:ext cx="5349240" cy="292608"/>
          </a:xfrm>
          <a:prstGeom prst="roundRect">
            <a:avLst>
              <a:gd name="adj" fmla="val 3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46520" y="3200400"/>
            <a:ext cx="51663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1">
                <a:solidFill>
                  <a:srgbClr val="2A1A0F"/>
                </a:solidFill>
                <a:latin typeface="Calibri"/>
              </a:rPr>
              <a:t>KEY TAKEAWAY  ·  4-lever failure → no silver-bullet exists. Sequenced fixes only.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72200" y="3703320"/>
            <a:ext cx="5715000" cy="2194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72200" y="3776472"/>
            <a:ext cx="57150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VALUE PROPOSITION CANVAS — THE MODERN SEEKER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4160520"/>
            <a:ext cx="2423160" cy="1645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0" y="4187952"/>
            <a:ext cx="233172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PRODUCT (GAIN CREATORS)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4407408"/>
            <a:ext cx="233172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8 AM daily WhatsApp shlok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Meaning + life-application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3-day taste-test trial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Annual lock-in (₹699)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Premium community (₹199)</a:t>
            </a:r>
          </a:p>
        </p:txBody>
      </p:sp>
      <p:sp>
        <p:nvSpPr>
          <p:cNvPr id="77" name="Oval 76"/>
          <p:cNvSpPr/>
          <p:nvPr/>
        </p:nvSpPr>
        <p:spPr>
          <a:xfrm>
            <a:off x="9006840" y="4160520"/>
            <a:ext cx="2697480" cy="1645920"/>
          </a:xfrm>
          <a:prstGeom prst="ellipse">
            <a:avLst/>
          </a:prstGeom>
          <a:solidFill>
            <a:srgbClr val="FAE0B6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52560" y="4251960"/>
            <a:ext cx="2606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JOBS-TO-BE-DONE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52560" y="4498848"/>
            <a:ext cx="2606040" cy="12801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Anchor my morning ·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Make sense of life events ·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Feel connected daily ·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Pass tradition forward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8732520" y="4846320"/>
            <a:ext cx="365760" cy="274320"/>
          </a:xfrm>
          <a:prstGeom prst="rightArrow">
            <a:avLst/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74320" y="5989320"/>
            <a:ext cx="11643055" cy="41148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5989320"/>
            <a:ext cx="1146017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STRATEGIC TAKEAWAY  ·  The funnel breaks because product, process, people and promotion all fail at the same point — earning trust before asking for ₹79.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case data | Lean Startup methodology (Eric Ries, 2011) | Maister-Green-Galford Trust Equation | Team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The Modern Seeker is Hindi-first, mobile-first, festival-driven, UPI-skeptical — all four shape the funnel design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3840480" cy="5440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1480" y="100584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2A1A0F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80160" y="1188720"/>
            <a:ext cx="1828800" cy="1828800"/>
          </a:xfrm>
          <a:prstGeom prst="ellipse">
            <a:avLst/>
          </a:prstGeom>
          <a:solidFill>
            <a:srgbClr val="B55512"/>
          </a:solidFill>
          <a:ln w="25400">
            <a:solidFill>
              <a:srgbClr val="E0A0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1188720"/>
            <a:ext cx="1828800" cy="18288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0" i="0">
                <a:solidFill>
                  <a:srgbClr val="E0A03A"/>
                </a:solidFill>
                <a:latin typeface="Calibri"/>
              </a:rPr>
              <a:t>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246120"/>
            <a:ext cx="35661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B55512"/>
                </a:solidFill>
                <a:latin typeface="Calibri"/>
              </a:rPr>
              <a:t>THE MODERN SEEKER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703320"/>
            <a:ext cx="356616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703320"/>
            <a:ext cx="1097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3703320"/>
            <a:ext cx="22860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32–55  ·  median 38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050792"/>
            <a:ext cx="356616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50792"/>
            <a:ext cx="1097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4050792"/>
            <a:ext cx="22860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Tier 1 + Tier 2  ·  Hindi belt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4398264"/>
            <a:ext cx="356616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398264"/>
            <a:ext cx="1097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LANGUAGE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398264"/>
            <a:ext cx="22860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Hindi-first or bilingual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745736"/>
            <a:ext cx="356616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745736"/>
            <a:ext cx="1097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INCOME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4745736"/>
            <a:ext cx="22860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₹6–25L p.a.  ·  middle class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093208"/>
            <a:ext cx="356616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093208"/>
            <a:ext cx="1097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DEVICE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45920" y="5093208"/>
            <a:ext cx="22860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Mobile-first (95%+)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440680"/>
            <a:ext cx="356616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097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PAYMENT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440680"/>
            <a:ext cx="22860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UPI native, mandate-skeptical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5788152"/>
            <a:ext cx="356616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788152"/>
            <a:ext cx="10972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DISCOVERY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45920" y="5788152"/>
            <a:ext cx="228600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Reels  ·  WhatsApp forwards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51960" y="868680"/>
            <a:ext cx="7680960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51960" y="960120"/>
            <a:ext cx="76809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JTBD × ANXIETY × PAY-TRIGGER × STAY-TRIGGER  ·  THE 4 PSYCHOLOGICAL SLOTS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34840" y="13716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34840" y="1371600"/>
            <a:ext cx="3657600" cy="274320"/>
          </a:xfrm>
          <a:prstGeom prst="roundRect">
            <a:avLst>
              <a:gd name="adj" fmla="val 3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4840" y="137160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JOBS-TO-BE-DONE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1691640"/>
            <a:ext cx="338328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Anchor my morning with meaning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Make sense of life events through tradition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Feel connected to something larger — daily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Pass the wisdom to my kids and parents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83880" y="13716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83880" y="1371600"/>
            <a:ext cx="3657600" cy="274320"/>
          </a:xfrm>
          <a:prstGeom prst="roundRect">
            <a:avLst>
              <a:gd name="adj" fmla="val 30000"/>
            </a:avLst>
          </a:prstGeom>
          <a:solidFill>
            <a:srgbClr val="B02C2C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83880" y="137160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ANXIETIES THAT KILL CONVERSION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1691640"/>
            <a:ext cx="338328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₹5 mandate — "will they keep deducting?"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UPI auto-pay distrust in tier 2/3 cohorts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"Is this just another spiritual reels page?"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Forgetting they signed up → angry chargebacks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434840" y="288036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34840" y="2880360"/>
            <a:ext cx="3657600" cy="274320"/>
          </a:xfrm>
          <a:prstGeom prst="roundRect">
            <a:avLst>
              <a:gd name="adj" fmla="val 30000"/>
            </a:avLst>
          </a:prstGeom>
          <a:solidFill>
            <a:srgbClr val="057A55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4840" y="288036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WHAT MAKES THEM PAY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3200400"/>
            <a:ext cx="338328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Sample message that feels personally written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A friend forwarded it on WhatsApp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A real face / scholar attached to the brand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Festival or life-event trigger (Navratri, exam)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83880" y="288036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183880" y="2880360"/>
            <a:ext cx="3657600" cy="274320"/>
          </a:xfrm>
          <a:prstGeom prst="roundRect">
            <a:avLst>
              <a:gd name="adj" fmla="val 3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83880" y="2880360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WHAT MAKES THEM STAY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3200400"/>
            <a:ext cx="338328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Same time, every morning — without fail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The verse "happens to" speak to today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Felt sense of a teacher, not a bot</a:t>
            </a:r>
          </a:p>
          <a:p>
            <a:pPr algn="l">
              <a:lnSpc>
                <a:spcPct val="14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•  Community of people on the same path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51960" y="4617720"/>
            <a:ext cx="768096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51960" y="4690872"/>
            <a:ext cx="76809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DEMOGRAPHIC PROFILE  ·  AGE × CITY-TIER × LANGUAGE</a:t>
            </a:r>
          </a:p>
        </p:txBody>
      </p:sp>
      <p:pic>
        <p:nvPicPr>
          <p:cNvPr id="65" name="Picture 64" descr="persona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4983480"/>
            <a:ext cx="7315200" cy="128016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follower analytics + LocalCircles 2024 (Hindi spiritual content consumption) + Bumble India Inclusion Report 2023 + Team interpretation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The funnel's 3 leaks map cleanly to 3 pillars of trust — each leak earns a different fear, requires a different fix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11643055" cy="365760"/>
          </a:xfrm>
          <a:prstGeom prst="roundRect">
            <a:avLst>
              <a:gd name="adj" fmla="val 8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868680"/>
            <a:ext cx="11643055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TRUST  =  ( CREDIBILITY  +  RELIABILITY  +  INTIMACY )  ÷  SELF-ORIENTATION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" y="1371600"/>
            <a:ext cx="3759098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4320" y="1371600"/>
            <a:ext cx="3759098" cy="45720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1371600"/>
            <a:ext cx="3759098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PILLAR 1  ·  PSYCHOLOGICAL TRUST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1965960"/>
            <a:ext cx="3393338" cy="292608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965960"/>
            <a:ext cx="339333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PRE-CLICK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286000"/>
            <a:ext cx="339333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2A1A0F"/>
                </a:solidFill>
                <a:latin typeface="Calibri"/>
              </a:rPr>
              <a:t>Earn the click before asking for the rupee.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65176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70662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STRATEGIC IMPERATIVE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92608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Reframe the brand from "another spiritual page" to "the one daily ritual you set your morning by."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70332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75818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MECHANISM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97764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Hero rewrite. Real founder/scholar face. Single social-proof number used everywhere.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5488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80974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OUTCOME (30D)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2920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Homepage → Form lifts from 18% → 30%+ in 30 days. Zero new spend.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16298" y="1371600"/>
            <a:ext cx="3759098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216298" y="1371600"/>
            <a:ext cx="3759098" cy="45720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16298" y="1371600"/>
            <a:ext cx="3759098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PILLAR 2  ·  TRANSACTIONAL TRUST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99178" y="1965960"/>
            <a:ext cx="3393338" cy="292608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99178" y="1965960"/>
            <a:ext cx="339333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AT-CHECKOUT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99178" y="2286000"/>
            <a:ext cx="339333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2A1A0F"/>
                </a:solidFill>
                <a:latin typeface="Calibri"/>
              </a:rPr>
              <a:t>Make ₹5 mandate feel like a handshake, not a hostage.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99178" y="265176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90618" y="270662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STRATEGIC IMPERATIVE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90618" y="292608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Replace silent friction with bilingual transparency. Treat the mandate as a conversation, not a contract.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99178" y="370332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0618" y="375818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MECHANISM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90618" y="397764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Hindi+English mandate explainer · Razorpay logo · "Cancel anytime" badge · WhatsApp opt-in confirmation.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99178" y="475488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90618" y="480974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OUTCOME (30D)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90618" y="502920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Form → Trial lifts from 17% → 30%+. A/B test removing ₹5 mandate entirely.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58276" y="1371600"/>
            <a:ext cx="3759098" cy="4434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58276" y="1371600"/>
            <a:ext cx="3759098" cy="45720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8276" y="1371600"/>
            <a:ext cx="3759098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PILLAR 3  ·  EXPERIENTIAL TRUST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41156" y="1965960"/>
            <a:ext cx="3393338" cy="292608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41156" y="1965960"/>
            <a:ext cx="3393338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POST-PAY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41156" y="2286000"/>
            <a:ext cx="339333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2A1A0F"/>
                </a:solidFill>
                <a:latin typeface="Calibri"/>
              </a:rPr>
              <a:t>Earn the next 11 months in the first 3 days.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41156" y="265176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32596" y="270662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STRATEGIC IMPERATIVE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2596" y="292608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Day-3 charge must feel like a milestone, not a surprise. Trial is not a test — it is the product.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41156" y="370332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32596" y="375818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MECHANISM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2596" y="397764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Day 1/2/3 WhatsApp arc: welcome → preview → pre-charge transparency. 48h re-engagement WhatsApp for cancels.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41156" y="4754880"/>
            <a:ext cx="3393338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32596" y="4809744"/>
            <a:ext cx="3210458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OUTCOME (30D)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32596" y="5029200"/>
            <a:ext cx="321045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Trial → Paid lifts from 71% → 88%+. 47 churned users get a 15–20% reactivation.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4320" y="5943600"/>
            <a:ext cx="11643055" cy="41148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60" y="5943600"/>
            <a:ext cx="1146017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PILLAR 2 STRATEGIC TAKEAWAY  ·  Trust is not a feature; it is the product. Each pillar reduces a different fear, at a different moment, in a different language.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Maister, Green &amp; Galford — The Trusted Advisor (2000) | adapted for consumer spiritual subscriptions | Team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88% of every leak sits in steps 2 and 3 — fixing them costs ₹0 in ad spend, takes 30 days, 4–5×'s revenue at constant traffic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685800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68580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FUNNEL DIAGNOSTIC — TODAY VS BENCHMARK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417320"/>
            <a:ext cx="6675120" cy="393192"/>
          </a:xfrm>
          <a:prstGeom prst="rect">
            <a:avLst/>
          </a:prstGeom>
          <a:solidFill>
            <a:srgbClr val="B55512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417320"/>
            <a:ext cx="22402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1417320"/>
            <a:ext cx="13258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TODAY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1417320"/>
            <a:ext cx="7315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CONV.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1417320"/>
            <a:ext cx="11887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1417320"/>
            <a:ext cx="11887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1810512"/>
            <a:ext cx="6675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0512"/>
            <a:ext cx="22402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Instagram → Website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810512"/>
            <a:ext cx="13258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192K followers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40" y="1810512"/>
            <a:ext cx="7315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2.7%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9160" y="1810512"/>
            <a:ext cx="11887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5–8%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1874520"/>
            <a:ext cx="1005840" cy="265176"/>
          </a:xfrm>
          <a:prstGeom prst="roundRect">
            <a:avLst>
              <a:gd name="adj" fmla="val 50000"/>
            </a:avLst>
          </a:prstGeom>
          <a:solidFill>
            <a:srgbClr val="B02C2C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1874520"/>
            <a:ext cx="1005840" cy="2651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2203704"/>
            <a:ext cx="6675120" cy="393192"/>
          </a:xfrm>
          <a:prstGeom prst="rect">
            <a:avLst/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2203704"/>
            <a:ext cx="22402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Homepage → Form visit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2203704"/>
            <a:ext cx="13258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5,239 → 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77640" y="2203704"/>
            <a:ext cx="7315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18.2%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2203704"/>
            <a:ext cx="11887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35–45%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0" y="2267712"/>
            <a:ext cx="1005840" cy="265176"/>
          </a:xfrm>
          <a:prstGeom prst="roundRect">
            <a:avLst>
              <a:gd name="adj" fmla="val 50000"/>
            </a:avLst>
          </a:prstGeom>
          <a:solidFill>
            <a:srgbClr val="B02C2C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0" y="2267712"/>
            <a:ext cx="1005840" cy="2651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2596896"/>
            <a:ext cx="6675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2596896"/>
            <a:ext cx="22402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Form visit → Trial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2596896"/>
            <a:ext cx="13258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952 → 163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40" y="2596896"/>
            <a:ext cx="7315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17.1%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2596896"/>
            <a:ext cx="11887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40–55%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2660904"/>
            <a:ext cx="1005840" cy="265176"/>
          </a:xfrm>
          <a:prstGeom prst="roundRect">
            <a:avLst>
              <a:gd name="adj" fmla="val 50000"/>
            </a:avLst>
          </a:prstGeom>
          <a:solidFill>
            <a:srgbClr val="B02C2C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0" y="2660904"/>
            <a:ext cx="1005840" cy="2651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2990088"/>
            <a:ext cx="6675120" cy="393192"/>
          </a:xfrm>
          <a:prstGeom prst="rect">
            <a:avLst/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2990088"/>
            <a:ext cx="22402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Trial → Paid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51760" y="2990088"/>
            <a:ext cx="13258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163 → 116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77640" y="2990088"/>
            <a:ext cx="7315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71.2%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60" y="2990088"/>
            <a:ext cx="11887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80–90%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43600" y="3054096"/>
            <a:ext cx="1005840" cy="265176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0" y="3054096"/>
            <a:ext cx="1005840" cy="2651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IMPROVE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383280"/>
            <a:ext cx="66751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3383280"/>
            <a:ext cx="22402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Paid → Retained (30-day)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51760" y="3383280"/>
            <a:ext cx="132588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116 active / 47 churned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77640" y="3383280"/>
            <a:ext cx="7315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71.2%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9160" y="3383280"/>
            <a:ext cx="1188720" cy="3931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85–92%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0" y="3447288"/>
            <a:ext cx="1005840" cy="265176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3447288"/>
            <a:ext cx="1005840" cy="26517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IMPROVE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69480" y="868680"/>
            <a:ext cx="461772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9480" y="960120"/>
            <a:ext cx="461772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THREE LEAKS · THREE ROOT CAUSES · THREE FIXES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06640" y="1371600"/>
            <a:ext cx="868680" cy="777240"/>
          </a:xfrm>
          <a:prstGeom prst="roundRect">
            <a:avLst>
              <a:gd name="adj" fmla="val 20000"/>
            </a:avLst>
          </a:prstGeom>
          <a:solidFill>
            <a:srgbClr val="B55512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6640" y="1371600"/>
            <a:ext cx="86868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E0A03A"/>
                </a:solidFill>
                <a:latin typeface="Calibri"/>
              </a:rPr>
              <a:t>LEAK 01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366760" y="1371600"/>
            <a:ext cx="3429000" cy="7772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58200" y="1399032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Homepage → Form  ·  82% drop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1645920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ROOT  ·  Page does too much. Form below the fold. Generic hero.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58200" y="1874520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FIX  ·  Single-purpose page · form above fold · sample message preview.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06640" y="2212848"/>
            <a:ext cx="868680" cy="777240"/>
          </a:xfrm>
          <a:prstGeom prst="roundRect">
            <a:avLst>
              <a:gd name="adj" fmla="val 20000"/>
            </a:avLst>
          </a:prstGeom>
          <a:solidFill>
            <a:srgbClr val="B55512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06640" y="2212848"/>
            <a:ext cx="86868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E0A03A"/>
                </a:solidFill>
                <a:latin typeface="Calibri"/>
              </a:rPr>
              <a:t>LEAK 02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366760" y="2212848"/>
            <a:ext cx="3429000" cy="7772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458200" y="2240280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Form → Trial  ·  83% drop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58200" y="2487168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ROOT  ·  ₹5 UPI mandate scares spiritually-motivated users.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58200" y="2715768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FIX  ·  Bilingual mandate explainer · trust badges · A/B remove mandate.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06640" y="3054096"/>
            <a:ext cx="868680" cy="777240"/>
          </a:xfrm>
          <a:prstGeom prst="roundRect">
            <a:avLst>
              <a:gd name="adj" fmla="val 20000"/>
            </a:avLst>
          </a:prstGeom>
          <a:solidFill>
            <a:srgbClr val="B55512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06640" y="3054096"/>
            <a:ext cx="86868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E0A03A"/>
                </a:solidFill>
                <a:latin typeface="Calibri"/>
              </a:rPr>
              <a:t>LEAK 03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66760" y="3054096"/>
            <a:ext cx="3429000" cy="7772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58200" y="3081528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Trial → Paid  ·  29% churn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58200" y="3328416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ROOT  ·  Day-3 charge surprises users; &lt;3 days of value experienced.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3557016"/>
            <a:ext cx="3246120" cy="2468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FIX  ·  Day 1/2/3 WhatsApp arc · pre-charge transparency · 48h re-engage.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4023360"/>
            <a:ext cx="11643055" cy="2240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4320" y="4114800"/>
            <a:ext cx="11643055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TRIAL ACTIVATION ARC — A 3-DAY WHATSAPP SEQUENCE THAT EARNS THE ₹79 CHARGE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508760" y="5074920"/>
            <a:ext cx="9098280" cy="54864"/>
          </a:xfrm>
          <a:prstGeom prst="rect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325880" y="4937760"/>
            <a:ext cx="365760" cy="365760"/>
          </a:xfrm>
          <a:prstGeom prst="ellipse">
            <a:avLst/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25880" y="4937760"/>
            <a:ext cx="3657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0A03A"/>
                </a:solidFill>
                <a:latin typeface="Calibr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7220" y="4526280"/>
            <a:ext cx="1783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4A2418"/>
                </a:solidFill>
                <a:latin typeface="Calibri"/>
              </a:rPr>
              <a:t>SIGN-UP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7220" y="5349240"/>
            <a:ext cx="17830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T = 0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7220" y="5623560"/>
            <a:ext cx="1783080" cy="86868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62940" y="5641848"/>
            <a:ext cx="1691640" cy="8321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Instant WhatsApp:</a:t>
            </a:r>
          </a:p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"Your Gita journey starts tomorrow at 8 AM 🙏"</a:t>
            </a:r>
          </a:p>
        </p:txBody>
      </p:sp>
      <p:sp>
        <p:nvSpPr>
          <p:cNvPr id="91" name="Oval 90"/>
          <p:cNvSpPr/>
          <p:nvPr/>
        </p:nvSpPr>
        <p:spPr>
          <a:xfrm>
            <a:off x="3600450" y="4937760"/>
            <a:ext cx="365760" cy="365760"/>
          </a:xfrm>
          <a:prstGeom prst="ellipse">
            <a:avLst/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00450" y="4937760"/>
            <a:ext cx="3657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0A03A"/>
                </a:solidFill>
                <a:latin typeface="Calibri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91790" y="4526280"/>
            <a:ext cx="1783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4A2418"/>
                </a:solidFill>
                <a:latin typeface="Calibri"/>
              </a:rPr>
              <a:t>DAY 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891790" y="5349240"/>
            <a:ext cx="17830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8 AM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891790" y="5623560"/>
            <a:ext cx="1783080" cy="86868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937510" y="5641848"/>
            <a:ext cx="1691640" cy="8321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First shlok + permission to explore.</a:t>
            </a:r>
          </a:p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"For 3 days, this is completely free."</a:t>
            </a:r>
          </a:p>
        </p:txBody>
      </p:sp>
      <p:sp>
        <p:nvSpPr>
          <p:cNvPr id="97" name="Oval 96"/>
          <p:cNvSpPr/>
          <p:nvPr/>
        </p:nvSpPr>
        <p:spPr>
          <a:xfrm>
            <a:off x="5875020" y="4937760"/>
            <a:ext cx="365760" cy="365760"/>
          </a:xfrm>
          <a:prstGeom prst="ellipse">
            <a:avLst/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875020" y="4937760"/>
            <a:ext cx="3657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0A03A"/>
                </a:solidFill>
                <a:latin typeface="Calibri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66360" y="4526280"/>
            <a:ext cx="1783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4A2418"/>
                </a:solidFill>
                <a:latin typeface="Calibri"/>
              </a:rPr>
              <a:t>DAY 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66360" y="5349240"/>
            <a:ext cx="17830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8 AM + 7 PM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166360" y="5623560"/>
            <a:ext cx="1783080" cy="86868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212080" y="5641848"/>
            <a:ext cx="1691640" cy="8321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Shlok + evening preview of next 5 shlokas.</a:t>
            </a:r>
          </a:p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Annual upsell teaser appears here.</a:t>
            </a:r>
          </a:p>
        </p:txBody>
      </p:sp>
      <p:sp>
        <p:nvSpPr>
          <p:cNvPr id="103" name="Oval 102"/>
          <p:cNvSpPr/>
          <p:nvPr/>
        </p:nvSpPr>
        <p:spPr>
          <a:xfrm>
            <a:off x="8149590" y="4937760"/>
            <a:ext cx="365760" cy="365760"/>
          </a:xfrm>
          <a:prstGeom prst="ellipse">
            <a:avLst/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149590" y="4937760"/>
            <a:ext cx="3657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0A03A"/>
                </a:solidFill>
                <a:latin typeface="Calibri"/>
              </a:rP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40930" y="4526280"/>
            <a:ext cx="1783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4A2418"/>
                </a:solidFill>
                <a:latin typeface="Calibri"/>
              </a:rPr>
              <a:t>DAY 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40930" y="5349240"/>
            <a:ext cx="17830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PRE-CHARGE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440930" y="5623560"/>
            <a:ext cx="1783080" cy="86868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486650" y="5641848"/>
            <a:ext cx="1691640" cy="8321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"Trial ends today. ₹79 will be charged.</a:t>
            </a:r>
          </a:p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Reply STOP to cancel."</a:t>
            </a:r>
          </a:p>
        </p:txBody>
      </p:sp>
      <p:sp>
        <p:nvSpPr>
          <p:cNvPr id="109" name="Oval 108"/>
          <p:cNvSpPr/>
          <p:nvPr/>
        </p:nvSpPr>
        <p:spPr>
          <a:xfrm>
            <a:off x="10424160" y="4937760"/>
            <a:ext cx="365760" cy="365760"/>
          </a:xfrm>
          <a:prstGeom prst="ellipse">
            <a:avLst/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424160" y="4937760"/>
            <a:ext cx="3657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E0A03A"/>
                </a:solidFill>
                <a:latin typeface="Calibri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15500" y="4526280"/>
            <a:ext cx="17830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4A2418"/>
                </a:solidFill>
                <a:latin typeface="Calibri"/>
              </a:rPr>
              <a:t>CANCEL?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15500" y="5349240"/>
            <a:ext cx="17830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T + 48H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715500" y="5623560"/>
            <a:ext cx="1783080" cy="86868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61220" y="5641848"/>
            <a:ext cx="1691640" cy="83210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Re-engagement WhatsApp: "Your spot is</a:t>
            </a:r>
          </a:p>
          <a:p>
            <a:pPr algn="ctr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still here." 15–20% reactivation.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4320" y="6355080"/>
            <a:ext cx="11643055" cy="41148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65760" y="6355080"/>
            <a:ext cx="1146017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PILLAR 3 STRATEGIC TAKEAWAY  ·  88% of every leak sits in steps 2 and 3. Fixing them costs ₹0 in ad spend, takes 30 days, and 4–5x's revenue at constant traffic.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case data | Razorpay UPI mandate UX research | ManyChat Instagram automation conversion benchmarks | Team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Today's homepage misses target on every Core Web Vital, every engagement signal, AND every conversion principle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5852160" cy="2423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58521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PERFORMANCE &amp; ENGAGEMENT — TODAY VS TARGET</a:t>
            </a:r>
          </a:p>
        </p:txBody>
      </p:sp>
      <p:pic>
        <p:nvPicPr>
          <p:cNvPr id="21" name="Picture 20" descr="homepage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577840" cy="192024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263640" y="868680"/>
            <a:ext cx="5669280" cy="2423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960120"/>
            <a:ext cx="566928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SPECIFIC ISSUES IDENTIFIED IN THE BRIEF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325880"/>
            <a:ext cx="5394960" cy="23774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1325880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LCP at 3.9s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1325880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vs 2.5s target  ·  −7–10% conversion per second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581912"/>
            <a:ext cx="5394960" cy="23774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581912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Avg scroll depth 51.95%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581912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form below fold; most users never see CTA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837944"/>
            <a:ext cx="5394960" cy="23774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837944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Avg active time 45 seconds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1837944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Bounce-rate proxy; insufficient to absorb 4 CTAs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2093976"/>
            <a:ext cx="5394960" cy="23774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2093976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129 sessions hit JS error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2093976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1.86% of all sessions  ·  "undefined is not an object"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350008"/>
            <a:ext cx="5394960" cy="23774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350008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4 competing CTAs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2350008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Subscribe / Explore Chapters / Explore Teachings / Start Learning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2606040"/>
            <a:ext cx="5394960" cy="23774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2606040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Social-proof contradiction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2606040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"Join 4,000+" vs "Join 12,000+" on the same page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2862072"/>
            <a:ext cx="5394960" cy="23774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2862072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Generic hero tagline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2862072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"Ancient Wisdom, Timeless Truth" says nothing about the product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3118104"/>
            <a:ext cx="5394960" cy="23774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118104"/>
            <a:ext cx="201168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No sample message preview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3118104"/>
            <a:ext cx="3200400" cy="23774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User cannot feel the product before paying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429000"/>
            <a:ext cx="11643055" cy="2788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3520440"/>
            <a:ext cx="11643055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BEFORE VS AFTER — HOMEPAGE WIREFRAME (MOBILE)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3931920"/>
            <a:ext cx="237744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B0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57200" y="3931920"/>
            <a:ext cx="2377440" cy="274320"/>
          </a:xfrm>
          <a:prstGeom prst="roundRect">
            <a:avLst>
              <a:gd name="adj" fmla="val 20000"/>
            </a:avLst>
          </a:prstGeom>
          <a:solidFill>
            <a:srgbClr val="B0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3931920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TODAY  ·  GENERIC + CLUTTERED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4297680"/>
            <a:ext cx="2194560" cy="64008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297680"/>
            <a:ext cx="219456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7A6555"/>
                </a:solidFill>
                <a:latin typeface="Calibri"/>
              </a:rPr>
              <a:t>"Ancient Wisdom,</a:t>
            </a:r>
          </a:p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7A6555"/>
                </a:solidFill>
                <a:latin typeface="Calibri"/>
              </a:rPr>
              <a:t>Timeless Truth"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02920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029200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Subscribe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645920" y="502920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45920" y="5029200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Explore Chapters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30352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303520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Explore Teachings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645920" y="5303520"/>
            <a:ext cx="1005840" cy="228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45920" y="5303520"/>
            <a:ext cx="1005840" cy="2286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Start Learning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5623560"/>
            <a:ext cx="21945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B02C2C"/>
                </a:solidFill>
                <a:latin typeface="Calibri"/>
              </a:rPr>
              <a:t>"Join 4,000+"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5806439"/>
            <a:ext cx="21945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B02C2C"/>
                </a:solidFill>
                <a:latin typeface="Calibri"/>
              </a:rPr>
              <a:t>"Join 12,000+" (CONFLICT)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5943600"/>
            <a:ext cx="21945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1">
                <a:solidFill>
                  <a:srgbClr val="B02C2C"/>
                </a:solidFill>
                <a:latin typeface="Calibri"/>
              </a:rPr>
              <a:t>↓  Form below fold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017520" y="3931920"/>
            <a:ext cx="237744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017520" y="3931920"/>
            <a:ext cx="2377440" cy="274320"/>
          </a:xfrm>
          <a:prstGeom prst="roundRect">
            <a:avLst>
              <a:gd name="adj" fmla="val 20000"/>
            </a:avLst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017520" y="3931920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AFTER  ·  SINGLE-PURPOSE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08960" y="4297680"/>
            <a:ext cx="2194560" cy="59436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08960" y="4297680"/>
            <a:ext cx="219456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"One shlok every morning on WhatsApp — explained for your life today."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08960" y="4983480"/>
            <a:ext cx="2194560" cy="502920"/>
          </a:xfrm>
          <a:prstGeom prst="roundRect">
            <a:avLst>
              <a:gd name="adj" fmla="val 10000"/>
            </a:avLst>
          </a:prstGeom>
          <a:solidFill>
            <a:srgbClr val="057A55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08960" y="4983480"/>
            <a:ext cx="21945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Sample WhatsApp preview</a:t>
            </a:r>
          </a:p>
          <a:p>
            <a:pPr algn="ctr">
              <a:lnSpc>
                <a:spcPct val="115000"/>
              </a:lnSpc>
            </a:pPr>
            <a:r>
              <a:rPr sz="750" b="0" i="1">
                <a:solidFill>
                  <a:srgbClr val="FFFFFF"/>
                </a:solidFill>
                <a:latin typeface="Calibri"/>
              </a:rPr>
              <a:t>shown next to the form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91840" y="5577840"/>
            <a:ext cx="1828800" cy="274320"/>
          </a:xfrm>
          <a:prstGeom prst="roundRect">
            <a:avLst>
              <a:gd name="adj" fmla="val 3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91840" y="5577840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Get today's shlok →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08960" y="5897880"/>
            <a:ext cx="2194560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057A55"/>
                </a:solidFill>
                <a:latin typeface="Calibri"/>
              </a:rPr>
              <a:t>Single social proof: "12,000+ seekers"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77840" y="3931920"/>
            <a:ext cx="626364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77840" y="3977640"/>
            <a:ext cx="62636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ALL HOMEPAGE FIXES — RANKED BY IMPACT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715000" y="4297680"/>
            <a:ext cx="5989320" cy="246888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760720" y="4334256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60720" y="4334256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FIX 01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55080" y="4297680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Move subscribe form ABOVE the fold (mobile-first)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98280" y="4297680"/>
            <a:ext cx="2606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Recovers 30%+ of users who never reach CTA today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715000" y="4562856"/>
            <a:ext cx="5989320" cy="246888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760720" y="4599432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4599432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FIX 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5080" y="4562856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Replace hero with specific benefit-first promise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98280" y="4562856"/>
            <a:ext cx="2606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"One shlok from the Gita, every morning on WhatsApp — explained for your life today"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715000" y="4828032"/>
            <a:ext cx="5989320" cy="246888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760720" y="4864608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60720" y="4864608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FIX 03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55080" y="4828032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Kill 3 competing CTAs — keep ONLY Subscribe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98280" y="4828032"/>
            <a:ext cx="2606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Single-purpose page; recover 18%+ attention loss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715000" y="5093208"/>
            <a:ext cx="5989320" cy="246888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5760720" y="5129784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760720" y="5129784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FIX 04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55080" y="5093208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Show real WhatsApp message mock-up next to CTA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98280" y="5093208"/>
            <a:ext cx="2606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Lets users feel the product before paying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715000" y="5358384"/>
            <a:ext cx="5989320" cy="246888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760720" y="5394960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760720" y="5394960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FIX 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55080" y="5358384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Reconcile social proof — pick ONE number, use everywhere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98280" y="5358384"/>
            <a:ext cx="2606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Eliminates trust-killing contradiction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715000" y="5623560"/>
            <a:ext cx="5989320" cy="246888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760720" y="5660136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60720" y="5660136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FIX 06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55080" y="5623560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Compress hero image · target LCP &lt; 2.5s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98280" y="5623560"/>
            <a:ext cx="2606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1-second LCP improvement = 7–10% mobile conversion lift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715000" y="5888736"/>
            <a:ext cx="5989320" cy="246888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5760720" y="5925312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760720" y="5925312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FIX 07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55080" y="5888736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Resolve "undefined is not an object" JS error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98280" y="5888736"/>
            <a:ext cx="2606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129 sessions/month lost to error; recover 100%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715000" y="6153912"/>
            <a:ext cx="5989320" cy="246888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60720" y="6190488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60720" y="6190488"/>
            <a:ext cx="50292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FIX 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55080" y="6153912"/>
            <a:ext cx="26974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Move Gita resources to POST-subscribe experience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098280" y="6153912"/>
            <a:ext cx="2606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Free resources stop being a "reason not to pay"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case data (LCP 3.9s, scroll 51.95%, JS error rate 1.86%) | Google Web Vitals benchmarks | Nielsen Norman Group: "single-CTA pages convert 30%+ better"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Today, Instagram delivers what subscribers pay for — close the value gap and Instagram becomes a tease, not a substitute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11643055" cy="2240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11643055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FREE VS PAID CONTENT ARCHITECTURE — THE 5-DIMENSION VALUE 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371600"/>
            <a:ext cx="3520440" cy="329184"/>
          </a:xfrm>
          <a:prstGeom prst="rect">
            <a:avLst/>
          </a:prstGeom>
          <a:solidFill>
            <a:srgbClr val="4A2418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9080" y="1371600"/>
            <a:ext cx="3977639" cy="329184"/>
          </a:xfrm>
          <a:prstGeom prst="rect">
            <a:avLst/>
          </a:prstGeom>
          <a:solidFill>
            <a:srgbClr val="D96B1E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2440" y="1371600"/>
            <a:ext cx="3749039" cy="329184"/>
          </a:xfrm>
          <a:prstGeom prst="rect">
            <a:avLst/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1371600"/>
            <a:ext cx="35204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DIMENSION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1371600"/>
            <a:ext cx="39776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FREE  ·  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1371600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PAID  ·  WhatsApp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1700784"/>
            <a:ext cx="1133856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1700784"/>
            <a:ext cx="35204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A1A0F"/>
                </a:solidFill>
                <a:latin typeface="Calibri"/>
              </a:rPr>
              <a:t>Content depth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1700784"/>
            <a:ext cx="39776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6555"/>
                </a:solidFill>
                <a:latin typeface="Calibri"/>
              </a:rPr>
              <a:t>Shlok image / verse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1700784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55512"/>
                </a:solidFill>
                <a:latin typeface="Calibri"/>
              </a:rPr>
              <a:t>Shlok + meaning + life application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029968"/>
            <a:ext cx="11338560" cy="329184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029968"/>
            <a:ext cx="35204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A1A0F"/>
                </a:solidFill>
                <a:latin typeface="Calibri"/>
              </a:rPr>
              <a:t>Personalization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2029968"/>
            <a:ext cx="39776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6555"/>
                </a:solidFill>
                <a:latin typeface="Calibri"/>
              </a:rPr>
              <a:t>One-to-many caption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80" y="2029968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55512"/>
                </a:solidFill>
                <a:latin typeface="Calibri"/>
              </a:rPr>
              <a:t>Reflection tied to today's verse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359152"/>
            <a:ext cx="1133856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2359152"/>
            <a:ext cx="35204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A1A0F"/>
                </a:solidFill>
                <a:latin typeface="Calibri"/>
              </a:rPr>
              <a:t>Cadence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20" y="2359152"/>
            <a:ext cx="39776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6555"/>
                </a:solidFill>
                <a:latin typeface="Calibri"/>
              </a:rPr>
              <a:t>Variable, algorithm-led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2359152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55512"/>
                </a:solidFill>
                <a:latin typeface="Calibri"/>
              </a:rPr>
              <a:t>8 AM, every morning. No exceptions.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2688336"/>
            <a:ext cx="11338560" cy="329184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688336"/>
            <a:ext cx="35204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A1A0F"/>
                </a:solidFill>
                <a:latin typeface="Calibri"/>
              </a:rPr>
              <a:t>Relationship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2688336"/>
            <a:ext cx="39776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6555"/>
                </a:solidFill>
                <a:latin typeface="Calibri"/>
              </a:rPr>
              <a:t>Public broadcast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80" y="2688336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55512"/>
                </a:solidFill>
                <a:latin typeface="Calibri"/>
              </a:rPr>
              <a:t>Private, ritual, companion-like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017520"/>
            <a:ext cx="1133856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3017520"/>
            <a:ext cx="35204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A1A0F"/>
                </a:solidFill>
                <a:latin typeface="Calibri"/>
              </a:rPr>
              <a:t>Discoverability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0520" y="3017520"/>
            <a:ext cx="39776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A6555"/>
                </a:solidFill>
                <a:latin typeface="Calibri"/>
              </a:rPr>
              <a:t>Anyone can find 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3017520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B55512"/>
                </a:solidFill>
                <a:latin typeface="Calibri"/>
              </a:rPr>
              <a:t>Curated channel just for you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4320" y="3246120"/>
            <a:ext cx="11643055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3337560"/>
            <a:ext cx="11643055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FIVE CONTENT CAMPAIGNS RANKED BY EXPECTED IMPACT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3749039"/>
            <a:ext cx="11460175" cy="310896"/>
          </a:xfrm>
          <a:prstGeom prst="rect">
            <a:avLst/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749039"/>
            <a:ext cx="41148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3749039"/>
            <a:ext cx="32461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CAMPAIGN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9080" y="3749039"/>
            <a:ext cx="379476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MECHANIC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3749039"/>
            <a:ext cx="274320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EXPECTED IMPACT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7040" y="3749039"/>
            <a:ext cx="128016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059935"/>
            <a:ext cx="11460175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4059935"/>
            <a:ext cx="4114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55512"/>
                </a:solidFill>
                <a:latin typeface="Calibri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4059935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What is Krishna saying about your life right now?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4059935"/>
            <a:ext cx="37947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Story poll: career / relationships / overthinking / lost. Auto-DM relevant shlok + trial link.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4059935"/>
            <a:ext cx="2743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7A6555"/>
                </a:solidFill>
                <a:latin typeface="Calibri"/>
              </a:rPr>
              <a:t>Warms cold leads, creates personalization signal, drives trial intent.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07040" y="4059935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0A03A"/>
                </a:solidFill>
                <a:latin typeface="Calibri"/>
              </a:rPr>
              <a:t>★★★★★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517135"/>
            <a:ext cx="11460175" cy="45720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4517135"/>
            <a:ext cx="4114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55512"/>
                </a:solidFill>
                <a:latin typeface="Calibri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4517135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Subscriber Before &amp; After Reels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9080" y="4517135"/>
            <a:ext cx="37947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1-line testimonials from active 116. Format: situation → shlok → outcome.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4517135"/>
            <a:ext cx="2743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7A6555"/>
                </a:solidFill>
                <a:latin typeface="Calibri"/>
              </a:rPr>
              <a:t>Native social proof, 2–3× reach uplift on platform.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4517135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0A03A"/>
                </a:solidFill>
                <a:latin typeface="Calibri"/>
              </a:rPr>
              <a:t>★★★★☆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974335"/>
            <a:ext cx="11460175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4974335"/>
            <a:ext cx="4114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55512"/>
                </a:solidFill>
                <a:latin typeface="Calibri"/>
              </a:rPr>
              <a:t>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4974335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"Gita for [situation]" series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69080" y="4974335"/>
            <a:ext cx="37947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Anxiety, exams, heartbreak, Monday morning, quitting job. Shareable + searchable.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4974335"/>
            <a:ext cx="2743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7A6555"/>
                </a:solidFill>
                <a:latin typeface="Calibri"/>
              </a:rPr>
              <a:t>Drives both follower growth AND trial intent simultaneously.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0" y="4974335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0A03A"/>
                </a:solidFill>
                <a:latin typeface="Calibri"/>
              </a:rPr>
              <a:t>★★★★☆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5431535"/>
            <a:ext cx="11460175" cy="45720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1480" y="5431535"/>
            <a:ext cx="4114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55512"/>
                </a:solidFill>
                <a:latin typeface="Calibri"/>
              </a:rPr>
              <a:t>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" y="5431535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200K Milestone Unlock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69080" y="5431535"/>
            <a:ext cx="37947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First 200 to DM 'GITA200' get 1 month free. PR pitch to spiritual media.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863840" y="5431535"/>
            <a:ext cx="2743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7A6555"/>
                </a:solidFill>
                <a:latin typeface="Calibri"/>
              </a:rPr>
              <a:t>Urgency, DM automation opt-ins, brand authority moment.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07040" y="5431535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0A03A"/>
                </a:solidFill>
                <a:latin typeface="Calibri"/>
              </a:rPr>
              <a:t>★★★☆☆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5888735"/>
            <a:ext cx="11460175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5888735"/>
            <a:ext cx="41148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B55512"/>
                </a:solidFill>
                <a:latin typeface="Calibri"/>
              </a:rPr>
              <a:t>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" y="5888735"/>
            <a:ext cx="32461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2A1A0F"/>
                </a:solidFill>
                <a:latin typeface="Calibri"/>
              </a:rPr>
              <a:t>Festival gifting (Navratri / Diwali / birthdays)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80" y="5888735"/>
            <a:ext cx="37947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Dedicated gift sub page. Spiritual gifting is real and underserved in India.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5888735"/>
            <a:ext cx="27432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1">
                <a:solidFill>
                  <a:srgbClr val="7A6555"/>
                </a:solidFill>
                <a:latin typeface="Calibri"/>
              </a:rPr>
              <a:t>100–200 subs/single push  ·  Near-zero CAC at festival times.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607040" y="5888735"/>
            <a:ext cx="128016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E0A03A"/>
                </a:solidFill>
                <a:latin typeface="Calibri"/>
              </a:rPr>
              <a:t>★★★★☆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Instagram analytics | Story poll → DM auto-conversion benchmarks (ManyChat) | Festival gifting volumes — RedSeer 2024 spiritual e-commerce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9× top-of-funnel lift required — sequence 5 channels by cost; never run paid before homepage converts &gt; 8%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7498079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7498079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THE 5-NODE CHANNEL EFFICIENCY MATRIX  ·  TARGET BLENDED CAC &lt; ₹150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417320"/>
            <a:ext cx="7132320" cy="310896"/>
          </a:xfrm>
          <a:prstGeom prst="rect">
            <a:avLst/>
          </a:prstGeom>
          <a:solidFill>
            <a:srgbClr val="B55512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1417320"/>
            <a:ext cx="182880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ACQUISITION CHANNEL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1417320"/>
            <a:ext cx="370332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STRATEGIC MECHANISM &amp; MESSAGING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417320"/>
            <a:ext cx="77724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417320"/>
            <a:ext cx="822960" cy="3108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TARGET CAC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1728216"/>
            <a:ext cx="7132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1728216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DM AUTOMATION (INSTAGRAM)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1728216"/>
            <a:ext cx="3703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ManyChat "GITA" trigger → auto-DM with form link. 30–45% comment→form vs 1–2% bio link.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1728216"/>
            <a:ext cx="7772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1728216"/>
            <a:ext cx="8229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139696"/>
            <a:ext cx="7132320" cy="411480"/>
          </a:xfrm>
          <a:prstGeom prst="rect">
            <a:avLst/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2139696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DAILY REELS + YT SHORTS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2139696"/>
            <a:ext cx="3703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1 Reel/day on "Gita for [anxiety / exam / heartbreak]". Cross-post to Shorts for older buyers.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139696"/>
            <a:ext cx="7772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2139696"/>
            <a:ext cx="8229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551176"/>
            <a:ext cx="7132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2551176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MICRO-CREATOR COLLABS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31720" y="2551176"/>
            <a:ext cx="3703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20–30 spiritual creators (100K–500K). 30-day free trial. One collab → 500–1,000 trials.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2551176"/>
            <a:ext cx="7772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2551176"/>
            <a:ext cx="8229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962656"/>
            <a:ext cx="7132320" cy="411480"/>
          </a:xfrm>
          <a:prstGeom prst="rect">
            <a:avLst/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2962656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WHATSAPP VIRAL LOOP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31720" y="2962656"/>
            <a:ext cx="3703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Every daily message: "Forward to someone who needs this 🙏". Shareable short link.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2962656"/>
            <a:ext cx="7772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2962656"/>
            <a:ext cx="8229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374136"/>
            <a:ext cx="713232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374136"/>
            <a:ext cx="18288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META CTWA  ·  AFTER M2 ONLY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3374136"/>
            <a:ext cx="370332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Click-to-WhatsApp ads. Lookalike of paid base. Hindi spiritual interests, T1+T2 cities.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374136"/>
            <a:ext cx="77724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80%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3374136"/>
            <a:ext cx="8229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₹150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60" y="868680"/>
            <a:ext cx="402336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09560" y="960120"/>
            <a:ext cx="40233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DUAL VIRAL LOOPS  ·  TARGET K &gt; 1.2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46720" y="132588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158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38160" y="1362456"/>
            <a:ext cx="3566159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55512"/>
                </a:solidFill>
                <a:latin typeface="Calibri"/>
              </a:rPr>
              <a:t>STRATEGIC IMPERATIVE </a:t>
            </a:r>
            <a:r>
              <a:rPr sz="900">
                <a:solidFill>
                  <a:srgbClr val="2A1A0F"/>
                </a:solidFill>
                <a:latin typeface="Calibri"/>
              </a:rPr>
              <a:t>Every 10 acquired subscribers must organically generate 12+ more.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20" y="1920240"/>
            <a:ext cx="3749039" cy="86868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92440" y="1965960"/>
            <a:ext cx="36576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LOOP A · WHATSAPP FORWARD-LOOP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2194560"/>
            <a:ext cx="365760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Daily message ends with "Forward to someone who needs this 🙏". 116 active users × 28 days = 3,248 send-touches/month potential.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46720" y="2880360"/>
            <a:ext cx="3749039" cy="86868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92440" y="2926080"/>
            <a:ext cx="36576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LOOP B · CREATOR-AUDIENCE BORROW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2440" y="3154680"/>
            <a:ext cx="365760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30-day free trial offered to micro-creator audiences. One quality collab → 500–1,000 trials at zero CAC.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4023360"/>
            <a:ext cx="7498079" cy="2240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4320" y="4114800"/>
            <a:ext cx="7498079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BUDGET VS TRIALS — 80% OF TRIALS COME FROM 0% OF BUDGET</a:t>
            </a:r>
          </a:p>
        </p:txBody>
      </p:sp>
      <p:pic>
        <p:nvPicPr>
          <p:cNvPr id="63" name="Picture 62" descr="channel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34840"/>
            <a:ext cx="7132320" cy="1783080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7909560" y="4023360"/>
            <a:ext cx="4023360" cy="2240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09560" y="4114800"/>
            <a:ext cx="40233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PER-SUB UNIT ECONOMICS  ·  Y1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46720" y="4434840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434840"/>
            <a:ext cx="242316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Revenue/sub/year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61320" y="4434840"/>
            <a:ext cx="10972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₹948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046720" y="4700016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38160" y="4700016"/>
            <a:ext cx="242316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Annual blend (avg)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61320" y="4700016"/>
            <a:ext cx="10972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₹823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46720" y="4965192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38160" y="4965192"/>
            <a:ext cx="242316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Blended CAC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61320" y="4965192"/>
            <a:ext cx="10972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₹125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46720" y="5230368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38160" y="5230368"/>
            <a:ext cx="242316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Payback period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561320" y="5230368"/>
            <a:ext cx="10972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1.6 mo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5495544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38160" y="5495544"/>
            <a:ext cx="242316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LTV @ 8% churn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561320" y="5495544"/>
            <a:ext cx="10972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₹987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46720" y="5760720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138160" y="5760720"/>
            <a:ext cx="242316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LTV / CAC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61320" y="5760720"/>
            <a:ext cx="109728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7.9×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74320" y="6355080"/>
            <a:ext cx="11643055" cy="41148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355080"/>
            <a:ext cx="1146017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PILLAR 4 STRATEGIC TAKEAWAY  ·  Acquisition is structurally cheap (80% organic), demand-elastic (creators), self-reinforcing (forward loop). Paid is the last lever, not the first.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case | ManyChat IG conversion data (2024) | Meta India CTWA benchmarks | Sequoia India Subscription Unit Economics Guide | Team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₹79 is the entry-point, not the ceiling — habit + monetization-depth = ₹1.92L+ blended monthly revenue at scale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667512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667512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HOOK MODEL (NIR EYAL) — RE-ENGINEERING THE MORNING RITUAL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1325880"/>
            <a:ext cx="6355080" cy="502920"/>
          </a:xfrm>
          <a:prstGeom prst="roundRect">
            <a:avLst>
              <a:gd name="adj" fmla="val 8000"/>
            </a:avLst>
          </a:prstGeom>
          <a:solidFill>
            <a:srgbClr val="FAE0B6"/>
          </a:solidFill>
          <a:ln w="158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362456"/>
            <a:ext cx="6172200" cy="4297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55512"/>
                </a:solidFill>
                <a:latin typeface="Calibri"/>
              </a:rPr>
              <a:t>STRATEGIC IMPERATIVE </a:t>
            </a:r>
            <a:r>
              <a:rPr sz="900">
                <a:solidFill>
                  <a:srgbClr val="2A1A0F"/>
                </a:solidFill>
                <a:latin typeface="Calibri"/>
              </a:rPr>
              <a:t>Make the 8 AM shlok feel like coffee — non-negotiable, ritualistic, missed when absent.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1920240"/>
            <a:ext cx="1508760" cy="411480"/>
          </a:xfrm>
          <a:prstGeom prst="roundRect">
            <a:avLst>
              <a:gd name="adj" fmla="val 20000"/>
            </a:avLst>
          </a:prstGeom>
          <a:solidFill>
            <a:srgbClr val="B55512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1920240"/>
            <a:ext cx="1508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TRIGGER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377440"/>
            <a:ext cx="1508760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423160"/>
            <a:ext cx="132588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8 AM WhatsApp arrives. Phone vibrates with familiar sender.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920240" y="2011680"/>
            <a:ext cx="182880" cy="228600"/>
          </a:xfrm>
          <a:prstGeom prst="rightArrow">
            <a:avLst/>
          </a:prstGeom>
          <a:solidFill>
            <a:srgbClr val="4A2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057400" y="1920240"/>
            <a:ext cx="1508760" cy="411480"/>
          </a:xfrm>
          <a:prstGeom prst="roundRect">
            <a:avLst>
              <a:gd name="adj" fmla="val 20000"/>
            </a:avLst>
          </a:prstGeom>
          <a:solidFill>
            <a:srgbClr val="D96B1E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1920240"/>
            <a:ext cx="1508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57400" y="2377440"/>
            <a:ext cx="1508760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2423160"/>
            <a:ext cx="132588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User opens. 30 seconds to read shlok + meaning.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20440" y="2011680"/>
            <a:ext cx="182880" cy="228600"/>
          </a:xfrm>
          <a:prstGeom prst="rightArrow">
            <a:avLst/>
          </a:prstGeom>
          <a:solidFill>
            <a:srgbClr val="4A2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57600" y="1920240"/>
            <a:ext cx="1508760" cy="411480"/>
          </a:xfrm>
          <a:prstGeom prst="roundRect">
            <a:avLst>
              <a:gd name="adj" fmla="val 20000"/>
            </a:avLst>
          </a:prstGeom>
          <a:solidFill>
            <a:srgbClr val="E89B47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1920240"/>
            <a:ext cx="1508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REWARD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0" y="2377440"/>
            <a:ext cx="1508760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40" y="2423160"/>
            <a:ext cx="132588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Variable insight — "this happens to be exactly what I needed today."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120640" y="2011680"/>
            <a:ext cx="182880" cy="228600"/>
          </a:xfrm>
          <a:prstGeom prst="rightArrow">
            <a:avLst/>
          </a:prstGeom>
          <a:solidFill>
            <a:srgbClr val="4A2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7800" y="1920240"/>
            <a:ext cx="1508760" cy="411480"/>
          </a:xfrm>
          <a:prstGeom prst="roundRect">
            <a:avLst>
              <a:gd name="adj" fmla="val 20000"/>
            </a:avLst>
          </a:prstGeom>
          <a:solidFill>
            <a:srgbClr val="D96B1E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57800" y="1920240"/>
            <a:ext cx="1508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INVEST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2377440"/>
            <a:ext cx="1508760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9240" y="2423160"/>
            <a:ext cx="1325880" cy="10972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User reflects, screenshots, forwards → builds attachment.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246120"/>
            <a:ext cx="6400800" cy="274320"/>
          </a:xfrm>
          <a:prstGeom prst="roundRect">
            <a:avLst>
              <a:gd name="adj" fmla="val 3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3246120"/>
            <a:ext cx="63550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1">
                <a:solidFill>
                  <a:srgbClr val="FFFFFF"/>
                </a:solidFill>
                <a:latin typeface="Calibri"/>
              </a:rPr>
              <a:t>↻  THE LOOP COMPOUNDS  ·  Each completed cycle deepens habit and reduces churn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086600" y="868680"/>
            <a:ext cx="480060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86600" y="960120"/>
            <a:ext cx="48006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3-TIER LOYALTY LADDER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2500" y="1371600"/>
            <a:ext cx="1828800" cy="502920"/>
          </a:xfrm>
          <a:prstGeom prst="rect">
            <a:avLst/>
          </a:prstGeom>
          <a:solidFill>
            <a:srgbClr val="B55512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72500" y="1371600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ELITE  ·  Annual prepay + premium community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06740" y="1920240"/>
            <a:ext cx="2560320" cy="502920"/>
          </a:xfrm>
          <a:prstGeom prst="rect">
            <a:avLst/>
          </a:prstGeom>
          <a:solidFill>
            <a:srgbClr val="D96B1E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06740" y="1920240"/>
            <a:ext cx="256032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INSIDER  ·  PDF guides + Day-30 retention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40980" y="2468880"/>
            <a:ext cx="3291840" cy="502920"/>
          </a:xfrm>
          <a:prstGeom prst="rect">
            <a:avLst/>
          </a:prstGeom>
          <a:solidFill>
            <a:srgbClr val="E89B47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40980" y="2468880"/>
            <a:ext cx="32918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FFFFFF"/>
                </a:solidFill>
                <a:latin typeface="Calibri"/>
              </a:rPr>
              <a:t>MEMBER  ·  ₹79/mo daily WhatsApp shlok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75220" y="3017520"/>
            <a:ext cx="4023360" cy="502920"/>
          </a:xfrm>
          <a:prstGeom prst="rect">
            <a:avLst/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5220" y="3017520"/>
            <a:ext cx="402336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4A2418"/>
                </a:solidFill>
                <a:latin typeface="Calibri"/>
              </a:rPr>
              <a:t>FREE  ·  Instagram + sample shlok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4320" y="3657600"/>
            <a:ext cx="11643055" cy="2606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3730752"/>
            <a:ext cx="11643055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MONETIZATION STACK  ·  7 STREAMS  ·  POST-MONTH 3 BLENDED ₹1.92L+/MONTH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114800"/>
            <a:ext cx="11460175" cy="274320"/>
          </a:xfrm>
          <a:prstGeom prst="rect">
            <a:avLst/>
          </a:prstGeom>
          <a:solidFill>
            <a:srgbClr val="B55512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4114800"/>
            <a:ext cx="10058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TIER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17320" y="411480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51960" y="4114800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PRICE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0" y="4114800"/>
            <a:ext cx="7772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GO-LIVE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97880" y="411480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MONTHLY @ SCALE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4114800"/>
            <a:ext cx="4251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STRATEGIC ROLE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438912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4389120"/>
            <a:ext cx="10058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FREE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7320" y="438912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Instagram content + sample shlok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51960" y="4389120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20640" y="4389120"/>
            <a:ext cx="7772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Now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97880" y="438912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Acquisition layer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35240" y="4389120"/>
            <a:ext cx="4251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Top of funnel — feeds every paid tier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663440"/>
            <a:ext cx="11460175" cy="27432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480" y="4663440"/>
            <a:ext cx="10058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CORE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17320" y="466344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Daily WhatsApp shlok (monthly)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51960" y="4663440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₹79/mo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0" y="4663440"/>
            <a:ext cx="7772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Now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97880" y="466344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₹63,200 (800 users)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35240" y="4663440"/>
            <a:ext cx="4251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Anchor SKU, defines the ritual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5760" y="493776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4937760"/>
            <a:ext cx="10058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ANNUAL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17320" y="493776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Daily WhatsApp (annual prepay)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51960" y="4937760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₹699/yr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20640" y="4937760"/>
            <a:ext cx="7772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Month 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97880" y="493776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₹34,950 (50 users)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4937760"/>
            <a:ext cx="4251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Cuts churn to ~0%, upfront cash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5760" y="5212080"/>
            <a:ext cx="11460175" cy="27432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5212080"/>
            <a:ext cx="10058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DIGITAL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7320" y="521208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Situation PDF guides (5 topics)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51960" y="5212080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₹99–149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120640" y="5212080"/>
            <a:ext cx="7772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Month 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97880" y="521208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₹14,850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35240" y="5212080"/>
            <a:ext cx="4251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Built from 2,227 existing posts — zero COGS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48640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5486400"/>
            <a:ext cx="10058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PREMIUM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7320" y="548640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WhatsApp community + scholar Q&amp;A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51960" y="5486400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₹199/mo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120640" y="5486400"/>
            <a:ext cx="7772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Month 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97880" y="548640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₹19,900 (100 users)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635240" y="5486400"/>
            <a:ext cx="4251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Gates community, drives status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5760720"/>
            <a:ext cx="11460175" cy="27432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760720"/>
            <a:ext cx="10058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PHYSICAL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17320" y="576072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108-card Gita wisdom deck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51960" y="5760720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₹599–699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20640" y="5760720"/>
            <a:ext cx="7772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Month 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97880" y="576072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₹29,950 (50 units)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635240" y="5760720"/>
            <a:ext cx="4251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Festival gifting, brand artefact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603504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11480" y="6035040"/>
            <a:ext cx="10058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ENTERPRISE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17320" y="6035040"/>
            <a:ext cx="2834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Corporate Gita Daily for teams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51960" y="6035040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₹5K–15K/mo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120640" y="6035040"/>
            <a:ext cx="7772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Month 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897880" y="603504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₹30,000 (3 clients)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35240" y="6035040"/>
            <a:ext cx="4251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B2B halo + B2C credibility loop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74320" y="6355080"/>
            <a:ext cx="11643055" cy="411480"/>
          </a:xfrm>
          <a:prstGeom prst="roundRect">
            <a:avLst>
              <a:gd name="adj" fmla="val 10000"/>
            </a:avLst>
          </a:prstGeom>
          <a:solidFill>
            <a:srgbClr val="B55512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6355080"/>
            <a:ext cx="1146017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PILLAR 5 STRATEGIC TAKEAWAY  ·  ₹79 is the entry-point, not the ceiling. Monetization depth + habit retention = ₹1.92L+ blended monthly revenue at scale.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case | Nir Eyal — Hooked: How to Build Habit-Forming Products (2014) | RedSeer Spiritual &amp; Wellness Subscription Report 2024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No incumbent owns the daily-ritual + intimate quadrant — the white-space is structurally available, the B2B halo is asymmetric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6583680" cy="5440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658368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COMPETITIVE POSITIONING — INTIMACY × CADENCE</a:t>
            </a:r>
          </a:p>
        </p:txBody>
      </p:sp>
      <p:pic>
        <p:nvPicPr>
          <p:cNvPr id="21" name="Picture 20" descr="competitive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355080" cy="41605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11480" y="5577840"/>
            <a:ext cx="6400800" cy="59436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952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23560"/>
            <a:ext cx="62636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1">
                <a:solidFill>
                  <a:srgbClr val="2A1A0F"/>
                </a:solidFill>
                <a:latin typeface="Calibri"/>
              </a:rPr>
              <a:t>DEFENSIBLE POSITION  ·  A daily, intimate, vernacular ritual at the price of a coffee. No incumbent is structured to occupy it: Sadhguru/Gaur Gopal scale on broadcast; Headspace/Calm scale on Western mindfulness; generic Gita pages have no business model.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95160" y="868680"/>
            <a:ext cx="4937760" cy="26060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60" y="960120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B2B CORPORATE GITA DAILY  ·  MARKET SIZING (₹)</a:t>
            </a:r>
          </a:p>
        </p:txBody>
      </p:sp>
      <p:pic>
        <p:nvPicPr>
          <p:cNvPr id="26" name="Picture 25" descr="tam_sam_s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280160"/>
            <a:ext cx="4663440" cy="210312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995160" y="3611880"/>
            <a:ext cx="493776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3703320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B2B GO-TO-MARKET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0" y="4114800"/>
            <a:ext cx="4663440" cy="41148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4114800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PRODUCT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114800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Daily WhatsApp/email shlok with workplace lens · monthly engagement report · optional quarterly scholar talk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0" y="4544568"/>
            <a:ext cx="4663440" cy="41148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4544568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BUYER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544568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HR Heads at 500–5,000 employee firms in BFSI, FMCG, manufacturing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4974336"/>
            <a:ext cx="4663440" cy="41148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78040" y="4974336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PRICING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974336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₹5K (≤50 employees) · ₹10K (50–200) · ₹15K (200+)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0" y="5404104"/>
            <a:ext cx="4663440" cy="41148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78040" y="5404104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MOTION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5404104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15-min LinkedIn outreach · pilot offer · case-study fly-wheel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0" y="5833872"/>
            <a:ext cx="4663440" cy="41148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78040" y="5833872"/>
            <a:ext cx="109728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STRATEGIC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833872"/>
            <a:ext cx="342900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B2C halo — every corporate logo is a B2B social-proof asset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Mercer Marsh Benefits India Wellness Survey 2024 (₹4,000 Cr TAM, 15% CAGR) | Glido Labs case | LinkedIn HR titles analysis | Team estimates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Halving churn from 29% → 12% triples LTV — the Day-3 trial fix is the single highest-ROI intervention in this deck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2255459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225545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55512"/>
                </a:solidFill>
                <a:latin typeface="Calibri"/>
              </a:rPr>
              <a:t>87%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1371600"/>
            <a:ext cx="225545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GROSS MARGIN</a:t>
            </a:r>
          </a:p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PER SUB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21219" y="868680"/>
            <a:ext cx="2255459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21219" y="960120"/>
            <a:ext cx="225545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55512"/>
                </a:solidFill>
                <a:latin typeface="Calibri"/>
              </a:rPr>
              <a:t>₹125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21219" y="1371600"/>
            <a:ext cx="225545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BLENDED</a:t>
            </a:r>
          </a:p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CAC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68118" y="868680"/>
            <a:ext cx="2255459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8118" y="960120"/>
            <a:ext cx="225545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55512"/>
                </a:solidFill>
                <a:latin typeface="Calibri"/>
              </a:rPr>
              <a:t>3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8118" y="1371600"/>
            <a:ext cx="225545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TO ₹1 LAKH</a:t>
            </a:r>
          </a:p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MRR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017" y="868680"/>
            <a:ext cx="2255459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017" y="960120"/>
            <a:ext cx="225545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55512"/>
                </a:solidFill>
                <a:latin typeface="Calibri"/>
              </a:rPr>
              <a:t>₹1.92L+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017" y="1371600"/>
            <a:ext cx="225545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MONTHLY REV</a:t>
            </a:r>
          </a:p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AT SCALE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61916" y="868680"/>
            <a:ext cx="2255459" cy="100584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61916" y="960120"/>
            <a:ext cx="2255459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55512"/>
                </a:solidFill>
                <a:latin typeface="Calibri"/>
              </a:rPr>
              <a:t>₹699/YR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1916" y="1371600"/>
            <a:ext cx="2255459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ANNUAL</a:t>
            </a:r>
          </a:p>
          <a:p>
            <a:pPr algn="ctr">
              <a:lnSpc>
                <a:spcPct val="12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PREPAY SKU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2011680"/>
            <a:ext cx="4023360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2103120"/>
            <a:ext cx="40233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PER-SUBSCRIBER UNIT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2514600"/>
            <a:ext cx="3749039" cy="274320"/>
          </a:xfrm>
          <a:prstGeom prst="rect">
            <a:avLst/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51460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LINE ITEM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251460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AMOUNT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51460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RATIONALE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2788920"/>
            <a:ext cx="3749039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278892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Revenue / sub / year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94560" y="278892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+₹948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278892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12 × ₹79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063240"/>
            <a:ext cx="3749039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06324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WhatsApp + payment fees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306324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−₹95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3063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~10% of revenue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337560"/>
            <a:ext cx="3749039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33756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Content production (alloc.)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333756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−₹30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71800" y="333756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1 scholar contract / 800 subs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3611880"/>
            <a:ext cx="3749039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361188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Tech + infra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94560" y="361188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−₹12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71800" y="361188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ManyChat, hosting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886200"/>
            <a:ext cx="3749039" cy="27432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388620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GROSS MARGIN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94560" y="388620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+₹811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71800" y="388620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85.5% — exceptional for solo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4160520"/>
            <a:ext cx="3749039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416052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Blended CAC (amortized Y1)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94560" y="416052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−₹125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416052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Weighted ad+organic mix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4434840"/>
            <a:ext cx="3749039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443484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Refund / chargeback reserve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94560" y="443484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2A1A0F"/>
                </a:solidFill>
                <a:latin typeface="Calibri"/>
              </a:rPr>
              <a:t>−₹15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71800" y="44348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Conservative 2% allowance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709160"/>
            <a:ext cx="3749039" cy="274320"/>
          </a:xfrm>
          <a:prstGeom prst="rect">
            <a:avLst/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4709160"/>
            <a:ext cx="16916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TRUE CONTRIBUTION (Y1)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94560" y="4709160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+₹671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71800" y="470916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70.7% of revenue survives CAC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34840" y="2011680"/>
            <a:ext cx="4023360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34840" y="2103120"/>
            <a:ext cx="40233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COHORT RETENTION  ·  LTV/CAC SENSITIVITY</a:t>
            </a:r>
          </a:p>
        </p:txBody>
      </p:sp>
      <p:pic>
        <p:nvPicPr>
          <p:cNvPr id="74" name="Picture 73" descr="cohort_re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23160"/>
            <a:ext cx="3749039" cy="2011680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4572000" y="4572000"/>
            <a:ext cx="3749039" cy="246888"/>
          </a:xfrm>
          <a:prstGeom prst="rect">
            <a:avLst/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17720" y="4572000"/>
            <a:ext cx="1874519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MONTHLY CHURN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92240" y="4572000"/>
            <a:ext cx="96012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LTV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52360" y="4572000"/>
            <a:ext cx="91440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LTV / CAC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0" y="4818888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617720" y="4818888"/>
            <a:ext cx="1874519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5%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92240" y="4818888"/>
            <a:ext cx="96012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₹1,580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52360" y="4818888"/>
            <a:ext cx="91440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12.6×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2000" y="5065776"/>
            <a:ext cx="3749039" cy="246888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17720" y="5065776"/>
            <a:ext cx="1874519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0" y="5065776"/>
            <a:ext cx="96012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₹987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52360" y="5065776"/>
            <a:ext cx="91440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7.9×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572000" y="5312664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617720" y="5312664"/>
            <a:ext cx="1874519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12%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92240" y="5312664"/>
            <a:ext cx="96012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₹655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52360" y="5312664"/>
            <a:ext cx="91440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5.2×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0" y="5559552"/>
            <a:ext cx="3749039" cy="246888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17720" y="5559552"/>
            <a:ext cx="1874519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20%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492240" y="5559552"/>
            <a:ext cx="96012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2A1A0F"/>
                </a:solidFill>
                <a:latin typeface="Calibri"/>
              </a:rPr>
              <a:t>₹395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52360" y="5559552"/>
            <a:ext cx="91440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3.2×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0" y="5806440"/>
            <a:ext cx="3749039" cy="246888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17720" y="5806440"/>
            <a:ext cx="1874519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02C2C"/>
                </a:solidFill>
                <a:latin typeface="Calibri"/>
              </a:rPr>
              <a:t>29% (today)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92240" y="5806440"/>
            <a:ext cx="96012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02C2C"/>
                </a:solidFill>
                <a:latin typeface="Calibri"/>
              </a:rPr>
              <a:t>₹268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52360" y="5806440"/>
            <a:ext cx="91440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 i="0">
                <a:solidFill>
                  <a:srgbClr val="B55512"/>
                </a:solidFill>
                <a:latin typeface="Calibri"/>
              </a:rPr>
              <a:t>2.1×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595360" y="2011680"/>
            <a:ext cx="3337560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595360" y="2103120"/>
            <a:ext cx="333756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B55512"/>
                </a:solidFill>
                <a:latin typeface="Calibri"/>
              </a:rPr>
              <a:t>MRR PROJECTION  ·  STACKED REVENUE BUILD</a:t>
            </a:r>
          </a:p>
        </p:txBody>
      </p:sp>
      <p:pic>
        <p:nvPicPr>
          <p:cNvPr id="101" name="Picture 100" descr="mrr_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423160"/>
            <a:ext cx="3108960" cy="3703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case | Sequoia India Subscription Unit Economics Guide | Cohort survival math: P(retained) = (1 − churn)^n | Team scenarios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13716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MARKET FAILURE DIAGNOSIS</a:t>
            </a:r>
          </a:p>
        </p:txBody>
      </p:sp>
      <p:sp>
        <p:nvSpPr>
          <p:cNvPr id="6" name="Pentagon 5"/>
          <p:cNvSpPr/>
          <p:nvPr/>
        </p:nvSpPr>
        <p:spPr>
          <a:xfrm>
            <a:off x="183964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3964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THE TRUST EQUATION</a:t>
            </a:r>
          </a:p>
        </p:txBody>
      </p:sp>
      <p:sp>
        <p:nvSpPr>
          <p:cNvPr id="8" name="Pentagon 7"/>
          <p:cNvSpPr/>
          <p:nvPr/>
        </p:nvSpPr>
        <p:spPr>
          <a:xfrm>
            <a:off x="3542124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2124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FUNNEL OPTIMIZATION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4606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4606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ACQUISITION ENGINE</a:t>
            </a:r>
          </a:p>
        </p:txBody>
      </p:sp>
      <p:sp>
        <p:nvSpPr>
          <p:cNvPr id="12" name="Pentagon 11"/>
          <p:cNvSpPr/>
          <p:nvPr/>
        </p:nvSpPr>
        <p:spPr>
          <a:xfrm>
            <a:off x="6947088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7088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RETENTION &amp; MONETIZATION</a:t>
            </a:r>
          </a:p>
        </p:txBody>
      </p:sp>
      <p:sp>
        <p:nvSpPr>
          <p:cNvPr id="14" name="Pentagon 13"/>
          <p:cNvSpPr/>
          <p:nvPr/>
        </p:nvSpPr>
        <p:spPr>
          <a:xfrm>
            <a:off x="8649570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9570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4A2418"/>
                </a:solidFill>
                <a:latin typeface="Calibri"/>
              </a:rPr>
              <a:t>FINANCIAL MODEL</a:t>
            </a:r>
          </a:p>
        </p:txBody>
      </p:sp>
      <p:sp>
        <p:nvSpPr>
          <p:cNvPr id="16" name="Pentagon 15"/>
          <p:cNvSpPr/>
          <p:nvPr/>
        </p:nvSpPr>
        <p:spPr>
          <a:xfrm>
            <a:off x="10352052" y="91440"/>
            <a:ext cx="1702482" cy="292608"/>
          </a:xfrm>
          <a:prstGeom prst="homePlate">
            <a:avLst>
              <a:gd name="adj" fmla="val 50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52052" y="91440"/>
            <a:ext cx="1702482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EXECUTION &amp; OUTCOMES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457200"/>
            <a:ext cx="11643055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4A2418"/>
                </a:solidFill>
                <a:latin typeface="Calibri"/>
              </a:rPr>
              <a:t>Fix the funnel before you scale it. Deepen monetization before you buy traffic. ₹1L MRR by Month 3 if Lever 1 lands in 30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" y="868680"/>
            <a:ext cx="11643055" cy="2240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960120"/>
            <a:ext cx="11643055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90-DAY EXECUTION ROADMAP — SEQUENCED FOR ZERO-SPEND COMPOUNDING FIRST</a:t>
            </a:r>
          </a:p>
        </p:txBody>
      </p:sp>
      <p:sp>
        <p:nvSpPr>
          <p:cNvPr id="21" name="Pentagon 20"/>
          <p:cNvSpPr/>
          <p:nvPr/>
        </p:nvSpPr>
        <p:spPr>
          <a:xfrm>
            <a:off x="365760" y="1371600"/>
            <a:ext cx="1833829" cy="36576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1371600"/>
            <a:ext cx="183382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WK 1–2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1783080"/>
            <a:ext cx="1833829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1828800"/>
            <a:ext cx="174238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FIX THE LEAK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103120"/>
            <a:ext cx="174238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Homepage redesign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Form above fold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Mandate explainer</a:t>
            </a:r>
          </a:p>
        </p:txBody>
      </p:sp>
      <p:sp>
        <p:nvSpPr>
          <p:cNvPr id="26" name="Pentagon 25"/>
          <p:cNvSpPr/>
          <p:nvPr/>
        </p:nvSpPr>
        <p:spPr>
          <a:xfrm>
            <a:off x="2272741" y="1371600"/>
            <a:ext cx="1833829" cy="36576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72741" y="1371600"/>
            <a:ext cx="183382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WK 2–3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72741" y="1783080"/>
            <a:ext cx="1833829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461" y="1828800"/>
            <a:ext cx="174238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SEAL THE TRIAL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18461" y="2103120"/>
            <a:ext cx="174238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Day 1/2/3 WhatsApp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Re-engage 47 churns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Pre-charge transparency</a:t>
            </a:r>
          </a:p>
        </p:txBody>
      </p:sp>
      <p:sp>
        <p:nvSpPr>
          <p:cNvPr id="31" name="Pentagon 30"/>
          <p:cNvSpPr/>
          <p:nvPr/>
        </p:nvSpPr>
        <p:spPr>
          <a:xfrm>
            <a:off x="4179722" y="1371600"/>
            <a:ext cx="1833829" cy="36576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79722" y="1371600"/>
            <a:ext cx="183382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WK 3–4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79722" y="1783080"/>
            <a:ext cx="1833829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5442" y="1828800"/>
            <a:ext cx="174238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DM AUTOMATION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5442" y="2103120"/>
            <a:ext cx="174238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ManyChat trigger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Update captions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First Story poll</a:t>
            </a:r>
          </a:p>
        </p:txBody>
      </p:sp>
      <p:sp>
        <p:nvSpPr>
          <p:cNvPr id="36" name="Pentagon 35"/>
          <p:cNvSpPr/>
          <p:nvPr/>
        </p:nvSpPr>
        <p:spPr>
          <a:xfrm>
            <a:off x="6086703" y="1371600"/>
            <a:ext cx="1833829" cy="36576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6703" y="1371600"/>
            <a:ext cx="183382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MONTH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86703" y="1783080"/>
            <a:ext cx="1833829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32423" y="1828800"/>
            <a:ext cx="174238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NEW REVENUE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2423" y="2103120"/>
            <a:ext cx="174238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Annual ₹699 launch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3 PDF guides live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Gift sub page</a:t>
            </a:r>
          </a:p>
        </p:txBody>
      </p:sp>
      <p:sp>
        <p:nvSpPr>
          <p:cNvPr id="41" name="Pentagon 40"/>
          <p:cNvSpPr/>
          <p:nvPr/>
        </p:nvSpPr>
        <p:spPr>
          <a:xfrm>
            <a:off x="7993684" y="1371600"/>
            <a:ext cx="1833829" cy="36576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3684" y="1371600"/>
            <a:ext cx="183382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MONTH 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93684" y="1783080"/>
            <a:ext cx="1833829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39404" y="1828800"/>
            <a:ext cx="174238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SCALE CONTENT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39404" y="2103120"/>
            <a:ext cx="174238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Daily Reels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2 creator collabs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B2B pitch deck</a:t>
            </a:r>
          </a:p>
        </p:txBody>
      </p:sp>
      <p:sp>
        <p:nvSpPr>
          <p:cNvPr id="46" name="Pentagon 45"/>
          <p:cNvSpPr/>
          <p:nvPr/>
        </p:nvSpPr>
        <p:spPr>
          <a:xfrm>
            <a:off x="9900665" y="1371600"/>
            <a:ext cx="1833829" cy="365760"/>
          </a:xfrm>
          <a:prstGeom prst="homePlate">
            <a:avLst>
              <a:gd name="adj" fmla="val 55000"/>
            </a:avLst>
          </a:prstGeom>
          <a:solidFill>
            <a:srgbClr val="B55512"/>
          </a:solidFill>
          <a:ln w="1270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00665" y="1371600"/>
            <a:ext cx="1833829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MONTH 3+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00665" y="1783080"/>
            <a:ext cx="1833829" cy="1188720"/>
          </a:xfrm>
          <a:prstGeom prst="roundRect">
            <a:avLst>
              <a:gd name="adj" fmla="val 10000"/>
            </a:avLst>
          </a:prstGeom>
          <a:solidFill>
            <a:srgbClr val="FAE0B6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46385" y="1828800"/>
            <a:ext cx="1742389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PAID ACQUISITION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46385" y="2103120"/>
            <a:ext cx="1742389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Meta CTWA ₹500/d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Lookalike audience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Weekly CAC review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3246120"/>
            <a:ext cx="658368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3337560"/>
            <a:ext cx="658368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MEASURABLE SUCCESS METRICS  ·  KPI 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3749039"/>
            <a:ext cx="6400800" cy="274320"/>
          </a:xfrm>
          <a:prstGeom prst="rect">
            <a:avLst/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374903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74520" y="374903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86200" y="374903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374903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DAY-30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374903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DAY-60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374903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DAY-90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023359"/>
            <a:ext cx="640080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40233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FUNNEL HEALTH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74520" y="402335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Homepage → Form rate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86200" y="402335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18.2%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402335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30%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57800" y="402335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9320" y="402335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40%+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297679"/>
            <a:ext cx="6400800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429767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FUNNEL HEALTH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74520" y="429767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Trial → Paid rate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86200" y="429767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71.2%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0" y="429767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78%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57800" y="429767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82%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89320" y="429767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88%+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571999"/>
            <a:ext cx="640080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" y="457199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ACQUISITION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74520" y="457199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Daily new trials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86200" y="457199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2–3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0" y="457199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8–10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57800" y="457199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15–18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89320" y="457199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20–30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46319"/>
            <a:ext cx="6400800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1480" y="484631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ACQUISITION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74520" y="484631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Blended CAC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86200" y="484631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0" y="484631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₹0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57800" y="484631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₹80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89320" y="484631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&lt;₹150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640080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1480" y="512063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ACQUISITION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74520" y="512063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DM automation CTR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86200" y="512063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00" y="512063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57800" y="512063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35%+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89320" y="512063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40%+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5760" y="5394959"/>
            <a:ext cx="6400800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RETENTION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74520" y="539495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Monthly churn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86200" y="539495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29%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72000" y="539495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&lt;20%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57800" y="539495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&lt;12%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539495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&lt;8%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5669279"/>
            <a:ext cx="640080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11480" y="566927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RETENTION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874520" y="566927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Avg messages/user/month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86200" y="566927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0" y="566927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57800" y="566927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Track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89320" y="566927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28+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65760" y="5943599"/>
            <a:ext cx="6400800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11480" y="594359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REVENUE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874520" y="594359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Active paid subscribers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86200" y="594359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116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00" y="594359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230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57800" y="594359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480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989320" y="594359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800+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6217919"/>
            <a:ext cx="640080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80" y="621791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2A1A0F"/>
                </a:solidFill>
                <a:latin typeface="Calibri"/>
              </a:rPr>
              <a:t>REVENUE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74520" y="6217919"/>
            <a:ext cx="2011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Blended monthly revenue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886200" y="621791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A6555"/>
                </a:solidFill>
                <a:latin typeface="Calibri"/>
              </a:rPr>
              <a:t>₹9.2K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0" y="6217919"/>
            <a:ext cx="6858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₹22K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57800" y="6217919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₹70K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989320" y="6217919"/>
            <a:ext cx="86868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₹1.0L+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995160" y="3246120"/>
            <a:ext cx="4892040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995160" y="3337560"/>
            <a:ext cx="48920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RISK &amp; MITIGATION MATRIX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3749039"/>
            <a:ext cx="4709160" cy="292608"/>
          </a:xfrm>
          <a:prstGeom prst="rect">
            <a:avLst/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32320" y="3749039"/>
            <a:ext cx="19202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52560" y="3749039"/>
            <a:ext cx="100584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058400" y="3749039"/>
            <a:ext cx="18288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MITIGATION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086600" y="4041647"/>
            <a:ext cx="47091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132320" y="4041647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WhatsApp policy / API ban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098280" y="413308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02C2C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098280" y="4133087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058400" y="4041647"/>
            <a:ext cx="18288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Move to WhatsApp Business API + email mirror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86600" y="4498847"/>
            <a:ext cx="4709160" cy="45720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132320" y="4498847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Mandate distrust → chargebacks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098280" y="459028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098280" y="4590287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58400" y="4498847"/>
            <a:ext cx="18288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Bilingual explainer, pre-charge transparency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086600" y="4956047"/>
            <a:ext cx="47091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132320" y="4956047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Founder content fatigue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098280" y="504748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098280" y="5047487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058400" y="4956047"/>
            <a:ext cx="18288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Onboard 2 contributing scholars by Month 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86600" y="5413247"/>
            <a:ext cx="4709160" cy="45720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32320" y="5413247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Instagram algo dependency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9098280" y="550468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098280" y="5504687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058400" y="5413247"/>
            <a:ext cx="18288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Diversify to Shorts, ShareChat. Email backup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086600" y="5870447"/>
            <a:ext cx="47091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132320" y="5870447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Premium community quality dilution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098280" y="5961887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89B47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098280" y="5961887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MED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58400" y="5870447"/>
            <a:ext cx="18288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Hard cap at 150 members, founder moderation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74320" y="6583680"/>
            <a:ext cx="11643055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1">
                <a:solidFill>
                  <a:srgbClr val="7A6555"/>
                </a:solidFill>
                <a:latin typeface="Calibri"/>
              </a:rPr>
              <a:t>Source: Glido Labs case | Industry risk benchmarks | Team risk identification &amp; mitigation design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365760"/>
            <a:ext cx="11643055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B55512"/>
                </a:solidFill>
                <a:latin typeface="Calibri"/>
              </a:rPr>
              <a:t>APPENDIX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0" y="960120"/>
            <a:ext cx="2103120" cy="0"/>
          </a:xfrm>
          <a:prstGeom prst="line">
            <a:avLst/>
          </a:prstGeom>
          <a:ln w="25400">
            <a:solidFill>
              <a:srgbClr val="B555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4320" y="1188720"/>
            <a:ext cx="5760720" cy="5349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80160"/>
            <a:ext cx="576072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FRAMEWORKS USED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5 WHYS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1691640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Root cause identification of funnel collapse at every step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75688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75688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FISHBONE (ISHIKAWA)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075688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Mapping structural causes across product, process, people, promotion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59736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VALUE PROPOSITION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459736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Mapping Bhagavad Gita Daily product to The Modern Seeker JTBD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843784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843784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TRUST EQUATION (MAISTER)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843784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Trust = (Credibility + Reliability + Intimacy) ÷ Self-Orientation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27832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227832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HOOK MODEL (NIR EYAL)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227832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Re-engineering the 8 AM shlok as a non-negotiable habit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611880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AARRR PIRATE 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611880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Acquisition / Activation / Retention / Referral / Revenue mapping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95928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995928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UNIT ECONOMICS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3995928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Per-sub P&amp;L: ₹948 → ₹671 true contribution at 85.5% gross margin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379976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379976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LTV/CAC SENSITIVITY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4379976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Monthly churn 5% → 29% scenarios across 5 cases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64024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764024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TAM / SAM / SOM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764024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₹4,000 Cr → ₹400 Cr → ₹50–80 L Y1 for the corporate B2B opportunity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148072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148072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KPI 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148072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9 metrics × 4 milestones (now / 30 / 60 / 90 days)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532120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532120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RISK &amp; MITIGATION MATRIX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532120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5 risks with impact rating and named mitigation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916168"/>
            <a:ext cx="539496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916168"/>
            <a:ext cx="20116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90-DAY EXECUTION ROADMAP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06040" y="5916168"/>
            <a:ext cx="3200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6 phases sequenced as ZERO-SPEND → REVENUE → SCALE → PAID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1188720"/>
            <a:ext cx="5715000" cy="5349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1280160"/>
            <a:ext cx="5715000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SOURCES &amp; DATA REFERENCES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55080" y="1691640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46520" y="1746504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1746504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CASE DATA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9560" y="1691640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Glido Labs Strategy Assignment brief — funnel data, audience size, performance metrics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55080" y="2039112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446520" y="2093976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2093976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MARKET BENCHMARK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09560" y="2039112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IMARC India Subscription Apps Market Report 2024 — conversion benchmarks 8–12%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55080" y="2386584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46520" y="2441448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46520" y="2441448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MARKET BENCHMARK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09560" y="2386584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Mercer Marsh Benefits India Wellness Survey 2024 — corporate wellness ₹4,000 Cr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2734056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446520" y="27889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2788920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MARKET BENCHMARK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9560" y="2734056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Meta India Click-to-WhatsApp Ads benchmark — 3–5× lift vs website ads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55080" y="3081528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446520" y="313639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3136392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CONSUMER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3081528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LocalCircles Hindi Spiritual Content Consumption Survey 2024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55080" y="3429000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446520" y="3483864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46520" y="3483864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CONSUMER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09560" y="3429000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RedSeer Spiritual &amp; Wellness E-commerce Report 2024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355080" y="3776472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446520" y="3831336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46520" y="3831336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PRODUCT FRAMEWORK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09560" y="3776472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Razorpay UPI Mandate UX Guidelines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4123944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446520" y="4178808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46520" y="4178808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PRODUCT FRAMEWORK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9560" y="4123944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Google Web Vitals — LCP, INP, CLS conversion impact studies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355080" y="4471416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446520" y="452628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46520" y="4526280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PRODUCT FRAMEWORK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909560" y="4471416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ManyChat Instagram automation conversion benchmarks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355080" y="4818888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446520" y="4873752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46520" y="4873752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THEORY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818888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Maister, Green &amp; Galford — The Trusted Advisor (2000)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355080" y="5166360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446520" y="5221224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6520" y="5221224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THEORY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909560" y="5166360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Nir Eyal — Hooked: How to Build Habit-Forming Products (2014)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355080" y="5513832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446520" y="5568696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5568696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THEORY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09560" y="5513832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Eric Ries — The Lean Startup (2011) — Build/Measure/Learn loop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55080" y="5861304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446520" y="5916168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46520" y="5916168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09560" y="5861304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Sequoia India Subscription Unit Economics Guide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355080" y="6208776"/>
            <a:ext cx="5349240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6446520" y="626364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46520" y="6263640"/>
            <a:ext cx="137160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UI / UX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09560" y="6208776"/>
            <a:ext cx="3749039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2A1A0F"/>
                </a:solidFill>
                <a:latin typeface="Calibri"/>
              </a:rPr>
              <a:t>Nielsen Norman Group — single-CTA pages convert 30%+ better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" y="45720"/>
            <a:ext cx="12100255" cy="6766560"/>
          </a:xfrm>
          <a:prstGeom prst="roundRect">
            <a:avLst>
              <a:gd name="adj" fmla="val 1000"/>
            </a:avLst>
          </a:prstGeom>
          <a:noFill/>
          <a:ln w="317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11643055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B55512"/>
                </a:solidFill>
                <a:latin typeface="Calibri"/>
              </a:rPr>
              <a:t>DETAILED FINANCIAL VALIDATION  ·  12-MONTH COHORT PROJECTION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914400"/>
            <a:ext cx="11643055" cy="5440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05840"/>
            <a:ext cx="11643055" cy="2926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BHAGAVAD GITA DAILY  ·  12-MONTH P&amp;L PROJECTION (₹)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60175" cy="274320"/>
          </a:xfrm>
          <a:prstGeom prst="rect">
            <a:avLst/>
          </a:prstGeom>
          <a:solidFill>
            <a:srgbClr val="B55512"/>
          </a:solidFill>
          <a:ln w="63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7465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3171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8877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4583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0288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5994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91700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7406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3111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8817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14523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M12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20229" y="14173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FFFFFF"/>
                </a:solidFill>
                <a:latin typeface="Calibri"/>
              </a:rPr>
              <a:t>FY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691640"/>
            <a:ext cx="11460175" cy="274320"/>
          </a:xfrm>
          <a:prstGeom prst="rect">
            <a:avLst/>
          </a:prstGeom>
          <a:solidFill>
            <a:srgbClr val="E89B47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1691640"/>
            <a:ext cx="1146017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REVENUE BUILD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196596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2A1A0F"/>
                </a:solidFill>
                <a:latin typeface="Calibri"/>
              </a:rPr>
              <a:t>Active subscribers (EOM)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116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7465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180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3171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280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8877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410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74583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0288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720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994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880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1700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1,020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7406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1,170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3111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1,330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08817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1,500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14523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1,700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20229" y="19659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1,700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224028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224028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Core MRR (₹79 × subs)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₹9.2K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57465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₹14.2K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3171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₹22.1K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68877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₹32.4K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74583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₹44.2K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0288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₹56.9K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85994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₹69.5K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1700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₹80.6K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97406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₹92.4K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3111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₹1.1L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08817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₹1.2L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14523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₹1.3L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20229" y="22402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₹7.8L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2514600"/>
            <a:ext cx="11460175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251460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Annual prepay revenue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51760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7465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₹12.0K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3171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₹18.0K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8877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₹25.0K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74583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₹28.0K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80288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₹32.0K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85994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₹35.0K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91700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₹38.0K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97406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₹42.0K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3111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₹46.0K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08817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₹50.0K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14523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₹55.0K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120229" y="25146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₹3.8L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278892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278892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PDF guides revenue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51760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57465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₹8.0K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3171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₹12.0K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68877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₹14.0K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4583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₹15.0K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80288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₹15.5K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85994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₹16.0K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91700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₹16.5K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97406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₹17.0K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03111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₹17.5K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08817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₹18.0K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14523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₹18.5K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120229" y="27889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₹1.7L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5760" y="3063240"/>
            <a:ext cx="11460175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30632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Premium community revenue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51760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57465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63171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₹8.0K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68877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₹14.0K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74583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₹16.0K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80288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₹18.0K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85994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₹20.0K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91700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₹22.0K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97406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₹23.0K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03111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₹24.0K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08817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₹25.0K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414523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₹26.0K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120229" y="30632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₹2.0L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65760" y="333756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11480" y="333756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Corporate B2B revenue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51760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57465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63171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768877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74583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₹10.0K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80288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₹20.0K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85994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₹30.0K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591700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₹35.0K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97406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₹40.0K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003111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₹50.0K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08817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₹60.0K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14523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₹70.0K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120229" y="33375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₹3.1L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3611880"/>
            <a:ext cx="11460175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11480" y="361188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TOTAL REVENUE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651760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₹9.2K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57465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₹34.2K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063171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₹60.1K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68877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₹85.4K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474583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₹1.1L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80288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₹1.4L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85994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₹1.7L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91700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₹1.9L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97406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₹2.1L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003111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₹2.4L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708817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₹2.7L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414523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₹3.0L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120229" y="36118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₹18.4L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65760" y="3886200"/>
            <a:ext cx="11460175" cy="274320"/>
          </a:xfrm>
          <a:prstGeom prst="rect">
            <a:avLst/>
          </a:prstGeom>
          <a:solidFill>
            <a:srgbClr val="E89B47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80" y="3886200"/>
            <a:ext cx="1146017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COSTS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65760" y="4160520"/>
            <a:ext cx="11460175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11480" y="416052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Cost of goods sold (~13%)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651760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₹-1.2K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57465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₹-4.4K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63171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₹-7.8K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68877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₹-11.1K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474583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₹-14.7K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180288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₹-18.5K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885994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₹-22.2K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591700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97406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₹-27.9K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03111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₹-31.5K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708817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₹-35.3K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523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₹-39.5K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120229" y="416052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₹-2.4L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65760" y="443484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" y="44348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57A55"/>
                </a:solidFill>
                <a:latin typeface="Calibri"/>
              </a:rPr>
              <a:t>Gross profit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651760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₹8.0K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357465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₹29.8K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063171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₹52.3K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768877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₹74.3K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474583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₹98.5K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180288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₹1.2L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885994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₹1.5L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591700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₹1.7L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297406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₹1.9L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003111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₹2.1L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708817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₹2.4L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414523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057A55"/>
                </a:solidFill>
                <a:latin typeface="Calibri"/>
              </a:rPr>
              <a:t>₹2.6L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120229" y="443484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₹16.0L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65760" y="4709160"/>
            <a:ext cx="11460175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11480" y="470916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Ad spend (Meta CTWA + collabs)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651760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—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357465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₹-5.0K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063171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₹-10.0K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768877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₹-12.0K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474583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₹-15.0K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180288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₹-18.0K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885994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₹-20.0K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591700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₹-22.0K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297406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₹-24.0K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003111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₹-26.0K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708817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₹-28.0K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414523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₹-30.0K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1120229" y="470916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₹-2.1L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365760" y="4983480"/>
            <a:ext cx="11460175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11480" y="498348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A1A0F"/>
                </a:solidFill>
                <a:latin typeface="Calibri"/>
              </a:rPr>
              <a:t>Fixed OPEX (tools + scholar)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651760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357465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063171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768877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474583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180288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85994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591700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297406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003111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708817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414523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0">
                <a:solidFill>
                  <a:srgbClr val="2A1A0F"/>
                </a:solidFill>
                <a:latin typeface="Calibri"/>
              </a:rPr>
              <a:t>₹-25.0K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120229" y="498348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₹-3.0L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5257800"/>
            <a:ext cx="11460175" cy="274320"/>
          </a:xfrm>
          <a:prstGeom prst="rect">
            <a:avLst/>
          </a:prstGeom>
          <a:solidFill>
            <a:srgbClr val="FFF4DE"/>
          </a:solidFill>
          <a:ln w="508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11480" y="525780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B55512"/>
                </a:solidFill>
                <a:latin typeface="Calibri"/>
              </a:rPr>
              <a:t>EBITDA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651760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₹-17.0K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357465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₹-229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063171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₹17.3K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768877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₹37.3K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474583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₹58.5K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180288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₹80.9K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885994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₹1.0L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591700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₹1.2L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8297406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₹1.4L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9003111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₹1.6L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9708817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₹1.8L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414523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 i="0">
                <a:solidFill>
                  <a:srgbClr val="B55512"/>
                </a:solidFill>
                <a:latin typeface="Calibri"/>
              </a:rPr>
              <a:t>₹2.1L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1120229" y="5257800"/>
            <a:ext cx="705705" cy="2743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1" i="0">
                <a:solidFill>
                  <a:srgbClr val="B55512"/>
                </a:solidFill>
                <a:latin typeface="Calibri"/>
              </a:rPr>
              <a:t>₹10.9L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1">
                <a:solidFill>
                  <a:srgbClr val="7A6555"/>
                </a:solidFill>
                <a:latin typeface="Calibri"/>
              </a:rPr>
              <a:t>Illustrative projection. Assumes Pillar 1 funnel fixes land in Month 1, paid acquisition activates in Month 3+, B2B contracts begin Month 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2A1A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640080" cy="54864"/>
          </a:xfrm>
          <a:prstGeom prst="rect">
            <a:avLst/>
          </a:prstGeom>
          <a:solidFill>
            <a:srgbClr val="E0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0A03A"/>
                </a:solidFill>
                <a:latin typeface="Calibri"/>
              </a:rPr>
              <a:t>THE BIG BET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4206240" cy="3474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Fix the funnel</a:t>
            </a:r>
          </a:p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before you scale it.</a:t>
            </a:r>
          </a:p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Deepen monetization</a:t>
            </a:r>
          </a:p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before you buy traffic.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420624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FFF4DE"/>
                </a:solidFill>
                <a:latin typeface="Calibri"/>
              </a:rPr>
              <a:t>Most spiritual subscriptions die buying ads into broken funnels. We will not. The 90-day plan is sequenced so the first ₹0 of new spend earns the right to the next ₹1 of paid acquisition.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502920"/>
            <a:ext cx="6583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55512"/>
                </a:solidFill>
                <a:latin typeface="Calibri"/>
              </a:rPr>
              <a:t>WHAT WE WILL HAVE BY MONTH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1005840"/>
            <a:ext cx="64008" cy="594360"/>
          </a:xfrm>
          <a:prstGeom prst="rect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005840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A1A0F"/>
                </a:solidFill>
                <a:latin typeface="Calibri"/>
              </a:rPr>
              <a:t>FUNNEL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005840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1A0F"/>
                </a:solidFill>
                <a:latin typeface="Calibri"/>
              </a:rPr>
              <a:t>Homepage → Trial above 8%, Trial → Paid above 88%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394960" y="1600200"/>
            <a:ext cx="6492240" cy="0"/>
          </a:xfrm>
          <a:prstGeom prst="line">
            <a:avLst/>
          </a:prstGeom>
          <a:ln w="5080"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5394960" y="1691640"/>
            <a:ext cx="64008" cy="594360"/>
          </a:xfrm>
          <a:prstGeom prst="rect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1691640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A1A0F"/>
                </a:solidFill>
                <a:latin typeface="Calibri"/>
              </a:rPr>
              <a:t>AUDIENCE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1691640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1A0F"/>
                </a:solidFill>
                <a:latin typeface="Calibri"/>
              </a:rPr>
              <a:t>800+ active paying subscribers (vs 116 today)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94960" y="2286000"/>
            <a:ext cx="6492240" cy="0"/>
          </a:xfrm>
          <a:prstGeom prst="line">
            <a:avLst/>
          </a:prstGeom>
          <a:ln w="5080"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394960" y="2377440"/>
            <a:ext cx="64008" cy="594360"/>
          </a:xfrm>
          <a:prstGeom prst="rect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2377440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A1A0F"/>
                </a:solidFill>
                <a:latin typeface="Calibri"/>
              </a:rPr>
              <a:t>REVENUE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377440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1A0F"/>
                </a:solidFill>
                <a:latin typeface="Calibri"/>
              </a:rPr>
              <a:t>₹1.0L+ blended MRR — 11× current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94960" y="2971800"/>
            <a:ext cx="6492240" cy="0"/>
          </a:xfrm>
          <a:prstGeom prst="line">
            <a:avLst/>
          </a:prstGeom>
          <a:ln w="5080"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394960" y="3063240"/>
            <a:ext cx="64008" cy="594360"/>
          </a:xfrm>
          <a:prstGeom prst="rect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3063240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A1A0F"/>
                </a:solidFill>
                <a:latin typeface="Calibri"/>
              </a:rPr>
              <a:t>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063240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1A0F"/>
                </a:solidFill>
                <a:latin typeface="Calibri"/>
              </a:rPr>
              <a:t>Annual, PDF guides, premium community live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94960" y="3657600"/>
            <a:ext cx="6492240" cy="0"/>
          </a:xfrm>
          <a:prstGeom prst="line">
            <a:avLst/>
          </a:prstGeom>
          <a:ln w="5080"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394960" y="3749040"/>
            <a:ext cx="64008" cy="594360"/>
          </a:xfrm>
          <a:prstGeom prst="rect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0" y="3749040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A1A0F"/>
                </a:solidFill>
                <a:latin typeface="Calibri"/>
              </a:rPr>
              <a:t>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749040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1A0F"/>
                </a:solidFill>
                <a:latin typeface="Calibri"/>
              </a:rPr>
              <a:t>3 corporate pilots in motion · paid ads ROAS-positive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94960" y="4343400"/>
            <a:ext cx="6492240" cy="0"/>
          </a:xfrm>
          <a:prstGeom prst="line">
            <a:avLst/>
          </a:prstGeom>
          <a:ln w="5080"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394960" y="4434840"/>
            <a:ext cx="64008" cy="594360"/>
          </a:xfrm>
          <a:prstGeom prst="rect">
            <a:avLst/>
          </a:prstGeom>
          <a:solidFill>
            <a:srgbClr val="B555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4434840"/>
            <a:ext cx="18288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A1A0F"/>
                </a:solidFill>
                <a:latin typeface="Calibri"/>
              </a:rPr>
              <a:t>BRAND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4434840"/>
            <a:ext cx="4572000" cy="5943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1A0F"/>
                </a:solidFill>
                <a:latin typeface="Calibri"/>
              </a:rPr>
              <a:t>200K+ Instagram, first PR mention as India's daily Gita ritual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394960" y="5029200"/>
            <a:ext cx="6492240" cy="0"/>
          </a:xfrm>
          <a:prstGeom prst="line">
            <a:avLst/>
          </a:prstGeom>
          <a:ln w="5080">
            <a:solidFill>
              <a:srgbClr val="4A24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349240" y="5349240"/>
            <a:ext cx="6675120" cy="1234440"/>
          </a:xfrm>
          <a:prstGeom prst="roundRect">
            <a:avLst>
              <a:gd name="adj" fmla="val 5000"/>
            </a:avLst>
          </a:prstGeom>
          <a:solidFill>
            <a:srgbClr val="FAE0B6"/>
          </a:solidFill>
          <a:ln w="19050">
            <a:solidFill>
              <a:srgbClr val="4A24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440680"/>
            <a:ext cx="64922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B55512"/>
                </a:solidFill>
                <a:latin typeface="Calibri"/>
              </a:rPr>
              <a:t>FROM THE GITA  ·  CHAPTER 2, VERSE 47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715000"/>
            <a:ext cx="64922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2A1A0F"/>
                </a:solidFill>
                <a:latin typeface="Calibri"/>
              </a:rPr>
              <a:t>"You have a right to perform your prescribed duty, but not to the fruits of action."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217920"/>
            <a:ext cx="649224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7A6555"/>
                </a:solidFill>
                <a:latin typeface="Calibri"/>
              </a:rPr>
              <a:t>Operating principle: ship the funnel; the MRR will follow.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6583680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7A6555"/>
                </a:solidFill>
                <a:latin typeface="Calibri"/>
              </a:rPr>
              <a:t>Bhagavad Gita Daily  ·  Strategy Deck v3.0  · 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58368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E0A03A"/>
                </a:solidFill>
                <a:latin typeface="Calibri"/>
              </a:rPr>
              <a:t>DIVYAMAN PAL  ·  IIT KANPUR  ·  divyamp23@iitk.ac.in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