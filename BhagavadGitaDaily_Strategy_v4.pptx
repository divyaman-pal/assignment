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45720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411480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D97706"/>
                </a:solidFill>
                <a:latin typeface="Calibri"/>
              </a:rPr>
              <a:t>STRATEGY  ·  FOUNDER'S OFFICE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4206240" cy="2011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Bhagavad</a:t>
            </a:r>
          </a:p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Gita Daily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420624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1">
                <a:solidFill>
                  <a:srgbClr val="CBD5E1"/>
                </a:solidFill>
                <a:latin typeface="Calibri"/>
              </a:rPr>
              <a:t>Monetization &amp; Growth Strategy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434840"/>
            <a:ext cx="1828800" cy="0"/>
          </a:xfrm>
          <a:prstGeom prst="line">
            <a:avLst/>
          </a:prstGeom>
          <a:ln w="2540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4572000"/>
            <a:ext cx="4206240" cy="1828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CBD5E1"/>
                </a:solidFill>
                <a:latin typeface="Calibri"/>
              </a:rPr>
              <a:t>A 4-area plan to fix the funnel,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CBD5E1"/>
                </a:solidFill>
                <a:latin typeface="Calibri"/>
              </a:rPr>
              <a:t>scale acquisition, monetize content,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CBD5E1"/>
                </a:solidFill>
                <a:latin typeface="Calibri"/>
              </a:rPr>
              <a:t>and build a 10-stream revenue stack.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4206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1">
                <a:solidFill>
                  <a:srgbClr val="64748B"/>
                </a:solidFill>
                <a:latin typeface="Calibri"/>
              </a:rPr>
              <a:t>Confidential  ·  v4.0  ·  May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502920"/>
            <a:ext cx="6400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PREPARED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777240"/>
            <a:ext cx="6400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 i="0">
                <a:solidFill>
                  <a:srgbClr val="0B2545"/>
                </a:solidFill>
                <a:latin typeface="Calibri"/>
              </a:rPr>
              <a:t>GLIDO LABS  ·  FOUNDER'S OFFICE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0" y="1371600"/>
            <a:ext cx="621792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0" y="1554480"/>
            <a:ext cx="6400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PREPARED 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1828800"/>
            <a:ext cx="6400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B2545"/>
                </a:solidFill>
                <a:latin typeface="Calibri"/>
              </a:rPr>
              <a:t>DIVYAMAN PAL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331720"/>
            <a:ext cx="6400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B.Tech, Civil Engineering  ·  Indian Institute of Technology Kanpur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651760"/>
            <a:ext cx="6400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1">
                <a:solidFill>
                  <a:srgbClr val="D97706"/>
                </a:solidFill>
                <a:latin typeface="Calibri"/>
              </a:rPr>
              <a:t>divyamp23@iitk.ac.in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0" y="3154680"/>
            <a:ext cx="621792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486400" y="3429000"/>
            <a:ext cx="6217920" cy="2103120"/>
          </a:xfrm>
          <a:prstGeom prst="rect">
            <a:avLst/>
          </a:prstGeom>
          <a:solidFill>
            <a:srgbClr val="F8FAFC"/>
          </a:solidFill>
          <a:ln w="190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0" y="3429000"/>
            <a:ext cx="91440" cy="2103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0" y="3520440"/>
            <a:ext cx="60350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D97706"/>
                </a:solidFill>
                <a:latin typeface="Calibri"/>
              </a:rPr>
              <a:t>THE THESIS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3840480"/>
            <a:ext cx="6035040" cy="1645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F172A"/>
                </a:solidFill>
                <a:latin typeface="Calibri"/>
              </a:rPr>
              <a:t>Glido's funnel converts at 2.21% of homepage traffic — 4× below industry. The problem is not audience or product. It is (a) a funnel that loses 4,287 users at the homepage and 337 at the ₹5 UPI mandate, and (b) a single-SKU monetization model. Both are fixable in 90 days at zero new ad-spend.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0" y="5760720"/>
            <a:ext cx="1485900" cy="3657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0" y="5760720"/>
            <a:ext cx="14859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01  FUNNEL OPTIMIZATION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63740" y="5760720"/>
            <a:ext cx="1485900" cy="3657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63740" y="5760720"/>
            <a:ext cx="14859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02  SCALING STRATEGY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41080" y="5760720"/>
            <a:ext cx="148590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41080" y="5760720"/>
            <a:ext cx="14859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03  CONTENT-TO-MONETIZATION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218420" y="5760720"/>
            <a:ext cx="1485900" cy="3657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18420" y="5760720"/>
            <a:ext cx="14859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04  NEW REVENUE STREAMS  ·  KEY FOCUS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309360"/>
            <a:ext cx="6217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64748B"/>
                </a:solidFill>
                <a:latin typeface="Calibri"/>
              </a:rPr>
              <a:t>ASSIGNMENT COVERAGE  ·  4 AREAS  ·  15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B2545"/>
                </a:solidFill>
                <a:latin typeface="Calibri"/>
              </a:rPr>
              <a:t>BHAGAVAD GITA DAILY  ·  STRATEGY &amp; GROWTH</a:t>
            </a:r>
          </a:p>
        </p:txBody>
      </p:sp>
      <p:sp>
        <p:nvSpPr>
          <p:cNvPr id="5" name="Rectangle 4"/>
          <p:cNvSpPr/>
          <p:nvPr/>
        </p:nvSpPr>
        <p:spPr>
          <a:xfrm>
            <a:off x="8762695" y="91440"/>
            <a:ext cx="2560320" cy="25603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62695" y="91440"/>
            <a:ext cx="25603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14455" y="91440"/>
            <a:ext cx="5029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2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57200"/>
            <a:ext cx="11643055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B2545"/>
                </a:solidFill>
                <a:latin typeface="Calibri"/>
              </a:rPr>
              <a:t>11× MRR achievable in 90 days — fix 3 funnel leaks at zero spend, then deepen monetization with 10 India-grounded revenue streams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960120"/>
            <a:ext cx="1371600" cy="0"/>
          </a:xfrm>
          <a:prstGeom prst="line">
            <a:avLst/>
          </a:prstGeom>
          <a:ln w="317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74320" y="1188720"/>
            <a:ext cx="3759098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188720"/>
            <a:ext cx="3759098" cy="3657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188720"/>
            <a:ext cx="3759098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01  ·  SITUATION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645920"/>
            <a:ext cx="339333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1">
                <a:solidFill>
                  <a:srgbClr val="D97706"/>
                </a:solidFill>
                <a:latin typeface="Calibri"/>
              </a:rPr>
              <a:t>What we have today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965960"/>
            <a:ext cx="3393338" cy="1691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0F172A"/>
                </a:solidFill>
                <a:latin typeface="Calibri"/>
              </a:rPr>
              <a:t>•  192K Instagram followers  ·  2,227 posts published</a:t>
            </a:r>
          </a:p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0F172A"/>
                </a:solidFill>
                <a:latin typeface="Calibri"/>
              </a:rPr>
              <a:t>•  5,239 monthly homepage sessions  ·  4,981 unique users</a:t>
            </a:r>
          </a:p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0F172A"/>
                </a:solidFill>
                <a:latin typeface="Calibri"/>
              </a:rPr>
              <a:t>•  ₹79/mo product  ·  116 active paid users</a:t>
            </a:r>
          </a:p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0F172A"/>
                </a:solidFill>
                <a:latin typeface="Calibri"/>
              </a:rPr>
              <a:t>•  Current MRR ₹9.2K  ·  500 signups, 163 trials</a:t>
            </a:r>
          </a:p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0F172A"/>
                </a:solidFill>
                <a:latin typeface="Calibri"/>
              </a:rPr>
              <a:t>•  ₹9 LTV/visitor today (well below benchmark)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566160"/>
            <a:ext cx="3393338" cy="2377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566160"/>
            <a:ext cx="3393338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PROVEN PMF, BROKEN FUNNEL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16298" y="1188720"/>
            <a:ext cx="3759098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16298" y="1188720"/>
            <a:ext cx="3759098" cy="36576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16298" y="1188720"/>
            <a:ext cx="3759098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02  ·  COMPLICATION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99178" y="1645920"/>
            <a:ext cx="339333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1">
                <a:solidFill>
                  <a:srgbClr val="B91C1C"/>
                </a:solidFill>
                <a:latin typeface="Calibri"/>
              </a:rPr>
              <a:t>Why growth has stalled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9178" y="1965960"/>
            <a:ext cx="3393338" cy="1691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0F172A"/>
                </a:solidFill>
                <a:latin typeface="Calibri"/>
              </a:rPr>
              <a:t>•  Homepage → Form leak: 5,239 → 952 (−81.8%, −4,287 users)</a:t>
            </a:r>
          </a:p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0F172A"/>
                </a:solidFill>
                <a:latin typeface="Calibri"/>
              </a:rPr>
              <a:t>•  Signup → Trial leak: 500 → 163 (−67.4%, ₹5 UPI mandate fear)</a:t>
            </a:r>
          </a:p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0F172A"/>
                </a:solidFill>
                <a:latin typeface="Calibri"/>
              </a:rPr>
              <a:t>•  Trial → Paid leak: 163 → 116 (29% churn, Day-3 surprise)</a:t>
            </a:r>
          </a:p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0F172A"/>
                </a:solidFill>
                <a:latin typeface="Calibri"/>
              </a:rPr>
              <a:t>•  Single ₹79 SKU — no monetization depth, ceiling = ₹79/user</a:t>
            </a:r>
          </a:p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0F172A"/>
                </a:solidFill>
                <a:latin typeface="Calibri"/>
              </a:rPr>
              <a:t>•  Free Instagram = paid product → no value gap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99178" y="3566160"/>
            <a:ext cx="3393338" cy="2377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99178" y="3566160"/>
            <a:ext cx="3393338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4 STRUCTURAL LEAKS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58276" y="1188720"/>
            <a:ext cx="3759098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58276" y="1188720"/>
            <a:ext cx="3759098" cy="3657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58276" y="1188720"/>
            <a:ext cx="3759098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03  ·  RESOLUTION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1156" y="1645920"/>
            <a:ext cx="339333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1">
                <a:solidFill>
                  <a:srgbClr val="15803D"/>
                </a:solidFill>
                <a:latin typeface="Calibri"/>
              </a:rPr>
              <a:t>Sequenced 4-area plan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1156" y="1965960"/>
            <a:ext cx="3393338" cy="1691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0F172A"/>
                </a:solidFill>
                <a:latin typeface="Calibri"/>
              </a:rPr>
              <a:t>•  L1 · Seal funnel — homepage rebuild + UPI explainer + Day-3 arc</a:t>
            </a:r>
          </a:p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0F172A"/>
                </a:solidFill>
                <a:latin typeface="Calibri"/>
              </a:rPr>
              <a:t>•  L2 · Scale to 20-30 trials/day via DM auto + creator + paid</a:t>
            </a:r>
          </a:p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0F172A"/>
                </a:solidFill>
                <a:latin typeface="Calibri"/>
              </a:rPr>
              <a:t>•  L3 · Content-to-monetization — value-gap, festival activations</a:t>
            </a:r>
          </a:p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0F172A"/>
                </a:solidFill>
                <a:latin typeface="Calibri"/>
              </a:rPr>
              <a:t>•  L4 · 10-stream stack — annual, PDF, gift, B2B, audio, kids, family</a:t>
            </a:r>
          </a:p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0F172A"/>
                </a:solidFill>
                <a:latin typeface="Calibri"/>
              </a:rPr>
              <a:t>•  Target  ·  ₹1L MRR by M3, ₹3.5L by M12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41156" y="3566160"/>
            <a:ext cx="3393338" cy="2377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41156" y="3566160"/>
            <a:ext cx="3393338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ZERO-SPEND FIRST, PAID LAST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069080"/>
            <a:ext cx="768096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4114800"/>
            <a:ext cx="76809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0B2545"/>
                </a:solidFill>
                <a:latin typeface="Calibri"/>
              </a:rPr>
              <a:t>THE FUNNEL — WHERE 192K BECOMES 116</a:t>
            </a:r>
          </a:p>
        </p:txBody>
      </p:sp>
      <p:pic>
        <p:nvPicPr>
          <p:cNvPr id="33" name="Picture 32" descr="funnel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434840"/>
            <a:ext cx="7406640" cy="192024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8092440" y="4069080"/>
            <a:ext cx="384048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4114800"/>
            <a:ext cx="38404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0B2545"/>
                </a:solidFill>
                <a:latin typeface="Calibri"/>
              </a:rPr>
              <a:t>THE PRIZE  ·  90-DAY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83879" y="4480560"/>
            <a:ext cx="1828800" cy="603504"/>
          </a:xfrm>
          <a:prstGeom prst="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83879" y="4480560"/>
            <a:ext cx="54864" cy="60350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39" y="4480560"/>
            <a:ext cx="86868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D97706"/>
                </a:solidFill>
                <a:latin typeface="Calibri"/>
              </a:rPr>
              <a:t>11×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3999" y="4480560"/>
            <a:ext cx="82296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334155"/>
                </a:solidFill>
                <a:latin typeface="Calibri"/>
              </a:rPr>
              <a:t>MRR uplift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58399" y="4480560"/>
            <a:ext cx="1828800" cy="603504"/>
          </a:xfrm>
          <a:prstGeom prst="rect">
            <a:avLst/>
          </a:prstGeom>
          <a:solidFill>
            <a:srgbClr val="F8FAFC"/>
          </a:solidFill>
          <a:ln w="190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058399" y="4480560"/>
            <a:ext cx="54864" cy="603504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95559" y="4480560"/>
            <a:ext cx="86868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B2545"/>
                </a:solidFill>
                <a:latin typeface="Calibri"/>
              </a:rPr>
              <a:t>₹1L+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18519" y="4480560"/>
            <a:ext cx="82296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334155"/>
                </a:solidFill>
                <a:latin typeface="Calibri"/>
              </a:rPr>
              <a:t>MRR by Month 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83879" y="5102352"/>
            <a:ext cx="1828800" cy="603504"/>
          </a:xfrm>
          <a:prstGeom prst="rect">
            <a:avLst/>
          </a:prstGeom>
          <a:solidFill>
            <a:srgbClr val="F8FAFC"/>
          </a:solidFill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183879" y="5102352"/>
            <a:ext cx="54864" cy="603504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21039" y="5102352"/>
            <a:ext cx="86868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15803D"/>
                </a:solidFill>
                <a:latin typeface="Calibri"/>
              </a:rPr>
              <a:t>₹3.5L+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3999" y="5102352"/>
            <a:ext cx="82296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334155"/>
                </a:solidFill>
                <a:latin typeface="Calibri"/>
              </a:rPr>
              <a:t>MRR by Month 12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058399" y="5102352"/>
            <a:ext cx="1828800" cy="603504"/>
          </a:xfrm>
          <a:prstGeom prst="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058399" y="5102352"/>
            <a:ext cx="54864" cy="6035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195559" y="5102352"/>
            <a:ext cx="86868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E7490"/>
                </a:solidFill>
                <a:latin typeface="Calibri"/>
              </a:rPr>
              <a:t>85.5%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18519" y="5102352"/>
            <a:ext cx="82296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334155"/>
                </a:solidFill>
                <a:latin typeface="Calibri"/>
              </a:rPr>
              <a:t>Gross margin / sub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83879" y="5724144"/>
            <a:ext cx="1828800" cy="603504"/>
          </a:xfrm>
          <a:prstGeom prst="rect">
            <a:avLst/>
          </a:prstGeom>
          <a:solidFill>
            <a:srgbClr val="F8FAFC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183879" y="5724144"/>
            <a:ext cx="54864" cy="60350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21039" y="5724144"/>
            <a:ext cx="86868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6D28D9"/>
                </a:solidFill>
                <a:latin typeface="Calibri"/>
              </a:rPr>
              <a:t>7.9×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3999" y="5724144"/>
            <a:ext cx="82296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334155"/>
                </a:solidFill>
                <a:latin typeface="Calibri"/>
              </a:rPr>
              <a:t>LTV / CAC at 8% churn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058399" y="5724144"/>
            <a:ext cx="1828800" cy="603504"/>
          </a:xfrm>
          <a:prstGeom prst="rect">
            <a:avLst/>
          </a:prstGeom>
          <a:solidFill>
            <a:srgbClr val="F8FAFC"/>
          </a:solidFill>
          <a:ln w="1905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058399" y="5724144"/>
            <a:ext cx="54864" cy="603504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195559" y="5724144"/>
            <a:ext cx="86868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CA8A04"/>
                </a:solidFill>
                <a:latin typeface="Calibri"/>
              </a:rPr>
              <a:t>M5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18519" y="5724144"/>
            <a:ext cx="82296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334155"/>
                </a:solidFill>
                <a:latin typeface="Calibri"/>
              </a:rPr>
              <a:t>EBITDA breakeven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 i="1">
                <a:solidFill>
                  <a:srgbClr val="64748B"/>
                </a:solidFill>
                <a:latin typeface="Calibri"/>
              </a:rPr>
              <a:t>SOURCE  ·  Glido Labs assignment brief (May 2025) | IMARC India Subscription Apps 2024 | Razorpay UPI mandate UX | Team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B2545"/>
                </a:solidFill>
                <a:latin typeface="Calibri"/>
              </a:rPr>
              <a:t>BHAGAVAD GITA DAILY  ·  STRATEGY &amp; GROWTH</a:t>
            </a:r>
          </a:p>
        </p:txBody>
      </p:sp>
      <p:sp>
        <p:nvSpPr>
          <p:cNvPr id="5" name="Rectangle 4"/>
          <p:cNvSpPr/>
          <p:nvPr/>
        </p:nvSpPr>
        <p:spPr>
          <a:xfrm>
            <a:off x="8762695" y="91440"/>
            <a:ext cx="2560320" cy="25603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62695" y="91440"/>
            <a:ext cx="25603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PERSONA  ·  INDIA-GROUNDED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14455" y="91440"/>
            <a:ext cx="5029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3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57200"/>
            <a:ext cx="11643055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B2545"/>
                </a:solidFill>
                <a:latin typeface="Calibri"/>
              </a:rPr>
              <a:t>The Modern Indian Seeker is Hindi-first, mobile-first, festival-driven, UPI-skeptical — every funnel choice flows from these four traits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960120"/>
            <a:ext cx="1371600" cy="0"/>
          </a:xfrm>
          <a:prstGeom prst="line">
            <a:avLst/>
          </a:prstGeom>
          <a:ln w="317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74320" y="1188720"/>
            <a:ext cx="384048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188720"/>
            <a:ext cx="384048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325880"/>
            <a:ext cx="34747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0B2545"/>
                </a:solidFill>
                <a:latin typeface="Calibri"/>
              </a:rPr>
              <a:t>THE MODERN INDIAN SEEKER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691640"/>
            <a:ext cx="3474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1">
                <a:solidFill>
                  <a:srgbClr val="64748B"/>
                </a:solidFill>
                <a:latin typeface="Calibri"/>
              </a:rPr>
              <a:t>8 traits that drive every product, channel, pricing decision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103120"/>
            <a:ext cx="356616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103120"/>
            <a:ext cx="54864" cy="42062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103120"/>
            <a:ext cx="109728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D97706"/>
                </a:solidFill>
                <a:latin typeface="Calibri"/>
              </a:rPr>
              <a:t>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2103120"/>
            <a:ext cx="224028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0F172A"/>
                </a:solidFill>
                <a:latin typeface="Calibri"/>
              </a:rPr>
              <a:t>32–55  ·  median 38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560320"/>
            <a:ext cx="356616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2560320"/>
            <a:ext cx="54864" cy="420624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560320"/>
            <a:ext cx="109728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B2545"/>
                </a:solidFill>
                <a:latin typeface="Calibri"/>
              </a:rPr>
              <a:t>LOCATION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2560320"/>
            <a:ext cx="224028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0F172A"/>
                </a:solidFill>
                <a:latin typeface="Calibri"/>
              </a:rPr>
              <a:t>Tier 1 + Tier 2  ·  Hindi belt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017520"/>
            <a:ext cx="356616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3017520"/>
            <a:ext cx="54864" cy="42062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017520"/>
            <a:ext cx="109728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E7490"/>
                </a:solidFill>
                <a:latin typeface="Calibri"/>
              </a:rPr>
              <a:t>LANGUAGE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3017520"/>
            <a:ext cx="224028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0F172A"/>
                </a:solidFill>
                <a:latin typeface="Calibri"/>
              </a:rPr>
              <a:t>Hindi-first or bilingual (87%)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3474720"/>
            <a:ext cx="356616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3474720"/>
            <a:ext cx="54864" cy="420624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474720"/>
            <a:ext cx="109728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CA8A04"/>
                </a:solidFill>
                <a:latin typeface="Calibri"/>
              </a:rPr>
              <a:t>INCOME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3474720"/>
            <a:ext cx="224028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0F172A"/>
                </a:solidFill>
                <a:latin typeface="Calibri"/>
              </a:rPr>
              <a:t>₹6–25L p.a.  ·  middle class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3931920"/>
            <a:ext cx="356616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" y="3931920"/>
            <a:ext cx="54864" cy="42062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931920"/>
            <a:ext cx="109728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6D28D9"/>
                </a:solidFill>
                <a:latin typeface="Calibri"/>
              </a:rPr>
              <a:t>DEVICE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3931920"/>
            <a:ext cx="224028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0F172A"/>
                </a:solidFill>
                <a:latin typeface="Calibri"/>
              </a:rPr>
              <a:t>Mobile-first (95%+)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4389120"/>
            <a:ext cx="356616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1480" y="4389120"/>
            <a:ext cx="54864" cy="42062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389120"/>
            <a:ext cx="109728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B91C1C"/>
                </a:solidFill>
                <a:latin typeface="Calibri"/>
              </a:rPr>
              <a:t>PAYMENT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91640" y="4389120"/>
            <a:ext cx="224028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0F172A"/>
                </a:solidFill>
                <a:latin typeface="Calibri"/>
              </a:rPr>
              <a:t>UPI native, mandate-skeptical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4846320"/>
            <a:ext cx="356616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" y="4846320"/>
            <a:ext cx="54864" cy="420624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4846320"/>
            <a:ext cx="109728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15803D"/>
                </a:solidFill>
                <a:latin typeface="Calibri"/>
              </a:rPr>
              <a:t>DISCOVERY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91640" y="4846320"/>
            <a:ext cx="224028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0F172A"/>
                </a:solidFill>
                <a:latin typeface="Calibri"/>
              </a:rPr>
              <a:t>Reels  ·  WhatsApp forwards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5303520"/>
            <a:ext cx="356616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1480" y="5303520"/>
            <a:ext cx="54864" cy="420624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5303520"/>
            <a:ext cx="109728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92400E"/>
                </a:solidFill>
                <a:latin typeface="Calibri"/>
              </a:rPr>
              <a:t>MOTIVATION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91640" y="5303520"/>
            <a:ext cx="224028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0F172A"/>
                </a:solidFill>
                <a:latin typeface="Calibri"/>
              </a:rPr>
              <a:t>Anchor mornings  ·  pass tradition fwd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51960" y="1188720"/>
            <a:ext cx="768096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9120" y="1234440"/>
            <a:ext cx="76809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0B2545"/>
                </a:solidFill>
                <a:latin typeface="Calibri"/>
              </a:rPr>
              <a:t>JTBD × ANXIETY × PAY-TRIGGER × STAY-TRIGGER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434840" y="1645920"/>
            <a:ext cx="3657600" cy="1417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434840" y="1645920"/>
            <a:ext cx="365760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0" y="1737360"/>
            <a:ext cx="33832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D97706"/>
                </a:solidFill>
                <a:latin typeface="Calibri"/>
              </a:rPr>
              <a:t>JOBS-TO-BE-DONE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0" y="2029968"/>
            <a:ext cx="3383280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•  Anchor my morning with meaning</a:t>
            </a:r>
          </a:p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•  Make sense of life events through tradition</a:t>
            </a:r>
          </a:p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•  Feel connected to something larger — daily</a:t>
            </a:r>
          </a:p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•  Pass the wisdom to my kids and parents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83880" y="1645920"/>
            <a:ext cx="3657600" cy="1417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183880" y="1645920"/>
            <a:ext cx="3657600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21040" y="1737360"/>
            <a:ext cx="33832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B91C1C"/>
                </a:solidFill>
                <a:latin typeface="Calibri"/>
              </a:rPr>
              <a:t>ANXIETIES THAT KILL CONVERSION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2029968"/>
            <a:ext cx="3383280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•  ₹5 UPI mandate — "will they keep deducting?"</a:t>
            </a:r>
          </a:p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•  Auto-pay distrust in tier 2/3 cohorts</a:t>
            </a:r>
          </a:p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•  "Is this just another reels page?"</a:t>
            </a:r>
          </a:p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•  Forgetting they signed up → angry chargebacks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434840" y="3154680"/>
            <a:ext cx="3657600" cy="1417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434840" y="3154680"/>
            <a:ext cx="3657600" cy="3657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0" y="3246120"/>
            <a:ext cx="33832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15803D"/>
                </a:solidFill>
                <a:latin typeface="Calibri"/>
              </a:rPr>
              <a:t>WHAT MAKES THEM PAY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0" y="3538728"/>
            <a:ext cx="3383280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•  Sample message that feels personally written</a:t>
            </a:r>
          </a:p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•  A friend forwarded it on WhatsApp</a:t>
            </a:r>
          </a:p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•  A real face / scholar attached to brand</a:t>
            </a:r>
          </a:p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•  Festival or life-event trigger (Navratri, exam)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183880" y="3154680"/>
            <a:ext cx="3657600" cy="1417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183880" y="3154680"/>
            <a:ext cx="3657600" cy="3657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21040" y="3246120"/>
            <a:ext cx="33832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0B2545"/>
                </a:solidFill>
                <a:latin typeface="Calibri"/>
              </a:rPr>
              <a:t>WHAT MAKES THEM STAY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21040" y="3538728"/>
            <a:ext cx="3383280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•  Same time, every morning — without fail</a:t>
            </a:r>
          </a:p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•  The verse "happens to" speak to today</a:t>
            </a:r>
          </a:p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•  Felt sense of a teacher, not a bot</a:t>
            </a:r>
          </a:p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•  Community of people on the same path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251960" y="4800600"/>
            <a:ext cx="76809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389120" y="4846320"/>
            <a:ext cx="76809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0B2545"/>
                </a:solidFill>
                <a:latin typeface="Calibri"/>
              </a:rPr>
              <a:t>DEMOGRAPHICS  ·  AGE × CITY-TIER × LANGUAGE</a:t>
            </a:r>
          </a:p>
        </p:txBody>
      </p:sp>
      <p:pic>
        <p:nvPicPr>
          <p:cNvPr id="66" name="Picture 65" descr="persona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5074920"/>
            <a:ext cx="7315200" cy="118872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 i="1">
                <a:solidFill>
                  <a:srgbClr val="64748B"/>
                </a:solidFill>
                <a:latin typeface="Calibri"/>
              </a:rPr>
              <a:t>SOURCE  ·  Glido Labs follower analytics | LocalCircles 2024 (Hindi spiritual content) | RedSeer Spiritual &amp; Wellness 2024 | Team interpretation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B2545"/>
                </a:solidFill>
                <a:latin typeface="Calibri"/>
              </a:rPr>
              <a:t>BHAGAVAD GITA DAILY  ·  STRATEGY &amp; GROWTH</a:t>
            </a:r>
          </a:p>
        </p:txBody>
      </p:sp>
      <p:sp>
        <p:nvSpPr>
          <p:cNvPr id="5" name="Rectangle 4"/>
          <p:cNvSpPr/>
          <p:nvPr/>
        </p:nvSpPr>
        <p:spPr>
          <a:xfrm>
            <a:off x="8762695" y="91440"/>
            <a:ext cx="2560320" cy="2560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62695" y="91440"/>
            <a:ext cx="25603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AREA 1  ·  FUNNEL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14455" y="91440"/>
            <a:ext cx="5029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4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57200"/>
            <a:ext cx="11643055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B2545"/>
                </a:solidFill>
                <a:latin typeface="Calibri"/>
              </a:rPr>
              <a:t>Three leaks account for 99% of all lost users — sequenced fixes recover 30-40% lift in 30 days at zero ad-spend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960120"/>
            <a:ext cx="1371600" cy="0"/>
          </a:xfrm>
          <a:prstGeom prst="line">
            <a:avLst/>
          </a:prstGeom>
          <a:ln w="317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74320" y="1188720"/>
            <a:ext cx="11643055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234440"/>
            <a:ext cx="1164305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0B2545"/>
                </a:solidFill>
                <a:latin typeface="Calibri"/>
              </a:rPr>
              <a:t>STAGE-BY-STAGE FUNNEL DIAGNOSTIC  ·  ACTUAL VS BENCHMARK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645920"/>
            <a:ext cx="11368735" cy="329184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645920"/>
            <a:ext cx="21945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1645920"/>
            <a:ext cx="20116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TODAY (DATA)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645920"/>
            <a:ext cx="12801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CONVERSION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1645920"/>
            <a:ext cx="12801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BENCHMARK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1645920"/>
            <a:ext cx="14173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ABS. LOSS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45920"/>
            <a:ext cx="29260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1975104"/>
            <a:ext cx="11368735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1975104"/>
            <a:ext cx="21945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172A"/>
                </a:solidFill>
                <a:latin typeface="Calibri"/>
              </a:rPr>
              <a:t>Instagram → Homepage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1975104"/>
            <a:ext cx="20116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334155"/>
                </a:solidFill>
                <a:latin typeface="Calibri"/>
              </a:rPr>
              <a:t>192,000 → 5,239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1975104"/>
            <a:ext cx="12801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 i="0">
                <a:solidFill>
                  <a:srgbClr val="D97706"/>
                </a:solidFill>
                <a:latin typeface="Calibri"/>
              </a:rPr>
              <a:t>2.7%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1975104"/>
            <a:ext cx="12801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15803D"/>
                </a:solidFill>
                <a:latin typeface="Calibri"/>
              </a:rPr>
              <a:t>5–8%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1975104"/>
            <a:ext cx="14173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B91C1C"/>
                </a:solidFill>
                <a:latin typeface="Calibri"/>
              </a:rPr>
              <a:t>−186,761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1975104"/>
            <a:ext cx="29260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B91C1C"/>
                </a:solidFill>
                <a:latin typeface="Calibri"/>
              </a:rPr>
              <a:t>BIGGEST OPPORTUNITY  ·  DM auto + Reels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2304288"/>
            <a:ext cx="11368735" cy="329184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2304288"/>
            <a:ext cx="21945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172A"/>
                </a:solidFill>
                <a:latin typeface="Calibri"/>
              </a:rPr>
              <a:t>Homepage → Form-page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2304288"/>
            <a:ext cx="20116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334155"/>
                </a:solidFill>
                <a:latin typeface="Calibri"/>
              </a:rPr>
              <a:t>5,239 → 952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2304288"/>
            <a:ext cx="12801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 i="0">
                <a:solidFill>
                  <a:srgbClr val="D97706"/>
                </a:solidFill>
                <a:latin typeface="Calibri"/>
              </a:rPr>
              <a:t>18.2%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2304288"/>
            <a:ext cx="12801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15803D"/>
                </a:solidFill>
                <a:latin typeface="Calibri"/>
              </a:rPr>
              <a:t>35–45%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2304288"/>
            <a:ext cx="14173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B91C1C"/>
                </a:solidFill>
                <a:latin typeface="Calibri"/>
              </a:rPr>
              <a:t>−4,287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2304288"/>
            <a:ext cx="29260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B91C1C"/>
                </a:solidFill>
                <a:latin typeface="Calibri"/>
              </a:rPr>
              <a:t>BIGGEST ABSOLUTE LEAK  ·  fix homepage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2633472"/>
            <a:ext cx="11368735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2633472"/>
            <a:ext cx="21945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172A"/>
                </a:solidFill>
                <a:latin typeface="Calibri"/>
              </a:rPr>
              <a:t>Form-page → Signup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06040" y="2633472"/>
            <a:ext cx="20116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334155"/>
                </a:solidFill>
                <a:latin typeface="Calibri"/>
              </a:rPr>
              <a:t>952 → 500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2633472"/>
            <a:ext cx="12801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 i="0">
                <a:solidFill>
                  <a:srgbClr val="D97706"/>
                </a:solidFill>
                <a:latin typeface="Calibri"/>
              </a:rPr>
              <a:t>52.5%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9320" y="2633472"/>
            <a:ext cx="12801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15803D"/>
                </a:solidFill>
                <a:latin typeface="Calibri"/>
              </a:rPr>
              <a:t>60–70%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2633472"/>
            <a:ext cx="14173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B91C1C"/>
                </a:solidFill>
                <a:latin typeface="Calibri"/>
              </a:rPr>
              <a:t>−452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23960" y="2633472"/>
            <a:ext cx="29260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CA8A04"/>
                </a:solidFill>
                <a:latin typeface="Calibri"/>
              </a:rPr>
              <a:t>MINOR  ·  form length, language toggle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2962656"/>
            <a:ext cx="11368735" cy="329184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2962656"/>
            <a:ext cx="21945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172A"/>
                </a:solidFill>
                <a:latin typeface="Calibri"/>
              </a:rPr>
              <a:t>Signup → Trial start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06040" y="2962656"/>
            <a:ext cx="20116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334155"/>
                </a:solidFill>
                <a:latin typeface="Calibri"/>
              </a:rPr>
              <a:t>500 → 163  (₹5 UPI gate)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3440" y="2962656"/>
            <a:ext cx="12801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 i="0">
                <a:solidFill>
                  <a:srgbClr val="D97706"/>
                </a:solidFill>
                <a:latin typeface="Calibri"/>
              </a:rPr>
              <a:t>32.6%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89320" y="2962656"/>
            <a:ext cx="12801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15803D"/>
                </a:solidFill>
                <a:latin typeface="Calibri"/>
              </a:rPr>
              <a:t>70–85%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2962656"/>
            <a:ext cx="14173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B91C1C"/>
                </a:solidFill>
                <a:latin typeface="Calibri"/>
              </a:rPr>
              <a:t>−337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23960" y="2962656"/>
            <a:ext cx="29260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B91C1C"/>
                </a:solidFill>
                <a:latin typeface="Calibri"/>
              </a:rPr>
              <a:t>BIGGEST % LEAK  ·  UPI mandate fear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3291840"/>
            <a:ext cx="11368735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3291840"/>
            <a:ext cx="21945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172A"/>
                </a:solidFill>
                <a:latin typeface="Calibri"/>
              </a:rPr>
              <a:t>Trial → Paid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06040" y="3291840"/>
            <a:ext cx="20116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334155"/>
                </a:solidFill>
                <a:latin typeface="Calibri"/>
              </a:rPr>
              <a:t>163 → 116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63440" y="3291840"/>
            <a:ext cx="12801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 i="0">
                <a:solidFill>
                  <a:srgbClr val="D97706"/>
                </a:solidFill>
                <a:latin typeface="Calibri"/>
              </a:rPr>
              <a:t>71.2%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89320" y="3291840"/>
            <a:ext cx="12801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15803D"/>
                </a:solidFill>
                <a:latin typeface="Calibri"/>
              </a:rPr>
              <a:t>85–92%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0" y="3291840"/>
            <a:ext cx="14173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B91C1C"/>
                </a:solidFill>
                <a:latin typeface="Calibri"/>
              </a:rPr>
              <a:t>−47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23960" y="3291840"/>
            <a:ext cx="29260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CA8A04"/>
                </a:solidFill>
                <a:latin typeface="Calibri"/>
              </a:rPr>
              <a:t>FIXABLE  ·  Day-3 transparency arc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" y="3621024"/>
            <a:ext cx="11368735" cy="329184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3621024"/>
            <a:ext cx="21945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172A"/>
                </a:solidFill>
                <a:latin typeface="Calibri"/>
              </a:rPr>
              <a:t>Paid → Retained (30D)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06040" y="3621024"/>
            <a:ext cx="20116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334155"/>
                </a:solidFill>
                <a:latin typeface="Calibri"/>
              </a:rPr>
              <a:t>116 active / 47 churned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3621024"/>
            <a:ext cx="12801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 i="0">
                <a:solidFill>
                  <a:srgbClr val="D97706"/>
                </a:solidFill>
                <a:latin typeface="Calibri"/>
              </a:rPr>
              <a:t>71.2%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89320" y="3621024"/>
            <a:ext cx="12801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15803D"/>
                </a:solidFill>
                <a:latin typeface="Calibri"/>
              </a:rPr>
              <a:t>88–94%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0" y="3621024"/>
            <a:ext cx="14173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B91C1C"/>
                </a:solidFill>
                <a:latin typeface="Calibri"/>
              </a:rPr>
              <a:t>−47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23960" y="3621024"/>
            <a:ext cx="29260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CA8A04"/>
                </a:solidFill>
                <a:latin typeface="Calibri"/>
              </a:rPr>
              <a:t>FIXABLE  ·  re-engagement WhatsApp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3703320"/>
            <a:ext cx="3759098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74320" y="3703320"/>
            <a:ext cx="3759098" cy="548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11480" y="3867912"/>
            <a:ext cx="594360" cy="27432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3867912"/>
            <a:ext cx="5943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FIX 01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" y="3867912"/>
            <a:ext cx="2844698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0B2545"/>
                </a:solidFill>
                <a:latin typeface="Calibri"/>
              </a:rPr>
              <a:t>HOMEPAGE → FORM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4206240"/>
            <a:ext cx="339333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B91C1C"/>
                </a:solidFill>
                <a:latin typeface="Calibri"/>
              </a:rPr>
              <a:t>ROOT CAUSE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4407408"/>
            <a:ext cx="3393338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Homepage tries to be marketing site, Gita resource hub AND subscription page. 4 competing CTAs. Avg scroll 51.95%, form below the fold. LCP 3.9s.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4919472"/>
            <a:ext cx="339333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B2545"/>
                </a:solidFill>
                <a:latin typeface="Calibri"/>
              </a:rPr>
              <a:t>FIX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5120640"/>
            <a:ext cx="3393338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Single-purpose landing page · benefit-first hero · form above fold · sample WhatsApp preview · LCP &lt;2.5s · drop 3 CTAs.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0" y="5632704"/>
            <a:ext cx="339333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15803D"/>
                </a:solidFill>
                <a:latin typeface="Calibri"/>
              </a:rPr>
              <a:t>EXPECTED LIFT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5833872"/>
            <a:ext cx="3393338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18% → 30%+ in 30 days  ·  recovers ~1,300 users/month at constant traffic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216298" y="3703320"/>
            <a:ext cx="3759098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216298" y="3703320"/>
            <a:ext cx="3759098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353458" y="3867912"/>
            <a:ext cx="594360" cy="274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353458" y="3867912"/>
            <a:ext cx="5943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FIX 02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993538" y="3867912"/>
            <a:ext cx="2844698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0B2545"/>
                </a:solidFill>
                <a:latin typeface="Calibri"/>
              </a:rPr>
              <a:t>SIGNUP → TRIAL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99178" y="4206240"/>
            <a:ext cx="339333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B91C1C"/>
                </a:solidFill>
                <a:latin typeface="Calibri"/>
              </a:rPr>
              <a:t>ROOT CAUSE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399178" y="4407408"/>
            <a:ext cx="3393338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₹5 UPI auto-mandate scares spiritually-motivated tier 2/3 users. No bilingual explainer. "Will they keep deducting?" anxiety untreated.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399178" y="4919472"/>
            <a:ext cx="339333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B2545"/>
                </a:solidFill>
                <a:latin typeface="Calibri"/>
              </a:rPr>
              <a:t>FIX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399178" y="5120640"/>
            <a:ext cx="3393338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Hindi+English mandate explainer · Razorpay logo + "Cancel anytime" badge · A/B test removing ₹5 mandate · WhatsApp opt-in pre-signup.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399178" y="5632704"/>
            <a:ext cx="339333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15803D"/>
                </a:solidFill>
                <a:latin typeface="Calibri"/>
              </a:rPr>
              <a:t>EXPECTED LIFT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399178" y="5833872"/>
            <a:ext cx="3393338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32.6% → 60%+ in 30 days  ·  ₹5 mandate removal can lift to 75%+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158276" y="3703320"/>
            <a:ext cx="3759098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158276" y="3703320"/>
            <a:ext cx="3759098" cy="54864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295436" y="3867912"/>
            <a:ext cx="594360" cy="27432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295436" y="3867912"/>
            <a:ext cx="5943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FIX 03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35516" y="3867912"/>
            <a:ext cx="2844698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0B2545"/>
                </a:solidFill>
                <a:latin typeface="Calibri"/>
              </a:rPr>
              <a:t>TRIAL → PAID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341156" y="4206240"/>
            <a:ext cx="339333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B91C1C"/>
                </a:solidFill>
                <a:latin typeface="Calibri"/>
              </a:rPr>
              <a:t>ROOT CAUSE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341156" y="4407408"/>
            <a:ext cx="3393338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Day-3 charge surprises users. 47/163 = 29% cancel. &lt;3 days to feel value. No transparency before deduction.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341156" y="4919472"/>
            <a:ext cx="339333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B2545"/>
                </a:solidFill>
                <a:latin typeface="Calibri"/>
              </a:rPr>
              <a:t>FIX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341156" y="5120640"/>
            <a:ext cx="3393338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Day 1/2/3 WhatsApp arc: welcome → preview → pre-charge transparency. T+48h re-engagement WhatsApp for cancels.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341156" y="5632704"/>
            <a:ext cx="339333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15803D"/>
                </a:solidFill>
                <a:latin typeface="Calibri"/>
              </a:rPr>
              <a:t>EXPECTED LIFT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341156" y="5833872"/>
            <a:ext cx="3393338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71.2% → 88%+ in 30 days  ·  47 churned users get 15-20% reactivation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 i="1">
                <a:solidFill>
                  <a:srgbClr val="64748B"/>
                </a:solidFill>
                <a:latin typeface="Calibri"/>
              </a:rPr>
              <a:t>SOURCE  ·  Glido Labs case data: 5,239 sessions, 952 form-page visits, 500 signups, 163 trial starts (116+47), 116 active paid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B2545"/>
                </a:solidFill>
                <a:latin typeface="Calibri"/>
              </a:rPr>
              <a:t>BHAGAVAD GITA DAILY  ·  STRATEGY &amp; GROWTH</a:t>
            </a:r>
          </a:p>
        </p:txBody>
      </p:sp>
      <p:sp>
        <p:nvSpPr>
          <p:cNvPr id="5" name="Rectangle 4"/>
          <p:cNvSpPr/>
          <p:nvPr/>
        </p:nvSpPr>
        <p:spPr>
          <a:xfrm>
            <a:off x="8762695" y="91440"/>
            <a:ext cx="2560320" cy="2560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62695" y="91440"/>
            <a:ext cx="25603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AREA 1  ·  HOMEPAGE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14455" y="91440"/>
            <a:ext cx="5029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5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57200"/>
            <a:ext cx="11643055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B2545"/>
                </a:solidFill>
                <a:latin typeface="Calibri"/>
              </a:rPr>
              <a:t>Homepage misses every Core Web Vital + every conversion principle — 8 specific fixes drive the ₹0 spend lift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960120"/>
            <a:ext cx="1371600" cy="0"/>
          </a:xfrm>
          <a:prstGeom prst="line">
            <a:avLst/>
          </a:prstGeom>
          <a:ln w="317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74320" y="1188720"/>
            <a:ext cx="658368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234440"/>
            <a:ext cx="6583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0B2545"/>
                </a:solidFill>
                <a:latin typeface="Calibri"/>
              </a:rPr>
              <a:t>PERFORMANCE &amp; ENGAGEMENT — TODAY VS TARGET</a:t>
            </a:r>
          </a:p>
        </p:txBody>
      </p:sp>
      <p:pic>
        <p:nvPicPr>
          <p:cNvPr id="12" name="Picture 11" descr="homepage_pe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00200"/>
            <a:ext cx="6309360" cy="21031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995160" y="1188720"/>
            <a:ext cx="493776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1234440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0B2545"/>
                </a:solidFill>
                <a:latin typeface="Calibri"/>
              </a:rPr>
              <a:t>SPECIFIC ISSUES IN THE BRIEF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1600200"/>
            <a:ext cx="4663440" cy="24688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0" y="1600200"/>
            <a:ext cx="36576" cy="24688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42048" y="1600200"/>
            <a:ext cx="196596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172A"/>
                </a:solidFill>
                <a:latin typeface="Calibri"/>
              </a:rPr>
              <a:t>LCP at 3.9s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1600200"/>
            <a:ext cx="26060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334155"/>
                </a:solidFill>
                <a:latin typeface="Calibri"/>
              </a:rPr>
              <a:t>vs 2.5s target  ·  −7-10% conversion / sec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0" y="1869948"/>
            <a:ext cx="4663440" cy="24688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0" y="1869948"/>
            <a:ext cx="36576" cy="24688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42048" y="1869948"/>
            <a:ext cx="196596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172A"/>
                </a:solidFill>
                <a:latin typeface="Calibri"/>
              </a:rPr>
              <a:t>INP at 260ms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1869948"/>
            <a:ext cx="26060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334155"/>
                </a:solidFill>
                <a:latin typeface="Calibri"/>
              </a:rPr>
              <a:t>vs &lt;200ms target  ·  laggy interaction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2139696"/>
            <a:ext cx="4663440" cy="24688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32320" y="2139696"/>
            <a:ext cx="36576" cy="24688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42048" y="2139696"/>
            <a:ext cx="196596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172A"/>
                </a:solidFill>
                <a:latin typeface="Calibri"/>
              </a:rPr>
              <a:t>Avg scroll depth 51.95%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139696"/>
            <a:ext cx="26060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334155"/>
                </a:solidFill>
                <a:latin typeface="Calibri"/>
              </a:rPr>
              <a:t>form below fold; most users never see CTA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0" y="2409444"/>
            <a:ext cx="4663440" cy="24688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0" y="2409444"/>
            <a:ext cx="36576" cy="24688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42048" y="2409444"/>
            <a:ext cx="196596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172A"/>
                </a:solidFill>
                <a:latin typeface="Calibri"/>
              </a:rPr>
              <a:t>Avg active time 45 sec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2409444"/>
            <a:ext cx="26060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334155"/>
                </a:solidFill>
                <a:latin typeface="Calibri"/>
              </a:rPr>
              <a:t>insufficient to absorb 4 competing CTAs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0" y="2679192"/>
            <a:ext cx="4663440" cy="24688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0" y="2679192"/>
            <a:ext cx="36576" cy="24688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42048" y="2679192"/>
            <a:ext cx="196596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172A"/>
                </a:solidFill>
                <a:latin typeface="Calibri"/>
              </a:rPr>
              <a:t>129 sessions JS error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2679192"/>
            <a:ext cx="26060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334155"/>
                </a:solidFill>
                <a:latin typeface="Calibri"/>
              </a:rPr>
              <a:t>1.86%  ·  "undefined is not an object"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0" y="2948940"/>
            <a:ext cx="4663440" cy="24688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132320" y="2948940"/>
            <a:ext cx="36576" cy="24688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42048" y="2948940"/>
            <a:ext cx="196596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172A"/>
                </a:solidFill>
                <a:latin typeface="Calibri"/>
              </a:rPr>
              <a:t>4 competing CTAs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2948940"/>
            <a:ext cx="26060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334155"/>
                </a:solidFill>
                <a:latin typeface="Calibri"/>
              </a:rPr>
              <a:t>Subscribe / Chapters / Teachings / Learning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32320" y="3218688"/>
            <a:ext cx="4663440" cy="24688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132320" y="3218688"/>
            <a:ext cx="36576" cy="24688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42048" y="3218688"/>
            <a:ext cx="196596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172A"/>
                </a:solidFill>
                <a:latin typeface="Calibri"/>
              </a:rPr>
              <a:t>Social-proof contradiction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20" y="3218688"/>
            <a:ext cx="26060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334155"/>
                </a:solidFill>
                <a:latin typeface="Calibri"/>
              </a:rPr>
              <a:t>"4,000+" vs "12,000+" on same page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32320" y="3488436"/>
            <a:ext cx="4663440" cy="24688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132320" y="3488436"/>
            <a:ext cx="36576" cy="24688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42048" y="3488436"/>
            <a:ext cx="196596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172A"/>
                </a:solidFill>
                <a:latin typeface="Calibri"/>
              </a:rPr>
              <a:t>Generic hero tagline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89720" y="3488436"/>
            <a:ext cx="26060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334155"/>
                </a:solidFill>
                <a:latin typeface="Calibri"/>
              </a:rPr>
              <a:t>"Ancient Wisdom, Timeless Truth" says nothing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3931920"/>
            <a:ext cx="658368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3977639"/>
            <a:ext cx="6583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0B2545"/>
                </a:solidFill>
                <a:latin typeface="Calibri"/>
              </a:rPr>
              <a:t>8 HOMEPAGE FIXES — RANKED BY EXPECTED IMPACT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4343400"/>
            <a:ext cx="6309360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11480" y="4343400"/>
            <a:ext cx="457200" cy="237744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" y="4343400"/>
            <a:ext cx="4572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" y="4343400"/>
            <a:ext cx="41148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Move subscribe form ABOVE the fold (mobile)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74920" y="4343400"/>
            <a:ext cx="16002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1" i="0">
                <a:solidFill>
                  <a:srgbClr val="15803D"/>
                </a:solidFill>
                <a:latin typeface="Calibri"/>
              </a:rPr>
              <a:t>+30% reach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" y="4594860"/>
            <a:ext cx="6309360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1480" y="4594860"/>
            <a:ext cx="457200" cy="237744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" y="4594860"/>
            <a:ext cx="4572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0120" y="4594860"/>
            <a:ext cx="41148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Replace hero with benefit-first promise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74920" y="4594860"/>
            <a:ext cx="16002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1" i="0">
                <a:solidFill>
                  <a:srgbClr val="15803D"/>
                </a:solidFill>
                <a:latin typeface="Calibri"/>
              </a:rPr>
              <a:t>+15% relevance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4846320"/>
            <a:ext cx="6309360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11480" y="4846320"/>
            <a:ext cx="457200" cy="237744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1480" y="4846320"/>
            <a:ext cx="4572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0120" y="4846320"/>
            <a:ext cx="41148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Kill 3 competing CTAs — keep ONLY Subscribe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74920" y="4846320"/>
            <a:ext cx="16002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1" i="0">
                <a:solidFill>
                  <a:srgbClr val="15803D"/>
                </a:solidFill>
                <a:latin typeface="Calibri"/>
              </a:rPr>
              <a:t>+18% focus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1480" y="5097780"/>
            <a:ext cx="6309360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11480" y="5097780"/>
            <a:ext cx="457200" cy="237744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1480" y="5097780"/>
            <a:ext cx="4572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0120" y="5097780"/>
            <a:ext cx="41148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Show real WhatsApp message mock next to form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74920" y="5097780"/>
            <a:ext cx="16002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1" i="0">
                <a:solidFill>
                  <a:srgbClr val="15803D"/>
                </a:solidFill>
                <a:latin typeface="Calibri"/>
              </a:rPr>
              <a:t>+12% trust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" y="5349240"/>
            <a:ext cx="6309360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11480" y="5349240"/>
            <a:ext cx="457200" cy="237744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11480" y="5349240"/>
            <a:ext cx="4572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0120" y="5349240"/>
            <a:ext cx="41148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Reconcile social proof — pick ONE number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74920" y="5349240"/>
            <a:ext cx="16002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1" i="0">
                <a:solidFill>
                  <a:srgbClr val="15803D"/>
                </a:solidFill>
                <a:latin typeface="Calibri"/>
              </a:rPr>
              <a:t>+8% credibility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1480" y="5600700"/>
            <a:ext cx="6309360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11480" y="5600700"/>
            <a:ext cx="457200" cy="237744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11480" y="5600700"/>
            <a:ext cx="4572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0120" y="5600700"/>
            <a:ext cx="41148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Compress hero · target LCP &lt; 2.5s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074920" y="5600700"/>
            <a:ext cx="16002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1" i="0">
                <a:solidFill>
                  <a:srgbClr val="15803D"/>
                </a:solidFill>
                <a:latin typeface="Calibri"/>
              </a:rPr>
              <a:t>+7-10% / sec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11480" y="5852160"/>
            <a:ext cx="6309360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11480" y="5852160"/>
            <a:ext cx="457200" cy="237744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11480" y="5852160"/>
            <a:ext cx="4572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60120" y="5852160"/>
            <a:ext cx="41148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Resolve "undefined" JS error (129 sessions)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74920" y="5852160"/>
            <a:ext cx="16002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1" i="0">
                <a:solidFill>
                  <a:srgbClr val="15803D"/>
                </a:solidFill>
                <a:latin typeface="Calibri"/>
              </a:rPr>
              <a:t>+1.86% recovery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11480" y="6103620"/>
            <a:ext cx="6309360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11480" y="6103620"/>
            <a:ext cx="457200" cy="237744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11480" y="6103620"/>
            <a:ext cx="4572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60120" y="6103620"/>
            <a:ext cx="41148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Move Gita resources to POST-subscribe page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074920" y="6103620"/>
            <a:ext cx="16002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1" i="0">
                <a:solidFill>
                  <a:srgbClr val="15803D"/>
                </a:solidFill>
                <a:latin typeface="Calibri"/>
              </a:rPr>
              <a:t>stops free leakage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995160" y="3931920"/>
            <a:ext cx="493776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132320" y="3977639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0B2545"/>
                </a:solidFill>
                <a:latin typeface="Calibri"/>
              </a:rPr>
              <a:t>DAY 1/2/3 TRIAL ACTIVATION ARC  ·  WHATSAPP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132320" y="4343400"/>
            <a:ext cx="4663440" cy="38404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132320" y="4343400"/>
            <a:ext cx="36576" cy="3840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242048" y="4343400"/>
            <a:ext cx="77724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D97706"/>
                </a:solidFill>
                <a:latin typeface="Calibri"/>
              </a:rPr>
              <a:t>T = 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028431" y="4343400"/>
            <a:ext cx="109728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B2545"/>
                </a:solidFill>
                <a:latin typeface="Calibri"/>
              </a:rPr>
              <a:t>Sign-up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144000" y="4343400"/>
            <a:ext cx="260604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334155"/>
                </a:solidFill>
                <a:latin typeface="Calibri"/>
              </a:rPr>
              <a:t>Instant WhatsApp: "Your Gita journey starts tomorrow at 8 AM 🙏"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132320" y="4750308"/>
            <a:ext cx="4663440" cy="38404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132320" y="4750308"/>
            <a:ext cx="36576" cy="384048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242048" y="4750308"/>
            <a:ext cx="77724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B2545"/>
                </a:solidFill>
                <a:latin typeface="Calibri"/>
              </a:rPr>
              <a:t>DAY 1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028431" y="4750308"/>
            <a:ext cx="109728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B2545"/>
                </a:solidFill>
                <a:latin typeface="Calibri"/>
              </a:rPr>
              <a:t>8 AM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144000" y="4750308"/>
            <a:ext cx="260604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334155"/>
                </a:solidFill>
                <a:latin typeface="Calibri"/>
              </a:rPr>
              <a:t>First shlok + permission. "For 3 days, this is completely free."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132320" y="5157216"/>
            <a:ext cx="4663440" cy="38404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7132320" y="5157216"/>
            <a:ext cx="36576" cy="38404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242048" y="5157216"/>
            <a:ext cx="77724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E7490"/>
                </a:solidFill>
                <a:latin typeface="Calibri"/>
              </a:rPr>
              <a:t>DAY 2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028431" y="5157216"/>
            <a:ext cx="109728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B2545"/>
                </a:solidFill>
                <a:latin typeface="Calibri"/>
              </a:rPr>
              <a:t>8 AM + 7 PM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144000" y="5157216"/>
            <a:ext cx="260604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334155"/>
                </a:solidFill>
                <a:latin typeface="Calibri"/>
              </a:rPr>
              <a:t>Shlok + evening preview of next 5 verses. Annual upsell teaser.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132320" y="5564124"/>
            <a:ext cx="4663440" cy="38404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7132320" y="5564124"/>
            <a:ext cx="36576" cy="38404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242048" y="5564124"/>
            <a:ext cx="77724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6D28D9"/>
                </a:solidFill>
                <a:latin typeface="Calibri"/>
              </a:rPr>
              <a:t>DAY 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028431" y="5564124"/>
            <a:ext cx="109728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B2545"/>
                </a:solidFill>
                <a:latin typeface="Calibri"/>
              </a:rPr>
              <a:t>Pre-charge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144000" y="5564124"/>
            <a:ext cx="260604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334155"/>
                </a:solidFill>
                <a:latin typeface="Calibri"/>
              </a:rPr>
              <a:t>"Trial ends today. ₹79 will be charged. Reply STOP to cancel."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132320" y="5971032"/>
            <a:ext cx="4663440" cy="38404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7132320" y="5971032"/>
            <a:ext cx="36576" cy="38404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242048" y="5971032"/>
            <a:ext cx="77724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15803D"/>
                </a:solidFill>
                <a:latin typeface="Calibri"/>
              </a:rPr>
              <a:t>T+48H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28431" y="5971032"/>
            <a:ext cx="109728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B2545"/>
                </a:solidFill>
                <a:latin typeface="Calibri"/>
              </a:rPr>
              <a:t>Cancel re-engage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144000" y="5971032"/>
            <a:ext cx="260604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334155"/>
                </a:solidFill>
                <a:latin typeface="Calibri"/>
              </a:rPr>
              <a:t>"Your spot is still here." → 15-20% reactivation.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 i="1">
                <a:solidFill>
                  <a:srgbClr val="64748B"/>
                </a:solidFill>
                <a:latin typeface="Calibri"/>
              </a:rPr>
              <a:t>SOURCE  ·  Glido Labs analytics: LCP 3.9s, INP 260ms, scroll 51.95%, JS errors 1.86% | Google Web Vitals | Nielsen Norman Group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B2545"/>
                </a:solidFill>
                <a:latin typeface="Calibri"/>
              </a:rPr>
              <a:t>BHAGAVAD GITA DAILY  ·  STRATEGY &amp; GROWTH</a:t>
            </a:r>
          </a:p>
        </p:txBody>
      </p:sp>
      <p:sp>
        <p:nvSpPr>
          <p:cNvPr id="5" name="Rectangle 4"/>
          <p:cNvSpPr/>
          <p:nvPr/>
        </p:nvSpPr>
        <p:spPr>
          <a:xfrm>
            <a:off x="8762695" y="91440"/>
            <a:ext cx="2560320" cy="25603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62695" y="91440"/>
            <a:ext cx="25603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AREA 2  ·  SCALING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14455" y="91440"/>
            <a:ext cx="5029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6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57200"/>
            <a:ext cx="11643055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B2545"/>
                </a:solidFill>
                <a:latin typeface="Calibri"/>
              </a:rPr>
              <a:t>Lift trials from 2-3/day to 20-30/day in 13 weeks via 5 sequenced channels — 80% organic, paid is the LAST lever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960120"/>
            <a:ext cx="1371600" cy="0"/>
          </a:xfrm>
          <a:prstGeom prst="line">
            <a:avLst/>
          </a:prstGeom>
          <a:ln w="317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74320" y="1188720"/>
            <a:ext cx="685800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234440"/>
            <a:ext cx="68580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0B2545"/>
                </a:solidFill>
                <a:latin typeface="Calibri"/>
              </a:rPr>
              <a:t>TRIAL VOLUME RAMP — WK0 → WK13 BY CHANNEL ACTIVATION</a:t>
            </a:r>
          </a:p>
        </p:txBody>
      </p:sp>
      <p:pic>
        <p:nvPicPr>
          <p:cNvPr id="12" name="Picture 11" descr="trial_ra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00200"/>
            <a:ext cx="6583680" cy="23317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269480" y="1188720"/>
            <a:ext cx="466344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1234440"/>
            <a:ext cx="46634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0B2545"/>
                </a:solidFill>
                <a:latin typeface="Calibri"/>
              </a:rPr>
              <a:t>PER-SUB UNIT ECONOMICS  ·  YEAR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1691640"/>
            <a:ext cx="438912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79" y="1691640"/>
            <a:ext cx="29260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334155"/>
                </a:solidFill>
                <a:latin typeface="Calibri"/>
              </a:rPr>
              <a:t>Revenue / sub / year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1691640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1" i="0">
                <a:solidFill>
                  <a:srgbClr val="0B2545"/>
                </a:solidFill>
                <a:latin typeface="Calibri"/>
              </a:rPr>
              <a:t>₹948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1979676"/>
            <a:ext cx="438912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79" y="1979676"/>
            <a:ext cx="29260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334155"/>
                </a:solidFill>
                <a:latin typeface="Calibri"/>
              </a:rPr>
              <a:t>Annual blend (avg)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1979676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1" i="0">
                <a:solidFill>
                  <a:srgbClr val="0B2545"/>
                </a:solidFill>
                <a:latin typeface="Calibri"/>
              </a:rPr>
              <a:t>₹823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2267712"/>
            <a:ext cx="438912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79" y="2267712"/>
            <a:ext cx="29260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334155"/>
                </a:solidFill>
                <a:latin typeface="Calibri"/>
              </a:rPr>
              <a:t>Gross margin per sub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2267712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1" i="0">
                <a:solidFill>
                  <a:srgbClr val="15803D"/>
                </a:solidFill>
                <a:latin typeface="Calibri"/>
              </a:rPr>
              <a:t>85.5%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6640" y="2555748"/>
            <a:ext cx="438912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79" y="2555748"/>
            <a:ext cx="29260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334155"/>
                </a:solidFill>
                <a:latin typeface="Calibri"/>
              </a:rPr>
              <a:t>Blended CAC (Y1)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2555748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1" i="0">
                <a:solidFill>
                  <a:srgbClr val="D97706"/>
                </a:solidFill>
                <a:latin typeface="Calibri"/>
              </a:rPr>
              <a:t>₹125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0" y="2843784"/>
            <a:ext cx="438912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79" y="2843784"/>
            <a:ext cx="29260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334155"/>
                </a:solidFill>
                <a:latin typeface="Calibri"/>
              </a:rPr>
              <a:t>Payback period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2843784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1" i="0">
                <a:solidFill>
                  <a:srgbClr val="15803D"/>
                </a:solidFill>
                <a:latin typeface="Calibri"/>
              </a:rPr>
              <a:t>1.6 mo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06640" y="3131820"/>
            <a:ext cx="438912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79" y="3131820"/>
            <a:ext cx="29260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334155"/>
                </a:solidFill>
                <a:latin typeface="Calibri"/>
              </a:rPr>
              <a:t>LTV @ 8% churn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3131820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1" i="0">
                <a:solidFill>
                  <a:srgbClr val="0B2545"/>
                </a:solidFill>
                <a:latin typeface="Calibri"/>
              </a:rPr>
              <a:t>₹987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06640" y="3419856"/>
            <a:ext cx="438912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79" y="3419856"/>
            <a:ext cx="29260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334155"/>
                </a:solidFill>
                <a:latin typeface="Calibri"/>
              </a:rPr>
              <a:t>LTV / CAC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3419856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1" i="0">
                <a:solidFill>
                  <a:srgbClr val="15803D"/>
                </a:solidFill>
                <a:latin typeface="Calibri"/>
              </a:rPr>
              <a:t>7.9×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06640" y="3707892"/>
            <a:ext cx="438912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79" y="3707892"/>
            <a:ext cx="29260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334155"/>
                </a:solidFill>
                <a:latin typeface="Calibri"/>
              </a:rPr>
              <a:t>True contribution / sub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3707892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1" i="0">
                <a:solidFill>
                  <a:srgbClr val="15803D"/>
                </a:solidFill>
                <a:latin typeface="Calibri"/>
              </a:rPr>
              <a:t>₹671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160520"/>
            <a:ext cx="7772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4206240"/>
            <a:ext cx="77724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0B2545"/>
                </a:solidFill>
                <a:latin typeface="Calibri"/>
              </a:rPr>
              <a:t>5-CHANNEL ACQUISITION MATRIX  ·  TARGET BLENDED CAC &lt; ₹150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4572000"/>
            <a:ext cx="7589520" cy="31089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4572000"/>
            <a:ext cx="21031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CHANNEL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14600" y="4572000"/>
            <a:ext cx="3337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MECHANISM (INDIA-GROUNDED)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52160" y="4572000"/>
            <a:ext cx="7315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BUDGET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4572000"/>
            <a:ext cx="7772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TRIAL CAC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0920" y="4572000"/>
            <a:ext cx="64008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DAILY TRIALS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4882896"/>
            <a:ext cx="75895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4882896"/>
            <a:ext cx="21031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B2545"/>
                </a:solidFill>
                <a:latin typeface="Calibri"/>
              </a:rPr>
              <a:t>DM AUTOMATION (IG)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14600" y="4882896"/>
            <a:ext cx="3337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 i="0">
                <a:solidFill>
                  <a:srgbClr val="334155"/>
                </a:solidFill>
                <a:latin typeface="Calibri"/>
              </a:rPr>
              <a:t>ManyChat "GITA" trigger → auto-DM with form link.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52160" y="4882896"/>
            <a:ext cx="7315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15803D"/>
                </a:solidFill>
                <a:latin typeface="Calibri"/>
              </a:rPr>
              <a:t>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0" y="4882896"/>
            <a:ext cx="7772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D97706"/>
                </a:solidFill>
                <a:latin typeface="Calibri"/>
              </a:rPr>
              <a:t>₹0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60920" y="4882896"/>
            <a:ext cx="64008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15803D"/>
                </a:solidFill>
                <a:latin typeface="Calibri"/>
              </a:rPr>
              <a:t>8-10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5193792"/>
            <a:ext cx="758952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5193792"/>
            <a:ext cx="21031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B2545"/>
                </a:solidFill>
                <a:latin typeface="Calibri"/>
              </a:rPr>
              <a:t>DAILY REELS + YT SHORTS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14600" y="5193792"/>
            <a:ext cx="3337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 i="0">
                <a:solidFill>
                  <a:srgbClr val="334155"/>
                </a:solidFill>
                <a:latin typeface="Calibri"/>
              </a:rPr>
              <a:t>1 Reel/day on "Gita for [anxiety/exam/heartbreak]".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52160" y="5193792"/>
            <a:ext cx="7315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15803D"/>
                </a:solidFill>
                <a:latin typeface="Calibri"/>
              </a:rPr>
              <a:t>0%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0" y="5193792"/>
            <a:ext cx="7772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D97706"/>
                </a:solidFill>
                <a:latin typeface="Calibri"/>
              </a:rPr>
              <a:t>₹0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60920" y="5193792"/>
            <a:ext cx="64008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15803D"/>
                </a:solidFill>
                <a:latin typeface="Calibri"/>
              </a:rPr>
              <a:t>5-7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5504688"/>
            <a:ext cx="75895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5504688"/>
            <a:ext cx="21031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B2545"/>
                </a:solidFill>
                <a:latin typeface="Calibri"/>
              </a:rPr>
              <a:t>MICRO-CREATOR COLLABS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14600" y="5504688"/>
            <a:ext cx="3337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 i="0">
                <a:solidFill>
                  <a:srgbClr val="334155"/>
                </a:solidFill>
                <a:latin typeface="Calibri"/>
              </a:rPr>
              <a:t>20-30 spiritual creators × 30-day free trial.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852160" y="5504688"/>
            <a:ext cx="7315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B91C1C"/>
                </a:solidFill>
                <a:latin typeface="Calibri"/>
              </a:rPr>
              <a:t>15%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83680" y="5504688"/>
            <a:ext cx="7772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D97706"/>
                </a:solidFill>
                <a:latin typeface="Calibri"/>
              </a:rPr>
              <a:t>₹40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60920" y="5504688"/>
            <a:ext cx="64008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15803D"/>
                </a:solidFill>
                <a:latin typeface="Calibri"/>
              </a:rPr>
              <a:t>4-6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11480" y="5815584"/>
            <a:ext cx="758952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1480" y="5815584"/>
            <a:ext cx="21031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B2545"/>
                </a:solidFill>
                <a:latin typeface="Calibri"/>
              </a:rPr>
              <a:t>WHATSAPP FORWARD LOOP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514600" y="5815584"/>
            <a:ext cx="3337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 i="0">
                <a:solidFill>
                  <a:srgbClr val="334155"/>
                </a:solidFill>
                <a:latin typeface="Calibri"/>
              </a:rPr>
              <a:t>Daily message: "Forward to someone who needs this 🙏"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52160" y="5815584"/>
            <a:ext cx="7315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B91C1C"/>
                </a:solidFill>
                <a:latin typeface="Calibri"/>
              </a:rPr>
              <a:t>5%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83680" y="5815584"/>
            <a:ext cx="7772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D97706"/>
                </a:solidFill>
                <a:latin typeface="Calibri"/>
              </a:rPr>
              <a:t>₹0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60920" y="5815584"/>
            <a:ext cx="64008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15803D"/>
                </a:solidFill>
                <a:latin typeface="Calibri"/>
              </a:rPr>
              <a:t>3-4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11480" y="6126480"/>
            <a:ext cx="75895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1480" y="6126480"/>
            <a:ext cx="21031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B2545"/>
                </a:solidFill>
                <a:latin typeface="Calibri"/>
              </a:rPr>
              <a:t>META CTWA (M3+ ONLY)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514600" y="6126480"/>
            <a:ext cx="3337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 i="0">
                <a:solidFill>
                  <a:srgbClr val="334155"/>
                </a:solidFill>
                <a:latin typeface="Calibri"/>
              </a:rPr>
              <a:t>Click-to-WhatsApp ads · lookalike of paid base.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852160" y="6126480"/>
            <a:ext cx="7315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B91C1C"/>
                </a:solidFill>
                <a:latin typeface="Calibri"/>
              </a:rPr>
              <a:t>80%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0" y="6126480"/>
            <a:ext cx="7772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D97706"/>
                </a:solidFill>
                <a:latin typeface="Calibri"/>
              </a:rPr>
              <a:t>₹150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60920" y="6126480"/>
            <a:ext cx="64008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15803D"/>
                </a:solidFill>
                <a:latin typeface="Calibri"/>
              </a:rPr>
              <a:t>2-3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183879" y="4160520"/>
            <a:ext cx="3749039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321039" y="4206240"/>
            <a:ext cx="3749039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0B2545"/>
                </a:solidFill>
                <a:latin typeface="Calibri"/>
              </a:rPr>
              <a:t>DUAL VIRAL LOOPS  ·  TARGET K &gt; 1.2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321040" y="4572000"/>
            <a:ext cx="352044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321040" y="4572000"/>
            <a:ext cx="36576" cy="5943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412480" y="4608576"/>
            <a:ext cx="33832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E7490"/>
                </a:solidFill>
                <a:latin typeface="Calibri"/>
              </a:rPr>
              <a:t>WHATSAPP FORWARD LOOP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12480" y="4809744"/>
            <a:ext cx="33832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334155"/>
                </a:solidFill>
                <a:latin typeface="Calibri"/>
              </a:rPr>
              <a:t>116 active × 28 messages = 3,248 forward-touches/month potential.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321040" y="5212080"/>
            <a:ext cx="352044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321040" y="5212080"/>
            <a:ext cx="36576" cy="5943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412480" y="5248656"/>
            <a:ext cx="33832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6D28D9"/>
                </a:solidFill>
                <a:latin typeface="Calibri"/>
              </a:rPr>
              <a:t>CREATOR AUDIENCE BORROW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412480" y="5449824"/>
            <a:ext cx="33832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334155"/>
                </a:solidFill>
                <a:latin typeface="Calibri"/>
              </a:rPr>
              <a:t>30-day free trial offered to micro-creator audiences. One quality collab → 500-1,000 trials.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321040" y="5852160"/>
            <a:ext cx="352044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321040" y="5852160"/>
            <a:ext cx="36576" cy="5943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412480" y="5888736"/>
            <a:ext cx="33832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D97706"/>
                </a:solidFill>
                <a:latin typeface="Calibri"/>
              </a:rPr>
              <a:t>FAMILY-PACK SHARE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412480" y="6089904"/>
            <a:ext cx="33832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334155"/>
                </a:solidFill>
                <a:latin typeface="Calibri"/>
              </a:rPr>
              <a:t>₹149 family pack covers 5 phones — built-in word-of-mouth via household.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 i="1">
                <a:solidFill>
                  <a:srgbClr val="64748B"/>
                </a:solidFill>
                <a:latin typeface="Calibri"/>
              </a:rPr>
              <a:t>SOURCE  ·  Glido Labs case | ManyChat IG conversion (2024) | Meta India CTWA benchmarks | Sequoia India Subscription Unit Economics Guide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B2545"/>
                </a:solidFill>
                <a:latin typeface="Calibri"/>
              </a:rPr>
              <a:t>BHAGAVAD GITA DAILY  ·  STRATEGY &amp; GROWTH</a:t>
            </a:r>
          </a:p>
        </p:txBody>
      </p:sp>
      <p:sp>
        <p:nvSpPr>
          <p:cNvPr id="5" name="Rectangle 4"/>
          <p:cNvSpPr/>
          <p:nvPr/>
        </p:nvSpPr>
        <p:spPr>
          <a:xfrm>
            <a:off x="8762695" y="91440"/>
            <a:ext cx="2560320" cy="25603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62695" y="91440"/>
            <a:ext cx="25603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AREA 2  ·  KPI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14455" y="91440"/>
            <a:ext cx="5029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7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57200"/>
            <a:ext cx="11643055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B2545"/>
                </a:solidFill>
                <a:latin typeface="Calibri"/>
              </a:rPr>
              <a:t>10 weekly metrics + 8 monthly metrics across 4 categories — every decision tied to one number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960120"/>
            <a:ext cx="1371600" cy="0"/>
          </a:xfrm>
          <a:prstGeom prst="line">
            <a:avLst/>
          </a:prstGeom>
          <a:ln w="317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74320" y="1188720"/>
            <a:ext cx="566928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188720"/>
            <a:ext cx="5669280" cy="3657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188720"/>
            <a:ext cx="56692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WEEKLY KPIS  ·  TRACK EVERY MONDAY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691640"/>
            <a:ext cx="5394960" cy="2743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691640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CAT.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1691640"/>
            <a:ext cx="24231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1691640"/>
            <a:ext cx="8686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TODAY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691640"/>
            <a:ext cx="10058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TARGET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1965960"/>
            <a:ext cx="53949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1965960"/>
            <a:ext cx="731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0E7490"/>
                </a:solidFill>
                <a:latin typeface="Calibri"/>
              </a:rPr>
              <a:t>FUNNEL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1965960"/>
            <a:ext cx="25146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Homepage → Form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1965960"/>
            <a:ext cx="868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B91C1C"/>
                </a:solidFill>
                <a:latin typeface="Calibri"/>
              </a:rPr>
              <a:t>18.2%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1965960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15803D"/>
                </a:solidFill>
                <a:latin typeface="Calibri"/>
              </a:rPr>
              <a:t>30%+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340864"/>
            <a:ext cx="5394960" cy="36576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340864"/>
            <a:ext cx="731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0E7490"/>
                </a:solidFill>
                <a:latin typeface="Calibri"/>
              </a:rPr>
              <a:t>FUNNEL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2340864"/>
            <a:ext cx="25146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Signup → Trial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40864"/>
            <a:ext cx="868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B91C1C"/>
                </a:solidFill>
                <a:latin typeface="Calibri"/>
              </a:rPr>
              <a:t>32.6%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2340864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15803D"/>
                </a:solidFill>
                <a:latin typeface="Calibri"/>
              </a:rPr>
              <a:t>60%+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2715768"/>
            <a:ext cx="53949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2715768"/>
            <a:ext cx="731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0E7490"/>
                </a:solidFill>
                <a:latin typeface="Calibri"/>
              </a:rPr>
              <a:t>FUNNEL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2715768"/>
            <a:ext cx="25146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Trial → Paid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4760" y="2715768"/>
            <a:ext cx="868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CA8A04"/>
                </a:solidFill>
                <a:latin typeface="Calibri"/>
              </a:rPr>
              <a:t>71.2%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2715768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15803D"/>
                </a:solidFill>
                <a:latin typeface="Calibri"/>
              </a:rPr>
              <a:t>85%+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3090672"/>
            <a:ext cx="5394960" cy="36576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090672"/>
            <a:ext cx="731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0E7490"/>
                </a:solidFill>
                <a:latin typeface="Calibri"/>
              </a:rPr>
              <a:t>ACQ.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4440" y="3090672"/>
            <a:ext cx="25146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Daily new trials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3090672"/>
            <a:ext cx="868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B91C1C"/>
                </a:solidFill>
                <a:latin typeface="Calibri"/>
              </a:rPr>
              <a:t>2-3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60" y="3090672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15803D"/>
                </a:solidFill>
                <a:latin typeface="Calibri"/>
              </a:rPr>
              <a:t>20-30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3465576"/>
            <a:ext cx="53949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3465576"/>
            <a:ext cx="731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0E7490"/>
                </a:solidFill>
                <a:latin typeface="Calibri"/>
              </a:rPr>
              <a:t>ACQ.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34440" y="3465576"/>
            <a:ext cx="25146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DM auto CTR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94760" y="3465576"/>
            <a:ext cx="868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09160" y="3465576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15803D"/>
                </a:solidFill>
                <a:latin typeface="Calibri"/>
              </a:rPr>
              <a:t>35%+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3840480"/>
            <a:ext cx="5394960" cy="36576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3840480"/>
            <a:ext cx="731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0E7490"/>
                </a:solidFill>
                <a:latin typeface="Calibri"/>
              </a:rPr>
              <a:t>ACQ.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34440" y="3840480"/>
            <a:ext cx="25146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Reels saves / share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94760" y="3840480"/>
            <a:ext cx="868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09160" y="3840480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15803D"/>
                </a:solidFill>
                <a:latin typeface="Calibri"/>
              </a:rPr>
              <a:t>Track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4215384"/>
            <a:ext cx="53949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4215384"/>
            <a:ext cx="731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0E7490"/>
                </a:solidFill>
                <a:latin typeface="Calibri"/>
              </a:rPr>
              <a:t>ACQ.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34440" y="4215384"/>
            <a:ext cx="25146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Creator collab pipeline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94760" y="4215384"/>
            <a:ext cx="868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B91C1C"/>
                </a:solidFill>
                <a:latin typeface="Calibri"/>
              </a:rP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09160" y="4215384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15803D"/>
                </a:solidFill>
                <a:latin typeface="Calibri"/>
              </a:rPr>
              <a:t>5+/wk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4590288"/>
            <a:ext cx="5394960" cy="36576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4590288"/>
            <a:ext cx="731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0E7490"/>
                </a:solidFill>
                <a:latin typeface="Calibri"/>
              </a:rPr>
              <a:t>ENG.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34440" y="4590288"/>
            <a:ext cx="25146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Day-1 message open rate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94760" y="4590288"/>
            <a:ext cx="868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09160" y="4590288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15803D"/>
                </a:solidFill>
                <a:latin typeface="Calibri"/>
              </a:rPr>
              <a:t>85%+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1480" y="4965192"/>
            <a:ext cx="53949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4965192"/>
            <a:ext cx="731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0E7490"/>
                </a:solidFill>
                <a:latin typeface="Calibri"/>
              </a:rPr>
              <a:t>ENG.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34440" y="4965192"/>
            <a:ext cx="25146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WhatsApp forward count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94760" y="4965192"/>
            <a:ext cx="868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09160" y="4965192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15803D"/>
                </a:solidFill>
                <a:latin typeface="Calibri"/>
              </a:rPr>
              <a:t>Track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5340096"/>
            <a:ext cx="5394960" cy="36576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5340096"/>
            <a:ext cx="731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0E7490"/>
                </a:solidFill>
                <a:latin typeface="Calibri"/>
              </a:rPr>
              <a:t>PROD.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34440" y="5340096"/>
            <a:ext cx="25146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JS error sessions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94760" y="5340096"/>
            <a:ext cx="868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B91C1C"/>
                </a:solidFill>
                <a:latin typeface="Calibri"/>
              </a:rPr>
              <a:t>129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09160" y="5340096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15803D"/>
                </a:solidFill>
                <a:latin typeface="Calibri"/>
              </a:rPr>
              <a:t>&lt;10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080760" y="1188720"/>
            <a:ext cx="603504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080760" y="1188720"/>
            <a:ext cx="603504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080760" y="1188720"/>
            <a:ext cx="60350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MONTHLY KPIS  ·  REVIEW ON 1ST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17920" y="1691640"/>
            <a:ext cx="5760720" cy="2743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63640" y="169164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CAT.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086600" y="1691640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509760" y="1691640"/>
            <a:ext cx="8686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TODAY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424160" y="1691640"/>
            <a:ext cx="15087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TARGET (30/60/90)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17920" y="1965960"/>
            <a:ext cx="576072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63640" y="1965960"/>
            <a:ext cx="7772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6D28D9"/>
                </a:solidFill>
                <a:latin typeface="Calibri"/>
              </a:rPr>
              <a:t>REV.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086600" y="1965960"/>
            <a:ext cx="24231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Active paid subscribers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509760" y="1965960"/>
            <a:ext cx="8686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B91C1C"/>
                </a:solidFill>
                <a:latin typeface="Calibri"/>
              </a:rPr>
              <a:t>116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424160" y="1965960"/>
            <a:ext cx="1508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15803D"/>
                </a:solidFill>
                <a:latin typeface="Calibri"/>
              </a:rPr>
              <a:t>230 / 480 / 800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217920" y="2391156"/>
            <a:ext cx="5760720" cy="41148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263640" y="2391156"/>
            <a:ext cx="7772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6D28D9"/>
                </a:solidFill>
                <a:latin typeface="Calibri"/>
              </a:rPr>
              <a:t>REV.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086600" y="2391156"/>
            <a:ext cx="24231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Blended monthly revenue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509760" y="2391156"/>
            <a:ext cx="8686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B91C1C"/>
                </a:solidFill>
                <a:latin typeface="Calibri"/>
              </a:rPr>
              <a:t>₹9.2K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424160" y="2391156"/>
            <a:ext cx="1508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15803D"/>
                </a:solidFill>
                <a:latin typeface="Calibri"/>
              </a:rPr>
              <a:t>₹22K / ₹70K / ₹1L+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217920" y="2816352"/>
            <a:ext cx="576072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263640" y="2816352"/>
            <a:ext cx="7772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6D28D9"/>
                </a:solidFill>
                <a:latin typeface="Calibri"/>
              </a:rPr>
              <a:t>REV.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086600" y="2816352"/>
            <a:ext cx="24231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ARPU per user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509760" y="2816352"/>
            <a:ext cx="8686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B91C1C"/>
                </a:solidFill>
                <a:latin typeface="Calibri"/>
              </a:rPr>
              <a:t>₹79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424160" y="2816352"/>
            <a:ext cx="1508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15803D"/>
                </a:solidFill>
                <a:latin typeface="Calibri"/>
              </a:rPr>
              <a:t>₹130+ blended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217920" y="3241548"/>
            <a:ext cx="5760720" cy="41148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263640" y="3241548"/>
            <a:ext cx="7772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6D28D9"/>
                </a:solidFill>
                <a:latin typeface="Calibri"/>
              </a:rPr>
              <a:t>ECON.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086600" y="3241548"/>
            <a:ext cx="24231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Blended CAC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509760" y="3241548"/>
            <a:ext cx="8686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424160" y="3241548"/>
            <a:ext cx="1508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15803D"/>
                </a:solidFill>
                <a:latin typeface="Calibri"/>
              </a:rPr>
              <a:t>&lt;₹150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217920" y="3666744"/>
            <a:ext cx="576072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263640" y="3666744"/>
            <a:ext cx="7772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6D28D9"/>
                </a:solidFill>
                <a:latin typeface="Calibri"/>
              </a:rPr>
              <a:t>ECON.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086600" y="3666744"/>
            <a:ext cx="24231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LTV @ current churn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509760" y="3666744"/>
            <a:ext cx="8686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B91C1C"/>
                </a:solidFill>
                <a:latin typeface="Calibri"/>
              </a:rPr>
              <a:t>₹268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424160" y="3666744"/>
            <a:ext cx="1508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15803D"/>
                </a:solidFill>
                <a:latin typeface="Calibri"/>
              </a:rPr>
              <a:t>₹987 (8% churn)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217920" y="4091940"/>
            <a:ext cx="5760720" cy="41148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263640" y="4091940"/>
            <a:ext cx="7772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6D28D9"/>
                </a:solidFill>
                <a:latin typeface="Calibri"/>
              </a:rPr>
              <a:t>ECON.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086600" y="4091940"/>
            <a:ext cx="24231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LTV / CAC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509760" y="4091940"/>
            <a:ext cx="8686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B91C1C"/>
                </a:solidFill>
                <a:latin typeface="Calibri"/>
              </a:rPr>
              <a:t>2.1×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424160" y="4091940"/>
            <a:ext cx="1508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15803D"/>
                </a:solidFill>
                <a:latin typeface="Calibri"/>
              </a:rPr>
              <a:t>7.9× target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217920" y="4517136"/>
            <a:ext cx="576072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263640" y="4517136"/>
            <a:ext cx="7772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6D28D9"/>
                </a:solidFill>
                <a:latin typeface="Calibri"/>
              </a:rPr>
              <a:t>CHURN.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086600" y="4517136"/>
            <a:ext cx="24231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Monthly churn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509760" y="4517136"/>
            <a:ext cx="8686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B91C1C"/>
                </a:solidFill>
                <a:latin typeface="Calibri"/>
              </a:rPr>
              <a:t>29%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424160" y="4517136"/>
            <a:ext cx="1508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15803D"/>
                </a:solidFill>
                <a:latin typeface="Calibri"/>
              </a:rPr>
              <a:t>&lt;8% by M3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217920" y="4942332"/>
            <a:ext cx="5760720" cy="41148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263640" y="4942332"/>
            <a:ext cx="7772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6D28D9"/>
                </a:solidFill>
                <a:latin typeface="Calibri"/>
              </a:rPr>
              <a:t>STACK.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086600" y="4942332"/>
            <a:ext cx="24231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Revenue from non-₹79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509760" y="4942332"/>
            <a:ext cx="8686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B91C1C"/>
                </a:solidFill>
                <a:latin typeface="Calibri"/>
              </a:rPr>
              <a:t>₹0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424160" y="4942332"/>
            <a:ext cx="1508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15803D"/>
                </a:solidFill>
                <a:latin typeface="Calibri"/>
              </a:rPr>
              <a:t>₹50K+ by M3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217920" y="5458968"/>
            <a:ext cx="5760720" cy="64008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355080" y="5504688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D97706"/>
                </a:solidFill>
                <a:latin typeface="Calibri"/>
              </a:rPr>
              <a:t>OPERATING CADENCE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355080" y="5751576"/>
            <a:ext cx="54864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FFFFFF"/>
                </a:solidFill>
                <a:latin typeface="Calibri"/>
              </a:rPr>
              <a:t>Daily standup on weekly KPIs · monthly board review on revenue + churn · quarterly LTV/CAC re-base.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 i="1">
                <a:solidFill>
                  <a:srgbClr val="64748B"/>
                </a:solidFill>
                <a:latin typeface="Calibri"/>
              </a:rPr>
              <a:t>SOURCE  ·  Glido Labs analytics + 18-metric KPI design ·  weekly cadence on funnel, monthly cadence on revenue + economics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B2545"/>
                </a:solidFill>
                <a:latin typeface="Calibri"/>
              </a:rPr>
              <a:t>BHAGAVAD GITA DAILY  ·  STRATEGY &amp; GROWTH</a:t>
            </a:r>
          </a:p>
        </p:txBody>
      </p:sp>
      <p:sp>
        <p:nvSpPr>
          <p:cNvPr id="5" name="Rectangle 4"/>
          <p:cNvSpPr/>
          <p:nvPr/>
        </p:nvSpPr>
        <p:spPr>
          <a:xfrm>
            <a:off x="8762695" y="91440"/>
            <a:ext cx="2560320" cy="25603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62695" y="91440"/>
            <a:ext cx="25603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AREA 3  ·  CONTENT-TO-MONETIZATION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14455" y="91440"/>
            <a:ext cx="5029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8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57200"/>
            <a:ext cx="11643055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B2545"/>
                </a:solidFill>
                <a:latin typeface="Calibri"/>
              </a:rPr>
              <a:t>Today, Instagram delivers what subscribers pay for — close the value gap and Instagram becomes a tease, not a substitute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960120"/>
            <a:ext cx="1371600" cy="0"/>
          </a:xfrm>
          <a:prstGeom prst="line">
            <a:avLst/>
          </a:prstGeom>
          <a:ln w="317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74320" y="1188720"/>
            <a:ext cx="11643055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234440"/>
            <a:ext cx="1164305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0B2545"/>
                </a:solidFill>
                <a:latin typeface="Calibri"/>
              </a:rPr>
              <a:t>FREE VS PAID CONTENT ARCHITECTURE — 5-DIMENSION VALUE GAP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645920"/>
            <a:ext cx="3840480" cy="292608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645920"/>
            <a:ext cx="3840480" cy="29260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66760" y="1645920"/>
            <a:ext cx="3520440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1645920"/>
            <a:ext cx="38404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DIMENSION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645920"/>
            <a:ext cx="38404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FREE  ·  Instagram (broadcast)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645920"/>
            <a:ext cx="35204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PAID  ·  WhatsApp (intimate ritual)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1938528"/>
            <a:ext cx="112014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1938528"/>
            <a:ext cx="38404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0B2545"/>
                </a:solidFill>
                <a:latin typeface="Calibri"/>
              </a:rPr>
              <a:t>Content depth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1938528"/>
            <a:ext cx="38404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Shlok image / verse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1938528"/>
            <a:ext cx="35204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D97706"/>
                </a:solidFill>
                <a:latin typeface="Calibri"/>
              </a:rPr>
              <a:t>Shlok + meaning + life application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231136"/>
            <a:ext cx="1120140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231136"/>
            <a:ext cx="38404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0B2545"/>
                </a:solidFill>
                <a:latin typeface="Calibri"/>
              </a:rPr>
              <a:t>Personalization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2231136"/>
            <a:ext cx="38404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One-to-many caption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2231136"/>
            <a:ext cx="35204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D97706"/>
                </a:solidFill>
                <a:latin typeface="Calibri"/>
              </a:rPr>
              <a:t>Reflection tied to today's verse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2523744"/>
            <a:ext cx="112014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2523744"/>
            <a:ext cx="38404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0B2545"/>
                </a:solidFill>
                <a:latin typeface="Calibri"/>
              </a:rPr>
              <a:t>Cadence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2523744"/>
            <a:ext cx="38404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Variable, algorithm-led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2523744"/>
            <a:ext cx="35204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D97706"/>
                </a:solidFill>
                <a:latin typeface="Calibri"/>
              </a:rPr>
              <a:t>8 AM, every morning. No exceptions.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2816352"/>
            <a:ext cx="1120140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2816352"/>
            <a:ext cx="38404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0B2545"/>
                </a:solidFill>
                <a:latin typeface="Calibri"/>
              </a:rPr>
              <a:t>Relationship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2816352"/>
            <a:ext cx="38404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Public broadcast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2816352"/>
            <a:ext cx="35204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D97706"/>
                </a:solidFill>
                <a:latin typeface="Calibri"/>
              </a:rPr>
              <a:t>Private, ritual, companion-like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108960"/>
            <a:ext cx="112014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3108960"/>
            <a:ext cx="38404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0B2545"/>
                </a:solidFill>
                <a:latin typeface="Calibri"/>
              </a:rPr>
              <a:t>Discoverability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280" y="3108960"/>
            <a:ext cx="38404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Anyone can find 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3108960"/>
            <a:ext cx="35204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D97706"/>
                </a:solidFill>
                <a:latin typeface="Calibri"/>
              </a:rPr>
              <a:t>Curated channel just for you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429000"/>
            <a:ext cx="11643055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3474720"/>
            <a:ext cx="1164305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0B2545"/>
                </a:solidFill>
                <a:latin typeface="Calibri"/>
              </a:rPr>
              <a:t>5 CONTENT CAMPAIGNS RANKED BY EXPECTED IMPACT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3886200"/>
            <a:ext cx="11368735" cy="29260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3886200"/>
            <a:ext cx="4114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3886200"/>
            <a:ext cx="3154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CAMPAIGN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23360" y="3886200"/>
            <a:ext cx="3749039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MECHANIC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18120" y="3886200"/>
            <a:ext cx="26974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EXPECTED IMPACT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61320" y="3886200"/>
            <a:ext cx="1188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PRIORITY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4178808"/>
            <a:ext cx="11368735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4178808"/>
            <a:ext cx="4114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 i="0">
                <a:solidFill>
                  <a:srgbClr val="6D28D9"/>
                </a:solidFill>
                <a:latin typeface="Calibri"/>
              </a:rPr>
              <a:t>01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78808"/>
            <a:ext cx="31546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0B2545"/>
                </a:solidFill>
                <a:latin typeface="Calibri"/>
              </a:rPr>
              <a:t>What is Krishna saying about your life right now?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23360" y="4178808"/>
            <a:ext cx="3749039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334155"/>
                </a:solidFill>
                <a:latin typeface="Calibri"/>
              </a:rPr>
              <a:t>Story poll: career / relationships / overthinking / lost. Auto-DM relevant shlok + trial link.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18120" y="4178808"/>
            <a:ext cx="26974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1">
                <a:solidFill>
                  <a:srgbClr val="64748B"/>
                </a:solidFill>
                <a:latin typeface="Calibri"/>
              </a:rPr>
              <a:t>Warms cold leads. Personalization signal. Drives trial intent.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61320" y="4178808"/>
            <a:ext cx="11887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CA8A04"/>
                </a:solidFill>
                <a:latin typeface="Calibri"/>
              </a:rPr>
              <a:t>★★★★★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4590288"/>
            <a:ext cx="11368735" cy="41148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" y="4590288"/>
            <a:ext cx="4114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 i="0">
                <a:solidFill>
                  <a:srgbClr val="6D28D9"/>
                </a:solidFill>
                <a:latin typeface="Calibri"/>
              </a:rPr>
              <a:t>02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" y="4590288"/>
            <a:ext cx="31546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0B2545"/>
                </a:solidFill>
                <a:latin typeface="Calibri"/>
              </a:rPr>
              <a:t>Subscriber Before &amp; After Reels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23360" y="4590288"/>
            <a:ext cx="3749039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334155"/>
                </a:solidFill>
                <a:latin typeface="Calibri"/>
              </a:rPr>
              <a:t>1-line testimonials from active 116. Format: situation → shlok → outcome.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18120" y="4590288"/>
            <a:ext cx="26974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1">
                <a:solidFill>
                  <a:srgbClr val="64748B"/>
                </a:solidFill>
                <a:latin typeface="Calibri"/>
              </a:rPr>
              <a:t>Native social proof, 2-3× reach uplift.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61320" y="4590288"/>
            <a:ext cx="11887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CA8A04"/>
                </a:solidFill>
                <a:latin typeface="Calibri"/>
              </a:rPr>
              <a:t>★★★★☆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1480" y="5001768"/>
            <a:ext cx="11368735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80" y="5001768"/>
            <a:ext cx="4114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 i="0">
                <a:solidFill>
                  <a:srgbClr val="6D28D9"/>
                </a:solidFill>
                <a:latin typeface="Calibri"/>
              </a:rPr>
              <a:t>03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8680" y="5001768"/>
            <a:ext cx="31546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0B2545"/>
                </a:solidFill>
                <a:latin typeface="Calibri"/>
              </a:rPr>
              <a:t>"Gita for [situation]" series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23360" y="5001768"/>
            <a:ext cx="3749039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334155"/>
                </a:solidFill>
                <a:latin typeface="Calibri"/>
              </a:rPr>
              <a:t>Anxiety, exams, heartbreak, Monday morning, quitting. Shareable + searchable.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18120" y="5001768"/>
            <a:ext cx="26974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1">
                <a:solidFill>
                  <a:srgbClr val="64748B"/>
                </a:solidFill>
                <a:latin typeface="Calibri"/>
              </a:rPr>
              <a:t>Drives both follower growth AND trial intent.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61320" y="5001768"/>
            <a:ext cx="11887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CA8A04"/>
                </a:solidFill>
                <a:latin typeface="Calibri"/>
              </a:rPr>
              <a:t>★★★★☆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1480" y="5413248"/>
            <a:ext cx="11368735" cy="41148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1480" y="5413248"/>
            <a:ext cx="4114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 i="0">
                <a:solidFill>
                  <a:srgbClr val="6D28D9"/>
                </a:solidFill>
                <a:latin typeface="Calibri"/>
              </a:rPr>
              <a:t>04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8680" y="5413248"/>
            <a:ext cx="31546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0B2545"/>
                </a:solidFill>
                <a:latin typeface="Calibri"/>
              </a:rPr>
              <a:t>200K Milestone Unlock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023360" y="5413248"/>
            <a:ext cx="3749039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334155"/>
                </a:solidFill>
                <a:latin typeface="Calibri"/>
              </a:rPr>
              <a:t>First 200 to DM 'GITA200' get 1 month free. PR pitch to spiritual media.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18120" y="5413248"/>
            <a:ext cx="26974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1">
                <a:solidFill>
                  <a:srgbClr val="64748B"/>
                </a:solidFill>
                <a:latin typeface="Calibri"/>
              </a:rPr>
              <a:t>Urgency, DM opt-ins, brand authority moment.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61320" y="5413248"/>
            <a:ext cx="11887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CA8A04"/>
                </a:solidFill>
                <a:latin typeface="Calibri"/>
              </a:rPr>
              <a:t>★★★☆☆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1480" y="5824728"/>
            <a:ext cx="11368735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11480" y="5824728"/>
            <a:ext cx="4114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 i="0">
                <a:solidFill>
                  <a:srgbClr val="6D28D9"/>
                </a:solidFill>
                <a:latin typeface="Calibri"/>
              </a:rPr>
              <a:t>05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68680" y="5824728"/>
            <a:ext cx="31546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0B2545"/>
                </a:solidFill>
                <a:latin typeface="Calibri"/>
              </a:rPr>
              <a:t>Festival gifting (Navratri/Diwali/Janmashtami)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023360" y="5824728"/>
            <a:ext cx="3749039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334155"/>
                </a:solidFill>
                <a:latin typeface="Calibri"/>
              </a:rPr>
              <a:t>Dedicated gift sub page. Spiritual gifting is real, underserved.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818120" y="5824728"/>
            <a:ext cx="26974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1">
                <a:solidFill>
                  <a:srgbClr val="64748B"/>
                </a:solidFill>
                <a:latin typeface="Calibri"/>
              </a:rPr>
              <a:t>100-200 subs/single push  ·  near-zero CAC.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61320" y="5824728"/>
            <a:ext cx="11887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CA8A04"/>
                </a:solidFill>
                <a:latin typeface="Calibri"/>
              </a:rPr>
              <a:t>★★★★☆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 i="1">
                <a:solidFill>
                  <a:srgbClr val="64748B"/>
                </a:solidFill>
                <a:latin typeface="Calibri"/>
              </a:rPr>
              <a:t>SOURCE  ·  Glido Labs IG analytics | ManyChat story poll → DM benchmarks | RedSeer 2024 spiritual e-commerce | Festival gifting volumes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B2545"/>
                </a:solidFill>
                <a:latin typeface="Calibri"/>
              </a:rPr>
              <a:t>BHAGAVAD GITA DAILY  ·  STRATEGY &amp; GROWTH</a:t>
            </a:r>
          </a:p>
        </p:txBody>
      </p:sp>
      <p:sp>
        <p:nvSpPr>
          <p:cNvPr id="5" name="Rectangle 4"/>
          <p:cNvSpPr/>
          <p:nvPr/>
        </p:nvSpPr>
        <p:spPr>
          <a:xfrm>
            <a:off x="8762695" y="91440"/>
            <a:ext cx="2560320" cy="25603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62695" y="91440"/>
            <a:ext cx="25603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AREA 4  ·  NEW REVENUE STREAMS  ·  KEY FOCUS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14455" y="91440"/>
            <a:ext cx="5029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9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57200"/>
            <a:ext cx="11643055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B2545"/>
                </a:solidFill>
                <a:latin typeface="Calibri"/>
              </a:rPr>
              <a:t>Single ₹79 SKU → 10-stream stack — ₹3.5L blended MRR by M12, where Core ₹79 falls to 39% of total revenue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960120"/>
            <a:ext cx="1371600" cy="0"/>
          </a:xfrm>
          <a:prstGeom prst="line">
            <a:avLst/>
          </a:prstGeom>
          <a:ln w="317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74320" y="1188720"/>
            <a:ext cx="731520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234440"/>
            <a:ext cx="73152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0B2545"/>
                </a:solidFill>
                <a:latin typeface="Calibri"/>
              </a:rPr>
              <a:t>10-STREAM REVENUE STACK  ·  ALL INDIA-GROUNDED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645920"/>
            <a:ext cx="7086600" cy="292608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645920"/>
            <a:ext cx="3657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645920"/>
            <a:ext cx="38404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STREAM  ·  WHAT WE SELL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1645920"/>
            <a:ext cx="731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PRICE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1645920"/>
            <a:ext cx="731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GO-LIVE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1645920"/>
            <a:ext cx="9144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M12 MONTHLY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1645920"/>
            <a:ext cx="5029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MARGIN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1938528"/>
            <a:ext cx="70866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1938528"/>
            <a:ext cx="36576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1938528"/>
            <a:ext cx="365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D97706"/>
                </a:solidFill>
                <a:latin typeface="Calibri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1938528"/>
            <a:ext cx="38404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0B2545"/>
                </a:solidFill>
                <a:latin typeface="Calibri"/>
              </a:rPr>
              <a:t>CORE  ·  Daily WhatsApp shlok (monthly)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1938528"/>
            <a:ext cx="7315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₹79/mo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1938528"/>
            <a:ext cx="7315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334155"/>
                </a:solidFill>
                <a:latin typeface="Calibri"/>
              </a:rPr>
              <a:t>Now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1938528"/>
            <a:ext cx="914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 i="0">
                <a:solidFill>
                  <a:srgbClr val="15803D"/>
                </a:solidFill>
                <a:latin typeface="Calibri"/>
              </a:rPr>
              <a:t>₹1.34L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1938528"/>
            <a:ext cx="5029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0E7490"/>
                </a:solidFill>
                <a:latin typeface="Calibri"/>
              </a:rPr>
              <a:t>85%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2350008"/>
            <a:ext cx="7086600" cy="41148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2350008"/>
            <a:ext cx="36576" cy="41148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2350008"/>
            <a:ext cx="365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0B2545"/>
                </a:solidFill>
                <a:latin typeface="Calibri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2350008"/>
            <a:ext cx="38404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0B2545"/>
                </a:solidFill>
                <a:latin typeface="Calibri"/>
              </a:rPr>
              <a:t>ANNUAL  ·  Daily WhatsApp prepaid (saves 26%)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2350008"/>
            <a:ext cx="7315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₹699/yr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2350008"/>
            <a:ext cx="7315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334155"/>
                </a:solidFill>
                <a:latin typeface="Calibri"/>
              </a:rPr>
              <a:t>Month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2350008"/>
            <a:ext cx="914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 i="0">
                <a:solidFill>
                  <a:srgbClr val="15803D"/>
                </a:solidFill>
                <a:latin typeface="Calibri"/>
              </a:rPr>
              <a:t>₹55K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2350008"/>
            <a:ext cx="5029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0E7490"/>
                </a:solidFill>
                <a:latin typeface="Calibri"/>
              </a:rPr>
              <a:t>92%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2761488"/>
            <a:ext cx="70866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1480" y="2761488"/>
            <a:ext cx="36576" cy="41148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2761488"/>
            <a:ext cx="365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0E7490"/>
                </a:solidFill>
                <a:latin typeface="Calibri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2761488"/>
            <a:ext cx="38404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0B2545"/>
                </a:solidFill>
                <a:latin typeface="Calibri"/>
              </a:rPr>
              <a:t>PDF GUIDES  ·  "Gita for Anxiety/Career/Heartbreak/Parenting/Money"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17720" y="2761488"/>
            <a:ext cx="7315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₹99-149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49240" y="2761488"/>
            <a:ext cx="7315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334155"/>
                </a:solidFill>
                <a:latin typeface="Calibri"/>
              </a:rPr>
              <a:t>Month 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60" y="2761488"/>
            <a:ext cx="914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 i="0">
                <a:solidFill>
                  <a:srgbClr val="15803D"/>
                </a:solidFill>
                <a:latin typeface="Calibri"/>
              </a:rPr>
              <a:t>₹18K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95160" y="2761488"/>
            <a:ext cx="5029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0E7490"/>
                </a:solidFill>
                <a:latin typeface="Calibri"/>
              </a:rPr>
              <a:t>97%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3172968"/>
            <a:ext cx="7086600" cy="41148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11480" y="3172968"/>
            <a:ext cx="36576" cy="4114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3172968"/>
            <a:ext cx="365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6D28D9"/>
                </a:solidFill>
                <a:latin typeface="Calibri"/>
              </a:rPr>
              <a:t>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3172968"/>
            <a:ext cx="38404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0B2545"/>
                </a:solidFill>
                <a:latin typeface="Calibri"/>
              </a:rPr>
              <a:t>PREMIUM  ·  Community + Q&amp;A with scholar (Telegram/Discord)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17720" y="3172968"/>
            <a:ext cx="7315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₹199/mo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49240" y="3172968"/>
            <a:ext cx="7315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334155"/>
                </a:solidFill>
                <a:latin typeface="Calibri"/>
              </a:rPr>
              <a:t>Month 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80760" y="3172968"/>
            <a:ext cx="914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 i="0">
                <a:solidFill>
                  <a:srgbClr val="15803D"/>
                </a:solidFill>
                <a:latin typeface="Calibri"/>
              </a:rPr>
              <a:t>₹26K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95160" y="3172968"/>
            <a:ext cx="5029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0E7490"/>
                </a:solidFill>
                <a:latin typeface="Calibri"/>
              </a:rPr>
              <a:t>75%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3584448"/>
            <a:ext cx="70866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11480" y="3584448"/>
            <a:ext cx="36576" cy="41148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" y="3584448"/>
            <a:ext cx="365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CA8A04"/>
                </a:solidFill>
                <a:latin typeface="Calibri"/>
              </a:rPr>
              <a:t>05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3584448"/>
            <a:ext cx="38404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0B2545"/>
                </a:solidFill>
                <a:latin typeface="Calibri"/>
              </a:rPr>
              <a:t>FESTIVAL/GIFT  ·  Diwali, Navratri, Janmashtami gift subscriptions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17720" y="3584448"/>
            <a:ext cx="7315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₹199-499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49240" y="3584448"/>
            <a:ext cx="7315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334155"/>
                </a:solidFill>
                <a:latin typeface="Calibri"/>
              </a:rPr>
              <a:t>Month 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80760" y="3584448"/>
            <a:ext cx="914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 i="0">
                <a:solidFill>
                  <a:srgbClr val="15803D"/>
                </a:solidFill>
                <a:latin typeface="Calibri"/>
              </a:rPr>
              <a:t>₹15K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95160" y="3584448"/>
            <a:ext cx="5029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0E7490"/>
                </a:solidFill>
                <a:latin typeface="Calibri"/>
              </a:rPr>
              <a:t>88%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3995928"/>
            <a:ext cx="7086600" cy="41148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11480" y="3995928"/>
            <a:ext cx="36576" cy="41148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1480" y="3995928"/>
            <a:ext cx="365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B91C1C"/>
                </a:solidFill>
                <a:latin typeface="Calibri"/>
              </a:rPr>
              <a:t>06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7240" y="3995928"/>
            <a:ext cx="38404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0B2545"/>
                </a:solidFill>
                <a:latin typeface="Calibri"/>
              </a:rPr>
              <a:t>PHYSICAL  ·  108-card Bhagavad Gita wisdom deck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17720" y="3995928"/>
            <a:ext cx="7315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₹599-699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49240" y="3995928"/>
            <a:ext cx="7315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334155"/>
                </a:solidFill>
                <a:latin typeface="Calibri"/>
              </a:rPr>
              <a:t>Month 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80760" y="3995928"/>
            <a:ext cx="914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 i="0">
                <a:solidFill>
                  <a:srgbClr val="15803D"/>
                </a:solidFill>
                <a:latin typeface="Calibri"/>
              </a:rPr>
              <a:t>₹12K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95160" y="3995928"/>
            <a:ext cx="5029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0E7490"/>
                </a:solidFill>
                <a:latin typeface="Calibri"/>
              </a:rPr>
              <a:t>55%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1480" y="4407408"/>
            <a:ext cx="70866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11480" y="4407408"/>
            <a:ext cx="36576" cy="4114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1480" y="4407408"/>
            <a:ext cx="365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15803D"/>
                </a:solidFill>
                <a:latin typeface="Calibri"/>
              </a:rPr>
              <a:t>07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7240" y="4407408"/>
            <a:ext cx="38404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0B2545"/>
                </a:solidFill>
                <a:latin typeface="Calibri"/>
              </a:rPr>
              <a:t>CORPORATE B2B  ·  Daily Gita for HR wellness (BFSI, FMCG, IT)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17720" y="4407408"/>
            <a:ext cx="7315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₹5K-15K/mo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49240" y="4407408"/>
            <a:ext cx="7315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334155"/>
                </a:solidFill>
                <a:latin typeface="Calibri"/>
              </a:rPr>
              <a:t>Month 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080760" y="4407408"/>
            <a:ext cx="914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 i="0">
                <a:solidFill>
                  <a:srgbClr val="15803D"/>
                </a:solidFill>
                <a:latin typeface="Calibri"/>
              </a:rPr>
              <a:t>₹70K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95160" y="4407408"/>
            <a:ext cx="5029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0E7490"/>
                </a:solidFill>
                <a:latin typeface="Calibri"/>
              </a:rPr>
              <a:t>80%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1480" y="4818888"/>
            <a:ext cx="7086600" cy="41148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11480" y="4818888"/>
            <a:ext cx="36576" cy="411480"/>
          </a:xfrm>
          <a:prstGeom prst="rect">
            <a:avLst/>
          </a:prstGeom>
          <a:solidFill>
            <a:srgbClr val="1E3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1480" y="4818888"/>
            <a:ext cx="365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1E3A66"/>
                </a:solidFill>
                <a:latin typeface="Calibri"/>
              </a:rPr>
              <a:t>08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4818888"/>
            <a:ext cx="38404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0B2545"/>
                </a:solidFill>
                <a:latin typeface="Calibri"/>
              </a:rPr>
              <a:t>FAMILY PACK  ·  3-5 phones, multi-language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617720" y="4818888"/>
            <a:ext cx="7315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₹149/mo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49240" y="4818888"/>
            <a:ext cx="7315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334155"/>
                </a:solidFill>
                <a:latin typeface="Calibri"/>
              </a:rPr>
              <a:t>Month 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080760" y="4818888"/>
            <a:ext cx="914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 i="0">
                <a:solidFill>
                  <a:srgbClr val="15803D"/>
                </a:solidFill>
                <a:latin typeface="Calibri"/>
              </a:rPr>
              <a:t>₹8K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995160" y="4818888"/>
            <a:ext cx="5029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0E7490"/>
                </a:solidFill>
                <a:latin typeface="Calibri"/>
              </a:rPr>
              <a:t>82%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11480" y="5230368"/>
            <a:ext cx="70866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11480" y="5230368"/>
            <a:ext cx="36576" cy="41148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11480" y="5230368"/>
            <a:ext cx="365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92400E"/>
                </a:solidFill>
                <a:latin typeface="Calibri"/>
              </a:rPr>
              <a:t>09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7240" y="5230368"/>
            <a:ext cx="38404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0B2545"/>
                </a:solidFill>
                <a:latin typeface="Calibri"/>
              </a:rPr>
              <a:t>KIDS' GITA  ·  Stories for ages 8-14 (parents buy)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617720" y="5230368"/>
            <a:ext cx="7315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₹99/mo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349240" y="5230368"/>
            <a:ext cx="7315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334155"/>
                </a:solidFill>
                <a:latin typeface="Calibri"/>
              </a:rPr>
              <a:t>Month 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080760" y="5230368"/>
            <a:ext cx="914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 i="0">
                <a:solidFill>
                  <a:srgbClr val="15803D"/>
                </a:solidFill>
                <a:latin typeface="Calibri"/>
              </a:rPr>
              <a:t>₹5K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995160" y="5230368"/>
            <a:ext cx="5029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0E7490"/>
                </a:solidFill>
                <a:latin typeface="Calibri"/>
              </a:rPr>
              <a:t>85%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11480" y="5641848"/>
            <a:ext cx="7086600" cy="41148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5641848"/>
            <a:ext cx="36576" cy="4114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5641848"/>
            <a:ext cx="365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77240" y="5641848"/>
            <a:ext cx="38404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0B2545"/>
                </a:solidFill>
                <a:latin typeface="Calibri"/>
              </a:rPr>
              <a:t>AUDIO GITA  ·  Voice version for commute/Bharat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617720" y="5641848"/>
            <a:ext cx="7315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₹49/mo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349240" y="5641848"/>
            <a:ext cx="7315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334155"/>
                </a:solidFill>
                <a:latin typeface="Calibri"/>
              </a:rPr>
              <a:t>Month 5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080760" y="5641848"/>
            <a:ext cx="914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 i="0">
                <a:solidFill>
                  <a:srgbClr val="15803D"/>
                </a:solidFill>
                <a:latin typeface="Calibri"/>
              </a:rPr>
              <a:t>₹4K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995160" y="5641848"/>
            <a:ext cx="5029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0E7490"/>
                </a:solidFill>
                <a:latin typeface="Calibri"/>
              </a:rPr>
              <a:t>88%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11480" y="6053328"/>
            <a:ext cx="7086600" cy="31089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77240" y="6053328"/>
            <a:ext cx="384048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BLENDED MONTHLY @ M12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080760" y="6053328"/>
            <a:ext cx="91440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 i="0">
                <a:solidFill>
                  <a:srgbClr val="D97706"/>
                </a:solidFill>
                <a:latin typeface="Calibri"/>
              </a:rPr>
              <a:t>₹3.5L+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995160" y="6053328"/>
            <a:ext cx="5029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 i="0">
                <a:solidFill>
                  <a:srgbClr val="D97706"/>
                </a:solidFill>
                <a:latin typeface="Calibri"/>
              </a:rPr>
              <a:t>82%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726679" y="1188720"/>
            <a:ext cx="420624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863839" y="1234440"/>
            <a:ext cx="42062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0B2545"/>
                </a:solidFill>
                <a:latin typeface="Calibri"/>
              </a:rPr>
              <a:t>REVENUE MIX AT SCALE  ·  M12</a:t>
            </a:r>
          </a:p>
        </p:txBody>
      </p:sp>
      <p:pic>
        <p:nvPicPr>
          <p:cNvPr id="105" name="Picture 104" descr="revenue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600200"/>
            <a:ext cx="4023360" cy="4526280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 i="1">
                <a:solidFill>
                  <a:srgbClr val="64748B"/>
                </a:solidFill>
                <a:latin typeface="Calibri"/>
              </a:rPr>
              <a:t>SOURCE  ·  Pricing logic: ₹49-149 impulse · ₹199 commit · ₹599+ artefact · ₹5K+ B2B | Margin: digital 85-95%, physical 55%, B2B 80% | RedSeer 2024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B2545"/>
                </a:solidFill>
                <a:latin typeface="Calibri"/>
              </a:rPr>
              <a:t>BHAGAVAD GITA DAILY  ·  STRATEGY &amp; GROWTH</a:t>
            </a:r>
          </a:p>
        </p:txBody>
      </p:sp>
      <p:sp>
        <p:nvSpPr>
          <p:cNvPr id="5" name="Rectangle 4"/>
          <p:cNvSpPr/>
          <p:nvPr/>
        </p:nvSpPr>
        <p:spPr>
          <a:xfrm>
            <a:off x="8762695" y="91440"/>
            <a:ext cx="2560320" cy="25603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62695" y="91440"/>
            <a:ext cx="25603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AREA 4  ·  INDIA FESTIVAL &amp; GIFT ECONOMY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14455" y="91440"/>
            <a:ext cx="5029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10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57200"/>
            <a:ext cx="11643055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B2545"/>
                </a:solidFill>
                <a:latin typeface="Calibri"/>
              </a:rPr>
              <a:t>9 Hindu festivals + life-event gifting drive 30-180% revenue lifts — uniquely Indian, structurally underserved by global subscription apps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960120"/>
            <a:ext cx="1371600" cy="0"/>
          </a:xfrm>
          <a:prstGeom prst="line">
            <a:avLst/>
          </a:prstGeom>
          <a:ln w="317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74320" y="1188720"/>
            <a:ext cx="11643055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234440"/>
            <a:ext cx="1164305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0B2545"/>
                </a:solidFill>
                <a:latin typeface="Calibri"/>
              </a:rPr>
              <a:t>FESTIVAL CALENDAR  ·  EXPECTED REVENUE LIFT BY MONTH (BASELINE = 100)</a:t>
            </a:r>
          </a:p>
        </p:txBody>
      </p:sp>
      <p:pic>
        <p:nvPicPr>
          <p:cNvPr id="12" name="Picture 11" descr="festival_calen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54480"/>
            <a:ext cx="11384280" cy="18288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74320" y="3566160"/>
            <a:ext cx="11643055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611880"/>
            <a:ext cx="1164305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0B2545"/>
                </a:solidFill>
                <a:latin typeface="Calibri"/>
              </a:rPr>
              <a:t>6 INDIA-GROUNDED BUNDLE PRODUCTS  ·  WILL NOT EXIST ANYWHERE ELSE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23360"/>
            <a:ext cx="1864309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23360"/>
            <a:ext cx="1864309" cy="36576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023360"/>
            <a:ext cx="186430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DIWALI GIFT PACK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434840"/>
            <a:ext cx="186430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CA8A04"/>
                </a:solidFill>
                <a:latin typeface="Calibri"/>
              </a:rPr>
              <a:t>₹499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800600"/>
            <a:ext cx="1681429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0F172A"/>
                </a:solidFill>
                <a:latin typeface="Calibri"/>
              </a:rPr>
              <a:t>1-year sub + festival e-card + Lakshmi-Ganesha shloka audio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303520"/>
            <a:ext cx="1681429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i="1">
                <a:solidFill>
                  <a:srgbClr val="64748B"/>
                </a:solidFill>
                <a:latin typeface="Calibri"/>
              </a:rPr>
              <a:t>Family-to-family gifting (most lucrative spiritual occasion)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779008"/>
            <a:ext cx="1681429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5779008"/>
            <a:ext cx="1681429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700" b="1" i="0">
                <a:solidFill>
                  <a:srgbClr val="15803D"/>
                </a:solidFill>
                <a:latin typeface="Calibri"/>
              </a:rPr>
              <a:t>Target: 200 packs in Nov · ₹1L revenue spike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30069" y="4023360"/>
            <a:ext cx="1864309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30069" y="4023360"/>
            <a:ext cx="1864309" cy="3657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30069" y="4023360"/>
            <a:ext cx="186430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JANMASHTAMI SPECIAL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30069" y="4434840"/>
            <a:ext cx="186430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D97706"/>
                </a:solidFill>
                <a:latin typeface="Calibri"/>
              </a:rPr>
              <a:t>₹299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1509" y="4800600"/>
            <a:ext cx="1681429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0F172A"/>
                </a:solidFill>
                <a:latin typeface="Calibri"/>
              </a:rPr>
              <a:t>Krishna's birthday: 1-month sub + 8 special Bhagavad shlokas + Janmashtami art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21509" y="5303520"/>
            <a:ext cx="1681429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i="1">
                <a:solidFill>
                  <a:srgbClr val="64748B"/>
                </a:solidFill>
                <a:latin typeface="Calibri"/>
              </a:rPr>
              <a:t>On-brand: Bhagavad Gita IS Krishna's words. Best PR moment.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21509" y="5779008"/>
            <a:ext cx="1681429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21509" y="5779008"/>
            <a:ext cx="1681429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700" b="1" i="0">
                <a:solidFill>
                  <a:srgbClr val="15803D"/>
                </a:solidFill>
                <a:latin typeface="Calibri"/>
              </a:rPr>
              <a:t>Target: 300 packs · ₹90K + brand authority moment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85818" y="4023360"/>
            <a:ext cx="1864309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85818" y="4023360"/>
            <a:ext cx="1864309" cy="36576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85818" y="4023360"/>
            <a:ext cx="186430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NAVRATRI 9-DAY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85818" y="4434840"/>
            <a:ext cx="186430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B91C1C"/>
                </a:solidFill>
                <a:latin typeface="Calibri"/>
              </a:rPr>
              <a:t>₹199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77258" y="4800600"/>
            <a:ext cx="1681429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0F172A"/>
                </a:solidFill>
                <a:latin typeface="Calibri"/>
              </a:rPr>
              <a:t>9 daily reflections (one per Goddess + Gita parallel)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77258" y="5303520"/>
            <a:ext cx="1681429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i="1">
                <a:solidFill>
                  <a:srgbClr val="64748B"/>
                </a:solidFill>
                <a:latin typeface="Calibri"/>
              </a:rPr>
              <a:t>October's biggest festival, mid-tier price point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7258" y="5779008"/>
            <a:ext cx="1681429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77258" y="5779008"/>
            <a:ext cx="1681429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700" b="1" i="0">
                <a:solidFill>
                  <a:srgbClr val="15803D"/>
                </a:solidFill>
                <a:latin typeface="Calibri"/>
              </a:rPr>
              <a:t>Target: 400 packs · ₹80K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41567" y="4023360"/>
            <a:ext cx="1864309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41567" y="4023360"/>
            <a:ext cx="1864309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41567" y="4023360"/>
            <a:ext cx="186430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WEDDING / ANNIVERSARY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41567" y="4434840"/>
            <a:ext cx="186430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6D28D9"/>
                </a:solidFill>
                <a:latin typeface="Calibri"/>
              </a:rPr>
              <a:t>₹999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33007" y="4800600"/>
            <a:ext cx="1681429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0F172A"/>
                </a:solidFill>
                <a:latin typeface="Calibri"/>
              </a:rPr>
              <a:t>1-year couple sub + 'Gita on Marriage' PDF + scholar Q&amp;A access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33007" y="5303520"/>
            <a:ext cx="1681429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i="1">
                <a:solidFill>
                  <a:srgbClr val="64748B"/>
                </a:solidFill>
                <a:latin typeface="Calibri"/>
              </a:rPr>
              <a:t>Hindu weddings = ₹3.7T market; gifting cards underserved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33007" y="5779008"/>
            <a:ext cx="1681429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33007" y="5779008"/>
            <a:ext cx="1681429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700" b="1" i="0">
                <a:solidFill>
                  <a:srgbClr val="15803D"/>
                </a:solidFill>
                <a:latin typeface="Calibri"/>
              </a:rPr>
              <a:t>Target: 50 packs/mo  ·  ₹50K/mo recurring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97316" y="4023360"/>
            <a:ext cx="1864309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097316" y="4023360"/>
            <a:ext cx="1864309" cy="3657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97316" y="4023360"/>
            <a:ext cx="186430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BIRTHDAY GIFT SUB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97316" y="4434840"/>
            <a:ext cx="186430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0E7490"/>
                </a:solidFill>
                <a:latin typeface="Calibri"/>
              </a:rPr>
              <a:t>₹199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88756" y="4800600"/>
            <a:ext cx="1681429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0F172A"/>
                </a:solidFill>
                <a:latin typeface="Calibri"/>
              </a:rPr>
              <a:t>Personalised 'shlok-for-your-month' card + 6-month sub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88756" y="5303520"/>
            <a:ext cx="1681429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i="1">
                <a:solidFill>
                  <a:srgbClr val="64748B"/>
                </a:solidFill>
                <a:latin typeface="Calibri"/>
              </a:rPr>
              <a:t>Year-round non-festival gifting — most stable revenue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88756" y="5779008"/>
            <a:ext cx="1681429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88756" y="5779008"/>
            <a:ext cx="1681429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700" b="1" i="0">
                <a:solidFill>
                  <a:srgbClr val="15803D"/>
                </a:solidFill>
                <a:latin typeface="Calibri"/>
              </a:rPr>
              <a:t>Target: 100 packs/mo  ·  ₹20K/mo recurring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053065" y="4023360"/>
            <a:ext cx="1864309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053065" y="4023360"/>
            <a:ext cx="1864309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053065" y="4023360"/>
            <a:ext cx="186430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EXAM SEASON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53065" y="4434840"/>
            <a:ext cx="186430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0B2545"/>
                </a:solidFill>
                <a:latin typeface="Calibri"/>
              </a:rPr>
              <a:t>₹99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144505" y="4800600"/>
            <a:ext cx="1681429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0F172A"/>
                </a:solidFill>
                <a:latin typeface="Calibri"/>
              </a:rPr>
              <a:t>Mar-May + Oct-Nov: 'Gita for exam stress' 30-day micro-sub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44505" y="5303520"/>
            <a:ext cx="1681429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i="1">
                <a:solidFill>
                  <a:srgbClr val="64748B"/>
                </a:solidFill>
                <a:latin typeface="Calibri"/>
              </a:rPr>
              <a:t>Parents buy for board exam students (CBSE/ICSE/JEE)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144505" y="5779008"/>
            <a:ext cx="1681429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144505" y="5779008"/>
            <a:ext cx="1681429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700" b="1" i="0">
                <a:solidFill>
                  <a:srgbClr val="15803D"/>
                </a:solidFill>
                <a:latin typeface="Calibri"/>
              </a:rPr>
              <a:t>Target: 300/season · ₹30K/season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 i="1">
                <a:solidFill>
                  <a:srgbClr val="64748B"/>
                </a:solidFill>
                <a:latin typeface="Calibri"/>
              </a:rPr>
              <a:t>SOURCE  ·  Hindu calendar 2025 | RedSeer Spiritual &amp; Wellness 2024 (₹4,000 Cr TAM) | KPMG Wedding Industry India 2024 (₹3.7T) | Team estimates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B2545"/>
                </a:solidFill>
                <a:latin typeface="Calibri"/>
              </a:rPr>
              <a:t>BHAGAVAD GITA DAILY  ·  STRATEGY &amp; GROWTH</a:t>
            </a:r>
          </a:p>
        </p:txBody>
      </p:sp>
      <p:sp>
        <p:nvSpPr>
          <p:cNvPr id="5" name="Rectangle 4"/>
          <p:cNvSpPr/>
          <p:nvPr/>
        </p:nvSpPr>
        <p:spPr>
          <a:xfrm>
            <a:off x="8762695" y="91440"/>
            <a:ext cx="2560320" cy="25603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62695" y="91440"/>
            <a:ext cx="25603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AREA 4  ·  PRICING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14455" y="91440"/>
            <a:ext cx="5029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11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57200"/>
            <a:ext cx="11643055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B2545"/>
                </a:solidFill>
                <a:latin typeface="Calibri"/>
              </a:rPr>
              <a:t>Tiered pricing from ₹49 audio to ₹15K/mo corporate captures every willingness-to-pay segment in India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960120"/>
            <a:ext cx="1371600" cy="0"/>
          </a:xfrm>
          <a:prstGeom prst="line">
            <a:avLst/>
          </a:prstGeom>
          <a:ln w="317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74320" y="1188720"/>
            <a:ext cx="658368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234440"/>
            <a:ext cx="6583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0B2545"/>
                </a:solidFill>
                <a:latin typeface="Calibri"/>
              </a:rPr>
              <a:t>PRICING LADDER  ·  MONTHLY EQUIVALENT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645920"/>
            <a:ext cx="6263640" cy="329184"/>
          </a:xfrm>
          <a:prstGeom prst="rect">
            <a:avLst/>
          </a:prstGeom>
          <a:solidFill>
            <a:srgbClr val="15803D"/>
          </a:solidFill>
          <a:ln w="63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645920"/>
            <a:ext cx="61722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CORPORATE B2B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1645920"/>
            <a:ext cx="13716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15803D"/>
                </a:solidFill>
                <a:latin typeface="Calibri"/>
              </a:rPr>
              <a:t>₹5K-15K/mo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645920"/>
            <a:ext cx="-17830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i="1">
                <a:solidFill>
                  <a:srgbClr val="334155"/>
                </a:solidFill>
                <a:latin typeface="Calibri"/>
              </a:rPr>
              <a:t>BFSI, FMCG, manufacturing HR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066544"/>
            <a:ext cx="5029200" cy="329184"/>
          </a:xfrm>
          <a:prstGeom prst="rect">
            <a:avLst/>
          </a:prstGeom>
          <a:solidFill>
            <a:srgbClr val="6D28D9"/>
          </a:solidFill>
          <a:ln w="63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066544"/>
            <a:ext cx="49377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WEDDING / ANNIV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2066544"/>
            <a:ext cx="13716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6D28D9"/>
                </a:solidFill>
                <a:latin typeface="Calibri"/>
              </a:rPr>
              <a:t>₹999 one-time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2066544"/>
            <a:ext cx="-54864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i="1">
                <a:solidFill>
                  <a:srgbClr val="334155"/>
                </a:solidFill>
                <a:latin typeface="Calibri"/>
              </a:rPr>
              <a:t>Couple gifting, 1-year sub bundled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487168"/>
            <a:ext cx="4114800" cy="329184"/>
          </a:xfrm>
          <a:prstGeom prst="rect">
            <a:avLst/>
          </a:prstGeom>
          <a:solidFill>
            <a:srgbClr val="B91C1C"/>
          </a:solidFill>
          <a:ln w="63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487168"/>
            <a:ext cx="40233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PHYSICAL DECK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487168"/>
            <a:ext cx="13716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B91C1C"/>
                </a:solidFill>
                <a:latin typeface="Calibri"/>
              </a:rPr>
              <a:t>₹599-699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2487168"/>
            <a:ext cx="3657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i="1">
                <a:solidFill>
                  <a:srgbClr val="334155"/>
                </a:solidFill>
                <a:latin typeface="Calibri"/>
              </a:rPr>
              <a:t>108-card Gita wisdom deck, festival gifting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907792"/>
            <a:ext cx="3474720" cy="329184"/>
          </a:xfrm>
          <a:prstGeom prst="rect">
            <a:avLst/>
          </a:prstGeom>
          <a:solidFill>
            <a:srgbClr val="CA8A04"/>
          </a:solidFill>
          <a:ln w="63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2907792"/>
            <a:ext cx="3383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DIWALI BUNDLE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2907792"/>
            <a:ext cx="13716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CA8A04"/>
                </a:solidFill>
                <a:latin typeface="Calibri"/>
              </a:rPr>
              <a:t>₹499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2907792"/>
            <a:ext cx="100584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i="1">
                <a:solidFill>
                  <a:srgbClr val="334155"/>
                </a:solidFill>
                <a:latin typeface="Calibri"/>
              </a:rPr>
              <a:t>Festival + 1-yr sub + audio + e-card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328416"/>
            <a:ext cx="2834640" cy="329184"/>
          </a:xfrm>
          <a:prstGeom prst="rect">
            <a:avLst/>
          </a:prstGeom>
          <a:solidFill>
            <a:srgbClr val="0B2545"/>
          </a:solidFill>
          <a:ln w="63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328416"/>
            <a:ext cx="27432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ANNUAL PREPAY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3328416"/>
            <a:ext cx="13716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0B2545"/>
                </a:solidFill>
                <a:latin typeface="Calibri"/>
              </a:rPr>
              <a:t>₹699/yr ≈ ₹58/mo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3328416"/>
            <a:ext cx="16459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i="1">
                <a:solidFill>
                  <a:srgbClr val="334155"/>
                </a:solidFill>
                <a:latin typeface="Calibri"/>
              </a:rPr>
              <a:t>26% discount, ~0% churn lock-in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749040"/>
            <a:ext cx="2194560" cy="329184"/>
          </a:xfrm>
          <a:prstGeom prst="rect">
            <a:avLst/>
          </a:prstGeom>
          <a:solidFill>
            <a:srgbClr val="0E7490"/>
          </a:solidFill>
          <a:ln w="63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749040"/>
            <a:ext cx="21031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PREMIUM TIER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3749040"/>
            <a:ext cx="13716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0E7490"/>
                </a:solidFill>
                <a:latin typeface="Calibri"/>
              </a:rPr>
              <a:t>₹199/mo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3749040"/>
            <a:ext cx="22860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i="1">
                <a:solidFill>
                  <a:srgbClr val="334155"/>
                </a:solidFill>
                <a:latin typeface="Calibri"/>
              </a:rPr>
              <a:t>Community + scholar Q&amp;A access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169664"/>
            <a:ext cx="1645920" cy="329184"/>
          </a:xfrm>
          <a:prstGeom prst="rect">
            <a:avLst/>
          </a:prstGeom>
          <a:solidFill>
            <a:srgbClr val="1E3A66"/>
          </a:solidFill>
          <a:ln w="63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169664"/>
            <a:ext cx="15544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FAMILY PACK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94560" y="4169664"/>
            <a:ext cx="13716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1E3A66"/>
                </a:solidFill>
                <a:latin typeface="Calibri"/>
              </a:rPr>
              <a:t>₹149/mo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11880" y="4169664"/>
            <a:ext cx="283464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i="1">
                <a:solidFill>
                  <a:srgbClr val="334155"/>
                </a:solidFill>
                <a:latin typeface="Calibri"/>
              </a:rPr>
              <a:t>Up to 5 phones, multi-language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590288"/>
            <a:ext cx="1188720" cy="329184"/>
          </a:xfrm>
          <a:prstGeom prst="rect">
            <a:avLst/>
          </a:prstGeom>
          <a:solidFill>
            <a:srgbClr val="D97706"/>
          </a:solidFill>
          <a:ln w="63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4590288"/>
            <a:ext cx="1097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CORE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37360" y="4590288"/>
            <a:ext cx="13716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D97706"/>
                </a:solidFill>
                <a:latin typeface="Calibri"/>
              </a:rPr>
              <a:t>₹79/mo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54680" y="4590288"/>
            <a:ext cx="329184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i="1">
                <a:solidFill>
                  <a:srgbClr val="334155"/>
                </a:solidFill>
                <a:latin typeface="Calibri"/>
              </a:rPr>
              <a:t>Daily WhatsApp shlok (anchor SKU)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010912"/>
            <a:ext cx="868680" cy="329184"/>
          </a:xfrm>
          <a:prstGeom prst="rect">
            <a:avLst/>
          </a:prstGeom>
          <a:solidFill>
            <a:srgbClr val="92400E"/>
          </a:solidFill>
          <a:ln w="63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5010912"/>
            <a:ext cx="77724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KIDS' GITA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17320" y="5010912"/>
            <a:ext cx="13716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92400E"/>
                </a:solidFill>
                <a:latin typeface="Calibri"/>
              </a:rPr>
              <a:t>₹99/mo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34640" y="5010912"/>
            <a:ext cx="36118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i="1">
                <a:solidFill>
                  <a:srgbClr val="334155"/>
                </a:solidFill>
                <a:latin typeface="Calibri"/>
              </a:rPr>
              <a:t>Stories for 8-14, parents buy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431536"/>
            <a:ext cx="502920" cy="329184"/>
          </a:xfrm>
          <a:prstGeom prst="rect">
            <a:avLst/>
          </a:prstGeom>
          <a:solidFill>
            <a:srgbClr val="64748B"/>
          </a:solidFill>
          <a:ln w="63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5431536"/>
            <a:ext cx="4114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AUDIO GITA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" y="5431536"/>
            <a:ext cx="13716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₹49/mo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468880" y="5431536"/>
            <a:ext cx="397764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i="1">
                <a:solidFill>
                  <a:srgbClr val="334155"/>
                </a:solidFill>
                <a:latin typeface="Calibri"/>
              </a:rPr>
              <a:t>Voice for commute/Bharat tier 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95160" y="1188720"/>
            <a:ext cx="493776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32320" y="1234440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0B2545"/>
                </a:solidFill>
                <a:latin typeface="Calibri"/>
              </a:rPr>
              <a:t>PRICING LOGIC  ·  4 ANCHOR PRINCIPLES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132320" y="1645920"/>
            <a:ext cx="4663440" cy="41148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32320" y="1645920"/>
            <a:ext cx="36576" cy="4114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42048" y="1645920"/>
            <a:ext cx="18288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15803D"/>
                </a:solidFill>
                <a:latin typeface="Calibri"/>
              </a:rPr>
              <a:t>01  ANCHOR LOW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98280" y="1645920"/>
            <a:ext cx="26974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334155"/>
                </a:solidFill>
                <a:latin typeface="Calibri"/>
              </a:rPr>
              <a:t>₹49 audio is the pure-curiosity tier. Builds top-of-funnel paying habit at coffee-cost.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32320" y="2093976"/>
            <a:ext cx="4663440" cy="41148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132320" y="2093976"/>
            <a:ext cx="36576" cy="4114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242048" y="2093976"/>
            <a:ext cx="18288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15803D"/>
                </a:solidFill>
                <a:latin typeface="Calibri"/>
              </a:rPr>
              <a:t>02  ₹99-149 IMPULSE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98280" y="2093976"/>
            <a:ext cx="26974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334155"/>
                </a:solidFill>
                <a:latin typeface="Calibri"/>
              </a:rPr>
              <a:t>PDF guides, exam-season micro-subs. Buy on impulse, no auto-deduct fear.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32320" y="2542032"/>
            <a:ext cx="4663440" cy="41148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132320" y="2542032"/>
            <a:ext cx="36576" cy="4114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242048" y="2542032"/>
            <a:ext cx="18288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15803D"/>
                </a:solidFill>
                <a:latin typeface="Calibri"/>
              </a:rPr>
              <a:t>03  ₹199-499 COMMIT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98280" y="2542032"/>
            <a:ext cx="26974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334155"/>
                </a:solidFill>
                <a:latin typeface="Calibri"/>
              </a:rPr>
              <a:t>Premium, festival bundles, family. Commit-level price, conscious purchase.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32320" y="2990088"/>
            <a:ext cx="4663440" cy="41148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32320" y="2990088"/>
            <a:ext cx="36576" cy="4114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42048" y="2990088"/>
            <a:ext cx="18288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15803D"/>
                </a:solidFill>
                <a:latin typeface="Calibri"/>
              </a:rPr>
              <a:t>04  ₹599+ ARTEFACT / B2B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98280" y="2990088"/>
            <a:ext cx="26974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334155"/>
                </a:solidFill>
                <a:latin typeface="Calibri"/>
              </a:rPr>
              <a:t>Physical deck, wedding pack, corporate. Status + gifting + enterprise economics.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995160" y="3703320"/>
            <a:ext cx="493776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132320" y="3749039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0B2545"/>
                </a:solidFill>
                <a:latin typeface="Calibri"/>
              </a:rPr>
              <a:t>B2B CORPORATE OPPORTUNITY  ·  TAM/SAM/SOM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132320" y="4160520"/>
            <a:ext cx="466344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132320" y="4160520"/>
            <a:ext cx="36576" cy="329184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242048" y="4160520"/>
            <a:ext cx="30175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B2545"/>
                </a:solidFill>
                <a:latin typeface="Calibri"/>
              </a:rPr>
              <a:t>TAM  ·  Corporate Wellness India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87000" y="4160520"/>
            <a:ext cx="15087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1" i="0">
                <a:solidFill>
                  <a:srgbClr val="0F172A"/>
                </a:solidFill>
                <a:latin typeface="Calibri"/>
              </a:rPr>
              <a:t>₹4,000 Cr  ·  15% CAGR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132320" y="4507992"/>
            <a:ext cx="466344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32320" y="4507992"/>
            <a:ext cx="36576" cy="32918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242048" y="4507992"/>
            <a:ext cx="30175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E7490"/>
                </a:solidFill>
                <a:latin typeface="Calibri"/>
              </a:rPr>
              <a:t>SAM  ·  Mid-large firms (BFSI/FMCG/Mfg)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287000" y="4507992"/>
            <a:ext cx="15087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1" i="0">
                <a:solidFill>
                  <a:srgbClr val="0F172A"/>
                </a:solidFill>
                <a:latin typeface="Calibri"/>
              </a:rPr>
              <a:t>₹400 Cr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132320" y="4855464"/>
            <a:ext cx="466344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132320" y="4855464"/>
            <a:ext cx="36576" cy="32918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242048" y="4855464"/>
            <a:ext cx="30175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D97706"/>
                </a:solidFill>
                <a:latin typeface="Calibri"/>
              </a:rPr>
              <a:t>SOM Y1  ·  15-30 pilot firms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287000" y="4855464"/>
            <a:ext cx="15087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1" i="0">
                <a:solidFill>
                  <a:srgbClr val="0F172A"/>
                </a:solidFill>
                <a:latin typeface="Calibri"/>
              </a:rPr>
              <a:t>₹50-80 L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132320" y="5202936"/>
            <a:ext cx="466344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132320" y="5202936"/>
            <a:ext cx="36576" cy="329184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242048" y="5202936"/>
            <a:ext cx="30175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15803D"/>
                </a:solidFill>
                <a:latin typeface="Calibri"/>
              </a:rPr>
              <a:t>PRICING  ·  ₹5K (≤50) / ₹10K (50-200) / ₹15K (200+)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287000" y="5202936"/>
            <a:ext cx="15087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1" i="0">
                <a:solidFill>
                  <a:srgbClr val="0F172A"/>
                </a:solidFill>
                <a:latin typeface="Calibri"/>
              </a:rPr>
              <a:t>Per month per firm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132320" y="5550408"/>
            <a:ext cx="466344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132320" y="5550408"/>
            <a:ext cx="36576" cy="32918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242048" y="5550408"/>
            <a:ext cx="30175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6D28D9"/>
                </a:solidFill>
                <a:latin typeface="Calibri"/>
              </a:rPr>
              <a:t>BUYER  ·  HR Heads at 500-5,000 employee firms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287000" y="5550408"/>
            <a:ext cx="15087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1" i="0">
                <a:solidFill>
                  <a:srgbClr val="0F172A"/>
                </a:solidFill>
                <a:latin typeface="Calibri"/>
              </a:rPr>
              <a:t>LinkedIn outreach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132320" y="5897880"/>
            <a:ext cx="466344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132320" y="5897880"/>
            <a:ext cx="36576" cy="329184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242048" y="5897880"/>
            <a:ext cx="30175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CA8A04"/>
                </a:solidFill>
                <a:latin typeface="Calibri"/>
              </a:rPr>
              <a:t>MOTION  ·  15-min outreach → pilot → case-study fly-wheel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287000" y="5897880"/>
            <a:ext cx="15087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1" i="0">
                <a:solidFill>
                  <a:srgbClr val="0F172A"/>
                </a:solidFill>
                <a:latin typeface="Calibri"/>
              </a:rPr>
              <a:t>Self-serve B2B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 i="1">
                <a:solidFill>
                  <a:srgbClr val="64748B"/>
                </a:solidFill>
                <a:latin typeface="Calibri"/>
              </a:rPr>
              <a:t>SOURCE  ·  Mercer Marsh India Wellness Survey 2024 (₹4,000 Cr) | LinkedIn HR titles | Glido pricing assumptions | Team build-up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B2545"/>
                </a:solidFill>
                <a:latin typeface="Calibri"/>
              </a:rPr>
              <a:t>BHAGAVAD GITA DAILY  ·  STRATEGY &amp; GROWTH</a:t>
            </a:r>
          </a:p>
        </p:txBody>
      </p:sp>
      <p:sp>
        <p:nvSpPr>
          <p:cNvPr id="5" name="Rectangle 4"/>
          <p:cNvSpPr/>
          <p:nvPr/>
        </p:nvSpPr>
        <p:spPr>
          <a:xfrm>
            <a:off x="8762695" y="91440"/>
            <a:ext cx="2560320" cy="25603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62695" y="91440"/>
            <a:ext cx="25603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FINANCIAL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14455" y="91440"/>
            <a:ext cx="5029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12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57200"/>
            <a:ext cx="11643055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B2545"/>
                </a:solidFill>
                <a:latin typeface="Calibri"/>
              </a:rPr>
              <a:t>Halving churn from 29% → 8% triples LTV — the Day-3 trial fix is the single highest-ROI intervention in this deck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960120"/>
            <a:ext cx="1371600" cy="0"/>
          </a:xfrm>
          <a:prstGeom prst="line">
            <a:avLst/>
          </a:prstGeom>
          <a:ln w="317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74320" y="1188720"/>
            <a:ext cx="2255459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188720"/>
            <a:ext cx="2255459" cy="54864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280160"/>
            <a:ext cx="2255459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 i="0">
                <a:solidFill>
                  <a:srgbClr val="15803D"/>
                </a:solidFill>
                <a:latin typeface="Calibri"/>
              </a:rPr>
              <a:t>85.5%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1691640"/>
            <a:ext cx="225545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1" i="0">
                <a:solidFill>
                  <a:srgbClr val="334155"/>
                </a:solidFill>
                <a:latin typeface="Calibri"/>
              </a:rPr>
              <a:t>GROSS MARGIN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21219" y="1188720"/>
            <a:ext cx="2255459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21219" y="1188720"/>
            <a:ext cx="2255459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21219" y="1280160"/>
            <a:ext cx="2255459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 i="0">
                <a:solidFill>
                  <a:srgbClr val="D97706"/>
                </a:solidFill>
                <a:latin typeface="Calibri"/>
              </a:rPr>
              <a:t>₹125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21219" y="1691640"/>
            <a:ext cx="225545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1" i="0">
                <a:solidFill>
                  <a:srgbClr val="334155"/>
                </a:solidFill>
                <a:latin typeface="Calibri"/>
              </a:rPr>
              <a:t>BLENDED CAC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68118" y="1188720"/>
            <a:ext cx="2255459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68118" y="1188720"/>
            <a:ext cx="2255459" cy="54864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68118" y="1280160"/>
            <a:ext cx="2255459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 i="0">
                <a:solidFill>
                  <a:srgbClr val="0B2545"/>
                </a:solidFill>
                <a:latin typeface="Calibri"/>
              </a:rPr>
              <a:t>M3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68118" y="1691640"/>
            <a:ext cx="225545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1" i="0">
                <a:solidFill>
                  <a:srgbClr val="334155"/>
                </a:solidFill>
                <a:latin typeface="Calibri"/>
              </a:rPr>
              <a:t>TO ₹1L MRR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017" y="1188720"/>
            <a:ext cx="2255459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017" y="1188720"/>
            <a:ext cx="2255459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017" y="1280160"/>
            <a:ext cx="2255459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 i="0">
                <a:solidFill>
                  <a:srgbClr val="6D28D9"/>
                </a:solidFill>
                <a:latin typeface="Calibri"/>
              </a:rPr>
              <a:t>₹3.5L+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017" y="1691640"/>
            <a:ext cx="225545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1" i="0">
                <a:solidFill>
                  <a:srgbClr val="334155"/>
                </a:solidFill>
                <a:latin typeface="Calibri"/>
              </a:rPr>
              <a:t>MRR @ M12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61916" y="1188720"/>
            <a:ext cx="2255459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61916" y="1188720"/>
            <a:ext cx="2255459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61916" y="1280160"/>
            <a:ext cx="2255459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 i="0">
                <a:solidFill>
                  <a:srgbClr val="0E7490"/>
                </a:solidFill>
                <a:latin typeface="Calibri"/>
              </a:rPr>
              <a:t>7.9×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61916" y="1691640"/>
            <a:ext cx="225545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1" i="0">
                <a:solidFill>
                  <a:srgbClr val="334155"/>
                </a:solidFill>
                <a:latin typeface="Calibri"/>
              </a:rPr>
              <a:t>LTV / CAC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240280"/>
            <a:ext cx="384048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2286000"/>
            <a:ext cx="38404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0B2545"/>
                </a:solidFill>
                <a:latin typeface="Calibri"/>
              </a:rPr>
              <a:t>PER-SUBSCRIBER UNIT ECONOMICS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2697480"/>
            <a:ext cx="3566160" cy="292608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2697480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LINE ITEM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4560" y="2697480"/>
            <a:ext cx="731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AMOUNT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71800" y="2697480"/>
            <a:ext cx="10058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RATIONALE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2990088"/>
            <a:ext cx="356616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299008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Revenue / sub / year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94560" y="2990088"/>
            <a:ext cx="731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0F172A"/>
                </a:solidFill>
                <a:latin typeface="Calibri"/>
              </a:rPr>
              <a:t>+₹948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71800" y="2990088"/>
            <a:ext cx="10058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 i="1">
                <a:solidFill>
                  <a:srgbClr val="64748B"/>
                </a:solidFill>
                <a:latin typeface="Calibri"/>
              </a:rPr>
              <a:t>12 × ₹79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3282696"/>
            <a:ext cx="356616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3282696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WhatsApp + payment fees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94560" y="3282696"/>
            <a:ext cx="731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0F172A"/>
                </a:solidFill>
                <a:latin typeface="Calibri"/>
              </a:rPr>
              <a:t>−₹95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71800" y="3282696"/>
            <a:ext cx="10058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 i="1">
                <a:solidFill>
                  <a:srgbClr val="64748B"/>
                </a:solidFill>
                <a:latin typeface="Calibri"/>
              </a:rPr>
              <a:t>~10% of revenue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3575304"/>
            <a:ext cx="356616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3575304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Content production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94560" y="3575304"/>
            <a:ext cx="731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0F172A"/>
                </a:solidFill>
                <a:latin typeface="Calibri"/>
              </a:rPr>
              <a:t>−₹30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71800" y="3575304"/>
            <a:ext cx="10058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 i="1">
                <a:solidFill>
                  <a:srgbClr val="64748B"/>
                </a:solidFill>
                <a:latin typeface="Calibri"/>
              </a:rPr>
              <a:t>1 scholar / 800 subs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867912"/>
            <a:ext cx="356616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3867912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Tech + infra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94560" y="3867912"/>
            <a:ext cx="731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0F172A"/>
                </a:solidFill>
                <a:latin typeface="Calibri"/>
              </a:rPr>
              <a:t>−₹12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71800" y="3867912"/>
            <a:ext cx="10058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 i="1">
                <a:solidFill>
                  <a:srgbClr val="64748B"/>
                </a:solidFill>
                <a:latin typeface="Calibri"/>
              </a:rPr>
              <a:t>ManyChat, hosting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4160520"/>
            <a:ext cx="356616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4160520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F172A"/>
                </a:solidFill>
                <a:latin typeface="Calibri"/>
              </a:rPr>
              <a:t>GROSS MARGIN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94560" y="4160520"/>
            <a:ext cx="731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15803D"/>
                </a:solidFill>
                <a:latin typeface="Calibri"/>
              </a:rPr>
              <a:t>+₹811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71800" y="4160520"/>
            <a:ext cx="10058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 i="1">
                <a:solidFill>
                  <a:srgbClr val="64748B"/>
                </a:solidFill>
                <a:latin typeface="Calibri"/>
              </a:rPr>
              <a:t>85.5%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" y="4453128"/>
            <a:ext cx="356616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445312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Blended CAC (amortized)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94560" y="4453128"/>
            <a:ext cx="731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0F172A"/>
                </a:solidFill>
                <a:latin typeface="Calibri"/>
              </a:rPr>
              <a:t>−₹125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971800" y="4453128"/>
            <a:ext cx="10058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 i="1">
                <a:solidFill>
                  <a:srgbClr val="64748B"/>
                </a:solidFill>
                <a:latin typeface="Calibri"/>
              </a:rPr>
              <a:t>Y1 weighted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1480" y="4745736"/>
            <a:ext cx="356616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4745736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Refund / chargeback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194560" y="4745736"/>
            <a:ext cx="731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0F172A"/>
                </a:solidFill>
                <a:latin typeface="Calibri"/>
              </a:rPr>
              <a:t>−₹15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71800" y="4745736"/>
            <a:ext cx="10058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 i="1">
                <a:solidFill>
                  <a:srgbClr val="64748B"/>
                </a:solidFill>
                <a:latin typeface="Calibri"/>
              </a:rPr>
              <a:t>2% allowance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1480" y="5038344"/>
            <a:ext cx="356616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5038344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F172A"/>
                </a:solidFill>
                <a:latin typeface="Calibri"/>
              </a:rPr>
              <a:t>TRUE CONTRIBUTION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94560" y="5038344"/>
            <a:ext cx="731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15803D"/>
                </a:solidFill>
                <a:latin typeface="Calibri"/>
              </a:rPr>
              <a:t>+₹671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971800" y="5038344"/>
            <a:ext cx="10058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 i="1">
                <a:solidFill>
                  <a:srgbClr val="64748B"/>
                </a:solidFill>
                <a:latin typeface="Calibri"/>
              </a:rPr>
              <a:t>70.7% survives CAC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251960" y="2240280"/>
            <a:ext cx="384048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389120" y="2286000"/>
            <a:ext cx="38404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0B2545"/>
                </a:solidFill>
                <a:latin typeface="Calibri"/>
              </a:rPr>
              <a:t>COHORT RETENTION  ·  LTV SENSITIVITY</a:t>
            </a:r>
          </a:p>
        </p:txBody>
      </p:sp>
      <p:pic>
        <p:nvPicPr>
          <p:cNvPr id="70" name="Picture 69" descr="cohort_re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606040"/>
            <a:ext cx="3566160" cy="2011680"/>
          </a:xfrm>
          <a:prstGeom prst="rect">
            <a:avLst/>
          </a:prstGeom>
        </p:spPr>
      </p:pic>
      <p:sp>
        <p:nvSpPr>
          <p:cNvPr id="71" name="Rectangle 70"/>
          <p:cNvSpPr/>
          <p:nvPr/>
        </p:nvSpPr>
        <p:spPr>
          <a:xfrm>
            <a:off x="4389120" y="4709160"/>
            <a:ext cx="3566160" cy="2743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389120" y="4709160"/>
            <a:ext cx="1965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MONTHLY CHURN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55080" y="4709160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LTV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178040" y="470916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LTV / CAC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389120" y="4983480"/>
            <a:ext cx="3566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89120" y="4983480"/>
            <a:ext cx="1965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5%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55080" y="4983480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15803D"/>
                </a:solidFill>
                <a:latin typeface="Calibri"/>
              </a:rPr>
              <a:t>₹1,580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78040" y="498348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15803D"/>
                </a:solidFill>
                <a:latin typeface="Calibri"/>
              </a:rPr>
              <a:t>12.6×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389120" y="5257800"/>
            <a:ext cx="3566160" cy="27432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389120" y="5257800"/>
            <a:ext cx="1965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8%  ·  TARGET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55080" y="5257800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0B2545"/>
                </a:solidFill>
                <a:latin typeface="Calibri"/>
              </a:rPr>
              <a:t>₹987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178040" y="525780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0B2545"/>
                </a:solidFill>
                <a:latin typeface="Calibri"/>
              </a:rPr>
              <a:t>7.9×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389120" y="5532120"/>
            <a:ext cx="3566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389120" y="5532120"/>
            <a:ext cx="1965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12%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55080" y="5532120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0E7490"/>
                </a:solidFill>
                <a:latin typeface="Calibri"/>
              </a:rPr>
              <a:t>₹655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178040" y="553212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0E7490"/>
                </a:solidFill>
                <a:latin typeface="Calibri"/>
              </a:rPr>
              <a:t>5.2×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389120" y="5806440"/>
            <a:ext cx="3566160" cy="27432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389120" y="5806440"/>
            <a:ext cx="1965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20%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355080" y="5806440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CA8A04"/>
                </a:solidFill>
                <a:latin typeface="Calibri"/>
              </a:rPr>
              <a:t>₹395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178040" y="580644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CA8A04"/>
                </a:solidFill>
                <a:latin typeface="Calibri"/>
              </a:rPr>
              <a:t>3.2×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389120" y="6080760"/>
            <a:ext cx="3566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389120" y="6080760"/>
            <a:ext cx="1965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29%  ·  TODAY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355080" y="6080760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B91C1C"/>
                </a:solidFill>
                <a:latin typeface="Calibri"/>
              </a:rPr>
              <a:t>₹268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178040" y="608076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B91C1C"/>
                </a:solidFill>
                <a:latin typeface="Calibri"/>
              </a:rPr>
              <a:t>2.1×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229600" y="2240280"/>
            <a:ext cx="370332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366760" y="2286000"/>
            <a:ext cx="37033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0B2545"/>
                </a:solidFill>
                <a:latin typeface="Calibri"/>
              </a:rPr>
              <a:t>12-MONTH MRR BUILD  ·  6 STREAMS</a:t>
            </a:r>
          </a:p>
        </p:txBody>
      </p:sp>
      <p:pic>
        <p:nvPicPr>
          <p:cNvPr id="97" name="Picture 96" descr="mrr_proj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606040"/>
            <a:ext cx="3520440" cy="3611880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 i="1">
                <a:solidFill>
                  <a:srgbClr val="64748B"/>
                </a:solidFill>
                <a:latin typeface="Calibri"/>
              </a:rPr>
              <a:t>SOURCE  ·  Sequoia India Subscription Unit Economics Guide | Cohort math: P(retained) = (1-churn)^n | Glido Labs case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B2545"/>
                </a:solidFill>
                <a:latin typeface="Calibri"/>
              </a:rPr>
              <a:t>BHAGAVAD GITA DAILY  ·  STRATEGY &amp; GROWTH</a:t>
            </a:r>
          </a:p>
        </p:txBody>
      </p:sp>
      <p:sp>
        <p:nvSpPr>
          <p:cNvPr id="5" name="Rectangle 4"/>
          <p:cNvSpPr/>
          <p:nvPr/>
        </p:nvSpPr>
        <p:spPr>
          <a:xfrm>
            <a:off x="8762695" y="91440"/>
            <a:ext cx="2560320" cy="25603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62695" y="91440"/>
            <a:ext cx="25603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EXECUTION  ·  90-DAY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14455" y="91440"/>
            <a:ext cx="5029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13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57200"/>
            <a:ext cx="11643055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B2545"/>
                </a:solidFill>
                <a:latin typeface="Calibri"/>
              </a:rPr>
              <a:t>Fix the funnel before scaling. Deepen monetization before buying traffic. ₹1L MRR by M3 if Lever 1 lands in 30 days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960120"/>
            <a:ext cx="1371600" cy="0"/>
          </a:xfrm>
          <a:prstGeom prst="line">
            <a:avLst/>
          </a:prstGeom>
          <a:ln w="317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74320" y="1188720"/>
            <a:ext cx="11643055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234440"/>
            <a:ext cx="1164305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0B2545"/>
                </a:solidFill>
                <a:latin typeface="Calibri"/>
              </a:rPr>
              <a:t>6-PHASE TIMELINE  ·  ZERO-SPEND COMPOUNDING FIRST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691640"/>
            <a:ext cx="1833829" cy="3657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691640"/>
            <a:ext cx="183382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WK 1-2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57400"/>
            <a:ext cx="1833829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148840"/>
            <a:ext cx="174238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D97706"/>
                </a:solidFill>
                <a:latin typeface="Calibri"/>
              </a:rPr>
              <a:t>FIX THE LEAK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468880"/>
            <a:ext cx="1650949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334155"/>
                </a:solidFill>
                <a:latin typeface="Calibri"/>
              </a:rPr>
              <a:t>Homepage redesign · Form above fold · Mandate explainer · LCP &lt;2.5s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72741" y="1691640"/>
            <a:ext cx="1833829" cy="3657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72741" y="1691640"/>
            <a:ext cx="183382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WK 2-3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72741" y="2057400"/>
            <a:ext cx="1833829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18461" y="2148840"/>
            <a:ext cx="174238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D97706"/>
                </a:solidFill>
                <a:latin typeface="Calibri"/>
              </a:rPr>
              <a:t>SEAL THE TRIAL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64181" y="2468880"/>
            <a:ext cx="1650949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334155"/>
                </a:solidFill>
                <a:latin typeface="Calibri"/>
              </a:rPr>
              <a:t>Day 1/2/3 WhatsApp arc · Re-engage 47 churns · Pre-charge transparency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79722" y="1691640"/>
            <a:ext cx="1833829" cy="3657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79722" y="1691640"/>
            <a:ext cx="183382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WK 3-4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79722" y="2057400"/>
            <a:ext cx="1833829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25442" y="2148840"/>
            <a:ext cx="174238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0E7490"/>
                </a:solidFill>
                <a:latin typeface="Calibri"/>
              </a:rPr>
              <a:t>DM AUTOMATION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1162" y="2468880"/>
            <a:ext cx="1650949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334155"/>
                </a:solidFill>
                <a:latin typeface="Calibri"/>
              </a:rPr>
              <a:t>ManyChat 'GITA' trigger · Update captions · First Story poll campaign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6703" y="1691640"/>
            <a:ext cx="1833829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86703" y="1691640"/>
            <a:ext cx="183382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MONTH 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6703" y="2057400"/>
            <a:ext cx="1833829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32423" y="2148840"/>
            <a:ext cx="174238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6D28D9"/>
                </a:solidFill>
                <a:latin typeface="Calibri"/>
              </a:rPr>
              <a:t>NEW REVENUE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8143" y="2468880"/>
            <a:ext cx="1650949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334155"/>
                </a:solidFill>
                <a:latin typeface="Calibri"/>
              </a:rPr>
              <a:t>Annual ₹699 launch · 3 PDF guides live · Diwali gift sub page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93684" y="1691640"/>
            <a:ext cx="1833829" cy="3657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93684" y="1691640"/>
            <a:ext cx="183382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MONTH 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93684" y="2057400"/>
            <a:ext cx="1833829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39404" y="2148840"/>
            <a:ext cx="174238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15803D"/>
                </a:solidFill>
                <a:latin typeface="Calibri"/>
              </a:rPr>
              <a:t>SCALE CONTENT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85124" y="2468880"/>
            <a:ext cx="1650949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334155"/>
                </a:solidFill>
                <a:latin typeface="Calibri"/>
              </a:rPr>
              <a:t>Daily Reels · 2 creator collabs · B2B pitch deck · Premium tier launch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00665" y="1691640"/>
            <a:ext cx="1833829" cy="36576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00665" y="1691640"/>
            <a:ext cx="183382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MONTH 3+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900665" y="2057400"/>
            <a:ext cx="1833829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46385" y="2148840"/>
            <a:ext cx="174238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CA8A04"/>
                </a:solidFill>
                <a:latin typeface="Calibri"/>
              </a:rPr>
              <a:t>PAID + B2B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92105" y="2468880"/>
            <a:ext cx="1650949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334155"/>
                </a:solidFill>
                <a:latin typeface="Calibri"/>
              </a:rPr>
              <a:t>Meta CTWA ₹500/d · Lookalike audience · 5 corporate pilots · Audio launch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3566160"/>
            <a:ext cx="658368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3611880"/>
            <a:ext cx="6583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0B2545"/>
                </a:solidFill>
                <a:latin typeface="Calibri"/>
              </a:rPr>
              <a:t>MILESTONE OUTCOMES  ·  NOW / 30 / 60 / 90 DAY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4023360"/>
            <a:ext cx="6309360" cy="31089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4023360"/>
            <a:ext cx="2194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DIMENSION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06040" y="4023360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TODAY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11880" y="4023360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DAY-30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17720" y="4023360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DAY-60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0" y="4023360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DAY-90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4334256"/>
            <a:ext cx="630936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" y="4334256"/>
            <a:ext cx="2194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B2545"/>
                </a:solidFill>
                <a:latin typeface="Calibri"/>
              </a:rPr>
              <a:t>Active paid subscribers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06040" y="4334256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B91C1C"/>
                </a:solidFill>
                <a:latin typeface="Calibri"/>
              </a:rPr>
              <a:t>116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11880" y="4334256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230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17720" y="4334256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480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9280" y="4334256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15803D"/>
                </a:solidFill>
                <a:latin typeface="Calibri"/>
              </a:rPr>
              <a:t>800+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" y="4645152"/>
            <a:ext cx="630936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80" y="4645152"/>
            <a:ext cx="2194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B2545"/>
                </a:solidFill>
                <a:latin typeface="Calibri"/>
              </a:rPr>
              <a:t>Daily new trials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06040" y="4645152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B91C1C"/>
                </a:solidFill>
                <a:latin typeface="Calibri"/>
              </a:rPr>
              <a:t>2-3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11880" y="4645152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8-10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17720" y="4645152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15-18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69280" y="4645152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15803D"/>
                </a:solidFill>
                <a:latin typeface="Calibri"/>
              </a:rPr>
              <a:t>20-30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1480" y="4956048"/>
            <a:ext cx="630936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1480" y="4956048"/>
            <a:ext cx="2194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B2545"/>
                </a:solidFill>
                <a:latin typeface="Calibri"/>
              </a:rPr>
              <a:t>Homepage → Form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606040" y="4956048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B91C1C"/>
                </a:solidFill>
                <a:latin typeface="Calibri"/>
              </a:rPr>
              <a:t>18.2%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11880" y="4956048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30%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17720" y="4956048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35%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9280" y="4956048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15803D"/>
                </a:solidFill>
                <a:latin typeface="Calibri"/>
              </a:rPr>
              <a:t>40%+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5266944"/>
            <a:ext cx="630936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1480" y="5266944"/>
            <a:ext cx="2194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B2545"/>
                </a:solidFill>
                <a:latin typeface="Calibri"/>
              </a:rPr>
              <a:t>Trial → Paid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606040" y="5266944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B91C1C"/>
                </a:solidFill>
                <a:latin typeface="Calibri"/>
              </a:rPr>
              <a:t>71%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11880" y="5266944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78%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617720" y="5266944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82%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69280" y="5266944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15803D"/>
                </a:solidFill>
                <a:latin typeface="Calibri"/>
              </a:rPr>
              <a:t>88%+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1480" y="5577840"/>
            <a:ext cx="630936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11480" y="5577840"/>
            <a:ext cx="2194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B2545"/>
                </a:solidFill>
                <a:latin typeface="Calibri"/>
              </a:rPr>
              <a:t>Monthly churn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606040" y="5577840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B91C1C"/>
                </a:solidFill>
                <a:latin typeface="Calibri"/>
              </a:rPr>
              <a:t>29%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11880" y="5577840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&lt;20%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617720" y="5577840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&lt;12%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669280" y="5577840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15803D"/>
                </a:solidFill>
                <a:latin typeface="Calibri"/>
              </a:rPr>
              <a:t>&lt;8%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11480" y="5888736"/>
            <a:ext cx="630936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11480" y="5888736"/>
            <a:ext cx="2194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B2545"/>
                </a:solidFill>
                <a:latin typeface="Calibri"/>
              </a:rPr>
              <a:t>Blended monthly revenue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606040" y="5888736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B91C1C"/>
                </a:solidFill>
                <a:latin typeface="Calibri"/>
              </a:rPr>
              <a:t>₹9.2K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611880" y="5888736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₹22K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617720" y="5888736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₹70K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669280" y="5888736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15803D"/>
                </a:solidFill>
                <a:latin typeface="Calibri"/>
              </a:rPr>
              <a:t>₹1L+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11480" y="6199632"/>
            <a:ext cx="630936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11480" y="6199632"/>
            <a:ext cx="2194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B2545"/>
                </a:solidFill>
                <a:latin typeface="Calibri"/>
              </a:rPr>
              <a:t>Revenue streams live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606040" y="6199632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B91C1C"/>
                </a:solidFill>
                <a:latin typeface="Calibri"/>
              </a:rP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611880" y="6199632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617720" y="6199632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669280" y="6199632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15803D"/>
                </a:solidFill>
                <a:latin typeface="Calibri"/>
              </a:rPr>
              <a:t>7+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995160" y="3566160"/>
            <a:ext cx="493776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132320" y="3611880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0B2545"/>
                </a:solidFill>
                <a:latin typeface="Calibri"/>
              </a:rPr>
              <a:t>RISK &amp; MITIGATION MATRIX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132320" y="4023360"/>
            <a:ext cx="4663440" cy="2743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132320" y="4023360"/>
            <a:ext cx="1874519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006840" y="4023360"/>
            <a:ext cx="9601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012680" y="4023360"/>
            <a:ext cx="17830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MITIGATION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132320" y="4297680"/>
            <a:ext cx="466344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132320" y="4297680"/>
            <a:ext cx="1874519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WhatsApp policy / API ban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098280" y="4389120"/>
            <a:ext cx="777240" cy="2286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098280" y="4389120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012680" y="4297680"/>
            <a:ext cx="17830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334155"/>
                </a:solidFill>
                <a:latin typeface="Calibri"/>
              </a:rPr>
              <a:t>WA Business API + email mirror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132320" y="4718304"/>
            <a:ext cx="4663440" cy="41148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132320" y="4718304"/>
            <a:ext cx="1874519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Mandate distrust → chargebacks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098280" y="4809744"/>
            <a:ext cx="777240" cy="228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098280" y="4809744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012680" y="4718304"/>
            <a:ext cx="17830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334155"/>
                </a:solidFill>
                <a:latin typeface="Calibri"/>
              </a:rPr>
              <a:t>Bilingual explainer, pre-charge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132320" y="5138928"/>
            <a:ext cx="466344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132320" y="5138928"/>
            <a:ext cx="1874519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Founder content fatigue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098280" y="5230368"/>
            <a:ext cx="777240" cy="2286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098280" y="5230368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012680" y="5138928"/>
            <a:ext cx="17830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334155"/>
                </a:solidFill>
                <a:latin typeface="Calibri"/>
              </a:rPr>
              <a:t>Onboard 2 scholars by Month 3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132320" y="5559552"/>
            <a:ext cx="4663440" cy="41148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132320" y="5559552"/>
            <a:ext cx="1874519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Instagram algo dependency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098280" y="5650992"/>
            <a:ext cx="777240" cy="228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098280" y="5650992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012680" y="5559552"/>
            <a:ext cx="17830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334155"/>
                </a:solidFill>
                <a:latin typeface="Calibri"/>
              </a:rPr>
              <a:t>Diversify: Shorts, ShareChat, email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132320" y="5980176"/>
            <a:ext cx="466344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132320" y="5980176"/>
            <a:ext cx="1874519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Premium quality dilution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098280" y="6071616"/>
            <a:ext cx="777240" cy="2286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098280" y="6071616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012680" y="5980176"/>
            <a:ext cx="17830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334155"/>
                </a:solidFill>
                <a:latin typeface="Calibri"/>
              </a:rPr>
              <a:t>Hard cap 150 members, founder mod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 i="1">
                <a:solidFill>
                  <a:srgbClr val="64748B"/>
                </a:solidFill>
                <a:latin typeface="Calibri"/>
              </a:rPr>
              <a:t>SOURCE  ·  Glido Labs case | Industry risk benchmarks | Team risk identification &amp; mitigation design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B2545"/>
                </a:solidFill>
                <a:latin typeface="Calibri"/>
              </a:rPr>
              <a:t>BHAGAVAD GITA DAILY  ·  STRATEGY &amp; GROWTH</a:t>
            </a:r>
          </a:p>
        </p:txBody>
      </p:sp>
      <p:sp>
        <p:nvSpPr>
          <p:cNvPr id="5" name="Rectangle 4"/>
          <p:cNvSpPr/>
          <p:nvPr/>
        </p:nvSpPr>
        <p:spPr>
          <a:xfrm>
            <a:off x="8762695" y="91440"/>
            <a:ext cx="2560320" cy="25603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62695" y="91440"/>
            <a:ext cx="25603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APPENDIX  ·  FRAMEWORKS &amp;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14455" y="91440"/>
            <a:ext cx="5029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14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57200"/>
            <a:ext cx="11643055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B2545"/>
                </a:solidFill>
                <a:latin typeface="Calibri"/>
              </a:rPr>
              <a:t>Every analysis traces to a named framework and a published data source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960120"/>
            <a:ext cx="1371600" cy="0"/>
          </a:xfrm>
          <a:prstGeom prst="line">
            <a:avLst/>
          </a:prstGeom>
          <a:ln w="317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74320" y="1188720"/>
            <a:ext cx="576072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234440"/>
            <a:ext cx="5760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0B2545"/>
                </a:solidFill>
                <a:latin typeface="Calibri"/>
              </a:rPr>
              <a:t>FRAMEWORKS USED IN THIS DECK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691640"/>
            <a:ext cx="5486400" cy="36576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691640"/>
            <a:ext cx="23317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B2545"/>
                </a:solidFill>
                <a:latin typeface="Calibri"/>
              </a:rPr>
              <a:t>SCR  ·  SITUATION-COMPLICATION-RESOLUTION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1691640"/>
            <a:ext cx="29260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334155"/>
                </a:solidFill>
                <a:latin typeface="Calibri"/>
              </a:rPr>
              <a:t>MBB synthesis structure (slide 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066544"/>
            <a:ext cx="548640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066544"/>
            <a:ext cx="23317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B2545"/>
                </a:solidFill>
                <a:latin typeface="Calibri"/>
              </a:rPr>
              <a:t>FUNNEL DIAGNOSTIC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066544"/>
            <a:ext cx="29260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334155"/>
                </a:solidFill>
                <a:latin typeface="Calibri"/>
              </a:rPr>
              <a:t>Stage-by-stage drop-off vs benchmark (slide 4)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441448"/>
            <a:ext cx="5486400" cy="36576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441448"/>
            <a:ext cx="23317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B2545"/>
                </a:solidFill>
                <a:latin typeface="Calibri"/>
              </a:rPr>
              <a:t>VALUE PROPOSITION CANVAS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2441448"/>
            <a:ext cx="29260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334155"/>
                </a:solidFill>
                <a:latin typeface="Calibri"/>
              </a:rPr>
              <a:t>JTBD × Anxieties × Pay × Stay (slide 3)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816352"/>
            <a:ext cx="548640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816352"/>
            <a:ext cx="23317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B2545"/>
                </a:solidFill>
                <a:latin typeface="Calibri"/>
              </a:rPr>
              <a:t>CORE WEB VITALS AUDIT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2816352"/>
            <a:ext cx="29260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334155"/>
                </a:solidFill>
                <a:latin typeface="Calibri"/>
              </a:rPr>
              <a:t>LCP/INP/CLS perf (slide 5)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191256"/>
            <a:ext cx="5486400" cy="36576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191256"/>
            <a:ext cx="23317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B2545"/>
                </a:solidFill>
                <a:latin typeface="Calibri"/>
              </a:rPr>
              <a:t>HOOK MODEL  ·  NIR EYAL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3191256"/>
            <a:ext cx="29260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334155"/>
                </a:solidFill>
                <a:latin typeface="Calibri"/>
              </a:rPr>
              <a:t>Trigger → Action → Reward → Invest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566160"/>
            <a:ext cx="548640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566160"/>
            <a:ext cx="23317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B2545"/>
                </a:solidFill>
                <a:latin typeface="Calibri"/>
              </a:rPr>
              <a:t>AARRR PIRATE METRICS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3566160"/>
            <a:ext cx="29260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334155"/>
                </a:solidFill>
                <a:latin typeface="Calibri"/>
              </a:rPr>
              <a:t>Acquisition / Activation / Retention / Referral / Revenue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3941064"/>
            <a:ext cx="5486400" cy="36576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941064"/>
            <a:ext cx="23317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B2545"/>
                </a:solidFill>
                <a:latin typeface="Calibri"/>
              </a:rPr>
              <a:t>UNIT ECONOMICS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0360" y="3941064"/>
            <a:ext cx="29260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334155"/>
                </a:solidFill>
                <a:latin typeface="Calibri"/>
              </a:rPr>
              <a:t>Per-sub P&amp;L: ₹948 → ₹671 contribution (slide 12)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4315968"/>
            <a:ext cx="548640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315968"/>
            <a:ext cx="23317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B2545"/>
                </a:solidFill>
                <a:latin typeface="Calibri"/>
              </a:rPr>
              <a:t>LTV / CAC SENSITIVITY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0360" y="4315968"/>
            <a:ext cx="29260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334155"/>
                </a:solidFill>
                <a:latin typeface="Calibri"/>
              </a:rPr>
              <a:t>5%-29% churn scenarios (slide 12)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4690872"/>
            <a:ext cx="5486400" cy="36576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690872"/>
            <a:ext cx="23317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B2545"/>
                </a:solidFill>
                <a:latin typeface="Calibri"/>
              </a:rPr>
              <a:t>TAM / SAM / SOM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0360" y="4690872"/>
            <a:ext cx="29260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334155"/>
                </a:solidFill>
                <a:latin typeface="Calibri"/>
              </a:rPr>
              <a:t>B2B sizing ₹4,000 Cr → ₹50-80 L Y1 (slide 11)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5065776"/>
            <a:ext cx="548640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5065776"/>
            <a:ext cx="23317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B2545"/>
                </a:solidFill>
                <a:latin typeface="Calibri"/>
              </a:rPr>
              <a:t>KPI DASHBOARD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80360" y="5065776"/>
            <a:ext cx="29260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334155"/>
                </a:solidFill>
                <a:latin typeface="Calibri"/>
              </a:rPr>
              <a:t>10 weekly + 8 monthly metrics (slide 7)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5440680"/>
            <a:ext cx="5486400" cy="36576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5440680"/>
            <a:ext cx="23317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B2545"/>
                </a:solidFill>
                <a:latin typeface="Calibri"/>
              </a:rPr>
              <a:t>RISK &amp; MITIGATION MATRIX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80360" y="5440680"/>
            <a:ext cx="29260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334155"/>
                </a:solidFill>
                <a:latin typeface="Calibri"/>
              </a:rPr>
              <a:t>5 risks × impact × mitigation (slide 13)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5815584"/>
            <a:ext cx="548640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5815584"/>
            <a:ext cx="23317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B2545"/>
                </a:solidFill>
                <a:latin typeface="Calibri"/>
              </a:rPr>
              <a:t>FESTIVAL CALENDAR REVENUE LIFTS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80360" y="5815584"/>
            <a:ext cx="29260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334155"/>
                </a:solidFill>
                <a:latin typeface="Calibri"/>
              </a:rPr>
              <a:t>9 Hindu festivals × baseline 100 (slide 10)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72200" y="1188720"/>
            <a:ext cx="576072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1234440"/>
            <a:ext cx="5760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0B2545"/>
                </a:solidFill>
                <a:latin typeface="Calibri"/>
              </a:rPr>
              <a:t>DATA SOURCES &amp; REFERENCES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60" y="1691640"/>
            <a:ext cx="5486400" cy="329184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309360" y="1691640"/>
            <a:ext cx="36576" cy="329184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1691640"/>
            <a:ext cx="13716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0B2545"/>
                </a:solidFill>
                <a:latin typeface="Calibri"/>
              </a:rPr>
              <a:t>CASE DATA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8120" y="1691640"/>
            <a:ext cx="39319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 i="0">
                <a:solidFill>
                  <a:srgbClr val="334155"/>
                </a:solidFill>
                <a:latin typeface="Calibri"/>
              </a:rPr>
              <a:t>Glido Labs Strategy Assignment brief — funnel, sessions, perf, errors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09360" y="2029968"/>
            <a:ext cx="54864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09360" y="2029968"/>
            <a:ext cx="36576" cy="329184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2029968"/>
            <a:ext cx="13716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0B2545"/>
                </a:solidFill>
                <a:latin typeface="Calibri"/>
              </a:rPr>
              <a:t>MARKET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18120" y="2029968"/>
            <a:ext cx="39319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 i="0">
                <a:solidFill>
                  <a:srgbClr val="334155"/>
                </a:solidFill>
                <a:latin typeface="Calibri"/>
              </a:rPr>
              <a:t>IMARC India Subscription Apps Market Report 2024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09360" y="2368296"/>
            <a:ext cx="5486400" cy="329184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309360" y="2368296"/>
            <a:ext cx="36576" cy="329184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0" y="2368296"/>
            <a:ext cx="13716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0B2545"/>
                </a:solidFill>
                <a:latin typeface="Calibri"/>
              </a:rPr>
              <a:t>MARKET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18120" y="2368296"/>
            <a:ext cx="39319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 i="0">
                <a:solidFill>
                  <a:srgbClr val="334155"/>
                </a:solidFill>
                <a:latin typeface="Calibri"/>
              </a:rPr>
              <a:t>Mercer Marsh Benefits India Wellness Survey 2024 (₹4,000 Cr B2B TAM)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09360" y="2706624"/>
            <a:ext cx="54864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309360" y="2706624"/>
            <a:ext cx="36576" cy="329184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0800" y="2706624"/>
            <a:ext cx="13716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0B2545"/>
                </a:solidFill>
                <a:latin typeface="Calibri"/>
              </a:rPr>
              <a:t>MARKET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18120" y="2706624"/>
            <a:ext cx="39319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 i="0">
                <a:solidFill>
                  <a:srgbClr val="334155"/>
                </a:solidFill>
                <a:latin typeface="Calibri"/>
              </a:rPr>
              <a:t>RedSeer Spiritual &amp; Wellness E-commerce Report 2024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09360" y="3044952"/>
            <a:ext cx="5486400" cy="329184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309360" y="3044952"/>
            <a:ext cx="36576" cy="329184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00800" y="3044952"/>
            <a:ext cx="13716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0B2545"/>
                </a:solidFill>
                <a:latin typeface="Calibri"/>
              </a:rPr>
              <a:t>MARKET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18120" y="3044952"/>
            <a:ext cx="39319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 i="0">
                <a:solidFill>
                  <a:srgbClr val="334155"/>
                </a:solidFill>
                <a:latin typeface="Calibri"/>
              </a:rPr>
              <a:t>Meta India Click-to-WhatsApp Ads benchmark 3-5× lift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309360" y="3383280"/>
            <a:ext cx="54864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309360" y="3383280"/>
            <a:ext cx="36576" cy="329184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00800" y="3383280"/>
            <a:ext cx="13716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0B2545"/>
                </a:solidFill>
                <a:latin typeface="Calibri"/>
              </a:rPr>
              <a:t>MARKET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818120" y="3383280"/>
            <a:ext cx="39319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 i="0">
                <a:solidFill>
                  <a:srgbClr val="334155"/>
                </a:solidFill>
                <a:latin typeface="Calibri"/>
              </a:rPr>
              <a:t>KPMG Wedding Industry India 2024 (₹3.7T)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309360" y="3721608"/>
            <a:ext cx="5486400" cy="329184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309360" y="3721608"/>
            <a:ext cx="36576" cy="329184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00800" y="3721608"/>
            <a:ext cx="13716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0B2545"/>
                </a:solidFill>
                <a:latin typeface="Calibri"/>
              </a:rPr>
              <a:t>CONSUMER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818120" y="3721608"/>
            <a:ext cx="39319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 i="0">
                <a:solidFill>
                  <a:srgbClr val="334155"/>
                </a:solidFill>
                <a:latin typeface="Calibri"/>
              </a:rPr>
              <a:t>LocalCircles Hindi Spiritual Content Survey 2024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309360" y="4059936"/>
            <a:ext cx="54864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309360" y="4059936"/>
            <a:ext cx="36576" cy="329184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00800" y="4059936"/>
            <a:ext cx="13716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0B2545"/>
                </a:solidFill>
                <a:latin typeface="Calibri"/>
              </a:rPr>
              <a:t>PRODUCT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818120" y="4059936"/>
            <a:ext cx="39319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 i="0">
                <a:solidFill>
                  <a:srgbClr val="334155"/>
                </a:solidFill>
                <a:latin typeface="Calibri"/>
              </a:rPr>
              <a:t>Razorpay UPI Mandate UX Guidelines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309360" y="4398264"/>
            <a:ext cx="5486400" cy="329184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309360" y="4398264"/>
            <a:ext cx="36576" cy="329184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00800" y="4398264"/>
            <a:ext cx="13716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0B2545"/>
                </a:solidFill>
                <a:latin typeface="Calibri"/>
              </a:rPr>
              <a:t>PRODUCT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818120" y="4398264"/>
            <a:ext cx="39319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 i="0">
                <a:solidFill>
                  <a:srgbClr val="334155"/>
                </a:solidFill>
                <a:latin typeface="Calibri"/>
              </a:rPr>
              <a:t>Google Web Vitals — LCP/INP/CLS conversion impact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309360" y="4736592"/>
            <a:ext cx="54864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309360" y="4736592"/>
            <a:ext cx="36576" cy="329184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400800" y="4736592"/>
            <a:ext cx="13716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0B2545"/>
                </a:solidFill>
                <a:latin typeface="Calibri"/>
              </a:rPr>
              <a:t>PRODUCT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818120" y="4736592"/>
            <a:ext cx="39319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 i="0">
                <a:solidFill>
                  <a:srgbClr val="334155"/>
                </a:solidFill>
                <a:latin typeface="Calibri"/>
              </a:rPr>
              <a:t>ManyChat Instagram automation benchmarks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5074920"/>
            <a:ext cx="5486400" cy="329184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309360" y="5074920"/>
            <a:ext cx="36576" cy="329184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400800" y="5074920"/>
            <a:ext cx="13716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0B2545"/>
                </a:solidFill>
                <a:latin typeface="Calibri"/>
              </a:rPr>
              <a:t>THEORY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818120" y="5074920"/>
            <a:ext cx="39319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 i="0">
                <a:solidFill>
                  <a:srgbClr val="334155"/>
                </a:solidFill>
                <a:latin typeface="Calibri"/>
              </a:rPr>
              <a:t>Maister, Green &amp; Galford — The Trusted Advisor (2000)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309360" y="5413248"/>
            <a:ext cx="54864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309360" y="5413248"/>
            <a:ext cx="36576" cy="329184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400800" y="5413248"/>
            <a:ext cx="13716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0B2545"/>
                </a:solidFill>
                <a:latin typeface="Calibri"/>
              </a:rPr>
              <a:t>THEORY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818120" y="5413248"/>
            <a:ext cx="39319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 i="0">
                <a:solidFill>
                  <a:srgbClr val="334155"/>
                </a:solidFill>
                <a:latin typeface="Calibri"/>
              </a:rPr>
              <a:t>Nir Eyal — Hooked: How to Build Habit-Forming Products (2014)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309360" y="5751576"/>
            <a:ext cx="5486400" cy="329184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309360" y="5751576"/>
            <a:ext cx="36576" cy="329184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400800" y="5751576"/>
            <a:ext cx="13716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0B2545"/>
                </a:solidFill>
                <a:latin typeface="Calibri"/>
              </a:rPr>
              <a:t>THEORY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818120" y="5751576"/>
            <a:ext cx="39319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 i="0">
                <a:solidFill>
                  <a:srgbClr val="334155"/>
                </a:solidFill>
                <a:latin typeface="Calibri"/>
              </a:rPr>
              <a:t>Eric Ries — The Lean Startup (2011)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309360" y="6089904"/>
            <a:ext cx="54864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309360" y="6089904"/>
            <a:ext cx="36576" cy="329184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400800" y="6089904"/>
            <a:ext cx="13716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0B2545"/>
                </a:solidFill>
                <a:latin typeface="Calibri"/>
              </a:rPr>
              <a:t>UNIT ECON.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818120" y="6089904"/>
            <a:ext cx="39319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 i="0">
                <a:solidFill>
                  <a:srgbClr val="334155"/>
                </a:solidFill>
                <a:latin typeface="Calibri"/>
              </a:rPr>
              <a:t>Sequoia India Subscription Unit Economics Guide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45720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4114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D97706"/>
                </a:solidFill>
                <a:latin typeface="Calibri"/>
              </a:rPr>
              <a:t>THE BIG BET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4206240" cy="2926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Fix the funnel</a:t>
            </a:r>
          </a:p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before you scale it.</a:t>
            </a:r>
          </a:p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Deepen monetization</a:t>
            </a:r>
          </a:p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before you buy traffic.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663440"/>
            <a:ext cx="1828800" cy="0"/>
          </a:xfrm>
          <a:prstGeom prst="line">
            <a:avLst/>
          </a:prstGeom>
          <a:ln w="2540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800600"/>
            <a:ext cx="4206240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i="1">
                <a:solidFill>
                  <a:srgbClr val="CBD5E1"/>
                </a:solidFill>
                <a:latin typeface="Calibri"/>
              </a:rPr>
              <a:t>Most spiritual subscriptions die buying ads into broken funnels. We will not. The 90-day plan is sequenced so the first ₹0 of new spend earns the right to the next ₹1 of paid acquisition.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4206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D97706"/>
                </a:solidFill>
                <a:latin typeface="Calibri"/>
              </a:rPr>
              <a:t>DIVYAMAN PAL  ·  IIT KANPUR  ·  divyamp23@iitk.ac.in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502920"/>
            <a:ext cx="64008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0B2545"/>
                </a:solidFill>
                <a:latin typeface="Calibri"/>
              </a:rPr>
              <a:t>WHAT WE WILL HAVE BY MONTH 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0" y="960120"/>
            <a:ext cx="2286000" cy="0"/>
          </a:xfrm>
          <a:prstGeom prst="line">
            <a:avLst/>
          </a:prstGeom>
          <a:ln w="317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486400" y="1188720"/>
            <a:ext cx="54864" cy="502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188720"/>
            <a:ext cx="16916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0B2545"/>
                </a:solidFill>
                <a:latin typeface="Calibri"/>
              </a:rPr>
              <a:t>FUNNEL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1188720"/>
            <a:ext cx="44348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Homepage → Trial above 8% (vs 2.21% today)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69280" y="1691640"/>
            <a:ext cx="612648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486400" y="1783080"/>
            <a:ext cx="54864" cy="502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1783080"/>
            <a:ext cx="16916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0B2545"/>
                </a:solidFill>
                <a:latin typeface="Calibri"/>
              </a:rPr>
              <a:t>AUDIENCE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1783080"/>
            <a:ext cx="44348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800+ active paying subscribers (vs 116 today)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69280" y="2286000"/>
            <a:ext cx="612648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486400" y="2377440"/>
            <a:ext cx="54864" cy="502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0" y="2377440"/>
            <a:ext cx="16916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0B2545"/>
                </a:solidFill>
                <a:latin typeface="Calibri"/>
              </a:rPr>
              <a:t>REVENUE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2377440"/>
            <a:ext cx="44348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₹1L+ blended MRR — 11× current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80" y="2880360"/>
            <a:ext cx="612648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486400" y="2971800"/>
            <a:ext cx="54864" cy="502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0" y="2971800"/>
            <a:ext cx="16916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0B2545"/>
                </a:solidFill>
                <a:latin typeface="Calibri"/>
              </a:rPr>
              <a:t>STREAMS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2971800"/>
            <a:ext cx="44348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7 of 10 revenue streams live (Annual, PDF, Premium, Festival, B2B, Family, Audio)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69280" y="3474720"/>
            <a:ext cx="612648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5486400" y="3566160"/>
            <a:ext cx="54864" cy="502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0" y="3566160"/>
            <a:ext cx="16916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0B2545"/>
                </a:solidFill>
                <a:latin typeface="Calibri"/>
              </a:rPr>
              <a:t>PIPELINE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3566160"/>
            <a:ext cx="44348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3 corporate pilots in motion · paid ads ROAS-positive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9280" y="4069080"/>
            <a:ext cx="612648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5486400" y="4160520"/>
            <a:ext cx="54864" cy="502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0" y="4160520"/>
            <a:ext cx="16916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0B2545"/>
                </a:solidFill>
                <a:latin typeface="Calibri"/>
              </a:rPr>
              <a:t>BRAND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4160520"/>
            <a:ext cx="44348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200K+ Instagram, first PR mention as India's daily Gita ritual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669280" y="4663440"/>
            <a:ext cx="612648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486400" y="4937760"/>
            <a:ext cx="6400800" cy="1371600"/>
          </a:xfrm>
          <a:prstGeom prst="rect">
            <a:avLst/>
          </a:prstGeom>
          <a:solidFill>
            <a:srgbClr val="F8FAFC"/>
          </a:solidFill>
          <a:ln w="190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0" y="4937760"/>
            <a:ext cx="91440" cy="137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0" y="5029200"/>
            <a:ext cx="6217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D97706"/>
                </a:solidFill>
                <a:latin typeface="Calibri"/>
              </a:rPr>
              <a:t>FROM THE GITA  ·  CHAPTER 2, VERSE 47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5303520"/>
            <a:ext cx="62179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1">
                <a:solidFill>
                  <a:srgbClr val="0B2545"/>
                </a:solidFill>
                <a:latin typeface="Calibri"/>
              </a:rPr>
              <a:t>"You have a right to perform your prescribed duty, but not to the fruits of action."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0" y="5852160"/>
            <a:ext cx="6217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1">
                <a:solidFill>
                  <a:srgbClr val="64748B"/>
                </a:solidFill>
                <a:latin typeface="Calibri"/>
              </a:rPr>
              <a:t>Operating principle: ship the funnel; the MRR will follow.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0" y="6492240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Bhagavad Gita Daily  ·  Strategy Deck v4.0  ·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