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6858000" y="0"/>
            <a:ext cx="5349240" cy="6858000"/>
          </a:xfrm>
          <a:prstGeom prst="rtTriangle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7772400" y="0"/>
            <a:ext cx="4434840" cy="6858000"/>
          </a:xfrm>
          <a:prstGeom prst="rtTriangle">
            <a:avLst/>
          </a:prstGeom>
          <a:solidFill>
            <a:srgbClr val="E89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82880"/>
            <a:ext cx="64008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365760"/>
            <a:ext cx="1645920" cy="777240"/>
          </a:xfrm>
          <a:prstGeom prst="roundRect">
            <a:avLst>
              <a:gd name="adj" fmla="val 18000"/>
            </a:avLst>
          </a:prstGeom>
          <a:solidFill>
            <a:srgbClr val="4A2418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65760"/>
            <a:ext cx="164592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IIT KANPUR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65760"/>
            <a:ext cx="1920240" cy="777240"/>
          </a:xfrm>
          <a:prstGeom prst="roundRect">
            <a:avLst>
              <a:gd name="adj" fmla="val 18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365760"/>
            <a:ext cx="19202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GLIDO LABS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65760"/>
            <a:ext cx="2103120" cy="777240"/>
          </a:xfrm>
          <a:prstGeom prst="roundRect">
            <a:avLst>
              <a:gd name="adj" fmla="val 18000"/>
            </a:avLst>
          </a:prstGeom>
          <a:solidFill>
            <a:srgbClr val="E89B47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365760"/>
            <a:ext cx="210312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FOUNDER'S OFFICE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691640"/>
            <a:ext cx="7315200" cy="269748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828800"/>
            <a:ext cx="70408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0A03A"/>
                </a:solidFill>
                <a:latin typeface="Calibri"/>
              </a:rPr>
              <a:t>STRATEGY ASSIGNMENT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331720"/>
            <a:ext cx="7040880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BHAGAVAD GITA DAILY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520440"/>
            <a:ext cx="70408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FFFFFF"/>
                </a:solidFill>
                <a:latin typeface="Calibri"/>
              </a:rPr>
              <a:t>Monetization &amp; Growth Strategy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1828800"/>
            <a:ext cx="3200400" cy="32004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828800"/>
            <a:ext cx="3200400" cy="3200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0" b="0" i="0">
                <a:solidFill>
                  <a:srgbClr val="B55512"/>
                </a:solidFill>
                <a:latin typeface="Calibri"/>
              </a:rPr>
              <a:t>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4663440"/>
            <a:ext cx="7315200" cy="1920240"/>
          </a:xfrm>
          <a:prstGeom prst="roundRect">
            <a:avLst>
              <a:gd name="adj" fmla="val 4000"/>
            </a:avLst>
          </a:prstGeom>
          <a:solidFill>
            <a:srgbClr val="E89B47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754880"/>
            <a:ext cx="7315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PREPARED BY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074920"/>
            <a:ext cx="731520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DIVYAMAN PAL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577840"/>
            <a:ext cx="73152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B.Tech, Civil Engineering · Indian Institute of Technology Kanpur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5989320"/>
            <a:ext cx="73152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divyamp23@iitk.ac.in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5029200"/>
            <a:ext cx="34747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5074920"/>
            <a:ext cx="3474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THE THESIS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349240"/>
            <a:ext cx="347472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2A1A0F"/>
                </a:solidFill>
                <a:latin typeface="Calibri"/>
              </a:rPr>
              <a:t>Funnel + monetization-depth problem.</a:t>
            </a:r>
          </a:p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2A1A0F"/>
                </a:solidFill>
                <a:latin typeface="Calibri"/>
              </a:rPr>
              <a:t>4 areas. 10 revenue streams. 11× MRR in 90 days.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DIAGNOSIS &amp; PERSONA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MODEL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11× MRR in 90 days — fix 3 funnel leaks at ₹0 spend, then deepen to a 10-stream India-grounded revenue stack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1005840"/>
            <a:ext cx="3759098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" y="1005840"/>
            <a:ext cx="3759098" cy="411480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1005840"/>
            <a:ext cx="3759098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01 · SITUATION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508760"/>
            <a:ext cx="33933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1">
                <a:solidFill>
                  <a:srgbClr val="B55512"/>
                </a:solidFill>
                <a:latin typeface="Calibri"/>
              </a:rPr>
              <a:t>What we have 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828800"/>
            <a:ext cx="339333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192K Instagram · 2,227 posts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5,239 monthly homepage sessions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₹79/mo SKU · 116 active paid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MRR ₹9.2K · 71% trial→paid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PMF proven; ceiling = ₹79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46120"/>
            <a:ext cx="3393338" cy="256032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246120"/>
            <a:ext cx="339333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PMF + BROKEN FUNNEL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16298" y="1005840"/>
            <a:ext cx="3759098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16298" y="1005840"/>
            <a:ext cx="3759098" cy="411480"/>
          </a:xfrm>
          <a:prstGeom prst="roundRect">
            <a:avLst>
              <a:gd name="adj" fmla="val 10000"/>
            </a:avLst>
          </a:prstGeom>
          <a:solidFill>
            <a:srgbClr val="B02C2C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16298" y="1005840"/>
            <a:ext cx="3759098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02 · COMPLICATION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9178" y="1508760"/>
            <a:ext cx="33933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1">
                <a:solidFill>
                  <a:srgbClr val="B02C2C"/>
                </a:solidFill>
                <a:latin typeface="Calibri"/>
              </a:rPr>
              <a:t>Why growth has stalled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9178" y="1828800"/>
            <a:ext cx="339333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Homepage→Form: −81.8% (−4,287)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Signup→Trial: −67.4% (₹5 UPI gate)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Trial→Paid: 71% (Day-3 surprise)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29% churn · single ₹79 SKU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Free IG = paid product (no gap)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99178" y="3246120"/>
            <a:ext cx="3393338" cy="256032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99178" y="3246120"/>
            <a:ext cx="339333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4 STRUCTURAL LEAKS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8276" y="1005840"/>
            <a:ext cx="3759098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58276" y="1005840"/>
            <a:ext cx="3759098" cy="411480"/>
          </a:xfrm>
          <a:prstGeom prst="roundRect">
            <a:avLst>
              <a:gd name="adj" fmla="val 10000"/>
            </a:avLst>
          </a:prstGeom>
          <a:solidFill>
            <a:srgbClr val="057A55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58276" y="1005840"/>
            <a:ext cx="3759098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03 · RESOLUTION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1156" y="1508760"/>
            <a:ext cx="33933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1">
                <a:solidFill>
                  <a:srgbClr val="057A55"/>
                </a:solidFill>
                <a:latin typeface="Calibri"/>
              </a:rPr>
              <a:t>4-area sequenced 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1156" y="1828800"/>
            <a:ext cx="339333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L1 · Seal funnel (homepage + UPI + Day-3)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L2 · 2-3 → 20-30 trials/day in 13 wks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L3 · Value-gap content + 5 campaigns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L4 · 10-stream stack + festival economy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Target ₹1L MRR M3, ₹3.5L M12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41156" y="3246120"/>
            <a:ext cx="3393338" cy="256032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41156" y="3246120"/>
            <a:ext cx="339333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ZERO-SPEND FIRST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3749039"/>
            <a:ext cx="6766560" cy="2331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3822191"/>
            <a:ext cx="6766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THE FUNNEL — WHERE 192K BECOMES 116</a:t>
            </a:r>
          </a:p>
        </p:txBody>
      </p:sp>
      <p:pic>
        <p:nvPicPr>
          <p:cNvPr id="42" name="Picture 41" descr="funnel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60520"/>
            <a:ext cx="6492240" cy="1874519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7178040" y="3749039"/>
            <a:ext cx="4754880" cy="2331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78040" y="3822191"/>
            <a:ext cx="47548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THE PRIZE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0" y="4206240"/>
            <a:ext cx="2240280" cy="566928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B55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4206240"/>
            <a:ext cx="777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55512"/>
                </a:solidFill>
                <a:latin typeface="Calibri"/>
              </a:rPr>
              <a:t>11×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80" y="4206240"/>
            <a:ext cx="13258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MRR uplift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46920" y="4206240"/>
            <a:ext cx="2240280" cy="566928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1F4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38360" y="4206240"/>
            <a:ext cx="777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4B7F"/>
                </a:solidFill>
                <a:latin typeface="Calibri"/>
              </a:rPr>
              <a:t>₹1L+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4206240"/>
            <a:ext cx="13258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MRR by Month 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0" y="4818888"/>
            <a:ext cx="2240280" cy="566928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06640" y="4818888"/>
            <a:ext cx="777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57A55"/>
                </a:solidFill>
                <a:latin typeface="Calibri"/>
              </a:rPr>
              <a:t>₹3.5L+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80" y="4818888"/>
            <a:ext cx="13258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MRR by Month 12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646920" y="4818888"/>
            <a:ext cx="2240280" cy="566928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0E8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38360" y="4818888"/>
            <a:ext cx="777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E8AA3"/>
                </a:solidFill>
                <a:latin typeface="Calibri"/>
              </a:rPr>
              <a:t>85.5%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4818888"/>
            <a:ext cx="13258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Gross margin / sub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0" y="5431536"/>
            <a:ext cx="2240280" cy="566928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6B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0" y="5431536"/>
            <a:ext cx="777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B2D8A"/>
                </a:solidFill>
                <a:latin typeface="Calibri"/>
              </a:rPr>
              <a:t>7.9×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83880" y="5431536"/>
            <a:ext cx="13258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LTV / CAC at 8% churn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46920" y="5431536"/>
            <a:ext cx="2240280" cy="566928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E0A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38360" y="5431536"/>
            <a:ext cx="777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0A03A"/>
                </a:solidFill>
                <a:latin typeface="Calibri"/>
              </a:rPr>
              <a:t>M5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5431536"/>
            <a:ext cx="13258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EBITDA breakeven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Glido Labs assignment brief (May 2025) | IMARC India Subscription Apps 2024 | Razorpay UPI mandate UX | Team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DIAGNOSIS &amp; PERSONA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MODEL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Hindi-first, mobile-first, festival-driven, UPI-skeptical — every product, channel, pricing decision flows from this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3840480" cy="5440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1480" y="100584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2A1A0F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80160" y="1188720"/>
            <a:ext cx="1828800" cy="1828800"/>
          </a:xfrm>
          <a:prstGeom prst="ellipse">
            <a:avLst/>
          </a:prstGeom>
          <a:solidFill>
            <a:srgbClr val="B55512"/>
          </a:solidFill>
          <a:ln w="25400">
            <a:solidFill>
              <a:srgbClr val="E0A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1188720"/>
            <a:ext cx="1828800" cy="1828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0" i="0">
                <a:solidFill>
                  <a:srgbClr val="E0A03A"/>
                </a:solidFill>
                <a:latin typeface="Calibri"/>
              </a:rPr>
              <a:t>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246120"/>
            <a:ext cx="35661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B55512"/>
                </a:solidFill>
                <a:latin typeface="Calibri"/>
              </a:rPr>
              <a:t>THE MODERN INDIAN SEEKER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703320"/>
            <a:ext cx="356616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3703320"/>
            <a:ext cx="54864" cy="329184"/>
          </a:xfrm>
          <a:prstGeom prst="rect">
            <a:avLst/>
          </a:prstGeom>
          <a:solidFill>
            <a:srgbClr val="1F4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703320"/>
            <a:ext cx="1097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F4B7F"/>
                </a:solidFill>
                <a:latin typeface="Calibri"/>
              </a:rPr>
              <a:t>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3703320"/>
            <a:ext cx="2240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32–55 · median 38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4050792"/>
            <a:ext cx="356616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4050792"/>
            <a:ext cx="54864" cy="329184"/>
          </a:xfrm>
          <a:prstGeom prst="rect">
            <a:avLst/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050792"/>
            <a:ext cx="1097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E8AA3"/>
                </a:solidFill>
                <a:latin typeface="Calibri"/>
              </a:rPr>
              <a:t>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4050792"/>
            <a:ext cx="2240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Tier 1 + 2 · Hindi belt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4398264"/>
            <a:ext cx="356616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4398264"/>
            <a:ext cx="54864" cy="329184"/>
          </a:xfrm>
          <a:prstGeom prst="rect">
            <a:avLst/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398264"/>
            <a:ext cx="1097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6B2D8A"/>
                </a:solidFill>
                <a:latin typeface="Calibri"/>
              </a:rPr>
              <a:t>LANGUAGE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91640" y="4398264"/>
            <a:ext cx="2240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Hindi-first / bilingual (87%)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4745736"/>
            <a:ext cx="356616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4745736"/>
            <a:ext cx="54864" cy="329184"/>
          </a:xfrm>
          <a:prstGeom prst="rect">
            <a:avLst/>
          </a:prstGeom>
          <a:solidFill>
            <a:srgbClr val="E0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745736"/>
            <a:ext cx="1097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E0A03A"/>
                </a:solidFill>
                <a:latin typeface="Calibri"/>
              </a:rPr>
              <a:t>INCOME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1640" y="4745736"/>
            <a:ext cx="2240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₹6–25L p.a. · middle class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5093208"/>
            <a:ext cx="356616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1480" y="5093208"/>
            <a:ext cx="54864" cy="32918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093208"/>
            <a:ext cx="1097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DEVICE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91640" y="5093208"/>
            <a:ext cx="2240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Mobile-first (95%+)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440680"/>
            <a:ext cx="356616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11480" y="5440680"/>
            <a:ext cx="54864" cy="329184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440680"/>
            <a:ext cx="1097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02C2C"/>
                </a:solidFill>
                <a:latin typeface="Calibri"/>
              </a:rPr>
              <a:t>PAYMENT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91640" y="5440680"/>
            <a:ext cx="2240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UPI native, mandate-skeptical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1480" y="5788152"/>
            <a:ext cx="356616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1480" y="5788152"/>
            <a:ext cx="54864" cy="329184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5788152"/>
            <a:ext cx="1097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DISCOVERY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91640" y="5788152"/>
            <a:ext cx="2240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Reels · WhatsApp forwards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51960" y="868680"/>
            <a:ext cx="7680960" cy="3611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51960" y="960120"/>
            <a:ext cx="76809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JTBD × ANXIETY × PAY-TRIGGER × STAY-TRIGGER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434840" y="137160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434840" y="1371600"/>
            <a:ext cx="3657600" cy="274320"/>
          </a:xfrm>
          <a:prstGeom prst="roundRect">
            <a:avLst>
              <a:gd name="adj" fmla="val 3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34840" y="137160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JOBS-TO-BE-DONE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1691640"/>
            <a:ext cx="338328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Anchor my morning with meaning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Sense-make life events through tradition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Feel connected to something larger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Pass wisdom to kids and parents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83880" y="137160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183880" y="1371600"/>
            <a:ext cx="3657600" cy="274320"/>
          </a:xfrm>
          <a:prstGeom prst="roundRect">
            <a:avLst>
              <a:gd name="adj" fmla="val 30000"/>
            </a:avLst>
          </a:prstGeom>
          <a:solidFill>
            <a:srgbClr val="B02C2C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83880" y="137160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ANXIETIES (KILL CONVERSION)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1691640"/>
            <a:ext cx="338328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₹5 mandate — "will they keep deducting?"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UPI auto-pay distrust in tier 2/3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"Just another reels page?"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Forgotten signup → angry chargebacks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434840" y="288036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434840" y="2880360"/>
            <a:ext cx="3657600" cy="274320"/>
          </a:xfrm>
          <a:prstGeom prst="roundRect">
            <a:avLst>
              <a:gd name="adj" fmla="val 30000"/>
            </a:avLst>
          </a:prstGeom>
          <a:solidFill>
            <a:srgbClr val="057A55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34840" y="288036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WHAT MAKES THEM PAY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3200400"/>
            <a:ext cx="338328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Sample message that feels personal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Friend forwarded on WhatsApp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Real face / scholar attached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Festival or life-event trigger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183880" y="288036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183880" y="2880360"/>
            <a:ext cx="3657600" cy="274320"/>
          </a:xfrm>
          <a:prstGeom prst="roundRect">
            <a:avLst>
              <a:gd name="adj" fmla="val 30000"/>
            </a:avLst>
          </a:prstGeom>
          <a:solidFill>
            <a:srgbClr val="1F4B7F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83880" y="288036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WHAT MAKES THEM STAY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3200400"/>
            <a:ext cx="338328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Same time every morning, no fail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Verse "happens to" speak to today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Felt sense of teacher, not bot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Community of fellow seekers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251960" y="4617720"/>
            <a:ext cx="7680960" cy="1691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51960" y="4690872"/>
            <a:ext cx="76809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DEMOGRAPHICS · AGE × CITY-TIER × LANGUAGE</a:t>
            </a:r>
          </a:p>
        </p:txBody>
      </p:sp>
      <p:pic>
        <p:nvPicPr>
          <p:cNvPr id="72" name="Picture 71" descr="persona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4983480"/>
            <a:ext cx="7315200" cy="128016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Glido Labs follower analytics + LocalCircles 2024 (Hindi spiritual content) + RedSeer Spiritual &amp; Wellness 2024 + Team interpretation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DIAGNOSIS &amp; PERSONA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MODEL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AREA 1 · 3 leaks own 99% of lost users — sequenced fixes recover 30-40% lift in 30 days at ₹0 ad-spend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11643055" cy="2331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STAGE-BY-STAGE FUNNEL DIAGNOSTIC · ACTUAL VS BENCHMARK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371600"/>
            <a:ext cx="11368735" cy="292608"/>
          </a:xfrm>
          <a:prstGeom prst="rect">
            <a:avLst/>
          </a:prstGeom>
          <a:solidFill>
            <a:srgbClr val="B55512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371600"/>
            <a:ext cx="2194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1371600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TODAY (DATA)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1371600"/>
            <a:ext cx="1280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1371600"/>
            <a:ext cx="13258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BENCHMARK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1371600"/>
            <a:ext cx="14173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ABS LOSS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1371600"/>
            <a:ext cx="29260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1664208"/>
            <a:ext cx="11368735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1664208"/>
            <a:ext cx="2194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Instagram → Homepage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1664208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192,000 → 5,239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1664208"/>
            <a:ext cx="1280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2.7%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1664208"/>
            <a:ext cx="13258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057A55"/>
                </a:solidFill>
                <a:latin typeface="Calibri"/>
              </a:rPr>
              <a:t>5–8%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1664208"/>
            <a:ext cx="14173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−186,761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1664208"/>
            <a:ext cx="29260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B02C2C"/>
                </a:solidFill>
                <a:latin typeface="Calibri"/>
              </a:rPr>
              <a:t>OPPORTUNITY · DM auto + Reels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1956816"/>
            <a:ext cx="11368735" cy="292608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1956816"/>
            <a:ext cx="2194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Homepage → Form-page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1956816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5,239 → 952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1956816"/>
            <a:ext cx="1280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18.2%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1956816"/>
            <a:ext cx="13258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057A55"/>
                </a:solidFill>
                <a:latin typeface="Calibri"/>
              </a:rPr>
              <a:t>35–45%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1956816"/>
            <a:ext cx="14173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−4,287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1956816"/>
            <a:ext cx="29260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B02C2C"/>
                </a:solidFill>
                <a:latin typeface="Calibri"/>
              </a:rPr>
              <a:t>BIGGEST ABS LEAK · homepage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2249424"/>
            <a:ext cx="11368735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2249424"/>
            <a:ext cx="2194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Form-page → Signup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51760" y="2249424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952 → 500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60" y="2249424"/>
            <a:ext cx="1280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52.5%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89320" y="2249424"/>
            <a:ext cx="13258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057A55"/>
                </a:solidFill>
                <a:latin typeface="Calibri"/>
              </a:rPr>
              <a:t>60–70%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60920" y="2249424"/>
            <a:ext cx="14173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−452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2249424"/>
            <a:ext cx="29260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E0A03A"/>
                </a:solidFill>
                <a:latin typeface="Calibri"/>
              </a:rPr>
              <a:t>MINOR · form length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2542032"/>
            <a:ext cx="11368735" cy="292608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2542032"/>
            <a:ext cx="2194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Signup → Trial start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2542032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500 → 163 (₹5 UPI gate)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09160" y="2542032"/>
            <a:ext cx="1280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32.6%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89320" y="2542032"/>
            <a:ext cx="13258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057A55"/>
                </a:solidFill>
                <a:latin typeface="Calibri"/>
              </a:rPr>
              <a:t>70–85%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2542032"/>
            <a:ext cx="14173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−337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9680" y="2542032"/>
            <a:ext cx="29260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B02C2C"/>
                </a:solidFill>
                <a:latin typeface="Calibri"/>
              </a:rPr>
              <a:t>BIGGEST % LEAK · UPI fear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2834640"/>
            <a:ext cx="11368735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2834640"/>
            <a:ext cx="2194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Trial → Paid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51760" y="2834640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163 → 116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09160" y="2834640"/>
            <a:ext cx="1280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71.2%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89320" y="2834640"/>
            <a:ext cx="13258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057A55"/>
                </a:solidFill>
                <a:latin typeface="Calibri"/>
              </a:rPr>
              <a:t>85–92%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60920" y="2834640"/>
            <a:ext cx="14173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−47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69680" y="2834640"/>
            <a:ext cx="29260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E0A03A"/>
                </a:solidFill>
                <a:latin typeface="Calibri"/>
              </a:rPr>
              <a:t>FIXABLE · Day-3 transparency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3127248"/>
            <a:ext cx="11368735" cy="292608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3127248"/>
            <a:ext cx="2194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Paid → Retained (30D)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651760" y="3127248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116 active / 47 churned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09160" y="3127248"/>
            <a:ext cx="1280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71.2%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89320" y="3127248"/>
            <a:ext cx="13258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057A55"/>
                </a:solidFill>
                <a:latin typeface="Calibri"/>
              </a:rPr>
              <a:t>88–94%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60920" y="3127248"/>
            <a:ext cx="14173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−47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69680" y="3127248"/>
            <a:ext cx="29260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E0A03A"/>
                </a:solidFill>
                <a:latin typeface="Calibri"/>
              </a:rPr>
              <a:t>FIXABLE · re-engage WhatsApp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74320" y="3383280"/>
            <a:ext cx="3759098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274320" y="3383280"/>
            <a:ext cx="3759098" cy="411480"/>
          </a:xfrm>
          <a:prstGeom prst="roundRect">
            <a:avLst>
              <a:gd name="adj" fmla="val 10000"/>
            </a:avLst>
          </a:prstGeom>
          <a:solidFill>
            <a:srgbClr val="B02C2C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4320" y="3383280"/>
            <a:ext cx="914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FIX 01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43000" y="3383280"/>
            <a:ext cx="2844698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HOMEPAGE → FORM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7200" y="3886200"/>
            <a:ext cx="3393338" cy="658368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3931920"/>
            <a:ext cx="321045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02C2C"/>
                </a:solidFill>
                <a:latin typeface="Calibri"/>
              </a:rPr>
              <a:t>ROOT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4114800"/>
            <a:ext cx="321045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Multi-purpose page · 4 CTAs · scroll 51.95% · LCP 3.9s · form below fold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57200" y="4599432"/>
            <a:ext cx="3393338" cy="658368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640" y="4645152"/>
            <a:ext cx="321045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F4B7F"/>
                </a:solidFill>
                <a:latin typeface="Calibri"/>
              </a:rPr>
              <a:t>FIX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" y="4828032"/>
            <a:ext cx="321045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Single-purpose LP · benefit-first hero · form above fold · WA preview · LCP &lt;2.5s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57200" y="5312664"/>
            <a:ext cx="3393338" cy="658368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5358384"/>
            <a:ext cx="321045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LIFT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5541264"/>
            <a:ext cx="321045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18% → 30%+ · ~1,300 users/mo recovered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216298" y="3383280"/>
            <a:ext cx="3759098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4216298" y="3383280"/>
            <a:ext cx="3759098" cy="411480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216298" y="3383280"/>
            <a:ext cx="914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FIX 02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84978" y="3383280"/>
            <a:ext cx="2844698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SIGNUP → TRIAL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399178" y="3886200"/>
            <a:ext cx="3393338" cy="658368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490618" y="3931920"/>
            <a:ext cx="321045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02C2C"/>
                </a:solidFill>
                <a:latin typeface="Calibri"/>
              </a:rPr>
              <a:t>ROOT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90618" y="4114800"/>
            <a:ext cx="321045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₹5 UPI mandate fear in tier 2/3 · no Hindi explainer · auto-deduct anxiety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399178" y="4599432"/>
            <a:ext cx="3393338" cy="658368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490618" y="4645152"/>
            <a:ext cx="321045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F4B7F"/>
                </a:solidFill>
                <a:latin typeface="Calibri"/>
              </a:rPr>
              <a:t>FIX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490618" y="4828032"/>
            <a:ext cx="321045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Bilingual mandate page · Razorpay logo · "Cancel anytime" badge · A/B no-mandate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399178" y="5312664"/>
            <a:ext cx="3393338" cy="658368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490618" y="5358384"/>
            <a:ext cx="321045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LIFT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490618" y="5541264"/>
            <a:ext cx="321045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32.6% → 60%+ · removing mandate → 75%+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158276" y="3383280"/>
            <a:ext cx="3759098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8158276" y="3383280"/>
            <a:ext cx="3759098" cy="411480"/>
          </a:xfrm>
          <a:prstGeom prst="roundRect">
            <a:avLst>
              <a:gd name="adj" fmla="val 10000"/>
            </a:avLst>
          </a:prstGeom>
          <a:solidFill>
            <a:srgbClr val="057A55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158276" y="3383280"/>
            <a:ext cx="914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FIX 03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26956" y="3383280"/>
            <a:ext cx="2844698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TRIAL → PAID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341156" y="3886200"/>
            <a:ext cx="3393338" cy="658368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432596" y="3931920"/>
            <a:ext cx="321045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02C2C"/>
                </a:solidFill>
                <a:latin typeface="Calibri"/>
              </a:rPr>
              <a:t>ROOT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32596" y="4114800"/>
            <a:ext cx="321045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Day-3 charge surprise · 47/163 cancel · &lt;3 days to feel value · no transparency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341156" y="4599432"/>
            <a:ext cx="3393338" cy="658368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432596" y="4645152"/>
            <a:ext cx="321045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F4B7F"/>
                </a:solidFill>
                <a:latin typeface="Calibri"/>
              </a:rPr>
              <a:t>FIX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432596" y="4828032"/>
            <a:ext cx="321045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Day 1/2/3 WhatsApp arc: welcome → preview → pre-charge · T+48h re-engage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341156" y="5312664"/>
            <a:ext cx="3393338" cy="658368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432596" y="5358384"/>
            <a:ext cx="321045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LIFT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432596" y="5541264"/>
            <a:ext cx="321045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71.2% → 88%+ · 15-20% reactivation of 47 churns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Glido Labs case data: 5,239 sessions, 952 form views, 500 signups, 163 trial starts, 116 paid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DIAGNOSIS &amp; PERSONA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MODEL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AREA 1 · Homepage misses every Core Web Vital + every conversion principle — 8 fixes drive the ₹0 spend lift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5852160" cy="2423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5852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PERFORMANCE &amp; ENGAGEMENT — TODAY VS TARGET</a:t>
            </a:r>
          </a:p>
        </p:txBody>
      </p:sp>
      <p:pic>
        <p:nvPicPr>
          <p:cNvPr id="21" name="Picture 20" descr="homepage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5577840" cy="192024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263640" y="868680"/>
            <a:ext cx="5669280" cy="2423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960120"/>
            <a:ext cx="56692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8 SPECIFIC ISSUES IN THE BRIEF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325880"/>
            <a:ext cx="5394960" cy="23774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1325880"/>
            <a:ext cx="54864" cy="237744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1325880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LCP 3.9s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1325880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vs 2.5s · −7-10% conversion / sec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581912"/>
            <a:ext cx="5394960" cy="23774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1581912"/>
            <a:ext cx="54864" cy="237744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1581912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INP 260ms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1581912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vs &lt;200ms · laggy interaction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1837944"/>
            <a:ext cx="5394960" cy="23774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1837944"/>
            <a:ext cx="54864" cy="237744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1837944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Scroll 51.95%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1837944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form below fold · most never see CTA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2093976"/>
            <a:ext cx="5394960" cy="23774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2093976"/>
            <a:ext cx="54864" cy="237744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2093976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Active time 45s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2093976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insufficient for 4 competing CTAs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2350008"/>
            <a:ext cx="5394960" cy="23774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2350008"/>
            <a:ext cx="54864" cy="237744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2350008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129 JS errors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2350008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1.86% sessions · "undefined is not an object"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2606040"/>
            <a:ext cx="5394960" cy="23774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0" y="2606040"/>
            <a:ext cx="54864" cy="237744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60" y="2606040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4 competing CTAs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606040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Subscribe / Chapters / Teachings / Learning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2862072"/>
            <a:ext cx="5394960" cy="23774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0" y="2862072"/>
            <a:ext cx="54864" cy="237744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37960" y="2862072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Social-proof conflict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2862072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"4,000+" vs "12,000+" same page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3118104"/>
            <a:ext cx="5394960" cy="23774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00800" y="3118104"/>
            <a:ext cx="54864" cy="237744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37960" y="3118104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Generic hero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0" y="3118104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"Ancient Wisdom, Timeless Truth" → nothing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4320" y="3429000"/>
            <a:ext cx="5852160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3520440"/>
            <a:ext cx="5852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8 HOMEPAGE FIXES — RANKED BY IMPACT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11480" y="3931920"/>
            <a:ext cx="5577840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57200" y="3968496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396849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" y="3931920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Move form ABOVE fold (mobile-first)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17720" y="3931920"/>
            <a:ext cx="12801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+30% reach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11480" y="4206240"/>
            <a:ext cx="5577840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57200" y="4242816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424281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" y="4206240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Replace hero with benefit-first promise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17720" y="4206240"/>
            <a:ext cx="12801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+15% relevance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11480" y="4480560"/>
            <a:ext cx="5577840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457200" y="4517136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451713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1560" y="4480560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Kill 3 CTAs · keep ONLY Subscribe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17720" y="4480560"/>
            <a:ext cx="12801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+18% focus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11480" y="4754880"/>
            <a:ext cx="5577840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57200" y="4791456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" y="479145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51560" y="4754880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Show real WA mock next to form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17720" y="4754880"/>
            <a:ext cx="12801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+12% trust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11480" y="5029200"/>
            <a:ext cx="5577840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457200" y="5065776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50657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1560" y="5029200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Reconcile social proof · ONE number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17720" y="5029200"/>
            <a:ext cx="12801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+8% credibility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11480" y="5303520"/>
            <a:ext cx="5577840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457200" y="5340096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57200" y="534009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51560" y="5303520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Compress hero · LCP &lt;2.5s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17720" y="5303520"/>
            <a:ext cx="12801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+7-10%/sec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11480" y="5577840"/>
            <a:ext cx="5577840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457200" y="5614416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7200" y="561441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51560" y="5577840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Resolve "undefined" JS error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617720" y="5577840"/>
            <a:ext cx="12801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+1.86% recovery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11480" y="5852160"/>
            <a:ext cx="5577840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457200" y="5888736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57200" y="588873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51560" y="5852160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Move Gita resources POST-subscribe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617720" y="5852160"/>
            <a:ext cx="12801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stops free leak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263640" y="3429000"/>
            <a:ext cx="5669280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263640" y="3520440"/>
            <a:ext cx="56692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DAY 1/2/3 TRIAL ACTIVATION ARC · WHATSAPP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400800" y="3931920"/>
            <a:ext cx="5394960" cy="41148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400800" y="3931920"/>
            <a:ext cx="54864" cy="41148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537960" y="3931920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T = 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360920" y="3931920"/>
            <a:ext cx="1188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Sign-up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595360" y="3931920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"Your Gita journey starts tomorrow at 8 AM 🙏"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400800" y="4361688"/>
            <a:ext cx="5394960" cy="41148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400800" y="4361688"/>
            <a:ext cx="54864" cy="411480"/>
          </a:xfrm>
          <a:prstGeom prst="rect">
            <a:avLst/>
          </a:prstGeom>
          <a:solidFill>
            <a:srgbClr val="1F4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537960" y="4361688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4B7F"/>
                </a:solidFill>
                <a:latin typeface="Calibri"/>
              </a:rPr>
              <a:t>DAY 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360920" y="4361688"/>
            <a:ext cx="1188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8 AM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595360" y="4361688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First shlok + permission. "3 days, completely free."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400800" y="4791456"/>
            <a:ext cx="5394960" cy="41148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400800" y="4791456"/>
            <a:ext cx="54864" cy="411480"/>
          </a:xfrm>
          <a:prstGeom prst="rect">
            <a:avLst/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537960" y="4791456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DAY 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360920" y="4791456"/>
            <a:ext cx="1188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8 AM + 7 PM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595360" y="4791456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Shlok + evening preview of next 5 verses. Annual teaser.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400800" y="5221224"/>
            <a:ext cx="5394960" cy="41148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400800" y="5221224"/>
            <a:ext cx="54864" cy="411480"/>
          </a:xfrm>
          <a:prstGeom prst="rect">
            <a:avLst/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537960" y="5221224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6B2D8A"/>
                </a:solidFill>
                <a:latin typeface="Calibri"/>
              </a:rPr>
              <a:t>DAY 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360920" y="5221224"/>
            <a:ext cx="1188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Pre-charge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595360" y="5221224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"Trial ends today. ₹79 will be charged. Reply STOP to cancel."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400800" y="5650992"/>
            <a:ext cx="5394960" cy="41148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400800" y="5650992"/>
            <a:ext cx="54864" cy="41148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537960" y="5650992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T+48H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360920" y="5650992"/>
            <a:ext cx="1188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Cancel re-engage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595360" y="5650992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"Your spot is still here." → 15-20% reactivation.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Glido Labs analytics (LCP 3.9s, INP 260ms, scroll 51.95%, JS 1.86%) | Google Web Vitals | Nielsen Norman Group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DIAGNOSIS &amp; PERSONA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MODEL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AREA 2 · 2-3 → 20-30 trials/day in 13 weeks via 5 sequenced channels — 80% organic; paid is the LAST lever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6858000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68580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TRIAL RAMP — WK0 → WK13 BY CHANNEL ACTIVATION</a:t>
            </a:r>
          </a:p>
        </p:txBody>
      </p:sp>
      <p:pic>
        <p:nvPicPr>
          <p:cNvPr id="21" name="Picture 20" descr="trial_ra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6583680" cy="233172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269480" y="868680"/>
            <a:ext cx="4663440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960120"/>
            <a:ext cx="46634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PER-SUB UNIT ECONOMICS · Y1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1371600"/>
            <a:ext cx="4389120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79" y="1371600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Revenue / sub / year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137160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F4B7F"/>
                </a:solidFill>
                <a:latin typeface="Calibri"/>
              </a:rPr>
              <a:t>₹948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1659636"/>
            <a:ext cx="4389120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79" y="1659636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Annual blend (avg)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1659636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F4B7F"/>
                </a:solidFill>
                <a:latin typeface="Calibri"/>
              </a:rPr>
              <a:t>₹823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06640" y="1947672"/>
            <a:ext cx="4389120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79" y="1947672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Gross margin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1947672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85.5%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06640" y="2235708"/>
            <a:ext cx="4389120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79" y="2235708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Blended CAC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2235708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₹125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06640" y="2523744"/>
            <a:ext cx="4389120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79" y="2523744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Payback period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2523744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1.6 mo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06640" y="2811780"/>
            <a:ext cx="4389120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79" y="2811780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LTV @ 8% churn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281178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F4B7F"/>
                </a:solidFill>
                <a:latin typeface="Calibri"/>
              </a:rPr>
              <a:t>₹987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06640" y="3099816"/>
            <a:ext cx="4389120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79" y="3099816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LTV / CAC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3099816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7.9×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06640" y="3387852"/>
            <a:ext cx="4389120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79" y="3387852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True contribution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3387852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₹671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" y="3840480"/>
            <a:ext cx="7772400" cy="2423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3931920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5-CHANNEL ACQUISITION MATRIX · TARGET BLENDED CAC &lt; ₹150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4297680"/>
            <a:ext cx="7498079" cy="310896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4297680"/>
            <a:ext cx="20116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CHANNEL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0" y="4297680"/>
            <a:ext cx="3337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MECHANISM (INDIA-GROUNDED)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06440" y="4297680"/>
            <a:ext cx="7315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BUDGET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37960" y="4297680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CAC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4297680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TRIALS/DAY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4608576"/>
            <a:ext cx="7498079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4608576"/>
            <a:ext cx="20116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DM AUTO (IG)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68880" y="4608576"/>
            <a:ext cx="3337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ManyChat "GITA" trigger → auto-DM form link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06440" y="4608576"/>
            <a:ext cx="7315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57A55"/>
                </a:solidFill>
                <a:latin typeface="Calibri"/>
              </a:rPr>
              <a:t>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7960" y="4608576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4608576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57A55"/>
                </a:solidFill>
                <a:latin typeface="Calibri"/>
              </a:rPr>
              <a:t>8-10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1480" y="4919472"/>
            <a:ext cx="7498079" cy="310896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4919472"/>
            <a:ext cx="20116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DAILY REELS+SHORTS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68880" y="4919472"/>
            <a:ext cx="3337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1/day on "Gita for [anxiety/exam/heartbreak]"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06440" y="4919472"/>
            <a:ext cx="7315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57A55"/>
                </a:solidFill>
                <a:latin typeface="Calibri"/>
              </a:rPr>
              <a:t>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37960" y="4919472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0" y="4919472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57A55"/>
                </a:solidFill>
                <a:latin typeface="Calibri"/>
              </a:rPr>
              <a:t>5-7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5230368"/>
            <a:ext cx="7498079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5230368"/>
            <a:ext cx="20116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MICRO-CREATOR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468880" y="5230368"/>
            <a:ext cx="3337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20-30 spiritual creators × 30-day free trial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06440" y="5230368"/>
            <a:ext cx="7315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15%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37960" y="5230368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₹40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5200" y="5230368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57A55"/>
                </a:solidFill>
                <a:latin typeface="Calibri"/>
              </a:rPr>
              <a:t>4-6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5541264"/>
            <a:ext cx="7498079" cy="310896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" y="5541264"/>
            <a:ext cx="20116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WHATSAPP FORWARD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468880" y="5541264"/>
            <a:ext cx="3337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Daily msg ends "Forward to someone 🙏"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806440" y="5541264"/>
            <a:ext cx="7315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5%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37960" y="5541264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0" y="5541264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57A55"/>
                </a:solidFill>
                <a:latin typeface="Calibri"/>
              </a:rPr>
              <a:t>3-4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1480" y="5852160"/>
            <a:ext cx="7498079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" y="5852160"/>
            <a:ext cx="20116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META CTWA (M3+)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468880" y="5852160"/>
            <a:ext cx="3337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Click-to-WhatsApp ads · lookalike of paid base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806440" y="5852160"/>
            <a:ext cx="7315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80%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37960" y="5852160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₹150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0" y="5852160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57A55"/>
                </a:solidFill>
                <a:latin typeface="Calibri"/>
              </a:rPr>
              <a:t>2-3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183879" y="3840480"/>
            <a:ext cx="3749039" cy="2423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183879" y="3931920"/>
            <a:ext cx="3749039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VIRAL LOOPS · TARGET K &gt; 1.2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321040" y="4297680"/>
            <a:ext cx="3520440" cy="594360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21040" y="4297680"/>
            <a:ext cx="54864" cy="594360"/>
          </a:xfrm>
          <a:prstGeom prst="rect">
            <a:avLst/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458200" y="4343400"/>
            <a:ext cx="33375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E8AA3"/>
                </a:solidFill>
                <a:latin typeface="Calibri"/>
              </a:rPr>
              <a:t>WA FORWARD LOOP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58200" y="4544568"/>
            <a:ext cx="33375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116 active × 28 msg = 3,248 forward-touches/mo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321040" y="4937760"/>
            <a:ext cx="3520440" cy="594360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21040" y="4937760"/>
            <a:ext cx="54864" cy="594360"/>
          </a:xfrm>
          <a:prstGeom prst="rect">
            <a:avLst/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458200" y="4983480"/>
            <a:ext cx="33375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6B2D8A"/>
                </a:solidFill>
                <a:latin typeface="Calibri"/>
              </a:rPr>
              <a:t>CREATOR BORROW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458200" y="5184648"/>
            <a:ext cx="33375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1 quality collab → 500-1,000 trials @ ₹0 CAC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321040" y="5577840"/>
            <a:ext cx="3520440" cy="594360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21040" y="5577840"/>
            <a:ext cx="54864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458200" y="5623560"/>
            <a:ext cx="33375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FAMILY-PACK SHARE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458200" y="5824728"/>
            <a:ext cx="33375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₹149 covers 5 phones · built-in WoM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Glido Labs case | ManyChat IG conversion (2024) | Meta India CTWA benchmarks | Sequoia India Subscription Unit Economics 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DIAGNOSIS &amp; PERSONA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MODEL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AREA 2 · 10 weekly + 8 monthly metrics across 4 categories — every decision tied to one number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5669280" cy="5394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" y="868680"/>
            <a:ext cx="5669280" cy="365760"/>
          </a:xfrm>
          <a:prstGeom prst="roundRect">
            <a:avLst>
              <a:gd name="adj" fmla="val 10000"/>
            </a:avLst>
          </a:prstGeom>
          <a:solidFill>
            <a:srgbClr val="1F4B7F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868680"/>
            <a:ext cx="56692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WEEKLY KPIS · TRACK EVERY MONDAY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1371600"/>
            <a:ext cx="5394960" cy="274320"/>
          </a:xfrm>
          <a:prstGeom prst="rect">
            <a:avLst/>
          </a:prstGeom>
          <a:solidFill>
            <a:srgbClr val="4A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137160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CAT.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1371600"/>
            <a:ext cx="24231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1371600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137160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TARGET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1645920"/>
            <a:ext cx="53949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1645920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1F4B7F"/>
                </a:solidFill>
                <a:latin typeface="Calibri"/>
              </a:rPr>
              <a:t>FUNNEL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1645920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Homepage → Form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1645920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18.2%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1645920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30%+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2020824"/>
            <a:ext cx="5394960" cy="36576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2020824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1F4B7F"/>
                </a:solidFill>
                <a:latin typeface="Calibri"/>
              </a:rPr>
              <a:t>FUNNEL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2020824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Signup → Trial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2020824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32.6%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2020824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60%+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2395728"/>
            <a:ext cx="53949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2395728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1F4B7F"/>
                </a:solidFill>
                <a:latin typeface="Calibri"/>
              </a:rPr>
              <a:t>FUNNEL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2395728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Trial → Paid 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4760" y="2395728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E0A03A"/>
                </a:solidFill>
                <a:latin typeface="Calibri"/>
              </a:rPr>
              <a:t>71.2%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2395728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85%+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2770632"/>
            <a:ext cx="5394960" cy="36576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2770632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1F4B7F"/>
                </a:solidFill>
                <a:latin typeface="Calibri"/>
              </a:rPr>
              <a:t>ACQ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34440" y="2770632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Daily new trials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94760" y="2770632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2-3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9160" y="2770632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20-30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3145536"/>
            <a:ext cx="53949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145536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1F4B7F"/>
                </a:solidFill>
                <a:latin typeface="Calibri"/>
              </a:rPr>
              <a:t>ACQ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34440" y="3145536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DM auto CTR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94760" y="3145536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7A6555"/>
                </a:solidFill>
                <a:latin typeface="Calibri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9160" y="3145536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35%+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3520440"/>
            <a:ext cx="5394960" cy="36576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3520440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1F4B7F"/>
                </a:solidFill>
                <a:latin typeface="Calibri"/>
              </a:rPr>
              <a:t>ACQ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34440" y="3520440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Reels saves / share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94760" y="3520440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7A6555"/>
                </a:solidFill>
                <a:latin typeface="Calibri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09160" y="3520440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Track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3895344"/>
            <a:ext cx="53949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3895344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1F4B7F"/>
                </a:solidFill>
                <a:latin typeface="Calibri"/>
              </a:rPr>
              <a:t>ACQ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34440" y="3895344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Creator pipeline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94760" y="3895344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09160" y="3895344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5+/wk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1480" y="4270248"/>
            <a:ext cx="5394960" cy="36576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4270248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1F4B7F"/>
                </a:solidFill>
                <a:latin typeface="Calibri"/>
              </a:rPr>
              <a:t>ENG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34440" y="4270248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Day-1 msg open rate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94760" y="4270248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7A6555"/>
                </a:solidFill>
                <a:latin typeface="Calibri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09160" y="4270248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85%+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" y="4645152"/>
            <a:ext cx="53949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4645152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1F4B7F"/>
                </a:solidFill>
                <a:latin typeface="Calibri"/>
              </a:rPr>
              <a:t>ENG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34440" y="4645152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WA forward count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794760" y="4645152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7A6555"/>
                </a:solidFill>
                <a:latin typeface="Calibri"/>
              </a:rP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09160" y="4645152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Track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5020056"/>
            <a:ext cx="5394960" cy="36576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5020056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1F4B7F"/>
                </a:solidFill>
                <a:latin typeface="Calibri"/>
              </a:rPr>
              <a:t>PROD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34440" y="5020056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JS error sessions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94760" y="5020056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129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5020056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&lt;10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080760" y="868680"/>
            <a:ext cx="6035040" cy="5394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080760" y="868680"/>
            <a:ext cx="6035040" cy="365760"/>
          </a:xfrm>
          <a:prstGeom prst="roundRect">
            <a:avLst>
              <a:gd name="adj" fmla="val 10000"/>
            </a:avLst>
          </a:prstGeom>
          <a:solidFill>
            <a:srgbClr val="6B2D8A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080760" y="868680"/>
            <a:ext cx="60350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MONTHLY KPIS · REVIEW ON 1ST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17920" y="1371600"/>
            <a:ext cx="5760720" cy="274320"/>
          </a:xfrm>
          <a:prstGeom prst="rect">
            <a:avLst/>
          </a:prstGeom>
          <a:solidFill>
            <a:srgbClr val="4A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63640" y="137160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CAT.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86600" y="137160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509760" y="1371600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424160" y="1371600"/>
            <a:ext cx="15087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TARGET (30/60/90)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17920" y="1645920"/>
            <a:ext cx="576072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63640" y="1645920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2D8A"/>
                </a:solidFill>
                <a:latin typeface="Calibri"/>
              </a:rPr>
              <a:t>REV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86600" y="1645920"/>
            <a:ext cx="2423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Active paid subscribers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509760" y="1645920"/>
            <a:ext cx="868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116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424160" y="1645920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230 / 480 / 800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17920" y="2071116"/>
            <a:ext cx="5760720" cy="41148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263640" y="2071116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2D8A"/>
                </a:solidFill>
                <a:latin typeface="Calibri"/>
              </a:rPr>
              <a:t>REV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086600" y="2071116"/>
            <a:ext cx="2423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Blended monthly revenue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509760" y="2071116"/>
            <a:ext cx="868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₹9.2K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424160" y="2071116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₹22K / ₹70K / ₹1L+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217920" y="2496312"/>
            <a:ext cx="576072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263640" y="2496312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2D8A"/>
                </a:solidFill>
                <a:latin typeface="Calibri"/>
              </a:rPr>
              <a:t>REV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086600" y="2496312"/>
            <a:ext cx="2423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ARPU per user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509760" y="2496312"/>
            <a:ext cx="868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₹79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424160" y="2496312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₹130+ blended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17920" y="2921508"/>
            <a:ext cx="5760720" cy="41148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263640" y="2921508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2D8A"/>
                </a:solidFill>
                <a:latin typeface="Calibri"/>
              </a:rPr>
              <a:t>ECON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086600" y="2921508"/>
            <a:ext cx="2423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Blended CAC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509760" y="2921508"/>
            <a:ext cx="868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7A6555"/>
                </a:solidFill>
                <a:latin typeface="Calibri"/>
              </a:rPr>
              <a:t>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424160" y="2921508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&lt;₹150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217920" y="3346704"/>
            <a:ext cx="576072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263640" y="3346704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2D8A"/>
                </a:solidFill>
                <a:latin typeface="Calibri"/>
              </a:rPr>
              <a:t>ECON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086600" y="3346704"/>
            <a:ext cx="2423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LTV @ current churn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509760" y="3346704"/>
            <a:ext cx="868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₹268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424160" y="3346704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₹987 (8% churn)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217920" y="3771900"/>
            <a:ext cx="5760720" cy="41148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263640" y="3771900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2D8A"/>
                </a:solidFill>
                <a:latin typeface="Calibri"/>
              </a:rPr>
              <a:t>ECON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086600" y="3771900"/>
            <a:ext cx="2423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LTV / CAC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509760" y="3771900"/>
            <a:ext cx="868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2.1×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424160" y="3771900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7.9× target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217920" y="4197096"/>
            <a:ext cx="576072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263640" y="4197096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2D8A"/>
                </a:solidFill>
                <a:latin typeface="Calibri"/>
              </a:rPr>
              <a:t>CHURN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086600" y="4197096"/>
            <a:ext cx="2423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Monthly churn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509760" y="4197096"/>
            <a:ext cx="868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29%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424160" y="4197096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&lt;8% by M3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217920" y="4622292"/>
            <a:ext cx="5760720" cy="41148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263640" y="4622292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2D8A"/>
                </a:solidFill>
                <a:latin typeface="Calibri"/>
              </a:rPr>
              <a:t>STACK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086600" y="4622292"/>
            <a:ext cx="2423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Revenue from non-₹79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509760" y="4622292"/>
            <a:ext cx="868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₹0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424160" y="4622292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₹50K+ by M3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6217920" y="5138928"/>
            <a:ext cx="5760720" cy="594360"/>
          </a:xfrm>
          <a:prstGeom prst="roundRect">
            <a:avLst>
              <a:gd name="adj" fmla="val 8000"/>
            </a:avLst>
          </a:prstGeom>
          <a:solidFill>
            <a:srgbClr val="1F4B7F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55080" y="5184648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E0A03A"/>
                </a:solidFill>
                <a:latin typeface="Calibri"/>
              </a:rPr>
              <a:t>OPERATING CADENCE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355080" y="5413248"/>
            <a:ext cx="54864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FFFFFF"/>
                </a:solidFill>
                <a:latin typeface="Calibri"/>
              </a:rPr>
              <a:t>Daily standup on weekly KPIs · monthly board on revenue+churn · quarterly LTV/CAC re-base.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Glido analytics | 18-metric KPI design | Weekly cadence on funnel, monthly cadence on revenue + economics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DIAGNOSIS &amp; PERSONA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MODEL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AREA 3 · IG today delivers what subscribers pay for — close the value gap, IG becomes a tease, not a substitute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11643055" cy="2240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FREE VS PAID CONTENT ARCHITECTURE — 5-DIMENSION VALUE GAP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1371600"/>
            <a:ext cx="3520440" cy="329184"/>
          </a:xfrm>
          <a:prstGeom prst="rect">
            <a:avLst/>
          </a:prstGeom>
          <a:solidFill>
            <a:srgbClr val="4A2418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9080" y="1371600"/>
            <a:ext cx="3977639" cy="329184"/>
          </a:xfrm>
          <a:prstGeom prst="rect">
            <a:avLst/>
          </a:prstGeom>
          <a:solidFill>
            <a:srgbClr val="7A6555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1371600"/>
            <a:ext cx="3749039" cy="329184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1371600"/>
            <a:ext cx="35204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1371600"/>
            <a:ext cx="39776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FREE · Instagram (broadcast)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1371600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PAID · WhatsApp (intimate ritual)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1700784"/>
            <a:ext cx="1133856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1700784"/>
            <a:ext cx="35204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A1A0F"/>
                </a:solidFill>
                <a:latin typeface="Calibri"/>
              </a:rPr>
              <a:t>Content depth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1700784"/>
            <a:ext cx="39776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A6555"/>
                </a:solidFill>
                <a:latin typeface="Calibri"/>
              </a:rPr>
              <a:t>Shlok image / verse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1700784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55512"/>
                </a:solidFill>
                <a:latin typeface="Calibri"/>
              </a:rPr>
              <a:t>Shlok + meaning + life application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029968"/>
            <a:ext cx="11338560" cy="329184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2029968"/>
            <a:ext cx="35204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A1A0F"/>
                </a:solidFill>
                <a:latin typeface="Calibri"/>
              </a:rPr>
              <a:t>Personalization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2029968"/>
            <a:ext cx="39776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A6555"/>
                </a:solidFill>
                <a:latin typeface="Calibri"/>
              </a:rPr>
              <a:t>One-to-many caption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2029968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55512"/>
                </a:solidFill>
                <a:latin typeface="Calibri"/>
              </a:rPr>
              <a:t>Reflection tied to today's verse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2359152"/>
            <a:ext cx="1133856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2359152"/>
            <a:ext cx="35204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A1A0F"/>
                </a:solidFill>
                <a:latin typeface="Calibri"/>
              </a:rPr>
              <a:t>Cadence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2359152"/>
            <a:ext cx="39776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A6555"/>
                </a:solidFill>
                <a:latin typeface="Calibri"/>
              </a:rPr>
              <a:t>Variable, algorithm-led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2359152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55512"/>
                </a:solidFill>
                <a:latin typeface="Calibri"/>
              </a:rPr>
              <a:t>8 AM, every morning. No exceptions.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2688336"/>
            <a:ext cx="11338560" cy="329184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2688336"/>
            <a:ext cx="35204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A1A0F"/>
                </a:solidFill>
                <a:latin typeface="Calibri"/>
              </a:rPr>
              <a:t>Relationship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2688336"/>
            <a:ext cx="39776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A6555"/>
                </a:solidFill>
                <a:latin typeface="Calibri"/>
              </a:rPr>
              <a:t>Public broadcast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80" y="2688336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55512"/>
                </a:solidFill>
                <a:latin typeface="Calibri"/>
              </a:rPr>
              <a:t>Private, ritual, companion-like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3017520"/>
            <a:ext cx="1133856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3017520"/>
            <a:ext cx="35204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A1A0F"/>
                </a:solidFill>
                <a:latin typeface="Calibri"/>
              </a:rPr>
              <a:t>Discoverability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60520" y="3017520"/>
            <a:ext cx="39776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A6555"/>
                </a:solidFill>
                <a:latin typeface="Calibri"/>
              </a:rPr>
              <a:t>Anyone can find 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80" y="3017520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55512"/>
                </a:solidFill>
                <a:latin typeface="Calibri"/>
              </a:rPr>
              <a:t>Curated channel just for you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4320" y="3246120"/>
            <a:ext cx="11643055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333756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5 CONTENT CAMPAIGNS RANKED BY EXPECTED IMPACT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749039"/>
            <a:ext cx="11460175" cy="310896"/>
          </a:xfrm>
          <a:prstGeom prst="rect">
            <a:avLst/>
          </a:prstGeom>
          <a:solidFill>
            <a:srgbClr val="6B2D8A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3749039"/>
            <a:ext cx="4114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3749039"/>
            <a:ext cx="32461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CAMPAIGN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69080" y="3749039"/>
            <a:ext cx="37947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MECHANIC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0" y="3749039"/>
            <a:ext cx="274320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EXPECTED 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07040" y="3749039"/>
            <a:ext cx="12801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PRIORITY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059935"/>
            <a:ext cx="11460175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4059935"/>
            <a:ext cx="4114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6B2D8A"/>
                </a:solidFill>
                <a:latin typeface="Calibri"/>
              </a:rPr>
              <a:t>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4059935"/>
            <a:ext cx="324612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A1A0F"/>
                </a:solidFill>
                <a:latin typeface="Calibri"/>
              </a:rPr>
              <a:t>What is Krishna saying about your life right now?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69080" y="4059935"/>
            <a:ext cx="37947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Story poll: career / relationships / overthinking / lost. Auto-DM relevant shlok + trial link.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63840" y="4059935"/>
            <a:ext cx="2743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7A6555"/>
                </a:solidFill>
                <a:latin typeface="Calibri"/>
              </a:rPr>
              <a:t>Warms cold leads · personalization signal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07040" y="4059935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0A03A"/>
                </a:solidFill>
                <a:latin typeface="Calibri"/>
              </a:rPr>
              <a:t>★★★★★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517135"/>
            <a:ext cx="11460175" cy="45720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4517135"/>
            <a:ext cx="4114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6B2D8A"/>
                </a:solidFill>
                <a:latin typeface="Calibri"/>
              </a:rPr>
              <a:t>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" y="4517135"/>
            <a:ext cx="324612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A1A0F"/>
                </a:solidFill>
                <a:latin typeface="Calibri"/>
              </a:rPr>
              <a:t>Subscriber Before &amp; After Reels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69080" y="4517135"/>
            <a:ext cx="37947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1-line testimonials from active 116. Format: situation → shlok → outcome.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63840" y="4517135"/>
            <a:ext cx="2743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7A6555"/>
                </a:solidFill>
                <a:latin typeface="Calibri"/>
              </a:rPr>
              <a:t>Native social proof · 2-3× reach uplift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07040" y="4517135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0A03A"/>
                </a:solidFill>
                <a:latin typeface="Calibri"/>
              </a:rPr>
              <a:t>★★★★☆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4974335"/>
            <a:ext cx="11460175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1480" y="4974335"/>
            <a:ext cx="4114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6B2D8A"/>
                </a:solidFill>
                <a:latin typeface="Calibri"/>
              </a:rPr>
              <a:t>03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" y="4974335"/>
            <a:ext cx="324612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A1A0F"/>
                </a:solidFill>
                <a:latin typeface="Calibri"/>
              </a:rPr>
              <a:t>"Gita for [situation]" series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69080" y="4974335"/>
            <a:ext cx="37947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Anxiety, exams, heartbreak, Monday morning, quitting. Shareable + searchable.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63840" y="4974335"/>
            <a:ext cx="2743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7A6555"/>
                </a:solidFill>
                <a:latin typeface="Calibri"/>
              </a:rPr>
              <a:t>Drives follower growth + trial intent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07040" y="4974335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0A03A"/>
                </a:solidFill>
                <a:latin typeface="Calibri"/>
              </a:rPr>
              <a:t>★★★★☆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5431535"/>
            <a:ext cx="11460175" cy="45720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1480" y="5431535"/>
            <a:ext cx="4114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6B2D8A"/>
                </a:solidFill>
                <a:latin typeface="Calibri"/>
              </a:rPr>
              <a:t>04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60" y="5431535"/>
            <a:ext cx="324612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A1A0F"/>
                </a:solidFill>
                <a:latin typeface="Calibri"/>
              </a:rPr>
              <a:t>200K Milestone Unlock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69080" y="5431535"/>
            <a:ext cx="37947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First 200 to DM 'GITA200' get 1 month free. PR pitch to spiritual media.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63840" y="5431535"/>
            <a:ext cx="2743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7A6555"/>
                </a:solidFill>
                <a:latin typeface="Calibri"/>
              </a:rPr>
              <a:t>Urgency · DM opt-ins · brand authority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607040" y="5431535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0A03A"/>
                </a:solidFill>
                <a:latin typeface="Calibri"/>
              </a:rPr>
              <a:t>★★★☆☆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5888735"/>
            <a:ext cx="11460175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11480" y="5888735"/>
            <a:ext cx="4114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6B2D8A"/>
                </a:solidFill>
                <a:latin typeface="Calibri"/>
              </a:rPr>
              <a:t>05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2960" y="5888735"/>
            <a:ext cx="324612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A1A0F"/>
                </a:solidFill>
                <a:latin typeface="Calibri"/>
              </a:rPr>
              <a:t>Festival gifting (Navratri/Diwali/Janmashtami)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069080" y="5888735"/>
            <a:ext cx="37947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Dedicated gift sub page. Spiritual gifting is real, underserved.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63840" y="5888735"/>
            <a:ext cx="2743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7A6555"/>
                </a:solidFill>
                <a:latin typeface="Calibri"/>
              </a:rPr>
              <a:t>100-200 subs/push · near-zero CAC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607040" y="5888735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0A03A"/>
                </a:solidFill>
                <a:latin typeface="Calibri"/>
              </a:rPr>
              <a:t>★★★★☆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Glido IG analytics | ManyChat story poll → DM benchmarks | RedSeer 2024 spiritual e-commerce | Festival gifting volumes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DIAGNOSIS &amp; PERSONA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MODEL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AREA 4 · Single ₹79 SKU → 10-stream stack — ₹3.5L MRR by M12, where Core ₹79 falls to 39% of total revenue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7315200" cy="5394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73152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10-STREAM REVENUE STACK · ALL INDIA-GROUNDED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325880"/>
            <a:ext cx="7086600" cy="292608"/>
          </a:xfrm>
          <a:prstGeom prst="rect">
            <a:avLst/>
          </a:prstGeom>
          <a:solidFill>
            <a:srgbClr val="4A2418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325880"/>
            <a:ext cx="3657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1325880"/>
            <a:ext cx="3749039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STREAM · WHAT WE 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1325880"/>
            <a:ext cx="8229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PRICE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1325880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1325880"/>
            <a:ext cx="9144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M12 MRR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1325880"/>
            <a:ext cx="502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MARGIN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1618488"/>
            <a:ext cx="70866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1618488"/>
            <a:ext cx="54864" cy="420624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1618488"/>
            <a:ext cx="3657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1618488"/>
            <a:ext cx="374903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CORE · Daily WhatsApp shlok (monthly)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1618488"/>
            <a:ext cx="8229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₹79/mo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1618488"/>
            <a:ext cx="731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6555"/>
                </a:solidFill>
                <a:latin typeface="Calibri"/>
              </a:rPr>
              <a:t>Now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1618488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₹1.34L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1618488"/>
            <a:ext cx="5029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85%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2039112"/>
            <a:ext cx="7086600" cy="420624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2039112"/>
            <a:ext cx="54864" cy="420624"/>
          </a:xfrm>
          <a:prstGeom prst="rect">
            <a:avLst/>
          </a:prstGeom>
          <a:solidFill>
            <a:srgbClr val="1F4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2039112"/>
            <a:ext cx="3657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F4B7F"/>
                </a:solidFill>
                <a:latin typeface="Calibri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2039112"/>
            <a:ext cx="374903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ANNUAL · Daily WhatsApp prepaid (saves 26%)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2039112"/>
            <a:ext cx="8229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₹699/yr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60" y="2039112"/>
            <a:ext cx="731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6555"/>
                </a:solidFill>
                <a:latin typeface="Calibri"/>
              </a:rPr>
              <a:t>Month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2039112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₹55K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2039112"/>
            <a:ext cx="5029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92%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2459736"/>
            <a:ext cx="70866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11480" y="2459736"/>
            <a:ext cx="54864" cy="420624"/>
          </a:xfrm>
          <a:prstGeom prst="rect">
            <a:avLst/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2459736"/>
            <a:ext cx="3657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E8AA3"/>
                </a:solidFill>
                <a:latin typeface="Calibri"/>
              </a:rPr>
              <a:t>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2459736"/>
            <a:ext cx="374903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PDF GUIDES · "Gita for Anxiety/Career/Heartbreak/Parenting/Money"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2459736"/>
            <a:ext cx="8229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₹99-149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4960" y="2459736"/>
            <a:ext cx="731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6555"/>
                </a:solidFill>
                <a:latin typeface="Calibri"/>
              </a:rPr>
              <a:t>Month 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2459736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₹18K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0880" y="2459736"/>
            <a:ext cx="5029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97%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2880360"/>
            <a:ext cx="7086600" cy="420624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1480" y="2880360"/>
            <a:ext cx="54864" cy="420624"/>
          </a:xfrm>
          <a:prstGeom prst="rect">
            <a:avLst/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2880360"/>
            <a:ext cx="3657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6B2D8A"/>
                </a:solidFill>
                <a:latin typeface="Calibri"/>
              </a:rPr>
              <a:t>04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2880360"/>
            <a:ext cx="374903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PREMIUM · Community + Q&amp;A with scholar (Telegram/Discord)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2880360"/>
            <a:ext cx="8229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₹199/mo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94960" y="2880360"/>
            <a:ext cx="731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6555"/>
                </a:solidFill>
                <a:latin typeface="Calibri"/>
              </a:rPr>
              <a:t>Month 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26480" y="2880360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₹26K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40880" y="2880360"/>
            <a:ext cx="5029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75%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" y="3300984"/>
            <a:ext cx="70866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11480" y="3300984"/>
            <a:ext cx="54864" cy="420624"/>
          </a:xfrm>
          <a:prstGeom prst="rect">
            <a:avLst/>
          </a:prstGeom>
          <a:solidFill>
            <a:srgbClr val="E0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3300984"/>
            <a:ext cx="3657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E0A03A"/>
                </a:solidFill>
                <a:latin typeface="Calibri"/>
              </a:rPr>
              <a:t>05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" y="3300984"/>
            <a:ext cx="374903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FESTIVAL/GIFT · Diwali, Navratri, Janmashtami gift subs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0" y="3300984"/>
            <a:ext cx="8229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₹199-499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94960" y="3300984"/>
            <a:ext cx="731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6555"/>
                </a:solidFill>
                <a:latin typeface="Calibri"/>
              </a:rPr>
              <a:t>Month 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6480" y="3300984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₹15K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40880" y="3300984"/>
            <a:ext cx="5029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88%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3721608"/>
            <a:ext cx="7086600" cy="420624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721608"/>
            <a:ext cx="54864" cy="420624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3721608"/>
            <a:ext cx="3657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06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960" y="3721608"/>
            <a:ext cx="374903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PHYSICAL · 108-card Bhagavad Gita wisdom deck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0" y="3721608"/>
            <a:ext cx="8229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₹599-699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94960" y="3721608"/>
            <a:ext cx="731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6555"/>
                </a:solidFill>
                <a:latin typeface="Calibri"/>
              </a:rPr>
              <a:t>Month 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26480" y="3721608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₹12K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0" y="3721608"/>
            <a:ext cx="5029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55%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4142232"/>
            <a:ext cx="70866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11480" y="4142232"/>
            <a:ext cx="54864" cy="42062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4142232"/>
            <a:ext cx="3657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57A55"/>
                </a:solidFill>
                <a:latin typeface="Calibri"/>
              </a:rPr>
              <a:t>07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2960" y="4142232"/>
            <a:ext cx="374903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CORPORATE B2B · Daily Gita for HR wellness (BFSI/FMCG/IT)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0" y="4142232"/>
            <a:ext cx="8229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₹5K-15K/mo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394960" y="4142232"/>
            <a:ext cx="731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6555"/>
                </a:solidFill>
                <a:latin typeface="Calibri"/>
              </a:rPr>
              <a:t>Month 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0" y="4142232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₹70K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040880" y="4142232"/>
            <a:ext cx="5029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80%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11480" y="4562856"/>
            <a:ext cx="7086600" cy="420624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11480" y="4562856"/>
            <a:ext cx="54864" cy="420624"/>
          </a:xfrm>
          <a:prstGeom prst="rect">
            <a:avLst/>
          </a:prstGeom>
          <a:solidFill>
            <a:srgbClr val="E89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7200" y="4562856"/>
            <a:ext cx="3657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E89B47"/>
                </a:solidFill>
                <a:latin typeface="Calibri"/>
              </a:rPr>
              <a:t>08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2960" y="4562856"/>
            <a:ext cx="374903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FAMILY PACK · 3-5 phones, multi-language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72000" y="4562856"/>
            <a:ext cx="8229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₹149/mo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394960" y="4562856"/>
            <a:ext cx="731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6555"/>
                </a:solidFill>
                <a:latin typeface="Calibri"/>
              </a:rPr>
              <a:t>Month 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26480" y="4562856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₹8K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040880" y="4562856"/>
            <a:ext cx="5029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82%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1480" y="4983480"/>
            <a:ext cx="70866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11480" y="4983480"/>
            <a:ext cx="54864" cy="420624"/>
          </a:xfrm>
          <a:prstGeom prst="rect">
            <a:avLst/>
          </a:prstGeom>
          <a:solidFill>
            <a:srgbClr val="D96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57200" y="4983480"/>
            <a:ext cx="3657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D96B1E"/>
                </a:solidFill>
                <a:latin typeface="Calibri"/>
              </a:rPr>
              <a:t>09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22960" y="4983480"/>
            <a:ext cx="374903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KIDS' GITA · Stories for ages 8-14 (parents buy)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4983480"/>
            <a:ext cx="8229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₹99/mo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394960" y="4983480"/>
            <a:ext cx="731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6555"/>
                </a:solidFill>
                <a:latin typeface="Calibri"/>
              </a:rPr>
              <a:t>Month 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126480" y="4983480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₹5K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040880" y="4983480"/>
            <a:ext cx="5029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85%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11480" y="5404104"/>
            <a:ext cx="7086600" cy="420624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11480" y="5404104"/>
            <a:ext cx="54864" cy="420624"/>
          </a:xfrm>
          <a:prstGeom prst="rect">
            <a:avLst/>
          </a:prstGeom>
          <a:solidFill>
            <a:srgbClr val="7A6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57200" y="5404104"/>
            <a:ext cx="3657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7A6555"/>
                </a:solidFill>
                <a:latin typeface="Calibri"/>
              </a:rPr>
              <a:t>10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22960" y="5404104"/>
            <a:ext cx="374903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AUDIO GITA · Voice version for commute / Bharat tier 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72000" y="5404104"/>
            <a:ext cx="8229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₹49/mo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394960" y="5404104"/>
            <a:ext cx="731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6555"/>
                </a:solidFill>
                <a:latin typeface="Calibri"/>
              </a:rPr>
              <a:t>Month 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126480" y="5404104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₹4K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040880" y="5404104"/>
            <a:ext cx="5029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88%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11480" y="5824728"/>
            <a:ext cx="7086600" cy="329184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22960" y="5824728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BLENDED MONTHLY @ M12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126480" y="5824728"/>
            <a:ext cx="9144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0A03A"/>
                </a:solidFill>
                <a:latin typeface="Calibri"/>
              </a:rPr>
              <a:t>₹3.5L+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040880" y="5824728"/>
            <a:ext cx="502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E0A03A"/>
                </a:solidFill>
                <a:latin typeface="Calibri"/>
              </a:rPr>
              <a:t>82%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726679" y="868680"/>
            <a:ext cx="4206240" cy="5394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726679" y="960120"/>
            <a:ext cx="42062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REVENUE MIX AT SCALE · M12</a:t>
            </a:r>
          </a:p>
        </p:txBody>
      </p:sp>
      <p:pic>
        <p:nvPicPr>
          <p:cNvPr id="114" name="Picture 113" descr="revenue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325880"/>
            <a:ext cx="4023360" cy="4846320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Pricing logic: ₹49-149 impulse · ₹199-499 commit · ₹599+ artefact · ₹5K+ B2B | Margin: digital 85-95%, physical 55%, B2B 80%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DIAGNOSIS &amp; PERSONA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MODEL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AREA 4 · 9 Hindu festivals + life-event gifting drive 30-180% revenue lifts — uniquely Indian, structurally underserved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11643055" cy="2331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FESTIVAL CALENDAR · EXPECTED REVENUE LIFT BY MONTH (BASELINE = 100)</a:t>
            </a:r>
          </a:p>
        </p:txBody>
      </p:sp>
      <p:pic>
        <p:nvPicPr>
          <p:cNvPr id="21" name="Picture 20" descr="festival_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0"/>
            <a:ext cx="11384280" cy="1874519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274320" y="3337560"/>
            <a:ext cx="11643055" cy="2926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42900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6 INDIA-GROUNDED BUNDLES · WILL NOT EXIST ELSEWHERE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3794760"/>
            <a:ext cx="1864309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A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74320" y="3794760"/>
            <a:ext cx="1864309" cy="365760"/>
          </a:xfrm>
          <a:prstGeom prst="roundRect">
            <a:avLst>
              <a:gd name="adj" fmla="val 20000"/>
            </a:avLst>
          </a:prstGeom>
          <a:solidFill>
            <a:srgbClr val="E0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3794760"/>
            <a:ext cx="186430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DIWALI GIFT PACK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4206240"/>
            <a:ext cx="186430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0A03A"/>
                </a:solidFill>
                <a:latin typeface="Calibri"/>
              </a:rPr>
              <a:t>₹499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617720"/>
            <a:ext cx="1681429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1-yr sub + e-card + Lakshmi-Ganesha audio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166360"/>
            <a:ext cx="168142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i="1">
                <a:solidFill>
                  <a:srgbClr val="7A6555"/>
                </a:solidFill>
                <a:latin typeface="Calibri"/>
              </a:rPr>
              <a:t>Family-to-family festive gifting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669279"/>
            <a:ext cx="1681429" cy="38404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669279"/>
            <a:ext cx="1681429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1" i="0">
                <a:solidFill>
                  <a:srgbClr val="057A55"/>
                </a:solidFill>
                <a:latin typeface="Calibri"/>
              </a:rPr>
              <a:t>200 packs Nov · ₹1L spike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30069" y="3794760"/>
            <a:ext cx="1864309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55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230069" y="3794760"/>
            <a:ext cx="1864309" cy="365760"/>
          </a:xfrm>
          <a:prstGeom prst="roundRect">
            <a:avLst>
              <a:gd name="adj" fmla="val 20000"/>
            </a:avLst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30069" y="3794760"/>
            <a:ext cx="186430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JANMASHTAMI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30069" y="4206240"/>
            <a:ext cx="186430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B55512"/>
                </a:solidFill>
                <a:latin typeface="Calibri"/>
              </a:rPr>
              <a:t>₹299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21509" y="4617720"/>
            <a:ext cx="1681429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1-mo sub + 8 Krishna shlokas + art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21509" y="5166360"/>
            <a:ext cx="168142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i="1">
                <a:solidFill>
                  <a:srgbClr val="7A6555"/>
                </a:solidFill>
                <a:latin typeface="Calibri"/>
              </a:rPr>
              <a:t>On-brand: Gita IS Krishna's words. Best PR moment.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21509" y="5669279"/>
            <a:ext cx="1681429" cy="38404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21509" y="5669279"/>
            <a:ext cx="1681429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1" i="0">
                <a:solidFill>
                  <a:srgbClr val="057A55"/>
                </a:solidFill>
                <a:latin typeface="Calibri"/>
              </a:rPr>
              <a:t>300 packs · ₹90K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85818" y="3794760"/>
            <a:ext cx="1864309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0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185818" y="3794760"/>
            <a:ext cx="1864309" cy="365760"/>
          </a:xfrm>
          <a:prstGeom prst="roundRect">
            <a:avLst>
              <a:gd name="adj" fmla="val 20000"/>
            </a:avLst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85818" y="3794760"/>
            <a:ext cx="186430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NAVRATRI 9-DAY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85818" y="4206240"/>
            <a:ext cx="186430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B02C2C"/>
                </a:solidFill>
                <a:latin typeface="Calibri"/>
              </a:rPr>
              <a:t>₹199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7258" y="4617720"/>
            <a:ext cx="1681429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9 daily reflections (Goddess + Gita)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77258" y="5166360"/>
            <a:ext cx="168142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i="1">
                <a:solidFill>
                  <a:srgbClr val="7A6555"/>
                </a:solidFill>
                <a:latin typeface="Calibri"/>
              </a:rPr>
              <a:t>October's biggest festival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77258" y="5669279"/>
            <a:ext cx="1681429" cy="38404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7258" y="5669279"/>
            <a:ext cx="1681429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1" i="0">
                <a:solidFill>
                  <a:srgbClr val="057A55"/>
                </a:solidFill>
                <a:latin typeface="Calibri"/>
              </a:rPr>
              <a:t>400 packs · ₹80K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41567" y="3794760"/>
            <a:ext cx="1864309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41567" y="3794760"/>
            <a:ext cx="1864309" cy="365760"/>
          </a:xfrm>
          <a:prstGeom prst="roundRect">
            <a:avLst>
              <a:gd name="adj" fmla="val 20000"/>
            </a:avLst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41567" y="3794760"/>
            <a:ext cx="186430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WEDDING / ANNIV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41567" y="4206240"/>
            <a:ext cx="186430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6B2D8A"/>
                </a:solidFill>
                <a:latin typeface="Calibri"/>
              </a:rPr>
              <a:t>₹999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33007" y="4617720"/>
            <a:ext cx="1681429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Couple sub + Gita-on-Marriage PDF + Q&amp;A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33007" y="5166360"/>
            <a:ext cx="168142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i="1">
                <a:solidFill>
                  <a:srgbClr val="7A6555"/>
                </a:solidFill>
                <a:latin typeface="Calibri"/>
              </a:rPr>
              <a:t>₹3.7T Indian wedding market underserved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33007" y="5669279"/>
            <a:ext cx="1681429" cy="38404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33007" y="5669279"/>
            <a:ext cx="1681429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1" i="0">
                <a:solidFill>
                  <a:srgbClr val="057A55"/>
                </a:solidFill>
                <a:latin typeface="Calibri"/>
              </a:rPr>
              <a:t>50/mo · ₹50K/mo recurring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97316" y="3794760"/>
            <a:ext cx="1864309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8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097316" y="3794760"/>
            <a:ext cx="1864309" cy="365760"/>
          </a:xfrm>
          <a:prstGeom prst="roundRect">
            <a:avLst>
              <a:gd name="adj" fmla="val 20000"/>
            </a:avLst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97316" y="3794760"/>
            <a:ext cx="186430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BIRTHDAY GIFT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97316" y="4206240"/>
            <a:ext cx="186430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E8AA3"/>
                </a:solidFill>
                <a:latin typeface="Calibri"/>
              </a:rPr>
              <a:t>₹199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88756" y="4617720"/>
            <a:ext cx="1681429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Personal 'shlok-for-month' + 6-mo sub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88756" y="5166360"/>
            <a:ext cx="168142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i="1">
                <a:solidFill>
                  <a:srgbClr val="7A6555"/>
                </a:solidFill>
                <a:latin typeface="Calibri"/>
              </a:rPr>
              <a:t>Year-round non-festival gifting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188756" y="5669279"/>
            <a:ext cx="1681429" cy="38404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88756" y="5669279"/>
            <a:ext cx="1681429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1" i="0">
                <a:solidFill>
                  <a:srgbClr val="057A55"/>
                </a:solidFill>
                <a:latin typeface="Calibri"/>
              </a:rPr>
              <a:t>100/mo · ₹20K/mo recurring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053065" y="3794760"/>
            <a:ext cx="1864309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0053065" y="3794760"/>
            <a:ext cx="1864309" cy="365760"/>
          </a:xfrm>
          <a:prstGeom prst="roundRect">
            <a:avLst>
              <a:gd name="adj" fmla="val 20000"/>
            </a:avLst>
          </a:prstGeom>
          <a:solidFill>
            <a:srgbClr val="1F4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3065" y="3794760"/>
            <a:ext cx="186430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EXAM SEASON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3065" y="4206240"/>
            <a:ext cx="186430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F4B7F"/>
                </a:solidFill>
                <a:latin typeface="Calibri"/>
              </a:rPr>
              <a:t>₹99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44505" y="4617720"/>
            <a:ext cx="1681429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30-day 'Gita for exam stress' micro-sub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44505" y="5166360"/>
            <a:ext cx="168142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i="1">
                <a:solidFill>
                  <a:srgbClr val="7A6555"/>
                </a:solidFill>
                <a:latin typeface="Calibri"/>
              </a:rPr>
              <a:t>Parents buy for CBSE/JEE students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144505" y="5669279"/>
            <a:ext cx="1681429" cy="38404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144505" y="5669279"/>
            <a:ext cx="1681429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1" i="0">
                <a:solidFill>
                  <a:srgbClr val="057A55"/>
                </a:solidFill>
                <a:latin typeface="Calibri"/>
              </a:rPr>
              <a:t>300/season · ₹30K/season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Hindu calendar 2025 | RedSeer Spiritual &amp; Wellness 2024 (₹4,000 Cr TAM) | KPMG Wedding Industry India 2024 (₹3.7T) | Team estimates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DIAGNOSIS &amp; PERSONA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MODEL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AREA 4 · ₹49 audio → ₹15K/mo corporate captures every willingness-to-pay segment in India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6583680" cy="5394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6583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PRICING LADDER · MONTHLY EQUIVALENT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417320"/>
            <a:ext cx="6263640" cy="329184"/>
          </a:xfrm>
          <a:prstGeom prst="rect">
            <a:avLst/>
          </a:prstGeom>
          <a:solidFill>
            <a:srgbClr val="057A55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1417320"/>
            <a:ext cx="61722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CORPORATE B2B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1417320"/>
            <a:ext cx="1417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57A55"/>
                </a:solidFill>
                <a:latin typeface="Calibri"/>
              </a:rPr>
              <a:t>₹5K-15K/mo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1417320"/>
            <a:ext cx="-18288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i="1">
                <a:solidFill>
                  <a:srgbClr val="2A1A0F"/>
                </a:solidFill>
                <a:latin typeface="Calibri"/>
              </a:rPr>
              <a:t>BFSI, FMCG, mfg HR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1865376"/>
            <a:ext cx="5029200" cy="329184"/>
          </a:xfrm>
          <a:prstGeom prst="rect">
            <a:avLst/>
          </a:prstGeom>
          <a:solidFill>
            <a:srgbClr val="6B2D8A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1865376"/>
            <a:ext cx="49377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WEDDING / ANNIV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1865376"/>
            <a:ext cx="1417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B2D8A"/>
                </a:solidFill>
                <a:latin typeface="Calibri"/>
              </a:rPr>
              <a:t>₹999 one-time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1865376"/>
            <a:ext cx="-5943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i="1">
                <a:solidFill>
                  <a:srgbClr val="2A1A0F"/>
                </a:solidFill>
                <a:latin typeface="Calibri"/>
              </a:rPr>
              <a:t>Couple gifting + 1-yr sub bundled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313432"/>
            <a:ext cx="4114800" cy="329184"/>
          </a:xfrm>
          <a:prstGeom prst="rect">
            <a:avLst/>
          </a:prstGeom>
          <a:solidFill>
            <a:srgbClr val="B02C2C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313432"/>
            <a:ext cx="40233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PHYSICAL DECK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313432"/>
            <a:ext cx="1417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₹599-699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2313432"/>
            <a:ext cx="3200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i="1">
                <a:solidFill>
                  <a:srgbClr val="2A1A0F"/>
                </a:solidFill>
                <a:latin typeface="Calibri"/>
              </a:rPr>
              <a:t>108-card Gita deck, festival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761488"/>
            <a:ext cx="3474720" cy="329184"/>
          </a:xfrm>
          <a:prstGeom prst="rect">
            <a:avLst/>
          </a:prstGeom>
          <a:solidFill>
            <a:srgbClr val="E0A03A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761488"/>
            <a:ext cx="3383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DIWALI BUNDLE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2761488"/>
            <a:ext cx="1417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0A03A"/>
                </a:solidFill>
                <a:latin typeface="Calibri"/>
              </a:rPr>
              <a:t>₹499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2761488"/>
            <a:ext cx="9601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i="1">
                <a:solidFill>
                  <a:srgbClr val="2A1A0F"/>
                </a:solidFill>
                <a:latin typeface="Calibri"/>
              </a:rPr>
              <a:t>Festival + 1-yr sub + audio + card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209544"/>
            <a:ext cx="2834640" cy="329184"/>
          </a:xfrm>
          <a:prstGeom prst="rect">
            <a:avLst/>
          </a:prstGeom>
          <a:solidFill>
            <a:srgbClr val="1F4B7F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3209544"/>
            <a:ext cx="27432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ANNUAL PREPAY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3209544"/>
            <a:ext cx="1417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F4B7F"/>
                </a:solidFill>
                <a:latin typeface="Calibri"/>
              </a:rPr>
              <a:t>₹699/yr ≈ ₹58/mo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3209544"/>
            <a:ext cx="16002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i="1">
                <a:solidFill>
                  <a:srgbClr val="2A1A0F"/>
                </a:solidFill>
                <a:latin typeface="Calibri"/>
              </a:rPr>
              <a:t>26% off, ~0% churn lock-in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657600"/>
            <a:ext cx="2194560" cy="329184"/>
          </a:xfrm>
          <a:prstGeom prst="rect">
            <a:avLst/>
          </a:prstGeom>
          <a:solidFill>
            <a:srgbClr val="0E8AA3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3657600"/>
            <a:ext cx="21031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PREMIUM TIER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3657600"/>
            <a:ext cx="1417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E8AA3"/>
                </a:solidFill>
                <a:latin typeface="Calibri"/>
              </a:rPr>
              <a:t>₹199/mo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3657600"/>
            <a:ext cx="2240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i="1">
                <a:solidFill>
                  <a:srgbClr val="2A1A0F"/>
                </a:solidFill>
                <a:latin typeface="Calibri"/>
              </a:rPr>
              <a:t>Community + scholar Q&amp;A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105656"/>
            <a:ext cx="1645920" cy="329184"/>
          </a:xfrm>
          <a:prstGeom prst="rect">
            <a:avLst/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4105656"/>
            <a:ext cx="15544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FAMILY PACK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94560" y="4105656"/>
            <a:ext cx="1417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9B47"/>
                </a:solidFill>
                <a:latin typeface="Calibri"/>
              </a:rPr>
              <a:t>₹149/mo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4105656"/>
            <a:ext cx="2788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i="1">
                <a:solidFill>
                  <a:srgbClr val="2A1A0F"/>
                </a:solidFill>
                <a:latin typeface="Calibri"/>
              </a:rPr>
              <a:t>Up to 5 phones, multi-lang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553712"/>
            <a:ext cx="1188720" cy="329184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4553712"/>
            <a:ext cx="1097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CORE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37360" y="4553712"/>
            <a:ext cx="1417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₹79/mo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0" y="4553712"/>
            <a:ext cx="32461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i="1">
                <a:solidFill>
                  <a:srgbClr val="2A1A0F"/>
                </a:solidFill>
                <a:latin typeface="Calibri"/>
              </a:rPr>
              <a:t>Daily WA shlok (anchor SKU)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001768"/>
            <a:ext cx="868680" cy="329184"/>
          </a:xfrm>
          <a:prstGeom prst="rect">
            <a:avLst/>
          </a:prstGeom>
          <a:solidFill>
            <a:srgbClr val="D96B1E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5001768"/>
            <a:ext cx="7772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KIDS' GITA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17320" y="5001768"/>
            <a:ext cx="1417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96B1E"/>
                </a:solidFill>
                <a:latin typeface="Calibri"/>
              </a:rPr>
              <a:t>₹99/mo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80360" y="5001768"/>
            <a:ext cx="35661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i="1">
                <a:solidFill>
                  <a:srgbClr val="2A1A0F"/>
                </a:solidFill>
                <a:latin typeface="Calibri"/>
              </a:rPr>
              <a:t>Stories for 8-14, parents buy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5449824"/>
            <a:ext cx="502920" cy="329184"/>
          </a:xfrm>
          <a:prstGeom prst="rect">
            <a:avLst/>
          </a:prstGeom>
          <a:solidFill>
            <a:srgbClr val="7A6555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5449824"/>
            <a:ext cx="4114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AUDIO GITA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" y="5449824"/>
            <a:ext cx="1417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7A6555"/>
                </a:solidFill>
                <a:latin typeface="Calibri"/>
              </a:rPr>
              <a:t>₹49/mo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14600" y="5449824"/>
            <a:ext cx="3931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i="1">
                <a:solidFill>
                  <a:srgbClr val="2A1A0F"/>
                </a:solidFill>
                <a:latin typeface="Calibri"/>
              </a:rPr>
              <a:t>Voice for commute / Bharat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995160" y="868680"/>
            <a:ext cx="4937760" cy="2423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95160" y="960120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PRICING LOGIC · 4 ANCHOR PRINCIPLES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132320" y="1371600"/>
            <a:ext cx="4663440" cy="41148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32320" y="1371600"/>
            <a:ext cx="54864" cy="41148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42048" y="1371600"/>
            <a:ext cx="18288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01 ANCHOR LOW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98280" y="1371600"/>
            <a:ext cx="2697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₹49 audio = pure curiosity tier. Coffee-cost paying habit.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132320" y="1819656"/>
            <a:ext cx="4663440" cy="41148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132320" y="1819656"/>
            <a:ext cx="54864" cy="411480"/>
          </a:xfrm>
          <a:prstGeom prst="rect">
            <a:avLst/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242048" y="1819656"/>
            <a:ext cx="18288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02 IMPULSE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98280" y="1819656"/>
            <a:ext cx="2697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₹99-149 PDFs + exam micro-subs. No auto-deduct fear.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132320" y="2267712"/>
            <a:ext cx="4663440" cy="41148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132320" y="2267712"/>
            <a:ext cx="54864" cy="411480"/>
          </a:xfrm>
          <a:prstGeom prst="rect">
            <a:avLst/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42048" y="2267712"/>
            <a:ext cx="18288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6B2D8A"/>
                </a:solidFill>
                <a:latin typeface="Calibri"/>
              </a:rPr>
              <a:t>03 COMMIT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98280" y="2267712"/>
            <a:ext cx="2697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₹199-499 premium + festival. Conscious commit price.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132320" y="2715768"/>
            <a:ext cx="4663440" cy="41148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132320" y="2715768"/>
            <a:ext cx="54864" cy="41148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242048" y="2715768"/>
            <a:ext cx="18288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04 ARTEFACT/B2B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98280" y="2715768"/>
            <a:ext cx="2697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₹599+ deck, wedding, corporate. Gifting + enterprise.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995160" y="3429000"/>
            <a:ext cx="4937760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995160" y="3520440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B2B CORPORATE OPPORTUNITY · TAM/SAM/SOM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132320" y="3931920"/>
            <a:ext cx="466344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32320" y="3931920"/>
            <a:ext cx="54864" cy="365760"/>
          </a:xfrm>
          <a:prstGeom prst="rect">
            <a:avLst/>
          </a:prstGeom>
          <a:solidFill>
            <a:srgbClr val="1F4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242048" y="3931920"/>
            <a:ext cx="3017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F4B7F"/>
                </a:solidFill>
                <a:latin typeface="Calibri"/>
              </a:rPr>
              <a:t>TAM · Corporate Wellness India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287000" y="3931920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₹4,000 Cr · 15% CAGR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132320" y="4315968"/>
            <a:ext cx="466344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132320" y="4315968"/>
            <a:ext cx="54864" cy="365760"/>
          </a:xfrm>
          <a:prstGeom prst="rect">
            <a:avLst/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242048" y="4315968"/>
            <a:ext cx="3017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E8AA3"/>
                </a:solidFill>
                <a:latin typeface="Calibri"/>
              </a:rPr>
              <a:t>SAM · Mid-large firms (BFSI/FMCG/Mfg)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287000" y="4315968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₹400 Cr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132320" y="4700016"/>
            <a:ext cx="466344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132320" y="4700016"/>
            <a:ext cx="54864" cy="3657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242048" y="4700016"/>
            <a:ext cx="3017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SOM Y1 · 15-30 pilot firms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287000" y="4700016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₹50-80 L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132320" y="5084064"/>
            <a:ext cx="466344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132320" y="5084064"/>
            <a:ext cx="54864" cy="36576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242048" y="5084064"/>
            <a:ext cx="3017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PRICING · ₹5K (≤50) / ₹10K (50-200) / ₹15K (200+)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287000" y="5084064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Per month per firm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132320" y="5468112"/>
            <a:ext cx="466344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132320" y="5468112"/>
            <a:ext cx="54864" cy="365760"/>
          </a:xfrm>
          <a:prstGeom prst="rect">
            <a:avLst/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242048" y="5468112"/>
            <a:ext cx="3017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6B2D8A"/>
                </a:solidFill>
                <a:latin typeface="Calibri"/>
              </a:rPr>
              <a:t>BUYER · HR Heads at 500-5,000 employee firms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287000" y="5468112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LinkedIn outreach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132320" y="5852160"/>
            <a:ext cx="466344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132320" y="5852160"/>
            <a:ext cx="54864" cy="365760"/>
          </a:xfrm>
          <a:prstGeom prst="rect">
            <a:avLst/>
          </a:prstGeom>
          <a:solidFill>
            <a:srgbClr val="E0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242048" y="5852160"/>
            <a:ext cx="3017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E0A03A"/>
                </a:solidFill>
                <a:latin typeface="Calibri"/>
              </a:rPr>
              <a:t>MOTION · 15-min outreach → pilot → case-study fly-wheel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287000" y="5852160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Self-serve B2B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Mercer Marsh India Wellness Survey 2024 (₹4,000 Cr) | LinkedIn HR titles | Glido pricing | Team build-up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DIAGNOSIS &amp; PERSONA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FINANCIAL MODEL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Halving churn from 29% → 8% triples LTV — the Day-3 trial fix is the highest-ROI intervention in this deck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2255459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" y="868680"/>
            <a:ext cx="2255459" cy="54864"/>
          </a:xfrm>
          <a:prstGeom prst="roundRect">
            <a:avLst>
              <a:gd name="adj" fmla="val 10000"/>
            </a:avLst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960120"/>
            <a:ext cx="2255459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57A55"/>
                </a:solidFill>
                <a:latin typeface="Calibri"/>
              </a:rPr>
              <a:t>85.5%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1463040"/>
            <a:ext cx="225545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GROSS MARGIN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21219" y="868680"/>
            <a:ext cx="2255459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B55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621219" y="868680"/>
            <a:ext cx="2255459" cy="54864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21219" y="960120"/>
            <a:ext cx="2255459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B55512"/>
                </a:solidFill>
                <a:latin typeface="Calibri"/>
              </a:rPr>
              <a:t>₹125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21219" y="1463040"/>
            <a:ext cx="225545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BLENDED CAC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68118" y="868680"/>
            <a:ext cx="2255459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1F4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968118" y="868680"/>
            <a:ext cx="2255459" cy="54864"/>
          </a:xfrm>
          <a:prstGeom prst="roundRect">
            <a:avLst>
              <a:gd name="adj" fmla="val 10000"/>
            </a:avLst>
          </a:prstGeom>
          <a:solidFill>
            <a:srgbClr val="1F4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68118" y="960120"/>
            <a:ext cx="2255459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F4B7F"/>
                </a:solidFill>
                <a:latin typeface="Calibri"/>
              </a:rPr>
              <a:t>M3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68118" y="1463040"/>
            <a:ext cx="225545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TO ₹1L MRR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017" y="868680"/>
            <a:ext cx="2255459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6B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15017" y="868680"/>
            <a:ext cx="2255459" cy="54864"/>
          </a:xfrm>
          <a:prstGeom prst="roundRect">
            <a:avLst>
              <a:gd name="adj" fmla="val 10000"/>
            </a:avLst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017" y="960120"/>
            <a:ext cx="2255459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6B2D8A"/>
                </a:solidFill>
                <a:latin typeface="Calibri"/>
              </a:rPr>
              <a:t>₹3.5L+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017" y="1463040"/>
            <a:ext cx="225545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MRR @ M12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61916" y="868680"/>
            <a:ext cx="2255459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0E8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661916" y="868680"/>
            <a:ext cx="2255459" cy="54864"/>
          </a:xfrm>
          <a:prstGeom prst="roundRect">
            <a:avLst>
              <a:gd name="adj" fmla="val 10000"/>
            </a:avLst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61916" y="960120"/>
            <a:ext cx="2255459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E8AA3"/>
                </a:solidFill>
                <a:latin typeface="Calibri"/>
              </a:rPr>
              <a:t>7.9×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1916" y="1463040"/>
            <a:ext cx="225545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LTV / CAC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2011680"/>
            <a:ext cx="4023360" cy="4251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2103120"/>
            <a:ext cx="40233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PER-SUBSCRIBER UNIT ECONOMICS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2514600"/>
            <a:ext cx="3749039" cy="292608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2514600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LINE ITEM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4560" y="2514600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AMOUNT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71800" y="2514600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RATIONALE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2807208"/>
            <a:ext cx="3749039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280720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Revenue / sub / year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94560" y="2807208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+₹948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71800" y="2807208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12 × ₹79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3099816"/>
            <a:ext cx="3749039" cy="292608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3099816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WhatsApp + payment fees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94560" y="3099816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−₹95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71800" y="3099816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~10% of revenue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3392424"/>
            <a:ext cx="3749039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3392424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Content production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94560" y="3392424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−₹30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71800" y="3392424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1 scholar / 800 subs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3685032"/>
            <a:ext cx="3749039" cy="292608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3685032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Tech + infra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94560" y="3685032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−₹12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71800" y="3685032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ManyChat, hosting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3977640"/>
            <a:ext cx="3749039" cy="292608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3977640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GROSS MARGIN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94560" y="3977640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+₹811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71800" y="3977640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85.5%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1480" y="4270248"/>
            <a:ext cx="3749039" cy="292608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427024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Blended CAC (amortized)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94560" y="4270248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−₹125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71800" y="4270248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Y1 weighted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4562856"/>
            <a:ext cx="3749039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4562856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Refund / chargeback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94560" y="4562856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−₹15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71800" y="4562856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2% allowance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1480" y="4855464"/>
            <a:ext cx="3749039" cy="292608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4855464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TRUE CONTRIBUTION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94560" y="4855464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+₹671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71800" y="4855464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70.7% survives CAC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434840" y="2011680"/>
            <a:ext cx="4023360" cy="4251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434840" y="2103120"/>
            <a:ext cx="40233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COHORT RETENTION · LTV SENSITIVITY</a:t>
            </a:r>
          </a:p>
        </p:txBody>
      </p:sp>
      <p:pic>
        <p:nvPicPr>
          <p:cNvPr id="79" name="Picture 78" descr="cohort_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423160"/>
            <a:ext cx="3749039" cy="2103120"/>
          </a:xfrm>
          <a:prstGeom prst="rect">
            <a:avLst/>
          </a:prstGeom>
        </p:spPr>
      </p:pic>
      <p:sp>
        <p:nvSpPr>
          <p:cNvPr id="80" name="Rectangle 79"/>
          <p:cNvSpPr/>
          <p:nvPr/>
        </p:nvSpPr>
        <p:spPr>
          <a:xfrm>
            <a:off x="4572000" y="4617720"/>
            <a:ext cx="3749039" cy="256032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17720" y="4617720"/>
            <a:ext cx="1874519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MONTHLY CHURN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92240" y="4617720"/>
            <a:ext cx="9601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LTV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52360" y="4617720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LTV / CAC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0" y="4873752"/>
            <a:ext cx="3749039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617720" y="4873752"/>
            <a:ext cx="1874519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5%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92240" y="4873752"/>
            <a:ext cx="9601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₹1,580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52360" y="48737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12.6×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72000" y="5129784"/>
            <a:ext cx="3749039" cy="256032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617720" y="5129784"/>
            <a:ext cx="1874519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8% · TARGET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92240" y="5129784"/>
            <a:ext cx="9601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1F4B7F"/>
                </a:solidFill>
                <a:latin typeface="Calibri"/>
              </a:rPr>
              <a:t>₹987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452360" y="5129784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1F4B7F"/>
                </a:solidFill>
                <a:latin typeface="Calibri"/>
              </a:rPr>
              <a:t>7.9×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0" y="5385816"/>
            <a:ext cx="3749039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617720" y="5385816"/>
            <a:ext cx="1874519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12%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92240" y="5385816"/>
            <a:ext cx="9601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₹655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452360" y="5385816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5.2×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0" y="5641848"/>
            <a:ext cx="3749039" cy="256032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617720" y="5641848"/>
            <a:ext cx="1874519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20%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92240" y="5641848"/>
            <a:ext cx="9601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E0A03A"/>
                </a:solidFill>
                <a:latin typeface="Calibri"/>
              </a:rPr>
              <a:t>₹395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452360" y="5641848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E0A03A"/>
                </a:solidFill>
                <a:latin typeface="Calibri"/>
              </a:rPr>
              <a:t>3.2×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572000" y="5897880"/>
            <a:ext cx="3749039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617720" y="5897880"/>
            <a:ext cx="1874519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29% · TODAY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492240" y="5897880"/>
            <a:ext cx="9601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₹268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52360" y="5897880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2.1×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595360" y="2011680"/>
            <a:ext cx="3337560" cy="4251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595360" y="2103120"/>
            <a:ext cx="3337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MRR BUILD · 6 STREAMS</a:t>
            </a:r>
          </a:p>
        </p:txBody>
      </p:sp>
      <p:pic>
        <p:nvPicPr>
          <p:cNvPr id="106" name="Picture 105" descr="mrr_proj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423160"/>
            <a:ext cx="3108960" cy="3794760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Sequoia India Subscription Unit Economics Guide | Cohort math: P(retained) = (1−churn)^n | Glido Labs case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DIAGNOSIS &amp; PERSONA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MODEL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Fix the funnel before scaling. Deepen monetization before buying traffic. ₹1L MRR by M3 if Lever 1 lands in 30 days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11643055" cy="2240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6-PHASE 90-DAY EXECUTION ROADMAP</a:t>
            </a:r>
          </a:p>
        </p:txBody>
      </p:sp>
      <p:sp>
        <p:nvSpPr>
          <p:cNvPr id="21" name="Pentagon 20"/>
          <p:cNvSpPr/>
          <p:nvPr/>
        </p:nvSpPr>
        <p:spPr>
          <a:xfrm>
            <a:off x="365760" y="1371600"/>
            <a:ext cx="1833829" cy="365760"/>
          </a:xfrm>
          <a:prstGeom prst="homePlate">
            <a:avLst>
              <a:gd name="adj" fmla="val 55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137160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WK 1-2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1783080"/>
            <a:ext cx="1833829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2700">
            <a:solidFill>
              <a:srgbClr val="B55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182880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FIX THE LEAK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2103120"/>
            <a:ext cx="174238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Homepage redesign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Form above fold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Mandate explainer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LCP &lt;2.5s</a:t>
            </a:r>
          </a:p>
        </p:txBody>
      </p:sp>
      <p:sp>
        <p:nvSpPr>
          <p:cNvPr id="26" name="Pentagon 25"/>
          <p:cNvSpPr/>
          <p:nvPr/>
        </p:nvSpPr>
        <p:spPr>
          <a:xfrm>
            <a:off x="2272741" y="1371600"/>
            <a:ext cx="1833829" cy="365760"/>
          </a:xfrm>
          <a:prstGeom prst="homePlate">
            <a:avLst>
              <a:gd name="adj" fmla="val 55000"/>
            </a:avLst>
          </a:prstGeom>
          <a:solidFill>
            <a:srgbClr val="D96B1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72741" y="137160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WK 2-3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72741" y="1783080"/>
            <a:ext cx="1833829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2700">
            <a:solidFill>
              <a:srgbClr val="D96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18461" y="182880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D96B1E"/>
                </a:solidFill>
                <a:latin typeface="Calibri"/>
              </a:rPr>
              <a:t>SEAL THE TRIAL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18461" y="2103120"/>
            <a:ext cx="174238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Day 1/2/3 WA arc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Re-engage 47 churns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Pre-charge transparency</a:t>
            </a:r>
          </a:p>
        </p:txBody>
      </p:sp>
      <p:sp>
        <p:nvSpPr>
          <p:cNvPr id="31" name="Pentagon 30"/>
          <p:cNvSpPr/>
          <p:nvPr/>
        </p:nvSpPr>
        <p:spPr>
          <a:xfrm>
            <a:off x="4179722" y="1371600"/>
            <a:ext cx="1833829" cy="365760"/>
          </a:xfrm>
          <a:prstGeom prst="homePlate">
            <a:avLst>
              <a:gd name="adj" fmla="val 55000"/>
            </a:avLst>
          </a:prstGeom>
          <a:solidFill>
            <a:srgbClr val="0E8AA3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79722" y="137160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WK 3-4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79722" y="1783080"/>
            <a:ext cx="1833829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2700">
            <a:solidFill>
              <a:srgbClr val="0E8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25442" y="182880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E8AA3"/>
                </a:solidFill>
                <a:latin typeface="Calibri"/>
              </a:rPr>
              <a:t>DM AUTOMATION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25442" y="2103120"/>
            <a:ext cx="174238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ManyChat trigger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Update captions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First Story poll</a:t>
            </a:r>
          </a:p>
        </p:txBody>
      </p:sp>
      <p:sp>
        <p:nvSpPr>
          <p:cNvPr id="36" name="Pentagon 35"/>
          <p:cNvSpPr/>
          <p:nvPr/>
        </p:nvSpPr>
        <p:spPr>
          <a:xfrm>
            <a:off x="6086703" y="1371600"/>
            <a:ext cx="1833829" cy="365760"/>
          </a:xfrm>
          <a:prstGeom prst="homePlate">
            <a:avLst>
              <a:gd name="adj" fmla="val 55000"/>
            </a:avLst>
          </a:prstGeom>
          <a:solidFill>
            <a:srgbClr val="6B2D8A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6703" y="137160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MONTH 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86703" y="1783080"/>
            <a:ext cx="1833829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2700">
            <a:solidFill>
              <a:srgbClr val="6B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2423" y="182880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6B2D8A"/>
                </a:solidFill>
                <a:latin typeface="Calibri"/>
              </a:rPr>
              <a:t>NEW REVENUE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32423" y="2103120"/>
            <a:ext cx="174238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Annual ₹699 launch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3 PDF guides live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Diwali gift sub page</a:t>
            </a:r>
          </a:p>
        </p:txBody>
      </p:sp>
      <p:sp>
        <p:nvSpPr>
          <p:cNvPr id="41" name="Pentagon 40"/>
          <p:cNvSpPr/>
          <p:nvPr/>
        </p:nvSpPr>
        <p:spPr>
          <a:xfrm>
            <a:off x="7993684" y="1371600"/>
            <a:ext cx="1833829" cy="365760"/>
          </a:xfrm>
          <a:prstGeom prst="homePlate">
            <a:avLst>
              <a:gd name="adj" fmla="val 55000"/>
            </a:avLst>
          </a:prstGeom>
          <a:solidFill>
            <a:srgbClr val="057A55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93684" y="137160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MONTH 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93684" y="1783080"/>
            <a:ext cx="1833829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270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39404" y="182880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57A55"/>
                </a:solidFill>
                <a:latin typeface="Calibri"/>
              </a:rPr>
              <a:t>SCALE CONTENT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39404" y="2103120"/>
            <a:ext cx="174238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Daily Reels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2 creator collabs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B2B pitch deck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Premium tier</a:t>
            </a:r>
          </a:p>
        </p:txBody>
      </p:sp>
      <p:sp>
        <p:nvSpPr>
          <p:cNvPr id="46" name="Pentagon 45"/>
          <p:cNvSpPr/>
          <p:nvPr/>
        </p:nvSpPr>
        <p:spPr>
          <a:xfrm>
            <a:off x="9900665" y="1371600"/>
            <a:ext cx="1833829" cy="365760"/>
          </a:xfrm>
          <a:prstGeom prst="homePlate">
            <a:avLst>
              <a:gd name="adj" fmla="val 55000"/>
            </a:avLst>
          </a:prstGeom>
          <a:solidFill>
            <a:srgbClr val="E0A03A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00665" y="137160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MONTH 3+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00665" y="1783080"/>
            <a:ext cx="1833829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2700">
            <a:solidFill>
              <a:srgbClr val="E0A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46385" y="182880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E0A03A"/>
                </a:solidFill>
                <a:latin typeface="Calibri"/>
              </a:rPr>
              <a:t>PAID + B2B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46385" y="2103120"/>
            <a:ext cx="174238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Meta CTWA ₹500/d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Lookalike audience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5 corp pilots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Audio launch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" y="3246120"/>
            <a:ext cx="658368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3337560"/>
            <a:ext cx="6583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MILESTONE OUTCOMES · NOW / 30 / 60 / 90 DAY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3749039"/>
            <a:ext cx="6309360" cy="310896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3749039"/>
            <a:ext cx="2194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51760" y="3749039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0" y="3749039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DAY-30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3749039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DAY-60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15000" y="3749039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DAY-90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4059935"/>
            <a:ext cx="63093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4059935"/>
            <a:ext cx="2194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Active paid subscribers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51760" y="4059935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B02C2C"/>
                </a:solidFill>
                <a:latin typeface="Calibri"/>
              </a:rPr>
              <a:t>116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0" y="4059935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230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4059935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480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15000" y="4059935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800+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1480" y="4370831"/>
            <a:ext cx="6309360" cy="310896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4370831"/>
            <a:ext cx="2194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Daily new trials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51760" y="4370831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B02C2C"/>
                </a:solidFill>
                <a:latin typeface="Calibri"/>
              </a:rPr>
              <a:t>2-3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0" y="4370831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8-10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63440" y="4370831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15-18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15000" y="4370831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20-30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1480" y="4681727"/>
            <a:ext cx="63093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4681727"/>
            <a:ext cx="2194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Homepage → Form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51760" y="4681727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B02C2C"/>
                </a:solidFill>
                <a:latin typeface="Calibri"/>
              </a:rPr>
              <a:t>18.2%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57600" y="4681727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30%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63440" y="4681727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35%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715000" y="4681727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40%+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11480" y="4992623"/>
            <a:ext cx="6309360" cy="310896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4992623"/>
            <a:ext cx="2194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Trial → Paid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51760" y="4992623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B02C2C"/>
                </a:solidFill>
                <a:latin typeface="Calibri"/>
              </a:rPr>
              <a:t>71%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0" y="4992623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78%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63440" y="4992623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82%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715000" y="4992623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88%+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1480" y="5303519"/>
            <a:ext cx="63093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7200" y="5303519"/>
            <a:ext cx="2194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Monthly churn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651760" y="5303519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B02C2C"/>
                </a:solidFill>
                <a:latin typeface="Calibri"/>
              </a:rPr>
              <a:t>29%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57600" y="5303519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&lt;20%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63440" y="5303519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&lt;12%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15000" y="5303519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&lt;8%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11480" y="5614415"/>
            <a:ext cx="6309360" cy="310896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7200" y="5614415"/>
            <a:ext cx="2194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Blended monthly revenue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651760" y="5614415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B02C2C"/>
                </a:solidFill>
                <a:latin typeface="Calibri"/>
              </a:rPr>
              <a:t>₹9.2K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657600" y="5614415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₹22K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663440" y="5614415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₹70K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715000" y="5614415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₹1L+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11480" y="5925311"/>
            <a:ext cx="63093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57200" y="5925311"/>
            <a:ext cx="2194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Revenue streams live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651760" y="5925311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B02C2C"/>
                </a:solidFill>
                <a:latin typeface="Calibri"/>
              </a:rPr>
              <a:t>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657600" y="5925311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663440" y="5925311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715000" y="5925311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7+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995160" y="3246120"/>
            <a:ext cx="493776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995160" y="3337560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RISK &amp; MITIGATION MATRIX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132320" y="3749039"/>
            <a:ext cx="4663440" cy="274320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178040" y="3749039"/>
            <a:ext cx="187451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052560" y="3749039"/>
            <a:ext cx="9601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058400" y="3749039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132320" y="4023359"/>
            <a:ext cx="466344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178040" y="4023359"/>
            <a:ext cx="187451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WhatsApp policy / API ban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098280" y="4114799"/>
            <a:ext cx="777240" cy="228600"/>
          </a:xfrm>
          <a:prstGeom prst="roundRect">
            <a:avLst>
              <a:gd name="adj" fmla="val 50000"/>
            </a:avLst>
          </a:prstGeom>
          <a:solidFill>
            <a:srgbClr val="B02C2C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098280" y="4114799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058400" y="4023359"/>
            <a:ext cx="17830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WA Business API + email mirror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132320" y="4443983"/>
            <a:ext cx="4663440" cy="41148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178040" y="4443983"/>
            <a:ext cx="187451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Mandate distrust → chargebacks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9098280" y="4535423"/>
            <a:ext cx="777240" cy="22860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098280" y="4535423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058400" y="4443983"/>
            <a:ext cx="17830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Bilingual explainer, pre-charge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132320" y="4864607"/>
            <a:ext cx="466344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178040" y="4864607"/>
            <a:ext cx="187451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Founder content fatigue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9098280" y="4956047"/>
            <a:ext cx="777240" cy="228600"/>
          </a:xfrm>
          <a:prstGeom prst="roundRect">
            <a:avLst>
              <a:gd name="adj" fmla="val 50000"/>
            </a:avLst>
          </a:prstGeom>
          <a:solidFill>
            <a:srgbClr val="E0A03A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098280" y="4956047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058400" y="4864607"/>
            <a:ext cx="17830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Onboard 2 scholars by M3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132320" y="5285231"/>
            <a:ext cx="4663440" cy="41148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178040" y="5285231"/>
            <a:ext cx="187451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Instagram algo dependency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9098280" y="5376671"/>
            <a:ext cx="777240" cy="22860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098280" y="5376671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058400" y="5285231"/>
            <a:ext cx="17830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Diversify: Shorts, ShareChat, email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132320" y="5705855"/>
            <a:ext cx="466344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178040" y="5705855"/>
            <a:ext cx="187451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Premium quality dilution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9098280" y="5797295"/>
            <a:ext cx="777240" cy="228600"/>
          </a:xfrm>
          <a:prstGeom prst="roundRect">
            <a:avLst>
              <a:gd name="adj" fmla="val 50000"/>
            </a:avLst>
          </a:prstGeom>
          <a:solidFill>
            <a:srgbClr val="E0A03A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098280" y="5797295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058400" y="5705855"/>
            <a:ext cx="17830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Hard cap 150 members, founder mod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Glido Labs case | Industry risk benchmarks | Team risk identification &amp; mitigation design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11643055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B55512"/>
                </a:solidFill>
                <a:latin typeface="Calibri"/>
              </a:rPr>
              <a:t>APPENDIX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0" y="960120"/>
            <a:ext cx="2103120" cy="0"/>
          </a:xfrm>
          <a:prstGeom prst="line">
            <a:avLst/>
          </a:prstGeom>
          <a:ln w="25400">
            <a:solidFill>
              <a:srgbClr val="B555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4320" y="1188720"/>
            <a:ext cx="5760720" cy="5349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5760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FRAMEWORKS USED IN THIS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SCR · SITUATION-COMPLICATION-RES.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691640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MBB synthesis (slide 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75688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75688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FUNNEL DIAGNOSTIC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075688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6-stage drop-off vs benchmark (slide 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459736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459736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VALUE PROPOSITION CANVAS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459736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JTBD × Anxieties × Pay × Stay (slide 3)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843784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843784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CORE WEB VITALS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2843784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LCP/INP/CLS perf (slide 5)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227832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227832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HOOK MODEL · NIR EYAL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227832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Trigger → Action → Reward → Invest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611880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611880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AARRR PIRATE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3611880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Acq / Activation / Retention / Ref / Rev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95928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995928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UNIT ECONOMICS · PER-SUB P&amp;L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3995928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₹948 → ₹671 contribution (slide 12)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379976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379976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LTV / CAC SENSITIVITY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4379976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5%-29% churn scenarios (slide 12)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764024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764024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TAM / SAM / SOM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4764024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B2B sizing ₹4,000 Cr → ₹50-80L (slide 11)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148072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148072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KPI DASHBOARD · 18 METRICS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71800" y="5148072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10 weekly + 8 monthly (slide 7)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532120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532120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RISK &amp; MITIGATION MATRIX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71800" y="5532120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5 risks × impact × mitigation (slide 13)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916168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916168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FESTIVAL CALENDAR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71800" y="5916168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9 Hindu festival lifts (slide 10)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1188720"/>
            <a:ext cx="5715000" cy="5349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72200" y="1280160"/>
            <a:ext cx="57150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DATA SOURCES &amp; REFERENCES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55080" y="1691640"/>
            <a:ext cx="534924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46520" y="1746504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1746504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CASE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26679" y="1691640"/>
            <a:ext cx="3931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Glido Labs Strategy Assignment brief — funnel, perf, errors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55080" y="2039112"/>
            <a:ext cx="5349240" cy="329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446520" y="2093976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2093976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MARKET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26679" y="2039112"/>
            <a:ext cx="3931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IMARC India Subscription Apps Report 2024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55080" y="2386584"/>
            <a:ext cx="534924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446520" y="2441448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6520" y="2441448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MARKET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26679" y="2386584"/>
            <a:ext cx="3931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Mercer Marsh India Wellness Survey 2024 (₹4,000 Cr)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55080" y="2734056"/>
            <a:ext cx="5349240" cy="329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446520" y="2788920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46520" y="2788920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MARKET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26679" y="2734056"/>
            <a:ext cx="3931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RedSeer Spiritual &amp; Wellness E-commerce 2024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355080" y="3081528"/>
            <a:ext cx="534924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446520" y="3136392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46520" y="3136392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MARKET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26679" y="3081528"/>
            <a:ext cx="3931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Meta India Click-to-WhatsApp Ads benchmark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355080" y="3429000"/>
            <a:ext cx="5349240" cy="329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446520" y="3483864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46520" y="3483864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MARKET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26679" y="3429000"/>
            <a:ext cx="3931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KPMG Wedding Industry India 2024 (₹3.7T)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355080" y="3776472"/>
            <a:ext cx="534924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446520" y="3831336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46520" y="3831336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CONSUMER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26679" y="3776472"/>
            <a:ext cx="3931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LocalCircles Hindi Spiritual Survey 2024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355080" y="4123944"/>
            <a:ext cx="5349240" cy="329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6446520" y="4178808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46520" y="4178808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26679" y="4123944"/>
            <a:ext cx="3931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Razorpay UPI Mandate UX Guidelines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355080" y="4471416"/>
            <a:ext cx="534924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6446520" y="4526280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46520" y="4526280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26679" y="4471416"/>
            <a:ext cx="3931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Google Web Vitals · LCP/INP/CLS impact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355080" y="4818888"/>
            <a:ext cx="5349240" cy="329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6446520" y="4873752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46520" y="4873752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26679" y="4818888"/>
            <a:ext cx="3931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ManyChat Instagram automation benchmarks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355080" y="5166360"/>
            <a:ext cx="534924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6446520" y="5221224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46520" y="5221224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THEORY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26679" y="5166360"/>
            <a:ext cx="3931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Maister, Green &amp; Galford — The Trusted Advisor (2000)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355080" y="5513832"/>
            <a:ext cx="5349240" cy="329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6446520" y="5568696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46520" y="5568696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THEORY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26679" y="5513832"/>
            <a:ext cx="3931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Nir Eyal — Hooked (2014)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355080" y="5861304"/>
            <a:ext cx="534924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6446520" y="5916168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46520" y="5916168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THEORY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726679" y="5861304"/>
            <a:ext cx="3931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Eric Ries — The Lean Startup (2011)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355080" y="6208776"/>
            <a:ext cx="5349240" cy="329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6446520" y="6263640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46520" y="6263640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UNIT ECON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726679" y="6208776"/>
            <a:ext cx="3931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Sequoia India Subscription Unit Economics Guide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2A1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640080" cy="54864"/>
          </a:xfrm>
          <a:prstGeom prst="rect">
            <a:avLst/>
          </a:prstGeom>
          <a:solidFill>
            <a:srgbClr val="E0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0A03A"/>
                </a:solidFill>
                <a:latin typeface="Calibri"/>
              </a:rPr>
              <a:t>THE BIG BET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4206240" cy="3474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Fix the funnel</a:t>
            </a:r>
          </a:p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before you scale it.</a:t>
            </a:r>
          </a:p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Deepen monetization</a:t>
            </a:r>
          </a:p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before you buy traffic.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420624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1">
                <a:solidFill>
                  <a:srgbClr val="FFF4DE"/>
                </a:solidFill>
                <a:latin typeface="Calibri"/>
              </a:rPr>
              <a:t>Most spiritual subs die buying ads into broken funnels. We will not. The 90-day plan is sequenced so the first ₹0 of new spend earns the right to the next ₹1 of paid acquisition.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502920"/>
            <a:ext cx="65836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WHAT WE WILL HAVE BY MONTH 3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1005840"/>
            <a:ext cx="64008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00584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1A0F"/>
                </a:solidFill>
                <a:latin typeface="Calibri"/>
              </a:rPr>
              <a:t>FUNNEL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005840"/>
            <a:ext cx="45720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1A0F"/>
                </a:solidFill>
                <a:latin typeface="Calibri"/>
              </a:rPr>
              <a:t>Homepage→Trial above 8% (vs 2.21% today)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94960" y="1600200"/>
            <a:ext cx="6492240" cy="0"/>
          </a:xfrm>
          <a:prstGeom prst="line">
            <a:avLst/>
          </a:prstGeom>
          <a:ln w="508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394960" y="1691640"/>
            <a:ext cx="64008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169164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1A0F"/>
                </a:solidFill>
                <a:latin typeface="Calibri"/>
              </a:rPr>
              <a:t>AUDIENCE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691640"/>
            <a:ext cx="45720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1A0F"/>
                </a:solidFill>
                <a:latin typeface="Calibri"/>
              </a:rPr>
              <a:t>800+ active paying subscribers (vs 116)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94960" y="2286000"/>
            <a:ext cx="6492240" cy="0"/>
          </a:xfrm>
          <a:prstGeom prst="line">
            <a:avLst/>
          </a:prstGeom>
          <a:ln w="508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394960" y="2377440"/>
            <a:ext cx="64008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237744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1A0F"/>
                </a:solidFill>
                <a:latin typeface="Calibri"/>
              </a:rPr>
              <a:t>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377440"/>
            <a:ext cx="45720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1A0F"/>
                </a:solidFill>
                <a:latin typeface="Calibri"/>
              </a:rPr>
              <a:t>₹1L+ blended MRR — 11× current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94960" y="2971800"/>
            <a:ext cx="6492240" cy="0"/>
          </a:xfrm>
          <a:prstGeom prst="line">
            <a:avLst/>
          </a:prstGeom>
          <a:ln w="508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394960" y="3063240"/>
            <a:ext cx="64008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306324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1A0F"/>
                </a:solidFill>
                <a:latin typeface="Calibri"/>
              </a:rPr>
              <a:t>STREAMS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063240"/>
            <a:ext cx="45720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1A0F"/>
                </a:solidFill>
                <a:latin typeface="Calibri"/>
              </a:rPr>
              <a:t>7 of 10 streams live · ₹50K+ from non-₹79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394960" y="3657600"/>
            <a:ext cx="6492240" cy="0"/>
          </a:xfrm>
          <a:prstGeom prst="line">
            <a:avLst/>
          </a:prstGeom>
          <a:ln w="508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394960" y="3749040"/>
            <a:ext cx="64008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374904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1A0F"/>
                </a:solidFill>
                <a:latin typeface="Calibri"/>
              </a:rPr>
              <a:t>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3749040"/>
            <a:ext cx="45720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1A0F"/>
                </a:solidFill>
                <a:latin typeface="Calibri"/>
              </a:rPr>
              <a:t>3 corp pilots · paid ads ROAS-positive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394960" y="4343400"/>
            <a:ext cx="6492240" cy="0"/>
          </a:xfrm>
          <a:prstGeom prst="line">
            <a:avLst/>
          </a:prstGeom>
          <a:ln w="508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394960" y="4434840"/>
            <a:ext cx="64008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7840" y="443484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1A0F"/>
                </a:solidFill>
                <a:latin typeface="Calibri"/>
              </a:rPr>
              <a:t>BRAND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4434840"/>
            <a:ext cx="45720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1A0F"/>
                </a:solidFill>
                <a:latin typeface="Calibri"/>
              </a:rPr>
              <a:t>200K+ Instagram · first PR mention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394960" y="5029200"/>
            <a:ext cx="6492240" cy="0"/>
          </a:xfrm>
          <a:prstGeom prst="line">
            <a:avLst/>
          </a:prstGeom>
          <a:ln w="508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349240" y="5349240"/>
            <a:ext cx="6675120" cy="123444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0" y="5440680"/>
            <a:ext cx="64922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FROM THE GITA · CHAPTER 2, VERSE 47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5715000"/>
            <a:ext cx="64922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1">
                <a:solidFill>
                  <a:srgbClr val="2A1A0F"/>
                </a:solidFill>
                <a:latin typeface="Calibri"/>
              </a:rPr>
              <a:t>"You have a right to perform your prescribed duty, but not to the fruits of action."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217920"/>
            <a:ext cx="64922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7A6555"/>
                </a:solidFill>
                <a:latin typeface="Calibri"/>
              </a:rPr>
              <a:t>Operating principle: ship the funnel; the MRR will follow.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6583680"/>
            <a:ext cx="6675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7A6555"/>
                </a:solidFill>
                <a:latin typeface="Calibri"/>
              </a:rPr>
              <a:t>Bhagavad Gita Daily · Strategy Deck v5.0 ·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583680"/>
            <a:ext cx="4114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E0A03A"/>
                </a:solidFill>
                <a:latin typeface="Calibri"/>
              </a:rPr>
              <a:t>DIVYAMAN PAL · IIT KANPUR · divyamp23@iitk.ac.in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