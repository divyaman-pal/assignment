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858000" y="0"/>
            <a:ext cx="5349240" cy="6858000"/>
          </a:xfrm>
          <a:prstGeom prst="rtTriangle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7772400" y="0"/>
            <a:ext cx="4434840" cy="6858000"/>
          </a:xfrm>
          <a:prstGeom prst="rtTriangle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"/>
            <a:ext cx="64008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65760"/>
            <a:ext cx="1645920" cy="777240"/>
          </a:xfrm>
          <a:prstGeom prst="roundRect">
            <a:avLst>
              <a:gd name="adj" fmla="val 18000"/>
            </a:avLst>
          </a:prstGeom>
          <a:solidFill>
            <a:srgbClr val="4A2418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1645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IIT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"/>
            <a:ext cx="1920240" cy="777240"/>
          </a:xfrm>
          <a:prstGeom prst="roundRect">
            <a:avLst>
              <a:gd name="adj" fmla="val 18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"/>
            <a:ext cx="1920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GLIDO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5760"/>
            <a:ext cx="2103120" cy="777240"/>
          </a:xfrm>
          <a:prstGeom prst="roundRect">
            <a:avLst>
              <a:gd name="adj" fmla="val 18000"/>
            </a:avLst>
          </a:prstGeom>
          <a:solidFill>
            <a:srgbClr val="E89B47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65760"/>
            <a:ext cx="21031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FOUNDER'S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691640"/>
            <a:ext cx="7315200" cy="2697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STRATEGY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7040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BHAGAVAD GITA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70408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828800"/>
            <a:ext cx="3200400" cy="32004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 i="0">
                <a:solidFill>
                  <a:srgbClr val="B55512"/>
                </a:solidFill>
                <a:latin typeface="Calibri"/>
              </a:rPr>
              <a:t>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663440"/>
            <a:ext cx="7315200" cy="1920240"/>
          </a:xfrm>
          <a:prstGeom prst="roundRect">
            <a:avLst>
              <a:gd name="adj" fmla="val 4000"/>
            </a:avLst>
          </a:prstGeom>
          <a:solidFill>
            <a:srgbClr val="E89B47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73152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57784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B.Tech, Civil Engineering · Indian Institute of Technology Kanpur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9893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divyamp23@iitk.ac.in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4747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Funnel + monetization-depth problem.</a:t>
            </a:r>
          </a:p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2A1A0F"/>
                </a:solidFill>
                <a:latin typeface="Calibri"/>
              </a:rPr>
              <a:t>4 areas. 10 revenue streams. 11× MRR in 90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11× MRR in 90 days — fix 3 funnel leaks at ₹0 spend, then deepen to a 10-stream India-grounded revenue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 ·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55512"/>
                </a:solidFill>
                <a:latin typeface="Calibri"/>
              </a:rPr>
              <a:t>What we have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192K Instagram · 2,227 posts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5,239 monthly homepage sessions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₹79/mo SKU · 116 active 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MRR ₹9.2K · 71% trial→paid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PMF proven; ceiling = ₹79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PMF + BROKEN FUNNEL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16298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6298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6298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 · COMPLICATION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B02C2C"/>
                </a:solidFill>
                <a:latin typeface="Calibri"/>
              </a:rPr>
              <a:t>Why growth has stalled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Homepage→Form: −81.8% (−4,287)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Signup→Trial: −67.4% (₹5 UPI gate)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Trial→Paid: 71% (Day-3 surprise)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29% churn · single ₹79 SKU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Free IG = paid product (no gap)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9178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178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4 STRUCTURAL LEAKS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8276" y="100584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8276" y="100584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8276" y="1005840"/>
            <a:ext cx="37590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 ·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156" y="150876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057A55"/>
                </a:solidFill>
                <a:latin typeface="Calibri"/>
              </a:rPr>
              <a:t>4-area sequenced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182880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L1 · Seal funnel (homepage + UPI + Day-3)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L2 · 2-3 → 20-30 trials/day in 13 wks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L3 · Value-gap content + 5 campaigns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L4 · 10-stream stack + festival economy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2A1A0F"/>
                </a:solidFill>
                <a:latin typeface="Calibri"/>
              </a:rPr>
              <a:t>•  Target ₹1L MRR M3, ₹3.5L M12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1156" y="3246120"/>
            <a:ext cx="3393338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1156" y="3246120"/>
            <a:ext cx="339333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ZERO-SPEND FIRST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749039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822191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FUNNEL — WHERE 192K BECOMES 116</a:t>
            </a:r>
          </a:p>
        </p:txBody>
      </p:sp>
      <p:pic>
        <p:nvPicPr>
          <p:cNvPr id="42" name="Picture 41" descr="funnel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6492240" cy="187451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178040" y="3749039"/>
            <a:ext cx="475488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822191"/>
            <a:ext cx="4754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THE PRIZE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55512"/>
                </a:solidFill>
                <a:latin typeface="Calibri"/>
              </a:rPr>
              <a:t>11×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uplift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42062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4206240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B7F"/>
                </a:solidFill>
                <a:latin typeface="Calibri"/>
              </a:rPr>
              <a:t>₹1L+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4206240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7A55"/>
                </a:solidFill>
                <a:latin typeface="Calibri"/>
              </a:rPr>
              <a:t>₹3.5L+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MRR by Month 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4818888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4818888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8AA3"/>
                </a:solidFill>
                <a:latin typeface="Calibri"/>
              </a:rPr>
              <a:t>85.5%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4818888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 / sub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2D8A"/>
                </a:solidFill>
                <a:latin typeface="Calibri"/>
              </a:rPr>
              <a:t>7.9×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 at 8% churn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46920" y="5431536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60" y="5431536"/>
            <a:ext cx="777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M5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5431536"/>
            <a:ext cx="1325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EBITDA breakeven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assignment brief (May 2025) | IMARC India Subscription Apps 2024 | Razorpay UPI mandate UX | Team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Macro tailwinds align (PESTLE) but rivalry is fierce (Porter) — defensibility comes from habit + India-vernacular IP + offline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PESTLE · INDIA-SPECIFIC MACRO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POLITICAL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Hindutva-friendly govt — religious tax-exempt 80G/12A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Cultural revival policy push (Sanskrit Bharati)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Ayodhya, Kashi corridors → spiritual tourism boom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Corporate wellness ₹4,000 Cr · 15% CAGR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Indian wedding industry ₹3.7T · gifting underserved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Tier 2/3 disposable income +18% YoY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13258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13258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13258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6459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Multi-gen households · grandparent-child Gita ritual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Tier 2/3 spiritual revival (post-COVID)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Festival economy 9 mega-events Aug-Nov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TECHNOLOGICAL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850M smartphones · UPI 12B txns/mo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WhatsApp 535M users · Hindi internet boom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Vernacular content 6× growth (RedSeer 2024)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97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RBI UPI auto-mandate rules (₹15K cap)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Religious Endowments Act limits B2T temple deals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Consumer Protection Act 2019 — refund clarity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2926080"/>
            <a:ext cx="21945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83480" y="29260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29260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246120"/>
            <a:ext cx="201168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Zero physical footprint · WhatsApp delivery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Brand halo from "sustainable digital sadhana"</a:t>
            </a:r>
          </a:p>
          <a:p>
            <a:pPr algn="l">
              <a:lnSpc>
                <a:spcPct val="13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Carbon-light gifting alternative to physical poojas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868680"/>
            <a:ext cx="46634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96012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PORTER'S 5 FORCES · INDUSTRY STRUCTURE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325880"/>
            <a:ext cx="4389120" cy="59436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524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79" y="1371600"/>
            <a:ext cx="21945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✺  INDUSTRY RIVALRY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1371600"/>
            <a:ext cx="777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1371600"/>
            <a:ext cx="13258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Fragmented · Sadhguru</a:t>
            </a:r>
          </a:p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E0A03A"/>
                </a:solidFill>
                <a:latin typeface="Calibri"/>
              </a:rPr>
              <a:t>/ Calm dominate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205740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06640" y="2057400"/>
            <a:ext cx="73152" cy="77724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2" y="211226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⬆ NEW ENTRANTS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55480" y="214884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5480" y="21488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1232" y="246888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Any IG page can launch · low barrier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288036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06640" y="2880360"/>
            <a:ext cx="73152" cy="77724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1232" y="293522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⬅ BUYER POWER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55480" y="297180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29718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71232" y="329184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Low ARPU but ritual = high switching cost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06640" y="370332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06640" y="3703320"/>
            <a:ext cx="73152" cy="7772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232" y="375818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⮕ SUPPLIER POWER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55480" y="379476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55480" y="379476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71232" y="41148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Content public domain · no exclusivity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06640" y="452628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06640" y="4526280"/>
            <a:ext cx="73152" cy="77724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71232" y="45811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⬇ SUBSTITUTES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55480" y="461772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46177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71232" y="493776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Free YT/IG · ChatGPT · Sadhguru · Calm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06640" y="534924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06640" y="5349240"/>
            <a:ext cx="73152" cy="77724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71232" y="540410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✦ TEMPLE / OFFLINE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555480" y="54406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55480" y="544068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71232" y="576072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Underused · structural moat for India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74320" y="6355080"/>
            <a:ext cx="11643055" cy="36576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355080"/>
            <a:ext cx="1146017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VERDICT  ·  Niche white-space exists. Defensibility built through habit ritualization + vernacular IP + offline temple/yatra distribution where global apps cannot follow.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PESTLE: TRAI 2024, RBI UPI data, RedSeer 2024 | Porter (1979) — Competitive Strategy | Glido Labs case | Team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Hindi-first, mobile-first, festival-driven, UPI-skeptical — every product, channel, pricing decision flows from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3840480" cy="5440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10058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2A1A0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1188720"/>
            <a:ext cx="1828800" cy="1828800"/>
          </a:xfrm>
          <a:prstGeom prst="ellipse">
            <a:avLst/>
          </a:prstGeom>
          <a:solidFill>
            <a:srgbClr val="B55512"/>
          </a:solidFill>
          <a:ln w="254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1188720"/>
            <a:ext cx="18288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E0A03A"/>
                </a:solidFill>
                <a:latin typeface="Calibri"/>
              </a:rPr>
              <a:t>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24612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55512"/>
                </a:solidFill>
                <a:latin typeface="Calibri"/>
              </a:rPr>
              <a:t>THE MODERN INDIAN SEEKER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703320"/>
            <a:ext cx="54864" cy="32918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0332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70332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32–55 · median 38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05079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050792"/>
            <a:ext cx="54864" cy="32918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5079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07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Tier 1 + 2 · Hindi belt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398264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398264"/>
            <a:ext cx="54864" cy="32918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98264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398264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Hindi-first / bilingual (87%)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745736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745736"/>
            <a:ext cx="54864" cy="32918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45736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INCOME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745736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₹6–25L p.a. · middle class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93208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093208"/>
            <a:ext cx="54864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93208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DEVICE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093208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Mobile-first (95%+)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40680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440680"/>
            <a:ext cx="54864" cy="32918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440680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PAYMENT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5440680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UPI native, mandate-skeptical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788152"/>
            <a:ext cx="3566160" cy="32918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788152"/>
            <a:ext cx="54864" cy="32918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788152"/>
            <a:ext cx="1097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1640" y="578815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· WhatsApp forwards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51960" y="868680"/>
            <a:ext cx="768096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960120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JTBD × ANXIETY × PAY-TRIGGER × STAY-TRIGGER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3484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JOBS-TO-BE-DONE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Sense-make life events through tradition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Feel connected to something larger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Pass wisdom to kids and parents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80" y="1371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83880" y="137160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83880" y="137160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ANXIETIES (KILL CONVERSION)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169164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₹5 mandate — "will they keep deducting?"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UPI auto-pay distrust in tier 2/3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"Just another reels page?"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Forgotten signup → angry chargebacks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3484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PAY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Sample message that feels personal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Friend forwarded on WhatsApp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Real face / scholar attached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Festival or life-event trigger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80" y="28803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83880" y="2880360"/>
            <a:ext cx="3657600" cy="274320"/>
          </a:xfrm>
          <a:prstGeom prst="roundRect">
            <a:avLst>
              <a:gd name="adj" fmla="val 3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80" y="288036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WHAT MAKES THEM STAY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320040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Same time every morning, no fail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Verse "happens to" speak to today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Felt sense of teacher, not bot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•  Community of fellow seekers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51960" y="4617720"/>
            <a:ext cx="768096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1960" y="4690872"/>
            <a:ext cx="7680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DEMOGRAPHICS · AGE × CITY-TIER × LANGUAGE</a:t>
            </a:r>
          </a:p>
        </p:txBody>
      </p:sp>
      <p:pic>
        <p:nvPicPr>
          <p:cNvPr id="72" name="Picture 71" descr="person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983480"/>
            <a:ext cx="7315200" cy="12801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follower analytics + LocalCircles 2024 (Hindi spiritual content) + RedSeer Spiritual &amp; Wellness 2024 + Team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Horizon 1 funds Horizon 2 funds Horizon 3 — Ansoff matrix shows where each new revenue stream 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MCKINSEY 3 HORIZONS OF GROWTH — OVERLAPPING S-CURVES, SEQUENCED CAPITAL</a:t>
            </a:r>
          </a:p>
        </p:txBody>
      </p:sp>
      <p:pic>
        <p:nvPicPr>
          <p:cNvPr id="21" name="Picture 20" descr="horizons_mount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22402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412480" y="1280160"/>
            <a:ext cx="35204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280160"/>
            <a:ext cx="54864" cy="713232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335024"/>
            <a:ext cx="21031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H1 · DEFEND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64240" y="1335024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0" y="1335024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70%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645920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Funnel fix · UPI · Day-3 arc · ₹1L MRR @ M3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2029968"/>
            <a:ext cx="35204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2029968"/>
            <a:ext cx="54864" cy="713232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084832"/>
            <a:ext cx="21031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H2 · EMERGING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064240" y="2084832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2084832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20% 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395728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Annual · PDF · Premium · Festival · B2B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2779776"/>
            <a:ext cx="35204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12480" y="2779776"/>
            <a:ext cx="54864" cy="713232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834640"/>
            <a:ext cx="21031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H3 · FUTURE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64240" y="283464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0" y="283464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10% CAPITAL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145536"/>
            <a:ext cx="3246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Audio · Kids · Family · NRI · Regional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3657600"/>
            <a:ext cx="11643055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749039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ANSOFF GROWTH MATRIX — WHERE EACH NEW REVENUE STREAM SITS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160520"/>
            <a:ext cx="68580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MARKET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→</a:t>
            </a:r>
          </a:p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7A6555"/>
                </a:solidFill>
                <a:latin typeface="Calibri"/>
              </a:rP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950208"/>
            <a:ext cx="53492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EXISTING PRODUCT             NEW PRODUCT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950208"/>
            <a:ext cx="5440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← EXISTING PRODUCT             NEW PRODUCT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4160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" y="4160520"/>
            <a:ext cx="54864" cy="9601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419709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MARKET PENETRATION  ·  EXISTING MARKET × EXISTING PRODUCT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440740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Convert more of 192K IG followers (DM auto · viral loops)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OFFLINE: temple QR, yatra groups, mahila mandal, RWA boards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Recharge vouchers at panwala / corner store · cash-on-trial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4160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4160520"/>
            <a:ext cx="54864" cy="96012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419709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PRODUCT DEVELOPMENT  ·  EXISTING MARKET × NEW PRODUCT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40740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Annual ₹699 · PDF guides · Premium ₹199 community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Audio Gita ₹49 (Bharat tier 3 · senior-friendly)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108-card physical deck · Festival bundles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51663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05840" y="5166360"/>
            <a:ext cx="54864" cy="96012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520293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MARKET DEVELOPMENT  ·  NEW MARKET × EXISTING PRODUCT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541324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B2B corporate Gita (BFSI, FMCG, IT, manufacturing)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NRI users (US/UK/UAE diaspora · ₹999 USD pricing)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Regional languages: Tamil, Telugu, Marathi, Bengali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51663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5166360"/>
            <a:ext cx="54864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202936"/>
            <a:ext cx="5074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DIVERSIFICATION  ·  NEW MARKET × NEW PRODUCT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5413248"/>
            <a:ext cx="50749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Kids' Gita app (8-14 yrs · parents buy)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Wedding pack ₹999 · Annaprashan/Mundan ceremony gifts</a:t>
            </a:r>
          </a:p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•  Pilgrimage tour audio guides · Spiritual events ₹4-19K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McKinsey Quarterly — Enduring Ideas: 3 Horizons of Growth (Baghai/Coley/White, 2009) | Ansoff (1957) | Glido Labs portfolio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3 leaks own 99% of lost users — sequenced fixes recover 30-40% lift in 30 days at ₹0 ad-spend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STAGE-BY-STAGE FUNNEL DIAGNOSTIC · ACTUAL VS 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71600"/>
            <a:ext cx="11368735" cy="292608"/>
          </a:xfrm>
          <a:prstGeom prst="rect">
            <a:avLst/>
          </a:prstGeom>
          <a:solidFill>
            <a:srgbClr val="B55512"/>
          </a:solidFill>
          <a:ln w="9525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7160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137160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TODAY (DATA)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37160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37160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137160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ABS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37160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64208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66420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Instagram → Homepage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66420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192,000 → 5,239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6420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2.7%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166420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5–8%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66420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−186,761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66420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OPPORTUNITY · DM auto + Reels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956816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956816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Form-page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1956816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5,239 → 952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956816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18.2%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1956816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35–45%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1956816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−4,287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956816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ABS LEAK · homepage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249424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249424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Form-page → Signup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2249424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952 → 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224942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52.5%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249424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60–70%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2249424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249424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MINOR · form length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2542032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542032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Signup → Trial start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2542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500 → 163 (₹5 UPI gate)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2542032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32.6%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2542032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70–85%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42032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−337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2542032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B02C2C"/>
                </a:solidFill>
                <a:latin typeface="Calibri"/>
              </a:rPr>
              <a:t>BIGGEST % LEAK · UPI fear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834640"/>
            <a:ext cx="11368735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2834640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2834640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163 → 116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834640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2834640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85–92%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2834640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2834640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Day-3 transparency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127248"/>
            <a:ext cx="11368735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127248"/>
            <a:ext cx="2194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Paid → Retained (30D)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1760" y="3127248"/>
            <a:ext cx="2011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116 active / 47 churned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3127248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71.2%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9320" y="3127248"/>
            <a:ext cx="13258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57A55"/>
                </a:solidFill>
                <a:latin typeface="Calibri"/>
              </a:rPr>
              <a:t>88–94%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0920" y="3127248"/>
            <a:ext cx="1417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−47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3127248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FIXABLE · re-engage WhatsApp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74320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HOMEPAGE → FORM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Multi-purpose page · 4 CTAs · scroll 51.95% · LCP 3.9s · form below fold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Single-purpose LP · benefit-first hero · form above fold · WA preview · LCP &lt;2.5s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18% → 30%+ · ~1,300 users/mo recovered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16298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216298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16298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84978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SIGNUP → TRIAL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399178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90618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90618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 UPI mandate fear in tier 2/3 · no Hindi explainer · auto-deduct anxiety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99178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90618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90618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Hindi mandate explainer + WhatsApp Pay + cash-on-trial + voucher option for 50+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99178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0618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90618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32.6% → 60%+ · removing mandate → 75%+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58276" y="3383280"/>
            <a:ext cx="3759098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158276" y="3383280"/>
            <a:ext cx="3759098" cy="411480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58276" y="3383280"/>
            <a:ext cx="9144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FIX 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26956" y="3383280"/>
            <a:ext cx="284469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TRIAL → PAID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41156" y="3886200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32596" y="3931920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ROOT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32596" y="4114800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Day-3 charge surprise · 47/163 cancel · &lt;3 days to feel value · no transparency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341156" y="4599432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32596" y="4645152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FIX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32596" y="4828032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WhatsApp arc: welcome → preview → pre-charge · T+48h re-engage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341156" y="5312664"/>
            <a:ext cx="3393338" cy="658368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32596" y="5358384"/>
            <a:ext cx="321045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LIFT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32596" y="5541264"/>
            <a:ext cx="3210458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71.2% → 88%+ · 15-20% reactivation of 47 churns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data: 5,239 sessions, 952 form views, 500 signups, 163 trial starts, 116 paid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1 · Homepage misses every Core Web Vital + every conversion principle — 8 fixes drive the ₹0 spend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8521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PERFORMANCE &amp; ENGAGEMENT — TODAY VS TARGET</a:t>
            </a:r>
          </a:p>
        </p:txBody>
      </p:sp>
      <p:pic>
        <p:nvPicPr>
          <p:cNvPr id="21" name="Picture 20" descr="homepage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577840" cy="1920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63640" y="868680"/>
            <a:ext cx="566928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96012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SPECIFIC ISSUES IN THE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2588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32588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32588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LCP 3.9s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132588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2.5s · −7-10% conversion / sec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58191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8191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58191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INP 260ms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58191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vs &lt;200ms · laggy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83794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83794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83794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Scroll 51.95%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83794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below fold · most never see CTA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093976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093976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093976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Active time 45s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093976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insufficient for 4 competing CTAs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350008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350008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350008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 JS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350008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1.86% sessions · "undefined is not an object"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606040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606040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2606040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4 competing CTAs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06040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Subscribe / Chapters / Teachings / Learning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862072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2862072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2862072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Social-proof conflict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62072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"4,000+" vs "12,000+" same page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3118104"/>
            <a:ext cx="5394960" cy="237744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118104"/>
            <a:ext cx="54864" cy="23774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118104"/>
            <a:ext cx="201168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Generic hero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118104"/>
            <a:ext cx="320040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"Ancient Wisdom, Timeless Truth" → nothing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" y="3429000"/>
            <a:ext cx="58521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520440"/>
            <a:ext cx="5852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8 HOMEPAGE FIXES — RANKED BY IMPACT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" y="39319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" y="39684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9684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39319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form ABOVE fold (mobile-first)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39319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+30% reach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42062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7200" y="42428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2428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42062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Replace hero with benefit-first promise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0" y="42062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+15% relevance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44805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7200" y="45171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171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44805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Kill 3 CTAs · keep ONLY Subscribe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7720" y="44805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+18% focus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475488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7200" y="479145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79145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" y="475488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Show real WA mock next to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0" y="475488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+12% trust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502920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57200" y="506577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0657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502920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Reconcile social proof · ONE number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0" y="502920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+8% credibility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1480" y="530352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57200" y="534009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34009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" y="530352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Compress hero · LCP &lt;2.5s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530352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+7-10%/sec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" y="557784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561441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557784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Resolve "undefined" JS error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0" y="557784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+1.86% recovery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5852160"/>
            <a:ext cx="5577840" cy="256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57200" y="5888736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88873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1560" y="5852160"/>
            <a:ext cx="3520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Move Gita resources POST-subscribe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17720" y="5852160"/>
            <a:ext cx="12801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stops free leak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63640" y="3429000"/>
            <a:ext cx="56692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3520440"/>
            <a:ext cx="5669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DAY 1/2/3 TRIAL ACTIVATION ARC · WHATSAPP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0800" y="3931920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00800" y="393192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37960" y="3931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T = 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93192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Sign-up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95360" y="393192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Gita journey starts tomorrow at 8 AM 🙏"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4361688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400800" y="4361688"/>
            <a:ext cx="54864" cy="41148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37960" y="436168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DAY 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60920" y="4361688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95360" y="4361688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shlok + permission. "3 days, completely free."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0" y="4791456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0" y="47914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37960" y="479145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DAY 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60920" y="4791456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8 AM + 7 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95360" y="4791456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Shlok + evening preview of next 5 verses. Annual teaser.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00800" y="5221224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00800" y="5221224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37960" y="522122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DAY 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221224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Pre-charge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95360" y="5221224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"Trial ends today. ₹79 will be charged. Reply STOP to cancel."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0" y="5650992"/>
            <a:ext cx="539496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00800" y="5650992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37960" y="56509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T+48H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60920" y="5650992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Cancel re-engage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95360" y="5650992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"Your spot is still here." → 15-20% reactivation.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analytics (LCP 3.9s, INP 260ms, scroll 51.95%, JS 1.86%) | Google Web Vitals | Nielsen Norman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2-3 → 20-30 trials/day in 13 weeks via 5 sequenced channels — 80% organic; paid is the LAST lever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8580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TRIAL RAMP — WK0 → WK13 BY CHANNEL ACTIVATION</a:t>
            </a:r>
          </a:p>
        </p:txBody>
      </p:sp>
      <p:pic>
        <p:nvPicPr>
          <p:cNvPr id="21" name="Picture 20" descr="trial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583680" cy="23317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269480" y="868680"/>
            <a:ext cx="466344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960120"/>
            <a:ext cx="46634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PER-SUB UNIT ECONOMICS · Y1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37160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37160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137160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65963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65963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Annual blend (avg)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65963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₹823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94767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94767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94767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2235708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2235708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23570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2523744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2523744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Payback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52374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1.6 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811780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281178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8% churn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81178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3099816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099816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981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7.9×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387852"/>
            <a:ext cx="4389120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3387852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3878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₹671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3840480"/>
            <a:ext cx="777240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931920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5-CHANNEL ACQUISITION MATRIX · TARGET BLENDED CAC &lt; ₹150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297680"/>
            <a:ext cx="7498079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9768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29768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MECHANISM (INDIA-GROUNDED)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29768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29768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TRIALS/DAY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608576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608576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DM AUTO (IG)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4608576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"GITA" trigger → auto-DM form link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608576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608576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8-10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919472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919472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DAILY REELS+SHORTS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4919472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1/day on "Gita for [anxiety/exam/heartbreak]"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6440" y="4919472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4919472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5-7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230368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230368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MICRO-CREATOR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68880" y="5230368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20-30 spiritual creators × 30-day free trial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5230368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15%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230368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4-6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541264"/>
            <a:ext cx="7498079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541264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WHATSAPP FORWARD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68880" y="5541264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Daily msg ends "Forward to someone 🙏"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5541264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541264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3-4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852160"/>
            <a:ext cx="7498079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852160"/>
            <a:ext cx="20116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META CTWA (M3+)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5852160"/>
            <a:ext cx="3337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Click-to-WhatsApp ads · lookalike of paid base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852160"/>
            <a:ext cx="7315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80%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₹150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5852160"/>
            <a:ext cx="7772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2-3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83879" y="3840480"/>
            <a:ext cx="3749039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3879" y="393192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VIRAL LOOPS · TARGET K &gt; 1.2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1040" y="429768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4297680"/>
            <a:ext cx="54864" cy="5943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58200" y="434340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WA FORWARD LOOP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454456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116 active × 28 msg = 3,248 forward-touches/mo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21040" y="493776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21040" y="4937760"/>
            <a:ext cx="54864" cy="5943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58200" y="498348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CREATOR BORROW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8200" y="518464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 quality collab → 500-1,000 trials @ ₹0 CAC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321040" y="5577840"/>
            <a:ext cx="3520440" cy="594360"/>
          </a:xfrm>
          <a:prstGeom prst="roundRect">
            <a:avLst>
              <a:gd name="adj" fmla="val 8000"/>
            </a:avLst>
          </a:prstGeom>
          <a:solidFill>
            <a:srgbClr val="FAE0B6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21040" y="5577840"/>
            <a:ext cx="54864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58200" y="5623560"/>
            <a:ext cx="33375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FAMILY-PACK SHARE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58200" y="5824728"/>
            <a:ext cx="3337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₹149 covers 5 phones · built-in WoM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ManyChat IG conversion (2024) | Meta India CTWA benchmarks | Sequoia India Subscription Unit Economics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India runs on offline trust — temple, yatra, pandit, RWA networks reach the older 60% no Reels can touch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315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9-CHANNEL OFFLINE ACQUISITION GRID  ·  TIER 2/3 + 50+ AGE FOCUS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7160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1371600"/>
            <a:ext cx="54864" cy="50292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149047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49047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40817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TEMPLE QR PARTNERSHIPS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161848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Tirupati (1Cr+ visitors/yr), Vaishno Devi, Shirdi, ISKCON 50+ centres, Char Dham. QR poster + sample sevak. Revenue-share model.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92024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1920240"/>
            <a:ext cx="54864" cy="5029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203911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03911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195681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YATRA TOUR-GROUP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16712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Char Dham, Vrindavan, Mathura, Kashi tour operators (₹50/sub commission). Bus-loudspeaker scripts + free-trial leaflets.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46888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2468880"/>
            <a:ext cx="54864" cy="50292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58775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8775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250545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PANDIT / BRAHMIN ROSTER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271576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Onboard 5,000 pandits across India · ₹50/sub commission · Trust-multiplier (pandit-as-recommender). WhatsApp dashboard.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01752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3017520"/>
            <a:ext cx="54864" cy="50292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313639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E8AA3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13639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05409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BHAJAN MANDALI / KIRTAN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326440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Sunday neighbourhood bhajan groups · ladies' kitty parties · senior society morning walks. Sample message + voucher distribution.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56616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3566160"/>
            <a:ext cx="54864" cy="5029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368503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68503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360273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RWA + SENIOR LIVING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381304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Tier 1/2 RWAs (5,000+ communities) · Avadh, Antara, Athulya retirement homes · cooperative society notice boards.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11480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4114800"/>
            <a:ext cx="54864" cy="50292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423367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23367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415137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RELIGIOUS TV + RADIO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436168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Aastha TV, Sanskar TV, Sadhna · Vividh Bharati FM · Radio Mirchi religious slots · sponsor 'Aaj ka Shlok' segment.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466344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4663440"/>
            <a:ext cx="54864" cy="502920"/>
          </a:xfrm>
          <a:prstGeom prst="rect">
            <a:avLst/>
          </a:prstGeom>
          <a:solidFill>
            <a:srgbClr val="D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478231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8231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470001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6B1E"/>
                </a:solidFill>
                <a:latin typeface="Calibri"/>
              </a:rPr>
              <a:t>NEWSPAPER COLUMNS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491032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Dainik Jagran 'Aaj ka Vichar', Amar Ujala 'Dharm', Hindustan 'Adhyatm' — paid columns + free-trial QR strip.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21208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480" y="5212080"/>
            <a:ext cx="54864" cy="502920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2920" y="533095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33095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24865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89B47"/>
                </a:solidFill>
                <a:latin typeface="Calibri"/>
              </a:rPr>
              <a:t>NEWSPAPER-BOY / DOODHWALA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45896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Morning delivery network in tier 2/3 · pamphlet-with-QR insert · ₹2/sub kickback. Reaches 50+ males who don't use IG.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760720"/>
            <a:ext cx="70866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760720"/>
            <a:ext cx="54864" cy="50292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02920" y="5879592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879592"/>
            <a:ext cx="4114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5797296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WEDDING / FUNERAL TIE-UPS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6007608"/>
            <a:ext cx="640080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Banquet hall + funeral service partners · 'Gita on Marriage' &amp; 'Gita on Grief' bundles · 5,000+ event bookings/yr nationally.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26679" y="868680"/>
            <a:ext cx="4206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26679" y="96012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EASY PAYMENT + SENIOR-FRIENDLY UX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63840" y="1371600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63840" y="1371600"/>
            <a:ext cx="54864" cy="56692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73568" y="141732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CASH-ON-TRIAL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73568" y="1618488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Pay ₹79 after 7 days (newspaper-vendor model). Removes UPI fear entirely.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1975104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863840" y="1975104"/>
            <a:ext cx="54864" cy="566928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973568" y="2020824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RECHARGE VOUCHERS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73568" y="222199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Buy ₹99/₹699 voucher at panwala/corner store. Scratch-and-redeem on WA. Like phone recharge.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0" y="2578608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63840" y="2578608"/>
            <a:ext cx="54864" cy="566928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73568" y="2624328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FAMILY-PAY UPI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73568" y="2825496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Kids/grandkids pay from their UPI for parents' subscription. Most natural India behavior.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182112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63840" y="3182112"/>
            <a:ext cx="54864" cy="566928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73568" y="3227832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WHATSAPP PAY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73568" y="342900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Pay (no auto-mandate) — 100M+ Indians active. Simpler than separate UPI app.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863840" y="3785616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63840" y="3785616"/>
            <a:ext cx="54864" cy="566928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73568" y="3831336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VOICE-CALL IVR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73568" y="4032504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Hindi-only call-to-subscribe. Toll-free 1800. For users who can't read forms.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863840" y="4389120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863840" y="4389120"/>
            <a:ext cx="54864" cy="566928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73568" y="4434840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PENSION-DAY DEBIT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73568" y="4636008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Auto-debit on 5th of month (when pension hits) — aligns with cash flow rhythm.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63840" y="4992624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63840" y="4992624"/>
            <a:ext cx="54864" cy="566928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73568" y="5038344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89B47"/>
                </a:solidFill>
                <a:latin typeface="Calibri"/>
              </a:rPr>
              <a:t>POSTAL MONEY ORDER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73568" y="5239512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₹699/yr by postal MO — RBI-trusted by 65+ users. Slow but converts.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863840" y="5596128"/>
            <a:ext cx="3931920" cy="56692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63840" y="5596128"/>
            <a:ext cx="54864" cy="566928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73568" y="5641848"/>
            <a:ext cx="374903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02C2C"/>
                </a:solidFill>
                <a:latin typeface="Calibri"/>
              </a:rPr>
              <a:t>LARGE-FONT + VOICE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73568" y="5843016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template: 24pt font, voice OTP, slow Hindi audio. Senior-first design.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Tirupati TTD 2024 footfall data | TRAI tier 2/3 internet 2024 | RBI pension-day cycle data | India Post UPI substitutes 2023 | Team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2 · 10 weekly + 8 monthly metrics across 4 categories — every decision tied to one number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56692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5669280" cy="365760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868680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WEEKLY KPIS · TRACK EVERY MONDAY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371600"/>
            <a:ext cx="539496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371600"/>
            <a:ext cx="731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371600"/>
            <a:ext cx="2423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3716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645920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64592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4592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Homepage → Form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164592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64592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020824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02082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202082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Signup → Trial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02082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32.6%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02082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60%+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395728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39572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FUNNEL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239572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Trial → Paid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239572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71.2%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39572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770632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77063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277063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277063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77063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145536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14553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314553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DM auto CTR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4760" y="314553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14553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35%+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520440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520440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3520440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Reels saves / share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3520440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3520440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895344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895344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ACQ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3895344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Creator pipeline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3895344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895344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5+/wk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270248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270248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4440" y="4270248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Day-1 msg open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4270248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4270248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85%+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645152"/>
            <a:ext cx="53949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645152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" y="4645152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WA forward 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4760" y="4645152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60" y="4645152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Track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020056"/>
            <a:ext cx="5394960" cy="36576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020056"/>
            <a:ext cx="731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1F4B7F"/>
                </a:solidFill>
                <a:latin typeface="Calibri"/>
              </a:rPr>
              <a:t>PROD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020056"/>
            <a:ext cx="2514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JS error sessions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5020056"/>
            <a:ext cx="868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5020056"/>
            <a:ext cx="10058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868680"/>
            <a:ext cx="60350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80760" y="868680"/>
            <a:ext cx="6035040" cy="365760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80760" y="86868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MONTHLY KPIS · REVIEW ON 1ST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1371600"/>
            <a:ext cx="5760720" cy="274320"/>
          </a:xfrm>
          <a:prstGeom prst="rect">
            <a:avLst/>
          </a:prstGeom>
          <a:solidFill>
            <a:srgbClr val="4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37160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86600" y="137160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09760" y="1371600"/>
            <a:ext cx="868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1371600"/>
            <a:ext cx="1508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TARGET (30/60/90)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1645920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164592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6600" y="164592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9760" y="164592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24160" y="164592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230 / 480 / 800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2071116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207111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207111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09760" y="207111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24160" y="207111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₹22K / ₹70K / 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2496312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63640" y="249631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REV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249631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ARPU per user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09760" y="249631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60" y="249631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₹130+ blended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2921508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63640" y="2921508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86600" y="2921508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2921508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7A6555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24160" y="2921508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&lt;₹150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17920" y="3346704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3640" y="3346704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86600" y="3346704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@ current churn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09760" y="3346704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24160" y="3346704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₹987 (8% churn)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3771900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63640" y="3771900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ECON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86600" y="3771900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09760" y="3771900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24160" y="3771900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7.9× target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17920" y="4197096"/>
            <a:ext cx="576072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63640" y="4197096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CHURN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86600" y="4197096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09760" y="4197096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24160" y="4197096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&lt;8% by M3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17920" y="4622292"/>
            <a:ext cx="576072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263640" y="4622292"/>
            <a:ext cx="77724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6B2D8A"/>
                </a:solidFill>
                <a:latin typeface="Calibri"/>
              </a:rPr>
              <a:t>STACK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86600" y="4622292"/>
            <a:ext cx="2423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Revenue from non-₹79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0" y="4622292"/>
            <a:ext cx="8686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424160" y="4622292"/>
            <a:ext cx="1508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₹50K+ by M3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17920" y="5138928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1F4B7F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55080" y="51846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OPERATING CADENCE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55080" y="5413248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FFFFF"/>
                </a:solidFill>
                <a:latin typeface="Calibri"/>
              </a:rPr>
              <a:t>Daily standup on weekly KPIs · monthly board on revenue+churn · quarterly LTV/CAC re-base.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analytics | 18-metric KPI design | Weekly cadence on funnel, monthly cadence on revenue + economics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3 · IG today delivers what subscribers pay for — close the value gap, IG becomes a tease, not a substitute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FREE VS PAID CONTENT ARCHITECTURE — 5-DIMENSION VALUE 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371600"/>
            <a:ext cx="3520440" cy="274320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1371600"/>
            <a:ext cx="3977639" cy="274320"/>
          </a:xfrm>
          <a:prstGeom prst="rect">
            <a:avLst/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749039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37160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137160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FREE · Instagram (broadcast)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137160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PAID · WhatsApp (intimate ritual)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645920"/>
            <a:ext cx="113385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64592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Content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64592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Shlok image / verse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164592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920240"/>
            <a:ext cx="11338560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192024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192024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One-to-many caption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192024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194560"/>
            <a:ext cx="113385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19456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Cadence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219456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Variable, algorithm-led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19456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468880"/>
            <a:ext cx="11338560" cy="27432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46888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Relationship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246888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Public broadcast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246888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743200"/>
            <a:ext cx="113385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2743200"/>
            <a:ext cx="3520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A1A0F"/>
                </a:solidFill>
                <a:latin typeface="Calibri"/>
              </a:rPr>
              <a:t>Discoverability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2743200"/>
            <a:ext cx="39776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A6555"/>
                </a:solidFill>
                <a:latin typeface="Calibri"/>
              </a:rPr>
              <a:t>Anyone can find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2743200"/>
            <a:ext cx="374903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B55512"/>
                </a:solidFill>
                <a:latin typeface="Calibri"/>
              </a:rPr>
              <a:t>Curated channel just for you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246120"/>
            <a:ext cx="1164305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33756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5 CONTENT CAMPAIGNS RANKED BY EXPECTED IMPACT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749039"/>
            <a:ext cx="11460175" cy="310896"/>
          </a:xfrm>
          <a:prstGeom prst="rect">
            <a:avLst/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749039"/>
            <a:ext cx="41148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3749039"/>
            <a:ext cx="324612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749039"/>
            <a:ext cx="37947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MECHANIC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749039"/>
            <a:ext cx="27432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3749039"/>
            <a:ext cx="12801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59935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059935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059935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"Gita for [Indian situation]" Reel series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9080" y="4059935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Saas-bahu, exam stress, job loss, EMI worry, child marriage, retirement — culturally specific.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059935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Tier 2/3 pull · highly searchable · saves 5×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4059935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443983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4443983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443983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Subscriber Before &amp; After (Hindi voice notes)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9080" y="4443983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1-min audio testimonial from 116 paid users — voice = trust signal in India.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443983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Native social proof · 2-3× reach · senior-friendly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4443983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828031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4828031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4828031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"What is Krishna saying about your life RIGHT NOW?"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9080" y="4828031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IG story poll → auto-DM shlok + trial. Personalisation engine for warm leads.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4828031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Warms cold leads · DM auto opt-in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4828031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212079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5212079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" y="5212079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Bollywood × Gita reframe series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9080" y="5212079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"Mahabharat in 3 idiots" / "Gita lesson in DDLJ" — meme-format viral hook.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5212079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Cross-over reach · 18-35 segment pull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5212079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★★★☆☆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596127"/>
            <a:ext cx="114601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5596127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" y="5596127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Festival gifting + IPL/Cricket integration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69080" y="5596127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Diwali/Janmashtami gift bundles + IPL-stress shloka series during cricket season.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5596127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100-200 subs/push · near-zero CAC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40" y="5596127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980175"/>
            <a:ext cx="11460175" cy="38404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5980175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2D8A"/>
                </a:solidFill>
                <a:latin typeface="Calibri"/>
              </a:rPr>
              <a:t>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5980175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A1A0F"/>
                </a:solidFill>
                <a:latin typeface="Calibri"/>
              </a:rPr>
              <a:t>Newspaper religious-column tie-up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69080" y="5980175"/>
            <a:ext cx="37947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Dainik Jagran 'Aaj ka Vichar' weekly column with QR + free-trial promo.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63840" y="5980175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7A6555"/>
                </a:solidFill>
                <a:latin typeface="Calibri"/>
              </a:rPr>
              <a:t>Reaches 50+ Hindi belt non-IG users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07040" y="5980175"/>
            <a:ext cx="12801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★★★★☆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IG analytics | ManyChat story poll → DM benchmarks | RedSeer 2024 spiritual e-commerce | Festival gifting volumes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Single ₹79 SKU → 10-stream stack — ₹3.5L MRR by M12, where Core ₹79 falls to 39% of total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7315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7315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10-STREAM REVENUE STACK · ALL INDIA-GROUNDED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325880"/>
            <a:ext cx="7086600" cy="292608"/>
          </a:xfrm>
          <a:prstGeom prst="rect">
            <a:avLst/>
          </a:prstGeom>
          <a:solidFill>
            <a:srgbClr val="4A2418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25880"/>
            <a:ext cx="365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32588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STREAM · WHAT WE 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325880"/>
            <a:ext cx="8229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32588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325880"/>
            <a:ext cx="9144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M12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325880"/>
            <a:ext cx="502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618488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1618488"/>
            <a:ext cx="54864" cy="420624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161848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61848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CORE · Daily WhatsApp shlok (monthly)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1848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₹79/mo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161848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61848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₹1.34L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61848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039112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2039112"/>
            <a:ext cx="54864" cy="420624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03911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203911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ANNUAL · Daily WhatsApp prepaid (saves 26%)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203911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₹699/yr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203911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03911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203911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459736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2459736"/>
            <a:ext cx="54864" cy="420624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45973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245973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PDF GUIDES · "Gita for Anxiety/Career/Heartbreak/Parenting/Money"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245973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₹99-149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245973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245973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₹18K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45973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97%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880360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2880360"/>
            <a:ext cx="54864" cy="420624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288036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88036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PREMIUM · Community + Q&amp;A with scholar (Telegram/Discord)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288036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288036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288036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₹26K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288036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75%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3300984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3300984"/>
            <a:ext cx="54864" cy="42062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30098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330098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FESTIVAL/GIFT · Diwali, Navratri, Janmashtami gift subs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30098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₹199-499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4960" y="330098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30098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₹15K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330098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721608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721608"/>
            <a:ext cx="54864" cy="420624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721608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3721608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PHYSICAL · 108-card Bhagavad Gita wisdom deck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3721608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₹599-699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3721608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3721608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₹12K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3721608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42232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4142232"/>
            <a:ext cx="54864" cy="42062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142232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4142232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CORPORATE B2B · Daily Gita for HR wellness (BFSI/FMCG/IT)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0" y="4142232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₹5K-15K/mo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4960" y="4142232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142232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₹70K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0" y="4142232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562856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4562856"/>
            <a:ext cx="54864" cy="420624"/>
          </a:xfrm>
          <a:prstGeom prst="rect">
            <a:avLst/>
          </a:prstGeom>
          <a:solidFill>
            <a:srgbClr val="E89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562856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562856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FAMILY PACK · 3-5 phones, multi-language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0" y="4562856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₹149/mo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94960" y="4562856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562856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₹8K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80" y="4562856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82%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983480"/>
            <a:ext cx="7086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1480" y="4983480"/>
            <a:ext cx="54864" cy="420624"/>
          </a:xfrm>
          <a:prstGeom prst="rect">
            <a:avLst/>
          </a:prstGeom>
          <a:solidFill>
            <a:srgbClr val="D9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4983480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09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4983480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KIDS' GITA · Stories for ages 8-14 (parents buy)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4983480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₹99/mo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94960" y="4983480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26480" y="4983480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₹5K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40880" y="4983480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85%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1480" y="5404104"/>
            <a:ext cx="7086600" cy="420624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1480" y="5404104"/>
            <a:ext cx="54864" cy="420624"/>
          </a:xfrm>
          <a:prstGeom prst="rect">
            <a:avLst/>
          </a:prstGeom>
          <a:solidFill>
            <a:srgbClr val="7A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7200" y="5404104"/>
            <a:ext cx="3657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" y="5404104"/>
            <a:ext cx="374903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AUDIO GITA · Voice version for commute / Bharat tier 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0" y="5404104"/>
            <a:ext cx="82296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₹49/mo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4960" y="5404104"/>
            <a:ext cx="7315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7A6555"/>
                </a:solidFill>
                <a:latin typeface="Calibri"/>
              </a:rPr>
              <a:t>Month 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0" y="5404104"/>
            <a:ext cx="91440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7A55"/>
                </a:solidFill>
                <a:latin typeface="Calibri"/>
              </a:rPr>
              <a:t>₹4K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40880" y="5404104"/>
            <a:ext cx="50292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88%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5824728"/>
            <a:ext cx="7086600" cy="329184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5824728"/>
            <a:ext cx="374903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BLENDED MONTHLY @ M12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26480" y="5824728"/>
            <a:ext cx="9144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₹3.5L+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0" y="5824728"/>
            <a:ext cx="502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82%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726679" y="868680"/>
            <a:ext cx="4206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26679" y="960120"/>
            <a:ext cx="4206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REVENUE MIX AT SCALE · M12</a:t>
            </a:r>
          </a:p>
        </p:txBody>
      </p:sp>
      <p:pic>
        <p:nvPicPr>
          <p:cNvPr id="114" name="Picture 113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25880"/>
            <a:ext cx="4023360" cy="484632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Pricing logic: ₹49-149 impulse · ₹199-499 commit · ₹599+ artefact · ₹5K+ B2B | Margin: digital 85-95%, physical 55%, B2B 80%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9 Hindu festivals + life-event gifting drive 30-180% revenue lifts — uniquely Indian, structurally underserved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FESTIVAL CALENDAR · EXPECTED REVENUE LIFT BY MONTH (BASELINE = 100)</a:t>
            </a:r>
          </a:p>
        </p:txBody>
      </p:sp>
      <p:pic>
        <p:nvPicPr>
          <p:cNvPr id="21" name="Picture 20" descr="festival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84280" cy="1874519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74320" y="3337560"/>
            <a:ext cx="11643055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2900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 INDIA-GROUNDED BUNDLES · WILL NOT EXIST ELSEWHERE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4320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DIWALI GIFT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1-yr sub + e-card + Lakshmi-Ganesha audio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Family-to-family festive gifting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200 packs Nov · ₹1L spike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30069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30069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30069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JANMASHTAMI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0069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55512"/>
                </a:solidFill>
                <a:latin typeface="Calibri"/>
              </a:rPr>
              <a:t>₹299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1509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1-mo sub + 8 Krishna shlokas + 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1509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On-brand: Gita IS Krishna's words. Best PR moment.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21509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1509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 packs · ₹90K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85818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185818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85818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NAVRATRI 9-DAY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5818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B02C2C"/>
                </a:solidFill>
                <a:latin typeface="Calibri"/>
              </a:rPr>
              <a:t>₹199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7258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9 daily reflections (Goddess + Gita)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7258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October's biggest festival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7258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7258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400 packs · ₹80K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1567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41567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1567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1567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B2D8A"/>
                </a:solidFill>
                <a:latin typeface="Calibri"/>
              </a:rPr>
              <a:t>₹999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3007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Couple sub + Gita-on-Marriage PDF + Q&amp;A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007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₹3.7T Indian wedding market underserved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33007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3007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50/mo · ₹50K/mo recurring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97316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097316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7316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BIRTHDAY GIFT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7316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8AA3"/>
                </a:solidFill>
                <a:latin typeface="Calibri"/>
              </a:rPr>
              <a:t>₹199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8756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Personal 'shlok-for-month' + 6-mo sub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8756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Year-round non-festival gifting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88756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8756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100/mo · ₹20K/mo recurring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3065" y="3794760"/>
            <a:ext cx="186430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53065" y="3794760"/>
            <a:ext cx="1864309" cy="365760"/>
          </a:xfrm>
          <a:prstGeom prst="roundRect">
            <a:avLst>
              <a:gd name="adj" fmla="val 2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3065" y="3794760"/>
            <a:ext cx="186430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EXAM SEASON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3065" y="4206240"/>
            <a:ext cx="186430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4B7F"/>
                </a:solidFill>
                <a:latin typeface="Calibri"/>
              </a:rPr>
              <a:t>₹99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4505" y="4617720"/>
            <a:ext cx="168142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30-day 'Gita for exam stress' micro-sub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4505" y="5166360"/>
            <a:ext cx="168142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i="1">
                <a:solidFill>
                  <a:srgbClr val="7A6555"/>
                </a:solidFill>
                <a:latin typeface="Calibri"/>
              </a:rPr>
              <a:t>Parents buy for CBSE/JEE students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4505" y="5669279"/>
            <a:ext cx="1681429" cy="38404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4505" y="5669279"/>
            <a:ext cx="1681429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1" i="0">
                <a:solidFill>
                  <a:srgbClr val="057A55"/>
                </a:solidFill>
                <a:latin typeface="Calibri"/>
              </a:rPr>
              <a:t>300/season · ₹30K/season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Hindu calendar 2025 | RedSeer Spiritual &amp; Wellness 2024 (₹4,000 Cr TAM) | KPMG Wedding Industry India 2024 (₹3.7T) | Team estimates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AREA 4 · ₹49 audio → ₹15K/mo corporate captures every willingness-to-pay segment in India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58368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PRICING LADDER · MONTHLY EQUIVALENT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417320"/>
            <a:ext cx="2926080" cy="329184"/>
          </a:xfrm>
          <a:prstGeom prst="roundRect">
            <a:avLst>
              <a:gd name="adj" fmla="val 6000"/>
            </a:avLst>
          </a:prstGeom>
          <a:solidFill>
            <a:srgbClr val="057A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417320"/>
            <a:ext cx="28346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CORPORATE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417320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₹5K-15K/mo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417320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BFSI, FMCG, mfg HR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865376"/>
            <a:ext cx="2606040" cy="329184"/>
          </a:xfrm>
          <a:prstGeom prst="roundRect">
            <a:avLst>
              <a:gd name="adj" fmla="val 6000"/>
            </a:avLst>
          </a:prstGeom>
          <a:solidFill>
            <a:srgbClr val="6B2D8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865376"/>
            <a:ext cx="2514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WEDDING / ANNIV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1865376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₹999 one-time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1865376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Couple gifting bundle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313432"/>
            <a:ext cx="2331720" cy="329184"/>
          </a:xfrm>
          <a:prstGeom prst="roundRect">
            <a:avLst>
              <a:gd name="adj" fmla="val 6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31343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PHYSICAL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31343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02C2C"/>
                </a:solidFill>
                <a:latin typeface="Calibri"/>
              </a:rPr>
              <a:t>₹599-699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313432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108-card deck · festival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761488"/>
            <a:ext cx="2057400" cy="329184"/>
          </a:xfrm>
          <a:prstGeom prst="roundRect">
            <a:avLst>
              <a:gd name="adj" fmla="val 6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761488"/>
            <a:ext cx="19659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DIWALI BUNDLE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61488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₹499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761488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Festival pack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9544"/>
            <a:ext cx="1828800" cy="329184"/>
          </a:xfrm>
          <a:prstGeom prst="roundRect">
            <a:avLst>
              <a:gd name="adj" fmla="val 6000"/>
            </a:avLst>
          </a:prstGeom>
          <a:solidFill>
            <a:srgbClr val="1F4B7F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09544"/>
            <a:ext cx="17373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ANNUAL PREPAY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209544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F4B7F"/>
                </a:solidFill>
                <a:latin typeface="Calibri"/>
              </a:rPr>
              <a:t>₹699/yr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209544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26% off · ~0% churn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57600"/>
            <a:ext cx="1600200" cy="329184"/>
          </a:xfrm>
          <a:prstGeom prst="roundRect">
            <a:avLst>
              <a:gd name="adj" fmla="val 6000"/>
            </a:avLst>
          </a:prstGeom>
          <a:solidFill>
            <a:srgbClr val="0E8AA3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657600"/>
            <a:ext cx="150876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PREMIUM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3657600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₹199/mo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3657600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Community + scholar Q&amp;A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05656"/>
            <a:ext cx="1417320" cy="329184"/>
          </a:xfrm>
          <a:prstGeom prst="roundRect">
            <a:avLst>
              <a:gd name="adj" fmla="val 6000"/>
            </a:avLst>
          </a:prstGeom>
          <a:solidFill>
            <a:srgbClr val="E89B47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05656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FAMILY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105656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9B47"/>
                </a:solidFill>
                <a:latin typeface="Calibri"/>
              </a:rPr>
              <a:t>₹149/mo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105656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Up to 5 phones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53712"/>
            <a:ext cx="1234440" cy="329184"/>
          </a:xfrm>
          <a:prstGeom prst="roundRect">
            <a:avLst>
              <a:gd name="adj" fmla="val 6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553712"/>
            <a:ext cx="1143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4553712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₹79/mo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4553712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Daily WA shlok (anchor)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001768"/>
            <a:ext cx="1097280" cy="329184"/>
          </a:xfrm>
          <a:prstGeom prst="roundRect">
            <a:avLst>
              <a:gd name="adj" fmla="val 6000"/>
            </a:avLst>
          </a:prstGeom>
          <a:solidFill>
            <a:srgbClr val="D96B1E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01768"/>
            <a:ext cx="100584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KIDS' GITA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001768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₹99/mo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001768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Stories for 8-14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449824"/>
            <a:ext cx="960120" cy="329184"/>
          </a:xfrm>
          <a:prstGeom prst="roundRect">
            <a:avLst>
              <a:gd name="adj" fmla="val 6000"/>
            </a:avLst>
          </a:prstGeom>
          <a:solidFill>
            <a:srgbClr val="7A6555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449824"/>
            <a:ext cx="868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AUDIO GITA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5449824"/>
            <a:ext cx="1188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A6555"/>
                </a:solidFill>
                <a:latin typeface="Calibri"/>
              </a:rPr>
              <a:t>₹49/mo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5449824"/>
            <a:ext cx="187451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2A1A0F"/>
                </a:solidFill>
                <a:latin typeface="Calibri"/>
              </a:rPr>
              <a:t>Voice · Bharat tier 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95160" y="868680"/>
            <a:ext cx="493776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95160" y="9601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PRICING LOGIC · 4 ANCHOR PRINCIPLES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1371600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32320" y="1371600"/>
            <a:ext cx="54864" cy="41148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2048" y="137160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01 ANCHOR 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98280" y="1371600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₹49 audio = pure curiosity tier. Coffee-cost paying habit.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1819656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1819656"/>
            <a:ext cx="54864" cy="41148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42048" y="1819656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02 IMPULSE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98280" y="1819656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₹99-149 PDFs + exam micro-subs. No auto-deduct fear.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0" y="2267712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32320" y="2267712"/>
            <a:ext cx="54864" cy="41148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42048" y="2267712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6B2D8A"/>
                </a:solidFill>
                <a:latin typeface="Calibri"/>
              </a:rPr>
              <a:t>03 COMMIT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2267712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₹199-499 premium + festival. Conscious commit price.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32320" y="2715768"/>
            <a:ext cx="4663440" cy="41148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32320" y="2715768"/>
            <a:ext cx="54864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2048" y="271576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04 ARTEFACT/B2B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2715768"/>
            <a:ext cx="2697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₹599+ deck, wedding, corporate. Gifting + enterprise.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95160" y="342900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95160" y="352044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B2B CORPORATE OPPORTUNITY · TAM/SAM/SOM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32320" y="393192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32320" y="3931920"/>
            <a:ext cx="54864" cy="36576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393192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4B7F"/>
                </a:solidFill>
                <a:latin typeface="Calibri"/>
              </a:rPr>
              <a:t>TAM · Corporate Wellness India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87000" y="393192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₹4,000 Cr · 15% CAGR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4315968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132320" y="4315968"/>
            <a:ext cx="54864" cy="365760"/>
          </a:xfrm>
          <a:prstGeom prst="rect">
            <a:avLst/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2048" y="4315968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8AA3"/>
                </a:solidFill>
                <a:latin typeface="Calibri"/>
              </a:rPr>
              <a:t>SAM · Mid-large firms (BFSI/FMCG/Mfg)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87000" y="4315968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₹400 Cr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32320" y="4700016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132320" y="4700016"/>
            <a:ext cx="54864" cy="3657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42048" y="4700016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SOM Y1 · 15-30 pilot firms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87000" y="4700016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₹50-80 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32320" y="5084064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32320" y="5084064"/>
            <a:ext cx="54864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42048" y="5084064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57A55"/>
                </a:solidFill>
                <a:latin typeface="Calibri"/>
              </a:rPr>
              <a:t>PRICING · ₹5K (≤50) / ₹10K (50-200) / ₹15K (200+)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87000" y="5084064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Per month per firm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132320" y="5468112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132320" y="5468112"/>
            <a:ext cx="54864" cy="365760"/>
          </a:xfrm>
          <a:prstGeom prst="rect">
            <a:avLst/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42048" y="5468112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6B2D8A"/>
                </a:solidFill>
                <a:latin typeface="Calibri"/>
              </a:rPr>
              <a:t>BUYER · HR Heads at 500-5,000 employee firms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5468112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LinkedIn outreach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132320" y="5852160"/>
            <a:ext cx="46634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32320" y="5852160"/>
            <a:ext cx="54864" cy="36576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42048" y="585216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E0A03A"/>
                </a:solidFill>
                <a:latin typeface="Calibri"/>
              </a:rPr>
              <a:t>MOTION · 15-min outreach → pilot → case-study fly-wheel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87000" y="585216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Self-serve B2B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Mercer Marsh India Wellness Survey 2024 (₹4,000 Cr) | LinkedIn HR titles | Glido pricing | Team build-up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Blue Ocean tells us WHAT to build differently · BCG tells us WHERE to invest — both point to Annual + B2B as Stars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649224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64922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BLUE OCEAN ERRC GRID — STOP / SLOW / ACCELERATE / INVENT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37160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1371600"/>
            <a:ext cx="3063240" cy="384048"/>
          </a:xfrm>
          <a:prstGeom prst="roundRect">
            <a:avLst>
              <a:gd name="adj" fmla="val 10000"/>
            </a:avLst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408176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⬇ ELIMINATE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572768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STOP doing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828800"/>
            <a:ext cx="2788920" cy="1783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Generic broadcast Gita content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Celebrity-scholar dependency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Long-form 1-hour discourses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English-first for ₹79 tier 2/3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137160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1371600"/>
            <a:ext cx="3063240" cy="384048"/>
          </a:xfrm>
          <a:prstGeom prst="roundRect">
            <a:avLst>
              <a:gd name="adj" fmla="val 10000"/>
            </a:avLst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1408176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⬊ REDUCE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1572768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Do LESS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1828800"/>
            <a:ext cx="2788920" cy="1783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Production cost per shloka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IG algorithm-only dependency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Single-SKU monetization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Auto-mandate friction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79476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3794760"/>
            <a:ext cx="3063240" cy="384048"/>
          </a:xfrm>
          <a:prstGeom prst="roundRect">
            <a:avLst>
              <a:gd name="adj" fmla="val 1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31336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⬈ RAISE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995928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Do MORE 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51960"/>
            <a:ext cx="2788920" cy="1783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Vernacular Hindi + regional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Intimate WhatsApp ritual feel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Festival-timed content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Family-pricing tiers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3794760"/>
            <a:ext cx="3063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66160" y="3794760"/>
            <a:ext cx="3063240" cy="384048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3831336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✦ CREATE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995928"/>
            <a:ext cx="28803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FFFFFF"/>
                </a:solidFill>
                <a:latin typeface="Calibri"/>
              </a:rPr>
              <a:t>Build NEW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251960"/>
            <a:ext cx="2788920" cy="1783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Daily 8 AM ritual ownership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Family pack ₹149 / 5 phones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Festival/wedding/funeral bundles</a:t>
            </a:r>
          </a:p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•  B2B Gita Daily · ₹4,000 Cr TAM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868680"/>
            <a:ext cx="50292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960120"/>
            <a:ext cx="50292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BCG MATRIX — BUBBLE = MRR @ M12</a:t>
            </a:r>
          </a:p>
        </p:txBody>
      </p:sp>
      <p:pic>
        <p:nvPicPr>
          <p:cNvPr id="43" name="Picture 42" descr="bcg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280160"/>
            <a:ext cx="4846320" cy="324612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995160" y="4617720"/>
            <a:ext cx="4846320" cy="160020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4663440"/>
            <a:ext cx="46634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55512"/>
                </a:solidFill>
                <a:latin typeface="Calibri"/>
              </a:rPr>
              <a:t>INVESTMENT THESIS  ·  PORTFOLIO PLAY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4937760"/>
            <a:ext cx="36576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42048" y="493776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★ STARS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937760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Annual + B2B  ·  invest 70%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5230368"/>
            <a:ext cx="36576" cy="274320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42048" y="523036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? Q-MARKS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230368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Festival/Premium/Audio  ·  validate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5522976"/>
            <a:ext cx="36576" cy="274320"/>
          </a:xfrm>
          <a:prstGeom prst="rect">
            <a:avLst/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42048" y="5522976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● CASH COWS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522976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Core ₹79  ·  defend, milk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5815584"/>
            <a:ext cx="36576" cy="274320"/>
          </a:xfrm>
          <a:prstGeom prst="rect">
            <a:avLst/>
          </a:prstGeom>
          <a:solidFill>
            <a:srgbClr val="B0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42048" y="581558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✕ DOGS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815584"/>
            <a:ext cx="33375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i="0">
                <a:solidFill>
                  <a:srgbClr val="2A1A0F"/>
                </a:solidFill>
                <a:latin typeface="Calibri"/>
              </a:rPr>
              <a:t>Physical deck  ·  tactical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W. Chan Kim &amp; R. Mauborgne — Blue Ocean Strategy (2005) | BCG Boston Consulting Group Growth-Share Matrix (1968) | Glido streams plotted by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Halving churn from 29% → 8% triples LTV — the Day-3 trial fix is the highest-ROI intervention in this deck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7A55"/>
                </a:solidFill>
                <a:latin typeface="Calibri"/>
              </a:rPr>
              <a:t>85.5%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1219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1219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1219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55512"/>
                </a:solidFill>
                <a:latin typeface="Calibri"/>
              </a:rPr>
              <a:t>₹125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1219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CAC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8118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1F4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68118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1F4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8118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F4B7F"/>
                </a:solidFill>
                <a:latin typeface="Calibri"/>
              </a:rPr>
              <a:t>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118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TO ₹1L MRR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017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017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6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017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6B2D8A"/>
                </a:solidFill>
                <a:latin typeface="Calibri"/>
              </a:rPr>
              <a:t>₹3.5L+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017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MRR @ M12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1916" y="868680"/>
            <a:ext cx="2255459" cy="100584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905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61916" y="868680"/>
            <a:ext cx="2255459" cy="54864"/>
          </a:xfrm>
          <a:prstGeom prst="roundRect">
            <a:avLst>
              <a:gd name="adj" fmla="val 10000"/>
            </a:avLst>
          </a:prstGeom>
          <a:solidFill>
            <a:srgbClr val="0E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1916" y="960120"/>
            <a:ext cx="225545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E8AA3"/>
                </a:solidFill>
                <a:latin typeface="Calibri"/>
              </a:rPr>
              <a:t>7.9×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916" y="1463040"/>
            <a:ext cx="225545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LTV / CAC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PER-SUBSCRIBER UNIT ECONOMICS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514600"/>
            <a:ext cx="3749039" cy="292608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51460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LINE 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251460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51460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07208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0720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Revenue / sub /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280720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+₹948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280720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12 × ₹79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099816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09981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+ payment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309981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−₹95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09981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~10% of revenue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392424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39242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Content production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339242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339242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1 scholar / 800 subs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685032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685032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Tech + infra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3685032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685032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ManyChat, hosting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3977640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977640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GROSS MARGIN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3977640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+₹811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397764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85.5%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270248"/>
            <a:ext cx="3749039" cy="292608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27024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Blended CAC (amortized)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0" y="4270248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71800" y="427024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Y1 weighted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562856"/>
            <a:ext cx="3749039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562856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Refund / chargeback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4562856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−₹15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800" y="456285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2% allowance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4855464"/>
            <a:ext cx="3749039" cy="292608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4855464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A1A0F"/>
                </a:solidFill>
                <a:latin typeface="Calibri"/>
              </a:rPr>
              <a:t>TRUE CONTRIBUTION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94560" y="4855464"/>
            <a:ext cx="731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+₹671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71800" y="485546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7A6555"/>
                </a:solidFill>
                <a:latin typeface="Calibri"/>
              </a:rPr>
              <a:t>70.7% survives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34840" y="2011680"/>
            <a:ext cx="40233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34840" y="2103120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COHORT RETENTION · LTV SENSITIVITY</a:t>
            </a:r>
          </a:p>
        </p:txBody>
      </p:sp>
      <p:pic>
        <p:nvPicPr>
          <p:cNvPr id="79" name="Picture 78" descr="coho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3749039" cy="210312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4572000" y="4617720"/>
            <a:ext cx="3749039" cy="256032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461772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MONTHLY CHURN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461772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461772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LTV / CAC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4873752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17720" y="4873752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873752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₹1,580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52360" y="48737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12.6×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5129784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17720" y="5129784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8% · TARGET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92240" y="5129784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₹987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52360" y="5129784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F4B7F"/>
                </a:solidFill>
                <a:latin typeface="Calibri"/>
              </a:rPr>
              <a:t>7.9×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5385816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17720" y="5385816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12%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5385816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₹655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2360" y="5385816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E8AA3"/>
                </a:solidFill>
                <a:latin typeface="Calibri"/>
              </a:rPr>
              <a:t>5.2×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0" y="5641848"/>
            <a:ext cx="3749039" cy="256032"/>
          </a:xfrm>
          <a:prstGeom prst="rect">
            <a:avLst/>
          </a:prstGeom>
          <a:solidFill>
            <a:srgbClr val="FFF4DE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17720" y="5641848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92240" y="5641848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₹395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52360" y="5641848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0A03A"/>
                </a:solidFill>
                <a:latin typeface="Calibri"/>
              </a:rPr>
              <a:t>3.2×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5897880"/>
            <a:ext cx="3749039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17720" y="5897880"/>
            <a:ext cx="1874519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29% · TODAY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92240" y="5897880"/>
            <a:ext cx="9601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₹268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60" y="589788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B02C2C"/>
                </a:solidFill>
                <a:latin typeface="Calibri"/>
              </a:rPr>
              <a:t>2.1×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95360" y="2011680"/>
            <a:ext cx="333756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95360" y="2103120"/>
            <a:ext cx="3337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55512"/>
                </a:solidFill>
                <a:latin typeface="Calibri"/>
              </a:rPr>
              <a:t>MRR BUILD · 6 STREAMS</a:t>
            </a:r>
          </a:p>
        </p:txBody>
      </p:sp>
      <p:pic>
        <p:nvPicPr>
          <p:cNvPr id="106" name="Picture 105" descr="mr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23160"/>
            <a:ext cx="3108960" cy="37947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Sequoia India Subscription Unit Economics Guide | Cohort math: P(retained) = (1−churn)^n | Glido Labs case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13716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STRATEGIC FRAMING</a:t>
            </a:r>
          </a:p>
        </p:txBody>
      </p:sp>
      <p:sp>
        <p:nvSpPr>
          <p:cNvPr id="6" name="Pentagon 5"/>
          <p:cNvSpPr/>
          <p:nvPr/>
        </p:nvSpPr>
        <p:spPr>
          <a:xfrm>
            <a:off x="183964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964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01 · FUNNEL FIX</a:t>
            </a:r>
          </a:p>
        </p:txBody>
      </p:sp>
      <p:sp>
        <p:nvSpPr>
          <p:cNvPr id="8" name="Pentagon 7"/>
          <p:cNvSpPr/>
          <p:nvPr/>
        </p:nvSpPr>
        <p:spPr>
          <a:xfrm>
            <a:off x="3542124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2124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02 · SCALING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4606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4606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03 · CONTENT</a:t>
            </a:r>
          </a:p>
        </p:txBody>
      </p:sp>
      <p:sp>
        <p:nvSpPr>
          <p:cNvPr id="12" name="Pentagon 11"/>
          <p:cNvSpPr/>
          <p:nvPr/>
        </p:nvSpPr>
        <p:spPr>
          <a:xfrm>
            <a:off x="6947088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7088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04 · NEW REVENUE  ★</a:t>
            </a:r>
          </a:p>
        </p:txBody>
      </p:sp>
      <p:sp>
        <p:nvSpPr>
          <p:cNvPr id="14" name="Pentagon 13"/>
          <p:cNvSpPr/>
          <p:nvPr/>
        </p:nvSpPr>
        <p:spPr>
          <a:xfrm>
            <a:off x="8649570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FFF4D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9570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4A2418"/>
                </a:solidFill>
                <a:latin typeface="Calibri"/>
              </a:rPr>
              <a:t>STRATEGY  ·  BO + BCG</a:t>
            </a:r>
          </a:p>
        </p:txBody>
      </p:sp>
      <p:sp>
        <p:nvSpPr>
          <p:cNvPr id="16" name="Pentagon 15"/>
          <p:cNvSpPr/>
          <p:nvPr/>
        </p:nvSpPr>
        <p:spPr>
          <a:xfrm>
            <a:off x="10352052" y="91440"/>
            <a:ext cx="1702482" cy="292608"/>
          </a:xfrm>
          <a:prstGeom prst="homePlate">
            <a:avLst>
              <a:gd name="adj" fmla="val 50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2052" y="91440"/>
            <a:ext cx="1702482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FINANCIAL &amp;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57200"/>
            <a:ext cx="11643055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4A2418"/>
                </a:solidFill>
                <a:latin typeface="Calibri"/>
              </a:rPr>
              <a:t>Fix the funnel before scaling. Deepen monetization before buying traffic. ₹1L MRR by M3 if Lever 1 lands 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868680"/>
            <a:ext cx="11643055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960120"/>
            <a:ext cx="1164305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6-PHASE 90-DAY EXECUTION ROADMAP</a:t>
            </a:r>
          </a:p>
        </p:txBody>
      </p:sp>
      <p:sp>
        <p:nvSpPr>
          <p:cNvPr id="21" name="Pentagon 20"/>
          <p:cNvSpPr/>
          <p:nvPr/>
        </p:nvSpPr>
        <p:spPr>
          <a:xfrm>
            <a:off x="365760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B55512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1-2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B55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FIX THE LEAK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Homepage redesign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Form above fold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explainer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 &lt;2.5s</a:t>
            </a:r>
          </a:p>
        </p:txBody>
      </p:sp>
      <p:sp>
        <p:nvSpPr>
          <p:cNvPr id="26" name="Pentagon 25"/>
          <p:cNvSpPr/>
          <p:nvPr/>
        </p:nvSpPr>
        <p:spPr>
          <a:xfrm>
            <a:off x="2272741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D96B1E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2741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2-3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72741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D96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18461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D96B1E"/>
                </a:solidFill>
                <a:latin typeface="Calibri"/>
              </a:rPr>
              <a:t>SEAL THE TRIAL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8461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Day 1/2/3 WA arc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Re-engage 47 churns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Pre-charge transparency</a:t>
            </a:r>
          </a:p>
        </p:txBody>
      </p:sp>
      <p:sp>
        <p:nvSpPr>
          <p:cNvPr id="31" name="Pentagon 30"/>
          <p:cNvSpPr/>
          <p:nvPr/>
        </p:nvSpPr>
        <p:spPr>
          <a:xfrm>
            <a:off x="4179722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E8AA3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9722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WK 3-4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9722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E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5442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E8AA3"/>
                </a:solidFill>
                <a:latin typeface="Calibri"/>
              </a:rPr>
              <a:t>DM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5442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ManyChat trigger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Update captions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First Story poll</a:t>
            </a:r>
          </a:p>
        </p:txBody>
      </p:sp>
      <p:sp>
        <p:nvSpPr>
          <p:cNvPr id="36" name="Pentagon 35"/>
          <p:cNvSpPr/>
          <p:nvPr/>
        </p:nvSpPr>
        <p:spPr>
          <a:xfrm>
            <a:off x="6086703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6B2D8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6703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6703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6B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2423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6B2D8A"/>
                </a:solidFill>
                <a:latin typeface="Calibri"/>
              </a:rPr>
              <a:t>NEW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2423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Annual ₹699 launch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3 PDF guides live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Diwali gift sub page</a:t>
            </a:r>
          </a:p>
        </p:txBody>
      </p:sp>
      <p:sp>
        <p:nvSpPr>
          <p:cNvPr id="41" name="Pentagon 40"/>
          <p:cNvSpPr/>
          <p:nvPr/>
        </p:nvSpPr>
        <p:spPr>
          <a:xfrm>
            <a:off x="7993684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057A55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684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3684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05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9404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57A55"/>
                </a:solidFill>
                <a:latin typeface="Calibri"/>
              </a:rPr>
              <a:t>SCALE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404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Daily Reels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2 creator collabs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pitch deck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tier</a:t>
            </a:r>
          </a:p>
        </p:txBody>
      </p:sp>
      <p:sp>
        <p:nvSpPr>
          <p:cNvPr id="46" name="Pentagon 45"/>
          <p:cNvSpPr/>
          <p:nvPr/>
        </p:nvSpPr>
        <p:spPr>
          <a:xfrm>
            <a:off x="9900665" y="1371600"/>
            <a:ext cx="1833829" cy="365760"/>
          </a:xfrm>
          <a:prstGeom prst="homePlate">
            <a:avLst>
              <a:gd name="adj" fmla="val 55000"/>
            </a:avLst>
          </a:prstGeom>
          <a:solidFill>
            <a:srgbClr val="E0A03A"/>
          </a:solidFill>
          <a:ln w="127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0665" y="1371600"/>
            <a:ext cx="1833829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MONTH 3+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00665" y="1783080"/>
            <a:ext cx="1833829" cy="1188720"/>
          </a:xfrm>
          <a:prstGeom prst="roundRect">
            <a:avLst>
              <a:gd name="adj" fmla="val 10000"/>
            </a:avLst>
          </a:prstGeom>
          <a:solidFill>
            <a:srgbClr val="FAE0B6"/>
          </a:solidFill>
          <a:ln w="12700">
            <a:solidFill>
              <a:srgbClr val="E0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6385" y="1828800"/>
            <a:ext cx="174238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0A03A"/>
                </a:solidFill>
                <a:latin typeface="Calibri"/>
              </a:rPr>
              <a:t>PAID + B2B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46385" y="2103120"/>
            <a:ext cx="174238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Meta CTWA ₹500/d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Lookalike audience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corp pilots</a:t>
            </a:r>
          </a:p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Audio launch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246120"/>
            <a:ext cx="658368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337560"/>
            <a:ext cx="65836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MILESTONE OUTCOMES · NOW / 30 / 60 / 90 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3749039"/>
            <a:ext cx="6309360" cy="310896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74903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374903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059935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05993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Active paid subscribers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230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405993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800+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370831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37083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Daily new trials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15-18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15000" y="437083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20-30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4681727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4681727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Homepage → 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5176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18.2%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15000" y="4681727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40%+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" y="4992623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992623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Trial → Paid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176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71%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78%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82%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15000" y="4992623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88%+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303519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303519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Monthly churn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5176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29%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&lt;20%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&lt;12%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0" y="5303519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&lt;8%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5614415"/>
            <a:ext cx="6309360" cy="310896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614415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Blended monthly revenue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176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₹9.2K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₹22K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344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₹70K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5614415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₹1L+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5925311"/>
            <a:ext cx="63093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5925311"/>
            <a:ext cx="219456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A1A0F"/>
                </a:solidFill>
                <a:latin typeface="Calibri"/>
              </a:rPr>
              <a:t>Revenue streams live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5176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B02C2C"/>
                </a:solidFill>
                <a:latin typeface="Calibri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2A1A0F"/>
                </a:solidFill>
                <a:latin typeface="Calibri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15000" y="5925311"/>
            <a:ext cx="10058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57A55"/>
                </a:solidFill>
                <a:latin typeface="Calibri"/>
              </a:rPr>
              <a:t>7+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95160" y="3246120"/>
            <a:ext cx="493776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95160" y="333756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32320" y="3749039"/>
            <a:ext cx="4663440" cy="274320"/>
          </a:xfrm>
          <a:prstGeom prst="rect">
            <a:avLst/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78040" y="3749039"/>
            <a:ext cx="18745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0" y="3749039"/>
            <a:ext cx="960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8400" y="3749039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4023359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78040" y="4023359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WhatsApp policy / API ban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4114799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02C2C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98280" y="4114799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4023359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WA Business API + email mirror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32320" y="4443983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78040" y="4443983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Mandate distrust → chargebacks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98280" y="4535423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098280" y="4535423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443983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Bilingual explainer, pre-charge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132320" y="4864607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78040" y="4864607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Founder content fatigue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098280" y="4956047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98280" y="4956047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4864607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Onboard 2 scholars by M3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132320" y="5285231"/>
            <a:ext cx="4663440" cy="411480"/>
          </a:xfrm>
          <a:prstGeom prst="rect">
            <a:avLst/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178040" y="5285231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Instagram algo dependency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098280" y="5376671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098280" y="5376671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0" y="5285231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Diversify: Shorts, ShareChat, email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132320" y="5705855"/>
            <a:ext cx="46634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78040" y="5705855"/>
            <a:ext cx="1874519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Premium quality dilution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098280" y="5797295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E0A03A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98280" y="5797295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58400" y="5705855"/>
            <a:ext cx="17830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Hard cap 150 members, founder mod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7A6555"/>
                </a:solidFill>
                <a:latin typeface="Calibri"/>
              </a:rPr>
              <a:t>Glido Labs case | Industry risk benchmarks | Team risk identification &amp; mitigation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45720"/>
            <a:ext cx="12100255" cy="6766560"/>
          </a:xfrm>
          <a:prstGeom prst="roundRect">
            <a:avLst>
              <a:gd name="adj" fmla="val 1000"/>
            </a:avLst>
          </a:prstGeom>
          <a:noFill/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11643055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B55512"/>
                </a:solidFill>
                <a:latin typeface="Calibri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960120"/>
            <a:ext cx="2103120" cy="0"/>
          </a:xfrm>
          <a:prstGeom prst="line">
            <a:avLst/>
          </a:prstGeom>
          <a:ln w="25400">
            <a:solidFill>
              <a:srgbClr val="B555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1188720"/>
            <a:ext cx="576072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760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FRAMEWORKS USED IN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PESTLE × INDIA-SPECIFIC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Macro 6-axis lens (slide 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0253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0253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PORTER'S 5 FORCES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0253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Industry rivalry + new entrants (slide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1343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1343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VALUE PROPOSITION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31343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JTBD × Anxieties × Pay × Stay (slide 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2432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2432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MCKINSEY 3 HORIZONS OF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62432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H1 core / H2 emerging / H3 future (slide 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3522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3522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ANSOFF GROWTH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93522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Penetration / Product / Market / Diversify (slide 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FUNNEL DIAGNOSTIC × 5 WHYS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24612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6-stage drop-off vs benchmark (slide 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5701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55701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CORE WEB VITALS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55701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LCP/INP/CLS perf (slide 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6791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6791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AARRR PIRATE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86791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Acq / Activation / Retention / Ref / Rev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7880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7880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HOOK MODEL · NIR EYAL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417880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Trigger → Action → Reward → Invest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970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970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BLUE OCEAN STRATEGY (ERRC)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Eliminate / Reduce / Raise / Create (slide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00600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00600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BCG GROWTH-SHARE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480060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Stars / Cows / ?Marks / Dogs (slide 15)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11496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11496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UNIT ECONOMICS · PER-SUB P&amp;L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511149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₹948 → ₹671 contribution (slide 16)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22392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422392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LTV / CAC SENSITIVITY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542239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5%-29% churn scenarios (slide 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733288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33288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TAM / SAM / SOM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573328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B2B ₹4,000 Cr → ₹50-80L Y1 (slide 14)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044184"/>
            <a:ext cx="539496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044184"/>
            <a:ext cx="2331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55512"/>
                </a:solidFill>
                <a:latin typeface="Calibri"/>
              </a:rPr>
              <a:t>RISK &amp; MITIGATION 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604418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A1A0F"/>
                </a:solidFill>
                <a:latin typeface="Calibri"/>
              </a:rPr>
              <a:t>5 risks × impact × mitigation (slide 17)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72200" y="1188720"/>
            <a:ext cx="571500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1280160"/>
            <a:ext cx="5715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DATA SOURCES &amp; REFERENCES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169164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46520" y="174650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174650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169164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Glido Labs Strategy Assignment brief — funnel, perf, errors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5080" y="200253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205740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205740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200253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IMARC India Subscription Apps Report 2024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55080" y="231343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446520" y="236829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236829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231343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Mercer Marsh India Wellness Survey 2024 (₹4,000 Cr)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55080" y="262432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267919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267919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262432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RedSeer Spiritual &amp; Wellness E-commerce 2024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293522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46520" y="299008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299008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79" y="293522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KPMG Wedding Industry India 2024 (₹3.7T)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55080" y="324612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6520" y="330098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330098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79" y="324612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Tirupati TTD 2024 footfall data · Char Dham yatra stats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55080" y="355701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46520" y="361188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361188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CONSUMER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26679" y="355701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LocalCircles Hindi Spiritual Survey 2024 · TRAI tier 2/3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55080" y="386791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446520" y="392277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392277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6679" y="386791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Razorpay UPI Mandate UX · Google Web Vitals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55080" y="417880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446520" y="423367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46520" y="423367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26679" y="417880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ManyChat IG automation · Meta India CTWA benchmarks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55080" y="448970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46520" y="454456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46520" y="454456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26679" y="448970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Porter (1979) — Competitive Strategy / 5 Forces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55080" y="480060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446520" y="485546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485546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26679" y="480060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McKinsey · Baghai Coley White (2009) — 3 Horizons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55080" y="5111496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446520" y="5166360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46520" y="5166360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26679" y="5111496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Ansoff (1957) — Strategies for Diversification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355080" y="5422392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46520" y="5477256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46520" y="5477256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26679" y="5422392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Kim &amp; Mauborgne (2005) — Blue Ocean Strategy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55080" y="5733288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446520" y="5788152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46520" y="5788152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26679" y="5733288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BCG Growth-Share Matrix (1968)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55080" y="6044184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446520" y="6099048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46520" y="6099048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26679" y="6044184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Nir Eyal — Hooked (2014) · Eric Ries — Lean Startup (2011)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55080" y="6355080"/>
            <a:ext cx="5349240" cy="292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508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446520" y="6409944"/>
            <a:ext cx="1188720" cy="201168"/>
          </a:xfrm>
          <a:prstGeom prst="roundRect">
            <a:avLst>
              <a:gd name="adj" fmla="val 50000"/>
            </a:avLst>
          </a:prstGeom>
          <a:solidFill>
            <a:srgbClr val="B55512"/>
          </a:solidFill>
          <a:ln w="63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6520" y="6409944"/>
            <a:ext cx="11887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Calibri"/>
              </a:rPr>
              <a:t>UNIT ECON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26679" y="6355080"/>
            <a:ext cx="39319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2A1A0F"/>
                </a:solidFill>
                <a:latin typeface="Calibri"/>
              </a:rPr>
              <a:t>Sequoia India Subscription Unit Economics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640080" cy="54864"/>
          </a:xfrm>
          <a:prstGeom prst="rect">
            <a:avLst/>
          </a:prstGeom>
          <a:solidFill>
            <a:srgbClr val="E0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Fix the funnel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scale it.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Deepen monetization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before you buy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42062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FFF4DE"/>
                </a:solidFill>
                <a:latin typeface="Calibri"/>
              </a:rPr>
              <a:t>Most spiritual subs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502920"/>
            <a:ext cx="6583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555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005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005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005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Homepage→Trial above 8% (vs 2.21% today)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1600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94960" y="16916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800+ active paying subscribers (vs 116)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2860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394960" y="23774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3774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₹1L+ blended MRR — 11× current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29718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94960" y="30632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0632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STREAMS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7 of 10 streams live · ₹50K+ from non-₹79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94960" y="36576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37490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7490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7490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3 corp pilots · paid ads ROAS-positive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43434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94960" y="4434840"/>
            <a:ext cx="64008" cy="594360"/>
          </a:xfrm>
          <a:prstGeom prst="rect">
            <a:avLst/>
          </a:prstGeom>
          <a:solidFill>
            <a:srgbClr val="B55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34840"/>
            <a:ext cx="18288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1A0F"/>
                </a:solidFill>
                <a:latin typeface="Calibri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34840"/>
            <a:ext cx="45720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A1A0F"/>
                </a:solidFill>
                <a:latin typeface="Calibri"/>
              </a:rPr>
              <a:t>200K+ Instagram · first PR mention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5029200"/>
            <a:ext cx="6492240" cy="0"/>
          </a:xfrm>
          <a:prstGeom prst="line">
            <a:avLst/>
          </a:prstGeom>
          <a:ln w="5080">
            <a:solidFill>
              <a:srgbClr val="4A2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49240" y="5349240"/>
            <a:ext cx="6675120" cy="1234440"/>
          </a:xfrm>
          <a:prstGeom prst="roundRect">
            <a:avLst>
              <a:gd name="adj" fmla="val 5000"/>
            </a:avLst>
          </a:prstGeom>
          <a:solidFill>
            <a:srgbClr val="FAE0B6"/>
          </a:solidFill>
          <a:ln w="19050">
            <a:solidFill>
              <a:srgbClr val="4A2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44068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55512"/>
                </a:solidFill>
                <a:latin typeface="Calibri"/>
              </a:rPr>
              <a:t>FROM THE GITA · CHAPTER 2, VERSE 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715000"/>
            <a:ext cx="6492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2A1A0F"/>
                </a:solidFill>
                <a:latin typeface="Calibri"/>
              </a:rPr>
              <a:t>"You have a right to perform your prescribed duty, but not to the fruits of action."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217920"/>
            <a:ext cx="6492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A6555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583680"/>
            <a:ext cx="6675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7A6555"/>
                </a:solidFill>
                <a:latin typeface="Calibri"/>
              </a:rPr>
              <a:t>Bhagavad Gita Daily · Strategy Deck v7.0 ·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4114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0A03A"/>
                </a:solidFill>
                <a:latin typeface="Calibri"/>
              </a:rPr>
              <a:t>DIVYAMAN PAL · IIT KANPUR · divyamp23@iitk.ac.in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