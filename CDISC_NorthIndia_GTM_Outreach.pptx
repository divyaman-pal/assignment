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5669280" y="0"/>
            <a:ext cx="3474720" cy="5143500"/>
          </a:xfrm>
          <a:prstGeom prst="rtTriangle">
            <a:avLst/>
          </a:prstGeom>
          <a:solidFill>
            <a:srgbClr val="E8732A"/>
          </a:solidFill>
          <a:ln/>
        </p:spPr>
      </p:sp>
      <p:sp>
        <p:nvSpPr>
          <p:cNvPr id="4" name="Shape 2"/>
          <p:cNvSpPr/>
          <p:nvPr/>
        </p:nvSpPr>
        <p:spPr>
          <a:xfrm flipH="1">
            <a:off x="6766560" y="1463040"/>
            <a:ext cx="2377440" cy="3680460"/>
          </a:xfrm>
          <a:prstGeom prst="rtTriangle">
            <a:avLst/>
          </a:prstGeom>
          <a:solidFill>
            <a:srgbClr val="1A3C5E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0" y="3840480"/>
            <a:ext cx="411480" cy="1303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Shape 4"/>
          <p:cNvSpPr/>
          <p:nvPr/>
        </p:nvSpPr>
        <p:spPr>
          <a:xfrm>
            <a:off x="6537960" y="3291840"/>
            <a:ext cx="365760" cy="18516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0" y="4114800"/>
            <a:ext cx="320040" cy="1028700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8" name="Shape 6"/>
          <p:cNvSpPr/>
          <p:nvPr/>
        </p:nvSpPr>
        <p:spPr>
          <a:xfrm>
            <a:off x="8138160" y="3566160"/>
            <a:ext cx="411480" cy="15773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457200"/>
            <a:ext cx="45720" cy="1280160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02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  |  2025–26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91440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Ground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North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C-DISC Technologies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India Go-To-Market Outreach Strategy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457200" cy="27432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89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C-DISC Technologies  |  cdisctechnologies.com  |  2025–26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663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Forms EzyBuild Company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2743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828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C-DISC TECHNOLOGIES  |  NORTH INDIA GTM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03920" y="488289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NORTH INDIA, WHY NOW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India's Construction Boom Is Happening in C-DISC's Sweet Spot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4023360" cy="1554480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143000"/>
            <a:ext cx="73152" cy="1554480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2344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₹3.2 Lakh Cr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WAREHOUSING &amp; LOGISTICS PIPELINE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0756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pipeline across UP, Rajasthan &amp; Punjab — single-storey industrial sheds are PEN Foundation territory.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143000"/>
            <a:ext cx="4023360" cy="1554480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143000"/>
            <a:ext cx="73152" cy="1554480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2344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Lakh+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00600" y="1828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PUCCA HOUSES UNDER PMAY-G (UP)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207568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built in UP alone by 2026. G+1 rural housing — an exact fit for MNZE Homes + PEN Foundation.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834640"/>
            <a:ext cx="4023360" cy="1554480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834640"/>
            <a:ext cx="73152" cy="1554480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9260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2,100+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94360" y="35204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STORAGE &amp; FOOD PROCESSING UNITS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376732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under PM Kisan SAMPADA across North India — single-floor farm structures, direct match.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2834640"/>
            <a:ext cx="4023360" cy="1554480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2834640"/>
            <a:ext cx="73152" cy="1554480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29260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800600" y="35204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&amp; INDUSTRIAL SHED GROWTH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0600" y="376732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/ Yamuna Expressway belt — pre-engineered construction demand surge.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4434840"/>
            <a:ext cx="8275320" cy="34747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43484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segments needs single-storey or G+1 construction — that is exactly what C-DISC builds.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2743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828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C-DISC TECHNOLOGIES  |  NORTH INDIA GTM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03920" y="488289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SEGMENTS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Buyers Who Build Low-Rise — North India Has Plenty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8321040" cy="713232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051560"/>
            <a:ext cx="548640" cy="71323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051560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8992" y="112471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 &amp; Farm Infrastructure Owners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78992" y="14356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• Haryana • W. UP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60520" y="112471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 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Poultry sheds, dairy units, storage godowns, farm cottages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0" y="112471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C-DISC FIT  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Foundation installs in hours on any field plot — no civil contractor, no excavation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1480" y="1801368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1801368"/>
            <a:ext cx="548640" cy="71323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1801368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78992" y="18745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Plot Owners &amp; Self-Build Homes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78992" y="21854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2/3 UP • Rajasthan • MP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60520" y="18745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 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G+1 pucca homes on 100–200 sq.yd plots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583680" y="18745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C-DISC FIT  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MNZE Homes + PEN Foundation — faster, cheaper, better than local mason-built RCC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11480" y="2551176"/>
            <a:ext cx="8321040" cy="713232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551176"/>
            <a:ext cx="548640" cy="71323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551176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78992" y="26243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Shed &amp; Warehouse Developers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78992" y="29352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Gr. Noida • Ludhiana • Kanpur • Bhiwadi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60520" y="262432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 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Single-storey industrial sheds, logistics warehouses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583680" y="2624328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C-DISC FIT  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Pre-Engineered Construction + PEN Foundation = complete turnkey solution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1480" y="3300984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3300984"/>
            <a:ext cx="548640" cy="71323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300984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78992" y="337413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Resort &amp; Hospitality Developers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78992" y="36850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Corbett • Mussoorie • Rajasthan • Rishikesh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60520" y="3374136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 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Eco-cottages, glamping units, resort rooms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583680" y="3374136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C-DISC FIT  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MNZE Homes perfect fit; PEN Foundation = no digging on pristine land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11480" y="4050792"/>
            <a:ext cx="8321040" cy="713232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4050792"/>
            <a:ext cx="548640" cy="71323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4050792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78992" y="412394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/ NGO Rapid Housing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078992" y="4434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NDRF • SDMA • PMGSY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160520" y="4123944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 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relief shelters, post-quake structures, Uttarakhand disaster zones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583680" y="4123944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C-DISC FIT  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C-DISC's fastest deployment USP — hours, not weeks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2743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828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C-DISC TECHNOLOGIES  |  NORTH INDIA GTM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03920" y="488289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PRODUCT-MARKET FIT MAPPING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C-DISC Product Goes to Which North India Buyer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2788920" cy="384048"/>
          </a:xfrm>
          <a:prstGeom prst="rect">
            <a:avLst/>
          </a:prstGeom>
          <a:solidFill>
            <a:srgbClr val="1A3C5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9728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SEGMENT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1828800" cy="384048"/>
          </a:xfrm>
          <a:prstGeom prst="rect">
            <a:avLst/>
          </a:prstGeom>
          <a:solidFill>
            <a:srgbClr val="1A3C5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972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FOUNDATION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0" y="1097280"/>
            <a:ext cx="1828800" cy="384048"/>
          </a:xfrm>
          <a:prstGeom prst="rect">
            <a:avLst/>
          </a:prstGeom>
          <a:solidFill>
            <a:srgbClr val="1A3C5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0972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PRE-ENG CONSTRUCTION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0" y="1097280"/>
            <a:ext cx="1828800" cy="384048"/>
          </a:xfrm>
          <a:prstGeom prst="rect">
            <a:avLst/>
          </a:prstGeom>
          <a:solidFill>
            <a:srgbClr val="1A3C5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0972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MNZE HOMES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1481328"/>
            <a:ext cx="2788920" cy="384048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14813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shed / agri infra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1481328"/>
            <a:ext cx="1828800" cy="384048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481328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66160" y="148132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product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0" y="1481328"/>
            <a:ext cx="1828800" cy="384048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481328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148132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shell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0" y="1481328"/>
            <a:ext cx="1828800" cy="384048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1481328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11480" y="1865376"/>
            <a:ext cx="27889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" y="186537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G+1 plot home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1865376"/>
            <a:ext cx="182880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1865376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66160" y="186537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product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0" y="1865376"/>
            <a:ext cx="182880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1865376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186537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58000" y="1865376"/>
            <a:ext cx="182880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1865376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23760" y="186537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product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" y="2249424"/>
            <a:ext cx="2788920" cy="384048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" y="224942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shed / warehouse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0" y="2249424"/>
            <a:ext cx="1828800" cy="384048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2249424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566160" y="224942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0" y="2249424"/>
            <a:ext cx="1828800" cy="384048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0" y="2249424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94960" y="224942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product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58000" y="2249424"/>
            <a:ext cx="1828800" cy="384048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0" y="2249424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11480" y="2633472"/>
            <a:ext cx="27889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1208" y="26334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Resort / eco-cottage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00400" y="2633472"/>
            <a:ext cx="182880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91840" y="2633472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566160" y="26334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No-dig foundation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029200" y="2633472"/>
            <a:ext cx="182880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20640" y="2633472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6858000" y="2633472"/>
            <a:ext cx="182880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49440" y="2633472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223760" y="263347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product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11480" y="3017520"/>
            <a:ext cx="2788920" cy="384048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208" y="30175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/ relief shelter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200400" y="3017520"/>
            <a:ext cx="1828800" cy="384048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91840" y="3017520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3566160" y="301752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deploy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029200" y="3017520"/>
            <a:ext cx="1828800" cy="384048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20640" y="3017520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6858000" y="3017520"/>
            <a:ext cx="1828800" cy="384048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49440" y="3017520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7223760" y="301752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deploy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11480" y="3401568"/>
            <a:ext cx="27889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21208" y="34015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wall / fencing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200400" y="3401568"/>
            <a:ext cx="182880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91840" y="3401568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3566160" y="340156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product needed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029200" y="3401568"/>
            <a:ext cx="182880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20640" y="3401568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858000" y="3401568"/>
            <a:ext cx="182880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949440" y="3401568"/>
            <a:ext cx="228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411480" y="40233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fit     </a:t>
            </a:r>
            <a:pPr indent="0" marL="0">
              <a:buNone/>
            </a:pPr>
            <a:r>
              <a:rPr lang="en-US" sz="1100" b="1" dirty="0">
                <a:solidFill>
                  <a:srgbClr val="2C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    </a:t>
            </a:r>
            <a:pPr indent="0" marL="0">
              <a:buNone/>
            </a:pPr>
            <a:r>
              <a:rPr lang="en-US" sz="1100" b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411480" y="4343400"/>
            <a:ext cx="8321040" cy="457200"/>
          </a:xfrm>
          <a:prstGeom prst="rect">
            <a:avLst/>
          </a:prstGeom>
          <a:solidFill>
            <a:srgbClr val="FFF4EC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11480" y="4343400"/>
            <a:ext cx="73152" cy="457200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79" name="Text 77"/>
          <p:cNvSpPr/>
          <p:nvPr/>
        </p:nvSpPr>
        <p:spPr>
          <a:xfrm>
            <a:off x="594360" y="4343400"/>
            <a:ext cx="8092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IMPORTANT  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Foundation and MNZE Homes are for single-storey and G+1 only. Never pitch to apartment or high-rise developers.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77440"/>
            <a:ext cx="9144000" cy="22860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0" y="548640"/>
            <a:ext cx="3017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1B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Email &amp; LinkedIn Outreach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65760" cy="3657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31012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90 Days: Reach the Right Inbox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C-DISC TECHNOLOGIES  |  NORTH INDIA GTM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2743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828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C-DISC TECHNOLOGIES  |  NORTH INDIA GTM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03920" y="488289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EMAIL STRATEGY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Cold Email Campaigns — Segment-by-Segment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4160520" cy="3657600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051560"/>
            <a:ext cx="4160520" cy="32004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051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THE LIST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 / FARM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6916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Agro Industries Corp vendor lists • NABARD-funded FPO directories • State Agriculture Dept beneficiary lists (RTI) • Kisan Vikas Kendra networks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2402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SHED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4688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YEIDA allottee lists (public auction records) • UPSIDA tenant directories • Haryana HSIIDC plot buyer records • Bhiwadi Industrial Association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0175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RESORT / HOSPITALITY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MakeMyTrip/Airbnb property owners in Corbett, Rishikesh, Jaisalmer fringe • Uttarakhand Tourism Hotel Association member list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7947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/ NGO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40233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SDMA procurement officers (UP, UK, Rajasthan) via official government portals; GeM-registered vendor pathways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051560"/>
            <a:ext cx="4069080" cy="3657600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051560"/>
            <a:ext cx="4069080" cy="320040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3-PART EMAIL FORMULA  (&lt;120 WORDS)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1481328"/>
            <a:ext cx="274320" cy="274320"/>
          </a:xfrm>
          <a:prstGeom prst="ellipse">
            <a:avLst/>
          </a:prstGeom>
          <a:solidFill>
            <a:srgbClr val="1A3C5E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481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66360" y="1463040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Hyper-specific hook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66360" y="170992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“You're building [X type of structure] in [region]. We can cut your foundation time from 30 days to 3.”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2350008"/>
            <a:ext cx="274320" cy="274320"/>
          </a:xfrm>
          <a:prstGeom prst="ellipse">
            <a:avLst/>
          </a:prstGeom>
          <a:solidFill>
            <a:srgbClr val="1A3C5E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2350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2331720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66360" y="257860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“Our PEN Foundation, validated by NIT Calicut, is deployed across South India. No excavation. No heavy machinery. 15 MT load capacity.”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3218688"/>
            <a:ext cx="274320" cy="274320"/>
          </a:xfrm>
          <a:prstGeom prst="ellipse">
            <a:avLst/>
          </a:prstGeom>
          <a:solidFill>
            <a:srgbClr val="1A3C5E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32186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66360" y="3200400"/>
            <a:ext cx="3520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66360" y="344728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share a 2-minute video of an installation + cost comparison vs RCC? No obligation.”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" y="4773168"/>
            <a:ext cx="8321040" cy="0"/>
          </a:xfrm>
          <a:prstGeom prst="rect">
            <a:avLst/>
          </a:prstGeom>
          <a:solidFill>
            <a:srgbClr val="1A3C5E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2743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828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C-DISC TECHNOLOGIES  |  NORTH INDIA GTM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03920" y="488289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OUTREACH PLAYBOOK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— The #1 Channel for Industrial &amp; Developer Outreach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2715768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097280"/>
            <a:ext cx="2715768" cy="3657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0" name="Shape 8"/>
          <p:cNvSpPr/>
          <p:nvPr/>
        </p:nvSpPr>
        <p:spPr>
          <a:xfrm>
            <a:off x="576072" y="1261872"/>
            <a:ext cx="457200" cy="457200"/>
          </a:xfrm>
          <a:prstGeom prst="ellipse">
            <a:avLst/>
          </a:prstGeom>
          <a:solidFill>
            <a:srgbClr val="1A3C5E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32888" y="12618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" y="175564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Navigator Persona List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76072" y="2084832"/>
            <a:ext cx="2441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'real estate developer' + 'construction' + UP/Delhi/Rajasthan + 10–200 employees. Also: 'farm owner', 'poultry farm', 'warehouse developer'. Build 200–300 contacts per segment.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3246120" y="1097280"/>
            <a:ext cx="2715768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097280"/>
            <a:ext cx="2715768" cy="3657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7" name="Shape 15"/>
          <p:cNvSpPr/>
          <p:nvPr/>
        </p:nvSpPr>
        <p:spPr>
          <a:xfrm>
            <a:off x="3410712" y="1261872"/>
            <a:ext cx="457200" cy="457200"/>
          </a:xfrm>
          <a:prstGeom prst="ellipse">
            <a:avLst/>
          </a:prstGeom>
          <a:solidFill>
            <a:srgbClr val="1A3C5E"/>
          </a:solidFill>
          <a:ln/>
        </p:spPr>
      </p:sp>
      <p:sp>
        <p:nvSpPr>
          <p:cNvPr id="18" name="Text 16"/>
          <p:cNvSpPr/>
          <p:nvPr/>
        </p:nvSpPr>
        <p:spPr>
          <a:xfrm>
            <a:off x="3410712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67528" y="12618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10712" y="175564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Request (&lt;300 chars)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10712" y="2084832"/>
            <a:ext cx="2441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 [Name], I noticed you're building [type] in [city]. We make pre-engineered foundations that cut install time to 3 days for G+1 and industrial structures. Would love to connect.”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6080760" y="1097280"/>
            <a:ext cx="2715768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1097280"/>
            <a:ext cx="2715768" cy="3657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24" name="Shape 22"/>
          <p:cNvSpPr/>
          <p:nvPr/>
        </p:nvSpPr>
        <p:spPr>
          <a:xfrm>
            <a:off x="6245352" y="1261872"/>
            <a:ext cx="457200" cy="457200"/>
          </a:xfrm>
          <a:prstGeom prst="ellipse">
            <a:avLst/>
          </a:prstGeom>
          <a:solidFill>
            <a:srgbClr val="1A3C5E"/>
          </a:solidFill>
          <a:ln/>
        </p:spPr>
      </p:sp>
      <p:sp>
        <p:nvSpPr>
          <p:cNvPr id="25" name="Text 23"/>
          <p:cNvSpPr/>
          <p:nvPr/>
        </p:nvSpPr>
        <p:spPr>
          <a:xfrm>
            <a:off x="6245352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02168" y="12618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45352" y="175564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Page — Post Weekly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45352" y="2084832"/>
            <a:ext cx="2441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Time-lapse installs, before/after comparisons, cost breakdowns. Hindi captions for UP/Rajasthan. Tags: #construction #UP #Rajasthan #industrialshed #affordablehousing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411480" y="2843784"/>
            <a:ext cx="2715768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2843784"/>
            <a:ext cx="2715768" cy="3657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31" name="Shape 29"/>
          <p:cNvSpPr/>
          <p:nvPr/>
        </p:nvSpPr>
        <p:spPr>
          <a:xfrm>
            <a:off x="576072" y="3008376"/>
            <a:ext cx="457200" cy="457200"/>
          </a:xfrm>
          <a:prstGeom prst="ellipse">
            <a:avLst/>
          </a:prstGeom>
          <a:solidFill>
            <a:srgbClr val="1A3C5E"/>
          </a:solidFill>
          <a:ln/>
        </p:spPr>
      </p:sp>
      <p:sp>
        <p:nvSpPr>
          <p:cNvPr id="32" name="Text 30"/>
          <p:cNvSpPr/>
          <p:nvPr/>
        </p:nvSpPr>
        <p:spPr>
          <a:xfrm>
            <a:off x="576072" y="3008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532888" y="3008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6072" y="3502152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Thought Leadership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76072" y="3831336"/>
            <a:ext cx="2441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posts 1×/week: 'Why RCC is overkill for your farm shed', 'How PEN Foundation saved 22 days on a Kerala project', 'North India soil &amp; pre-eng foundations'.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3246120" y="2843784"/>
            <a:ext cx="2715768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46120" y="2843784"/>
            <a:ext cx="2715768" cy="3657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38" name="Shape 36"/>
          <p:cNvSpPr/>
          <p:nvPr/>
        </p:nvSpPr>
        <p:spPr>
          <a:xfrm>
            <a:off x="3410712" y="3008376"/>
            <a:ext cx="457200" cy="457200"/>
          </a:xfrm>
          <a:prstGeom prst="ellipse">
            <a:avLst/>
          </a:prstGeom>
          <a:solidFill>
            <a:srgbClr val="1A3C5E"/>
          </a:solidFill>
          <a:ln/>
        </p:spPr>
      </p:sp>
      <p:sp>
        <p:nvSpPr>
          <p:cNvPr id="39" name="Text 37"/>
          <p:cNvSpPr/>
          <p:nvPr/>
        </p:nvSpPr>
        <p:spPr>
          <a:xfrm>
            <a:off x="3410712" y="3008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⊙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367528" y="3008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410712" y="3502152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in Construction Groups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410712" y="3831336"/>
            <a:ext cx="2441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Developers India • CREDAI Members Network • UP Construction &amp; Infrastructure • Punjab Agri Business Network. Comment meaningfully — never spam links.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6080760" y="2843784"/>
            <a:ext cx="2715768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80760" y="2843784"/>
            <a:ext cx="2715768" cy="3657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45" name="Shape 43"/>
          <p:cNvSpPr/>
          <p:nvPr/>
        </p:nvSpPr>
        <p:spPr>
          <a:xfrm>
            <a:off x="6245352" y="3008376"/>
            <a:ext cx="457200" cy="457200"/>
          </a:xfrm>
          <a:prstGeom prst="ellipse">
            <a:avLst/>
          </a:prstGeom>
          <a:solidFill>
            <a:srgbClr val="1A3C5E"/>
          </a:solidFill>
          <a:ln/>
        </p:spPr>
      </p:sp>
      <p:sp>
        <p:nvSpPr>
          <p:cNvPr id="46" name="Text 44"/>
          <p:cNvSpPr/>
          <p:nvPr/>
        </p:nvSpPr>
        <p:spPr>
          <a:xfrm>
            <a:off x="6245352" y="3008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202168" y="3008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45352" y="3502152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3-Touch Follow-Up Sequence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245352" y="3831336"/>
            <a:ext cx="2441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Connect + intro.  Day 5: Share 2-min video + 'What are you working on?'  Day 14: 'Live demo near [city] next month — interested in attending?'</a:t>
            </a:r>
            <a:endParaRPr lang="en-US" sz="8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77440"/>
            <a:ext cx="9144000" cy="22860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0" y="548640"/>
            <a:ext cx="3017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1B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&amp; Event Outreach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65760" cy="3657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31012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the Room Where Decisions Are Made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C-DISC TECHNOLOGIES  |  NORTH INDIA GTM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2743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828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C-DISC TECHNOLOGIES  |  NORTH INDIA GTM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03920" y="488289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ASSOCIATIONS TO TARGET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North India Associations Have Your Buyers as Members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1417320" cy="310896"/>
          </a:xfrm>
          <a:prstGeom prst="rect">
            <a:avLst/>
          </a:prstGeom>
          <a:solidFill>
            <a:srgbClr val="1A3C5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51560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1051560"/>
            <a:ext cx="960120" cy="310896"/>
          </a:xfrm>
          <a:prstGeom prst="rect">
            <a:avLst/>
          </a:prstGeom>
          <a:solidFill>
            <a:srgbClr val="1A3C5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105156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88920" y="1051560"/>
            <a:ext cx="2606040" cy="310896"/>
          </a:xfrm>
          <a:prstGeom prst="rect">
            <a:avLst/>
          </a:prstGeom>
          <a:solidFill>
            <a:srgbClr val="1A3C5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105156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ACTION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362456"/>
            <a:ext cx="1417320" cy="512064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1362456"/>
            <a:ext cx="1307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CREDAI UP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28800" y="1362456"/>
            <a:ext cx="960120" cy="512064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01952" y="1362456"/>
            <a:ext cx="8503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Lucknow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88920" y="1362456"/>
            <a:ext cx="2606040" cy="512064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62072" y="1362456"/>
            <a:ext cx="24963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associate/vendor membership; exhibit at annual Realty Expo; request 10-min slot at technical sessions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1480" y="1874520"/>
            <a:ext cx="141732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1874520"/>
            <a:ext cx="1307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Agro Industries Corp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28800" y="1874520"/>
            <a:ext cx="96012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01952" y="1874520"/>
            <a:ext cx="8503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Chandigarh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88920" y="1874520"/>
            <a:ext cx="260604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62072" y="1874520"/>
            <a:ext cx="24963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brochure + demo video to technology adoption cell; pursue vendor empanelment for farm infra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1480" y="2386584"/>
            <a:ext cx="1417320" cy="512064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2386584"/>
            <a:ext cx="1307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 Northern Region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28800" y="2386584"/>
            <a:ext cx="960120" cy="512064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01952" y="2386584"/>
            <a:ext cx="8503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/ Chandigarh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88920" y="2386584"/>
            <a:ext cx="2606040" cy="512064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62072" y="2386584"/>
            <a:ext cx="24963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at Smart Infrastructure conclaves; submit a technical paper on pre-engineered construction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11480" y="2898648"/>
            <a:ext cx="141732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" y="2898648"/>
            <a:ext cx="1307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ASSOCHAM UP Chapter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828800" y="2898648"/>
            <a:ext cx="96012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01952" y="2898648"/>
            <a:ext cx="8503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Lucknow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88920" y="2898648"/>
            <a:ext cx="260604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62072" y="2898648"/>
            <a:ext cx="24963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₹50–75K at annual SME conclave; secure logo + 5-min pitch slot to 200+ developers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11480" y="3410712"/>
            <a:ext cx="1417320" cy="512064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" y="3410712"/>
            <a:ext cx="13075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CREDAI Rajasthan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828800" y="3410712"/>
            <a:ext cx="960120" cy="512064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01952" y="3410712"/>
            <a:ext cx="8503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Jaipur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88920" y="3410712"/>
            <a:ext cx="2606040" cy="512064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62072" y="3410712"/>
            <a:ext cx="24963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quarterly networking meets; present at Green Building Technology session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486400" y="1051560"/>
            <a:ext cx="3246120" cy="36576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5" name="Shape 43"/>
          <p:cNvSpPr/>
          <p:nvPr/>
        </p:nvSpPr>
        <p:spPr>
          <a:xfrm>
            <a:off x="5486400" y="1051560"/>
            <a:ext cx="54864" cy="3657600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46" name="Text 44"/>
          <p:cNvSpPr/>
          <p:nvPr/>
        </p:nvSpPr>
        <p:spPr>
          <a:xfrm>
            <a:off x="5669280" y="1143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BRING TO EVERY EVENT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669280" y="1463040"/>
            <a:ext cx="457200" cy="27432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48" name="Text 46"/>
          <p:cNvSpPr/>
          <p:nvPr/>
        </p:nvSpPr>
        <p:spPr>
          <a:xfrm>
            <a:off x="5669280" y="1627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080760" y="16276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product kit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080760" y="190195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1-pg PEN Foundation spec sheet, cost vs RCC table, QR linking to install video — Hindi + English.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669280" y="25877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080760" y="25877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PEN nail sample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080760" y="286207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portable, nothing beats putting the product in a buyer's hands.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669280" y="35478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080760" y="35478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pilot-project offer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080760" y="382219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“First project in your city at demonstration pricing — in exchange for testimonial + site-visit rights.”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2743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828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C-DISC TECHNOLOGIES  |  NORTH INDIA GTM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03920" y="488289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EVENTS CALENDAR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Up at These Events — Your Buyers Are Already There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8138160" cy="36576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9" name="Shape 7"/>
          <p:cNvSpPr/>
          <p:nvPr/>
        </p:nvSpPr>
        <p:spPr>
          <a:xfrm>
            <a:off x="1102505" y="2688336"/>
            <a:ext cx="237744" cy="237744"/>
          </a:xfrm>
          <a:prstGeom prst="ellipse">
            <a:avLst/>
          </a:prstGeom>
          <a:solidFill>
            <a:srgbClr val="E873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6513" y="27523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221377" y="2606040"/>
            <a:ext cx="0" cy="182880"/>
          </a:xfrm>
          <a:prstGeom prst="line">
            <a:avLst/>
          </a:prstGeom>
          <a:noFill/>
          <a:ln w="9525">
            <a:solidFill>
              <a:srgbClr val="8A93A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85800" y="1143000"/>
            <a:ext cx="1071154" cy="1463040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143000"/>
            <a:ext cx="1071154" cy="3657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216152"/>
            <a:ext cx="107115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JAN–FEB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1463040"/>
            <a:ext cx="9797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Realty Expo (CREDAI UP)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1874520"/>
            <a:ext cx="1071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Lucknow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" y="2075688"/>
            <a:ext cx="97971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• demo video loop • brochure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2265099" y="2688336"/>
            <a:ext cx="237744" cy="237744"/>
          </a:xfrm>
          <a:prstGeom prst="ellipse">
            <a:avLst/>
          </a:prstGeom>
          <a:solidFill>
            <a:srgbClr val="E873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29107" y="27523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2383971" y="2825496"/>
            <a:ext cx="0" cy="237744"/>
          </a:xfrm>
          <a:prstGeom prst="line">
            <a:avLst/>
          </a:prstGeom>
          <a:noFill/>
          <a:ln w="9525">
            <a:solidFill>
              <a:srgbClr val="8A93A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848394" y="3063240"/>
            <a:ext cx="1071154" cy="1463040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48394" y="3063240"/>
            <a:ext cx="1071154" cy="3657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23" name="Text 21"/>
          <p:cNvSpPr/>
          <p:nvPr/>
        </p:nvSpPr>
        <p:spPr>
          <a:xfrm>
            <a:off x="1848394" y="3136392"/>
            <a:ext cx="107115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94114" y="3383280"/>
            <a:ext cx="9797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India Expo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48394" y="3794760"/>
            <a:ext cx="1071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894114" y="3995928"/>
            <a:ext cx="97971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Booth in 'Innovative Materials' (₹80–120K)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3427694" y="2688336"/>
            <a:ext cx="237744" cy="237744"/>
          </a:xfrm>
          <a:prstGeom prst="ellipse">
            <a:avLst/>
          </a:prstGeom>
          <a:solidFill>
            <a:srgbClr val="E873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91702" y="27523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3546566" y="2606040"/>
            <a:ext cx="0" cy="182880"/>
          </a:xfrm>
          <a:prstGeom prst="line">
            <a:avLst/>
          </a:prstGeom>
          <a:noFill/>
          <a:ln w="9525">
            <a:solidFill>
              <a:srgbClr val="8A93A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3010989" y="1143000"/>
            <a:ext cx="1071154" cy="1463040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10989" y="1143000"/>
            <a:ext cx="1071154" cy="3657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32" name="Text 30"/>
          <p:cNvSpPr/>
          <p:nvPr/>
        </p:nvSpPr>
        <p:spPr>
          <a:xfrm>
            <a:off x="3010989" y="1216152"/>
            <a:ext cx="107115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056709" y="1463040"/>
            <a:ext cx="9797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RE &amp; Infra Summit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010989" y="1874520"/>
            <a:ext cx="1071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Chandigarh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056709" y="2075688"/>
            <a:ext cx="97971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PEN Foundation for agri &amp; industrial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4590288" y="2688336"/>
            <a:ext cx="237744" cy="237744"/>
          </a:xfrm>
          <a:prstGeom prst="ellipse">
            <a:avLst/>
          </a:prstGeom>
          <a:solidFill>
            <a:srgbClr val="E873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54296" y="27523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4709160" y="2825496"/>
            <a:ext cx="0" cy="237744"/>
          </a:xfrm>
          <a:prstGeom prst="line">
            <a:avLst/>
          </a:prstGeom>
          <a:noFill/>
          <a:ln w="9525">
            <a:solidFill>
              <a:srgbClr val="8A93A0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173583" y="3063240"/>
            <a:ext cx="1071154" cy="1463040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73583" y="3063240"/>
            <a:ext cx="1071154" cy="3657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41" name="Text 39"/>
          <p:cNvSpPr/>
          <p:nvPr/>
        </p:nvSpPr>
        <p:spPr>
          <a:xfrm>
            <a:off x="4173583" y="3136392"/>
            <a:ext cx="107115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219303" y="3383280"/>
            <a:ext cx="9797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Warehousing Show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73583" y="3794760"/>
            <a:ext cx="1071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219303" y="3995928"/>
            <a:ext cx="97971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pre-eng + PEN Foundation package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5752882" y="2688336"/>
            <a:ext cx="237744" cy="237744"/>
          </a:xfrm>
          <a:prstGeom prst="ellipse">
            <a:avLst/>
          </a:prstGeom>
          <a:solidFill>
            <a:srgbClr val="E873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16890" y="27523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5871754" y="2606040"/>
            <a:ext cx="0" cy="182880"/>
          </a:xfrm>
          <a:prstGeom prst="line">
            <a:avLst/>
          </a:prstGeom>
          <a:noFill/>
          <a:ln w="9525">
            <a:solidFill>
              <a:srgbClr val="8A93A0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5336177" y="1143000"/>
            <a:ext cx="1071154" cy="1463040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36177" y="1143000"/>
            <a:ext cx="1071154" cy="3657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50" name="Text 48"/>
          <p:cNvSpPr/>
          <p:nvPr/>
        </p:nvSpPr>
        <p:spPr>
          <a:xfrm>
            <a:off x="5336177" y="1216152"/>
            <a:ext cx="107115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81897" y="1463040"/>
            <a:ext cx="9797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 North Infra Conclave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336177" y="1874520"/>
            <a:ext cx="1071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381897" y="2075688"/>
            <a:ext cx="97971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technical paper • speaking slot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6915477" y="2688336"/>
            <a:ext cx="237744" cy="237744"/>
          </a:xfrm>
          <a:prstGeom prst="ellipse">
            <a:avLst/>
          </a:prstGeom>
          <a:solidFill>
            <a:srgbClr val="E873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79485" y="27523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7034349" y="2825496"/>
            <a:ext cx="0" cy="237744"/>
          </a:xfrm>
          <a:prstGeom prst="line">
            <a:avLst/>
          </a:prstGeom>
          <a:noFill/>
          <a:ln w="9525">
            <a:solidFill>
              <a:srgbClr val="8A93A0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6498771" y="3063240"/>
            <a:ext cx="1071154" cy="1463040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98771" y="3063240"/>
            <a:ext cx="1071154" cy="3657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59" name="Text 57"/>
          <p:cNvSpPr/>
          <p:nvPr/>
        </p:nvSpPr>
        <p:spPr>
          <a:xfrm>
            <a:off x="6498771" y="3136392"/>
            <a:ext cx="107115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544491" y="3383280"/>
            <a:ext cx="9797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ACETECH Delhi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498771" y="3794760"/>
            <a:ext cx="1071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 M.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544491" y="3995928"/>
            <a:ext cx="97971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presence — N. India's largest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8078071" y="2688336"/>
            <a:ext cx="237744" cy="237744"/>
          </a:xfrm>
          <a:prstGeom prst="ellipse">
            <a:avLst/>
          </a:prstGeom>
          <a:solidFill>
            <a:srgbClr val="E873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42079" y="275234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5" name="Shape 63"/>
          <p:cNvSpPr/>
          <p:nvPr/>
        </p:nvSpPr>
        <p:spPr>
          <a:xfrm>
            <a:off x="8196943" y="2606040"/>
            <a:ext cx="0" cy="182880"/>
          </a:xfrm>
          <a:prstGeom prst="line">
            <a:avLst/>
          </a:prstGeom>
          <a:noFill/>
          <a:ln w="9525">
            <a:solidFill>
              <a:srgbClr val="8A93A0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7661366" y="1143000"/>
            <a:ext cx="1071154" cy="1463040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661366" y="1143000"/>
            <a:ext cx="1071154" cy="3657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68" name="Text 66"/>
          <p:cNvSpPr/>
          <p:nvPr/>
        </p:nvSpPr>
        <p:spPr>
          <a:xfrm>
            <a:off x="7661366" y="1216152"/>
            <a:ext cx="107115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707086" y="1463040"/>
            <a:ext cx="9797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CREDAI Rajasthan Convention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661366" y="1874520"/>
            <a:ext cx="10711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Jaipur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7707086" y="2075688"/>
            <a:ext cx="97971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+ affordable housing developer audience</a:t>
            </a:r>
            <a:endParaRPr lang="en-US" sz="780" dirty="0"/>
          </a:p>
        </p:txBody>
      </p:sp>
      <p:sp>
        <p:nvSpPr>
          <p:cNvPr id="72" name="Text 70"/>
          <p:cNvSpPr/>
          <p:nvPr/>
        </p:nvSpPr>
        <p:spPr>
          <a:xfrm>
            <a:off x="457200" y="289864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7772400" y="289864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11480" y="4572000"/>
            <a:ext cx="8321040" cy="2286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75" name="Text 73"/>
          <p:cNvSpPr/>
          <p:nvPr/>
        </p:nvSpPr>
        <p:spPr>
          <a:xfrm>
            <a:off x="50292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event: define the exact action — exhibit, speak, attend &amp; network, or submit a technical paper.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77440"/>
            <a:ext cx="9144000" cy="22860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0" y="548640"/>
            <a:ext cx="3017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1B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&amp; Content Outreach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65760" cy="3657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31012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Inbound While Running Outbound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C-DISC TECHNOLOGIES  |  NORTH INDIA GTM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2743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828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C-DISC TECHNOLOGIES  |  NORTH INDIA GTM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03920" y="488289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&amp; CONTENT OUTREACH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Presence That Converts North India Buyers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2715768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097280"/>
            <a:ext cx="2715768" cy="384048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152144"/>
            <a:ext cx="274320" cy="274320"/>
          </a:xfrm>
          <a:prstGeom prst="ellipse">
            <a:avLst/>
          </a:prstGeom>
          <a:solidFill>
            <a:srgbClr val="E8732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152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24328" y="116128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517904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— Asset #1 to Build First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1874520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3-min Hindi-dubbed PEN install video. Title: “बिना खुदाई के नींव — 3 दिन में तैयार | PEN Foundation by C-DISC”. Target 10K views in 6 months via paid promotion in UP/HR/RJ.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46120" y="1097280"/>
            <a:ext cx="2715768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097280"/>
            <a:ext cx="2715768" cy="384048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17" name="Shape 15"/>
          <p:cNvSpPr/>
          <p:nvPr/>
        </p:nvSpPr>
        <p:spPr>
          <a:xfrm>
            <a:off x="3383280" y="1152144"/>
            <a:ext cx="274320" cy="274320"/>
          </a:xfrm>
          <a:prstGeom prst="ellipse">
            <a:avLst/>
          </a:prstGeom>
          <a:solidFill>
            <a:srgbClr val="E8732A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1152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58968" y="116128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1517904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Broadcast Campaigns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83280" y="1874520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lists: (a) Farm contractors Punjab/Haryana, (b) Industrial shed consultants NCR, (c) Architects/SEs in UP. Monthly: project photos, cost snippets, case PDFs. Max 3 msgs/month — trust channel, not spam.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80760" y="1097280"/>
            <a:ext cx="2715768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1097280"/>
            <a:ext cx="2715768" cy="384048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1152144"/>
            <a:ext cx="274320" cy="274320"/>
          </a:xfrm>
          <a:prstGeom prst="ellipse">
            <a:avLst/>
          </a:prstGeom>
          <a:solidFill>
            <a:srgbClr val="E8732A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1152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⌕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93608" y="116128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1517904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— Intent Search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1874520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'pre-engineered foundation UP', 'industrial shed foundation Noida', 'modular home builder Rajasthan', 'farm shed Punjab'. Budget ₹15–20K/mo. Hindi+Eng landing page with WhatsApp CTA.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2843784"/>
            <a:ext cx="2715768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2843784"/>
            <a:ext cx="2715768" cy="384048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2898648"/>
            <a:ext cx="274320" cy="274320"/>
          </a:xfrm>
          <a:prstGeom prst="ellipse">
            <a:avLst/>
          </a:prstGeom>
          <a:solidFill>
            <a:srgbClr val="E8732A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2898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624328" y="290779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3264408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SEO Blog Content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3621024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articles/month: 'UP में industrial shed की नींव कैसे बनाएं', 'Rajasthan में modular homes की लागत', 'Punjab में poultry shed के लिए best foundation' — rank on Google &amp; drive inbound leads.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46120" y="2843784"/>
            <a:ext cx="2715768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46120" y="2843784"/>
            <a:ext cx="2715768" cy="384048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8" name="Shape 36"/>
          <p:cNvSpPr/>
          <p:nvPr/>
        </p:nvSpPr>
        <p:spPr>
          <a:xfrm>
            <a:off x="3383280" y="2898648"/>
            <a:ext cx="274320" cy="274320"/>
          </a:xfrm>
          <a:prstGeom prst="ellipse">
            <a:avLst/>
          </a:prstGeom>
          <a:solidFill>
            <a:srgbClr val="E8732A"/>
          </a:solidFill>
          <a:ln/>
        </p:spPr>
      </p:sp>
      <p:sp>
        <p:nvSpPr>
          <p:cNvPr id="39" name="Text 37"/>
          <p:cNvSpPr/>
          <p:nvPr/>
        </p:nvSpPr>
        <p:spPr>
          <a:xfrm>
            <a:off x="3383280" y="2898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58968" y="290779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37560" y="3264408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Geo-targeted Meta Ads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383280" y="3621024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30–55 yrs, interests = construction/real estate/farming/warehouse in UP, HR, PB, RJ. 30-sec before/after install video. CTA: 'WhatsApp us for a free quote.' Budget ₹10K/mo.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080760" y="2843784"/>
            <a:ext cx="2715768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80760" y="2843784"/>
            <a:ext cx="2715768" cy="384048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5" name="Shape 43"/>
          <p:cNvSpPr/>
          <p:nvPr/>
        </p:nvSpPr>
        <p:spPr>
          <a:xfrm>
            <a:off x="6217920" y="2898648"/>
            <a:ext cx="274320" cy="274320"/>
          </a:xfrm>
          <a:prstGeom prst="ellipse">
            <a:avLst/>
          </a:prstGeom>
          <a:solidFill>
            <a:srgbClr val="E8732A"/>
          </a:solidFill>
          <a:ln/>
        </p:spPr>
      </p:sp>
      <p:sp>
        <p:nvSpPr>
          <p:cNvPr id="46" name="Text 44"/>
          <p:cNvSpPr/>
          <p:nvPr/>
        </p:nvSpPr>
        <p:spPr>
          <a:xfrm>
            <a:off x="6217920" y="2898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293608" y="290779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172200" y="3264408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Construction Newsletter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217920" y="3621024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'North India Construction Brief' to 500+ architects/SEs/EPC contractors. Includes one C-DISC showcase, one cost comparison, one market stat. Grow list via LinkedIn opt-ins + event badge scans.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77440"/>
            <a:ext cx="9144000" cy="22860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0" y="548640"/>
            <a:ext cx="30175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1B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&amp; Channel Outreach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65760" cy="3657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31012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Your Reach Through the Right Partners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C-DISC TECHNOLOGIES  |  NORTH INDIA GTM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2743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828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C-DISC TECHNOLOGIES  |  NORTH INDIA GTM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03920" y="488289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&amp; CHANNEL OUTREACH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That Extend C-DISC's Outreach — Without a Large Team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4114800" cy="1627632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051560"/>
            <a:ext cx="502920" cy="32004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051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108813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EPC Contractors (Mid-size, N. India)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45389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doing industrial shed, warehouse, rural housing EPC in UP/NCR/RJ — ₹5–50 Cr turnover. They have the clients.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48640" y="187452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LinkedIn to MD/Director. Offer: C-DISC trains their site team, supplies product; EPC bills client. Margin share 12–15%.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48640" y="2432304"/>
            <a:ext cx="3840480" cy="201168"/>
          </a:xfrm>
          <a:prstGeom prst="rect">
            <a:avLst/>
          </a:prstGeom>
          <a:solidFill>
            <a:srgbClr val="FFF4EC"/>
          </a:solidFill>
          <a:ln w="6350">
            <a:solidFill>
              <a:srgbClr val="E873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432304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 5 EPC partners in Year 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17720" y="1051560"/>
            <a:ext cx="4114800" cy="1627632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1051560"/>
            <a:ext cx="502920" cy="32004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1051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108813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Consultants &amp; Architects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45389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SEs &amp; architects in Lucknow, Jaipur, Chandigarh, Dehradun, Kanpur.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54880" y="187452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WhatsApp a free technical spec pack: AutoCAD-compatible PEN drawings, load tables, install guide. If they spec it, they'll recommend it.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754880" y="2432304"/>
            <a:ext cx="3840480" cy="201168"/>
          </a:xfrm>
          <a:prstGeom prst="rect">
            <a:avLst/>
          </a:prstGeom>
          <a:solidFill>
            <a:srgbClr val="FFF4EC"/>
          </a:solidFill>
          <a:ln w="6350">
            <a:solidFill>
              <a:srgbClr val="E873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432304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 20 consultants in Year 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2788920"/>
            <a:ext cx="4114800" cy="1627632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2788920"/>
            <a:ext cx="502920" cy="32004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27889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282549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Fabricators in N. India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319125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fabricators building pre-eng shed structures — 200+ in Gr. Noida, Ludhiana, Kanpur industrial areas.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48640" y="361188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email + WhatsApp with demo video. Pitch: 'Add PEN Foundation to your shed package — no training, we deploy, you quote.'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48640" y="4169664"/>
            <a:ext cx="3840480" cy="201168"/>
          </a:xfrm>
          <a:prstGeom prst="rect">
            <a:avLst/>
          </a:prstGeom>
          <a:solidFill>
            <a:srgbClr val="FFF4EC"/>
          </a:solidFill>
          <a:ln w="6350">
            <a:solidFill>
              <a:srgbClr val="E873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169664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 10 fabricator partners in Year 1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17720" y="2788920"/>
            <a:ext cx="4114800" cy="1627632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2788920"/>
            <a:ext cx="502920" cy="32004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4" name="Text 32"/>
          <p:cNvSpPr/>
          <p:nvPr/>
        </p:nvSpPr>
        <p:spPr>
          <a:xfrm>
            <a:off x="4617720" y="27889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12080" y="282549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NABARD-Linked Rural Finance Officers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0" y="319125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NABARD field officers, cooperative bank agri loan officers in UP/PB/HR — finance farm infra for farmers.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754880" y="361188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 </a:t>
            </a:r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PEN as a NABARD-eligible farm infra product. Request inclusion on their recommended vendor list.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754880" y="4169664"/>
            <a:ext cx="3840480" cy="201168"/>
          </a:xfrm>
          <a:prstGeom prst="rect">
            <a:avLst/>
          </a:prstGeom>
          <a:solidFill>
            <a:srgbClr val="FFF4EC"/>
          </a:solidFill>
          <a:ln w="6350">
            <a:solidFill>
              <a:srgbClr val="E873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4169664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 Cover 4+ NABARD regional offices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2743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828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C-DISC TECHNOLOGIES  |  NORTH INDIA GTM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03920" y="488289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OUTREACH MESSAGES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Messages to Send — Copy, Customize, Send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1480" y="1005840"/>
            <a:ext cx="4114800" cy="1783080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005840"/>
            <a:ext cx="73152" cy="1783080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115568"/>
            <a:ext cx="960120" cy="219456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115568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EMAIL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45920" y="1115568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SHED DEVELOPER · NOIDA/YEIDA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1389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 </a:t>
            </a:r>
            <a:pPr indent="0" marL="0">
              <a:buNone/>
            </a:pPr>
            <a:r>
              <a:rPr lang="en-US" sz="9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your industrial shed in 72 hours — no excavation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94360" y="1682496"/>
            <a:ext cx="3749040" cy="13716"/>
          </a:xfrm>
          <a:prstGeom prst="rect">
            <a:avLst/>
          </a:prstGeom>
          <a:solidFill>
            <a:srgbClr val="D6DAE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73736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 [Name], We noticed you're developing industrial plots on the Yamuna Expressway belt. Our PEN Foundation — validated by NIT Calicut — eliminates deep excavation and installs in 2–3 days for single-storey industrial structures. Cost typically 20–30% lower than conventional RCC footing. Can I share a 2-minute installation video? Could save 3 weeks on your next project.” — [Name], C-DISC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1005840"/>
            <a:ext cx="4114800" cy="1783080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1005840"/>
            <a:ext cx="73152" cy="1783080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8" name="Shape 16"/>
          <p:cNvSpPr/>
          <p:nvPr/>
        </p:nvSpPr>
        <p:spPr>
          <a:xfrm>
            <a:off x="4800600" y="1115568"/>
            <a:ext cx="960120" cy="219456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115568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DM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852160" y="1115568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ENGINEER · LUCKNOW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0600" y="1389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 </a:t>
            </a:r>
            <a:pPr indent="0" marL="0">
              <a:buNone/>
            </a:pPr>
            <a:r>
              <a:rPr lang="en-US" sz="9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+ technical spec pack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800600" y="1682496"/>
            <a:ext cx="3749040" cy="13716"/>
          </a:xfrm>
          <a:prstGeom prst="rect">
            <a:avLst/>
          </a:prstGeom>
          <a:solidFill>
            <a:srgbClr val="D6DAE0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73736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 [Name], I came across your profile while looking for structural consultants in Lucknow. We've developed a pre-engineered nail foundation (NIT Calicut-validated) for G+1 and single-floor structures — might be worth adding to your spec toolkit. I can share technical drawings and load tables for your review. Would that be useful?”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2880360"/>
            <a:ext cx="4114800" cy="1783080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2880360"/>
            <a:ext cx="73152" cy="1783080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2990088"/>
            <a:ext cx="960120" cy="219456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2990088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0" y="2990088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EPC CONTRACTOR · HINDI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32644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 </a:t>
            </a:r>
            <a:pPr indent="0" marL="0">
              <a:buNone/>
            </a:pPr>
            <a:r>
              <a:rPr lang="en-US" sz="9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outreach to add PEN to EPC project mix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94360" y="3557016"/>
            <a:ext cx="3749040" cy="13716"/>
          </a:xfrm>
          <a:prstGeom prst="rect">
            <a:avLst/>
          </a:prstGeom>
          <a:solidFill>
            <a:srgbClr val="D6DAE0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61188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“Namaste [Name], aapke industrial shed projects ke liye ek naya foundation solution hai — PEN Foundation by C-DISC. NIT Calicut se validated, koi excavation nahi, 2–3 din mein install. Aap quote karo, hum supply aur install karenge. Ek 2-min ka video bhej sakta hoon?”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17720" y="2880360"/>
            <a:ext cx="4114800" cy="1783080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2880360"/>
            <a:ext cx="73152" cy="1783080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34" name="Shape 32"/>
          <p:cNvSpPr/>
          <p:nvPr/>
        </p:nvSpPr>
        <p:spPr>
          <a:xfrm>
            <a:off x="4800600" y="2990088"/>
            <a:ext cx="960120" cy="219456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2990088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852160" y="2990088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RESORT DEVELOPER · UTTARAKHAND / RAJASTHAN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32644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 </a:t>
            </a:r>
            <a:pPr indent="0" marL="0">
              <a:buNone/>
            </a:pPr>
            <a:r>
              <a:rPr lang="en-US" sz="9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Eco-cottages with zero land disturbance — modular, net zero energy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800600" y="3557016"/>
            <a:ext cx="3749040" cy="13716"/>
          </a:xfrm>
          <a:prstGeom prst="rect">
            <a:avLst/>
          </a:prstGeom>
          <a:solidFill>
            <a:srgbClr val="D6DAE0"/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361188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 [Name], For resort &amp; hospitality developers, our MNZE Homes offer relocatable eco-cottages with zero excavation (PEN Foundation) and integrated solar/energy systems. Perfect for eco-resort, glamping, or heritage stay projects where ground disturbance isn't permitted. Happy to share a site visit video — interested in a quick 15-min call?”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2743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828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C-DISC TECHNOLOGIES  |  NORTH INDIA GTM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03920" y="488289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 GEOGRAPHY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One Region. Win It. Then Expand.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02920" y="1051560"/>
            <a:ext cx="3200400" cy="3657600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12471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INDIA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2648" y="130759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 MAP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31520" y="1645920"/>
            <a:ext cx="868680" cy="502920"/>
          </a:xfrm>
          <a:prstGeom prst="rect">
            <a:avLst/>
          </a:prstGeom>
          <a:solidFill>
            <a:srgbClr val="E1E7F0"/>
          </a:solidFill>
          <a:ln w="5080">
            <a:solidFill>
              <a:srgbClr val="8A93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69164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· HARYANA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691640" y="1645920"/>
            <a:ext cx="777240" cy="502920"/>
          </a:xfrm>
          <a:prstGeom prst="rect">
            <a:avLst/>
          </a:prstGeom>
          <a:solidFill>
            <a:srgbClr val="E1E7F0"/>
          </a:solidFill>
          <a:ln w="5080">
            <a:solidFill>
              <a:srgbClr val="8A93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1640" y="16916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UTTARAKHAND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371600" y="2240280"/>
            <a:ext cx="502920" cy="365760"/>
          </a:xfrm>
          <a:prstGeom prst="rect">
            <a:avLst/>
          </a:prstGeom>
          <a:solidFill>
            <a:srgbClr val="E1E7F0"/>
          </a:solidFill>
          <a:ln w="5080">
            <a:solidFill>
              <a:srgbClr val="8A93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22860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965960" y="2240280"/>
            <a:ext cx="777240" cy="365760"/>
          </a:xfrm>
          <a:prstGeom prst="rect">
            <a:avLst/>
          </a:prstGeom>
          <a:solidFill>
            <a:srgbClr val="E1E7F0"/>
          </a:solidFill>
          <a:ln w="5080">
            <a:solidFill>
              <a:srgbClr val="8A93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228600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b="1" spc="50" kern="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 UP / NCR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31520" y="2697480"/>
            <a:ext cx="1097280" cy="1417320"/>
          </a:xfrm>
          <a:prstGeom prst="rect">
            <a:avLst/>
          </a:prstGeom>
          <a:solidFill>
            <a:srgbClr val="E1E7F0"/>
          </a:solidFill>
          <a:ln w="5080">
            <a:solidFill>
              <a:srgbClr val="8A93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7432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965960" y="2697480"/>
            <a:ext cx="1417320" cy="960120"/>
          </a:xfrm>
          <a:prstGeom prst="rect">
            <a:avLst/>
          </a:prstGeom>
          <a:solidFill>
            <a:srgbClr val="E1E7F0"/>
          </a:solidFill>
          <a:ln w="5080">
            <a:solidFill>
              <a:srgbClr val="8A93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65960" y="274320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25880" y="3749040"/>
            <a:ext cx="2057400" cy="640080"/>
          </a:xfrm>
          <a:prstGeom prst="rect">
            <a:avLst/>
          </a:prstGeom>
          <a:solidFill>
            <a:srgbClr val="E1E7F0"/>
          </a:solidFill>
          <a:ln w="5080">
            <a:solidFill>
              <a:srgbClr val="8A93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5880" y="379476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 PRADESH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496312" y="2359152"/>
            <a:ext cx="310896" cy="310896"/>
          </a:xfrm>
          <a:prstGeom prst="ellipse">
            <a:avLst/>
          </a:prstGeom>
          <a:solidFill>
            <a:srgbClr val="E873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96312" y="23591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42032" y="3227832"/>
            <a:ext cx="310896" cy="310896"/>
          </a:xfrm>
          <a:prstGeom prst="ellipse">
            <a:avLst/>
          </a:prstGeom>
          <a:solidFill>
            <a:srgbClr val="E873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42032" y="3227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21992" y="1764792"/>
            <a:ext cx="310896" cy="310896"/>
          </a:xfrm>
          <a:prstGeom prst="ellipse">
            <a:avLst/>
          </a:prstGeom>
          <a:solidFill>
            <a:srgbClr val="E873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21992" y="17647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931920" y="1051560"/>
            <a:ext cx="4800600" cy="1152144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69080" y="1216152"/>
            <a:ext cx="411480" cy="411480"/>
          </a:xfrm>
          <a:prstGeom prst="ellipse">
            <a:avLst/>
          </a:prstGeom>
          <a:solidFill>
            <a:srgbClr val="E873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69080" y="1216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0" y="114300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72000" y="13258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Yamuna Expressway / Greater Noida Belt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0" y="16002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density of industrial shed &amp; warehouse construction. YEIDA allottees actively building; PEC is already accepted here.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572000" y="18928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 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YEIDA allottee public list + India Warehousing Show + LinkedIn targeting 'YEIDA' keyword.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931920" y="2295144"/>
            <a:ext cx="4800600" cy="1152144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69080" y="2459736"/>
            <a:ext cx="411480" cy="411480"/>
          </a:xfrm>
          <a:prstGeom prst="ellipse">
            <a:avLst/>
          </a:prstGeom>
          <a:solidFill>
            <a:srgbClr val="1A3C5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69080" y="24597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572000" y="238658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PUSH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572000" y="256946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UP — Lucknow–Kanpur–Agra Belt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572000" y="284378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PMAY-G construction active. Individual plot owners building G+1 pucca homes. Poultry &amp; dairy infra growing rapidly.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572000" y="31363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 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CREDAI UP + NABARD UP + Hindi YouTube + WhatsApp in local contractor groups.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931920" y="3538728"/>
            <a:ext cx="4800600" cy="1152144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69080" y="3703320"/>
            <a:ext cx="411480" cy="411480"/>
          </a:xfrm>
          <a:prstGeom prst="ellipse">
            <a:avLst/>
          </a:prstGeom>
          <a:solidFill>
            <a:srgbClr val="2C54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69080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572000" y="363016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C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NICHE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572000" y="38130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Resort Belt — Uttarakhand + Rajasthan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572000" y="4087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MNZE Homes ideal for eco-resorts &amp; heritage stays. High willingness-to-pay; word-of-mouth spreads fast in hospitality circles.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572000" y="437997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 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'resort developer' + Uttarakhand Tourism Hotel Association + direct website form outreach.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32A"/>
          </a:solidFill>
          <a:ln w="12700">
            <a:solidFill>
              <a:srgbClr val="E873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2743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828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C-DISC TECHNOLOGIES  |  NORTH INDIA GTM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03920" y="488289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OUTREACH CALENDAR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45720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Month-by-Month Outreach Execution Plan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2606040" cy="292608"/>
          </a:xfrm>
          <a:prstGeom prst="rect">
            <a:avLst/>
          </a:prstGeom>
          <a:solidFill>
            <a:srgbClr val="1A3C5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515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17520" y="1051560"/>
            <a:ext cx="476250" cy="292608"/>
          </a:xfrm>
          <a:prstGeom prst="rect">
            <a:avLst/>
          </a:prstGeom>
          <a:solidFill>
            <a:srgbClr val="1A3C5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051560"/>
            <a:ext cx="4762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93770" y="1051560"/>
            <a:ext cx="476250" cy="292608"/>
          </a:xfrm>
          <a:prstGeom prst="rect">
            <a:avLst/>
          </a:prstGeom>
          <a:solidFill>
            <a:srgbClr val="1A3C5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770" y="1051560"/>
            <a:ext cx="4762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70020" y="1051560"/>
            <a:ext cx="476250" cy="292608"/>
          </a:xfrm>
          <a:prstGeom prst="rect">
            <a:avLst/>
          </a:prstGeom>
          <a:solidFill>
            <a:srgbClr val="1A3C5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0020" y="1051560"/>
            <a:ext cx="4762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46270" y="1051560"/>
            <a:ext cx="476250" cy="292608"/>
          </a:xfrm>
          <a:prstGeom prst="rect">
            <a:avLst/>
          </a:prstGeom>
          <a:solidFill>
            <a:srgbClr val="1A3C5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6270" y="1051560"/>
            <a:ext cx="4762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22520" y="1051560"/>
            <a:ext cx="476250" cy="292608"/>
          </a:xfrm>
          <a:prstGeom prst="rect">
            <a:avLst/>
          </a:prstGeom>
          <a:solidFill>
            <a:srgbClr val="1A3C5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22520" y="1051560"/>
            <a:ext cx="4762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98770" y="1051560"/>
            <a:ext cx="476250" cy="292608"/>
          </a:xfrm>
          <a:prstGeom prst="rect">
            <a:avLst/>
          </a:prstGeom>
          <a:solidFill>
            <a:srgbClr val="1A3C5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8770" y="1051560"/>
            <a:ext cx="4762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75020" y="1051560"/>
            <a:ext cx="476250" cy="292608"/>
          </a:xfrm>
          <a:prstGeom prst="rect">
            <a:avLst/>
          </a:prstGeom>
          <a:solidFill>
            <a:srgbClr val="1A3C5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75020" y="1051560"/>
            <a:ext cx="4762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51270" y="1051560"/>
            <a:ext cx="476250" cy="292608"/>
          </a:xfrm>
          <a:prstGeom prst="rect">
            <a:avLst/>
          </a:prstGeom>
          <a:solidFill>
            <a:srgbClr val="1A3C5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1270" y="1051560"/>
            <a:ext cx="4762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27520" y="1051560"/>
            <a:ext cx="476250" cy="292608"/>
          </a:xfrm>
          <a:prstGeom prst="rect">
            <a:avLst/>
          </a:prstGeom>
          <a:solidFill>
            <a:srgbClr val="1A3C5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27520" y="1051560"/>
            <a:ext cx="4762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03770" y="1051560"/>
            <a:ext cx="476250" cy="292608"/>
          </a:xfrm>
          <a:prstGeom prst="rect">
            <a:avLst/>
          </a:prstGeom>
          <a:solidFill>
            <a:srgbClr val="1A3C5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03770" y="1051560"/>
            <a:ext cx="4762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780020" y="1051560"/>
            <a:ext cx="476250" cy="292608"/>
          </a:xfrm>
          <a:prstGeom prst="rect">
            <a:avLst/>
          </a:prstGeom>
          <a:solidFill>
            <a:srgbClr val="1A3C5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80020" y="1051560"/>
            <a:ext cx="4762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256270" y="1051560"/>
            <a:ext cx="476250" cy="292608"/>
          </a:xfrm>
          <a:prstGeom prst="rect">
            <a:avLst/>
          </a:prstGeom>
          <a:solidFill>
            <a:srgbClr val="1A3C5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6270" y="1051560"/>
            <a:ext cx="47625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" y="1344168"/>
            <a:ext cx="260604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" y="13441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Installation Video Production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017520" y="134416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54096" y="141732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38" name="Shape 36"/>
          <p:cNvSpPr/>
          <p:nvPr/>
        </p:nvSpPr>
        <p:spPr>
          <a:xfrm>
            <a:off x="3493770" y="134416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30346" y="141732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40" name="Shape 38"/>
          <p:cNvSpPr/>
          <p:nvPr/>
        </p:nvSpPr>
        <p:spPr>
          <a:xfrm>
            <a:off x="3970020" y="134416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46270" y="134416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22520" y="134416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98770" y="134416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75020" y="134416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51270" y="134416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27520" y="134416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03770" y="134416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80020" y="134416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56270" y="134416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1480" y="1709928"/>
            <a:ext cx="26060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1208" y="17099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Outreach (200 contacts/month)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017520" y="170992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054096" y="178308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54" name="Shape 52"/>
          <p:cNvSpPr/>
          <p:nvPr/>
        </p:nvSpPr>
        <p:spPr>
          <a:xfrm>
            <a:off x="3493770" y="170992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30346" y="178308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56" name="Shape 54"/>
          <p:cNvSpPr/>
          <p:nvPr/>
        </p:nvSpPr>
        <p:spPr>
          <a:xfrm>
            <a:off x="3970020" y="170992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006596" y="178308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58" name="Shape 56"/>
          <p:cNvSpPr/>
          <p:nvPr/>
        </p:nvSpPr>
        <p:spPr>
          <a:xfrm>
            <a:off x="4446270" y="170992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482846" y="178308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60" name="Shape 58"/>
          <p:cNvSpPr/>
          <p:nvPr/>
        </p:nvSpPr>
        <p:spPr>
          <a:xfrm>
            <a:off x="4922520" y="170992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959096" y="178308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62" name="Shape 60"/>
          <p:cNvSpPr/>
          <p:nvPr/>
        </p:nvSpPr>
        <p:spPr>
          <a:xfrm>
            <a:off x="5398770" y="170992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435346" y="178308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64" name="Shape 62"/>
          <p:cNvSpPr/>
          <p:nvPr/>
        </p:nvSpPr>
        <p:spPr>
          <a:xfrm>
            <a:off x="5875020" y="170992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11596" y="178308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66" name="Shape 64"/>
          <p:cNvSpPr/>
          <p:nvPr/>
        </p:nvSpPr>
        <p:spPr>
          <a:xfrm>
            <a:off x="6351270" y="170992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87846" y="178308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68" name="Shape 66"/>
          <p:cNvSpPr/>
          <p:nvPr/>
        </p:nvSpPr>
        <p:spPr>
          <a:xfrm>
            <a:off x="6827520" y="170992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64096" y="178308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70" name="Shape 68"/>
          <p:cNvSpPr/>
          <p:nvPr/>
        </p:nvSpPr>
        <p:spPr>
          <a:xfrm>
            <a:off x="7303770" y="170992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340346" y="178308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72" name="Shape 70"/>
          <p:cNvSpPr/>
          <p:nvPr/>
        </p:nvSpPr>
        <p:spPr>
          <a:xfrm>
            <a:off x="7780020" y="170992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816596" y="178308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74" name="Shape 72"/>
          <p:cNvSpPr/>
          <p:nvPr/>
        </p:nvSpPr>
        <p:spPr>
          <a:xfrm>
            <a:off x="8256270" y="170992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92846" y="178308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76" name="Shape 74"/>
          <p:cNvSpPr/>
          <p:nvPr/>
        </p:nvSpPr>
        <p:spPr>
          <a:xfrm>
            <a:off x="411480" y="2075688"/>
            <a:ext cx="260604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21208" y="20756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Email Campaign (3 segments)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017520" y="207568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493770" y="207568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530346" y="214884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81" name="Shape 79"/>
          <p:cNvSpPr/>
          <p:nvPr/>
        </p:nvSpPr>
        <p:spPr>
          <a:xfrm>
            <a:off x="3970020" y="207568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006596" y="214884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83" name="Shape 81"/>
          <p:cNvSpPr/>
          <p:nvPr/>
        </p:nvSpPr>
        <p:spPr>
          <a:xfrm>
            <a:off x="4446270" y="207568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482846" y="214884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85" name="Shape 83"/>
          <p:cNvSpPr/>
          <p:nvPr/>
        </p:nvSpPr>
        <p:spPr>
          <a:xfrm>
            <a:off x="4922520" y="207568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959096" y="214884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87" name="Shape 85"/>
          <p:cNvSpPr/>
          <p:nvPr/>
        </p:nvSpPr>
        <p:spPr>
          <a:xfrm>
            <a:off x="5398770" y="207568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435346" y="214884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89" name="Shape 87"/>
          <p:cNvSpPr/>
          <p:nvPr/>
        </p:nvSpPr>
        <p:spPr>
          <a:xfrm>
            <a:off x="5875020" y="207568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911596" y="214884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91" name="Shape 89"/>
          <p:cNvSpPr/>
          <p:nvPr/>
        </p:nvSpPr>
        <p:spPr>
          <a:xfrm>
            <a:off x="6351270" y="207568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387846" y="214884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93" name="Shape 91"/>
          <p:cNvSpPr/>
          <p:nvPr/>
        </p:nvSpPr>
        <p:spPr>
          <a:xfrm>
            <a:off x="6827520" y="207568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864096" y="214884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95" name="Shape 93"/>
          <p:cNvSpPr/>
          <p:nvPr/>
        </p:nvSpPr>
        <p:spPr>
          <a:xfrm>
            <a:off x="7303770" y="207568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340346" y="214884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97" name="Shape 95"/>
          <p:cNvSpPr/>
          <p:nvPr/>
        </p:nvSpPr>
        <p:spPr>
          <a:xfrm>
            <a:off x="7780020" y="207568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816596" y="214884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99" name="Shape 97"/>
          <p:cNvSpPr/>
          <p:nvPr/>
        </p:nvSpPr>
        <p:spPr>
          <a:xfrm>
            <a:off x="8256270" y="207568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292846" y="214884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01" name="Shape 99"/>
          <p:cNvSpPr/>
          <p:nvPr/>
        </p:nvSpPr>
        <p:spPr>
          <a:xfrm>
            <a:off x="411480" y="2441448"/>
            <a:ext cx="26060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21208" y="24414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— North India keywords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3017520" y="244144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493770" y="244144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970020" y="244144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006596" y="251460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4446270" y="244144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482846" y="251460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09" name="Shape 107"/>
          <p:cNvSpPr/>
          <p:nvPr/>
        </p:nvSpPr>
        <p:spPr>
          <a:xfrm>
            <a:off x="4922520" y="244144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959096" y="251460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98770" y="244144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435346" y="251460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75020" y="244144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911596" y="251460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15" name="Shape 113"/>
          <p:cNvSpPr/>
          <p:nvPr/>
        </p:nvSpPr>
        <p:spPr>
          <a:xfrm>
            <a:off x="6351270" y="244144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387846" y="251460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17" name="Shape 115"/>
          <p:cNvSpPr/>
          <p:nvPr/>
        </p:nvSpPr>
        <p:spPr>
          <a:xfrm>
            <a:off x="6827520" y="244144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864096" y="251460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19" name="Shape 117"/>
          <p:cNvSpPr/>
          <p:nvPr/>
        </p:nvSpPr>
        <p:spPr>
          <a:xfrm>
            <a:off x="7303770" y="244144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340346" y="251460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21" name="Shape 119"/>
          <p:cNvSpPr/>
          <p:nvPr/>
        </p:nvSpPr>
        <p:spPr>
          <a:xfrm>
            <a:off x="7780020" y="244144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816596" y="251460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23" name="Shape 121"/>
          <p:cNvSpPr/>
          <p:nvPr/>
        </p:nvSpPr>
        <p:spPr>
          <a:xfrm>
            <a:off x="8256270" y="244144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292846" y="251460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25" name="Shape 123"/>
          <p:cNvSpPr/>
          <p:nvPr/>
        </p:nvSpPr>
        <p:spPr>
          <a:xfrm>
            <a:off x="411480" y="2807208"/>
            <a:ext cx="260604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21208" y="28072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Membership (CREDAI UP, CII)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3017520" y="280720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054096" y="288036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29" name="Shape 127"/>
          <p:cNvSpPr/>
          <p:nvPr/>
        </p:nvSpPr>
        <p:spPr>
          <a:xfrm>
            <a:off x="3493770" y="280720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530346" y="288036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31" name="Shape 129"/>
          <p:cNvSpPr/>
          <p:nvPr/>
        </p:nvSpPr>
        <p:spPr>
          <a:xfrm>
            <a:off x="3970020" y="280720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446270" y="280720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922520" y="280720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398770" y="280720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875020" y="280720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351270" y="280720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827520" y="280720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303770" y="280720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780020" y="280720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256270" y="280720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11480" y="3172968"/>
            <a:ext cx="26060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21208" y="31729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Presence (Build India, ACETECH…)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3017520" y="317296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493770" y="317296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530346" y="324612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46" name="Shape 144"/>
          <p:cNvSpPr/>
          <p:nvPr/>
        </p:nvSpPr>
        <p:spPr>
          <a:xfrm>
            <a:off x="3970020" y="317296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446270" y="317296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922520" y="317296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398770" y="317296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875020" y="317296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351270" y="317296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827520" y="317296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864096" y="324612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303770" y="317296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780020" y="317296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256270" y="317296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292846" y="324612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58" name="Shape 156"/>
          <p:cNvSpPr/>
          <p:nvPr/>
        </p:nvSpPr>
        <p:spPr>
          <a:xfrm>
            <a:off x="411480" y="3538728"/>
            <a:ext cx="260604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521208" y="35387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EPC Partner Outreach (5 partners)</a:t>
            </a:r>
            <a:endParaRPr lang="en-US" sz="900" dirty="0"/>
          </a:p>
        </p:txBody>
      </p:sp>
      <p:sp>
        <p:nvSpPr>
          <p:cNvPr id="160" name="Shape 158"/>
          <p:cNvSpPr/>
          <p:nvPr/>
        </p:nvSpPr>
        <p:spPr>
          <a:xfrm>
            <a:off x="3017520" y="353872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3493770" y="353872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970020" y="353872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4006596" y="361188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64" name="Shape 162"/>
          <p:cNvSpPr/>
          <p:nvPr/>
        </p:nvSpPr>
        <p:spPr>
          <a:xfrm>
            <a:off x="4446270" y="353872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4482846" y="361188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66" name="Shape 164"/>
          <p:cNvSpPr/>
          <p:nvPr/>
        </p:nvSpPr>
        <p:spPr>
          <a:xfrm>
            <a:off x="4922520" y="353872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959096" y="361188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68" name="Shape 166"/>
          <p:cNvSpPr/>
          <p:nvPr/>
        </p:nvSpPr>
        <p:spPr>
          <a:xfrm>
            <a:off x="5398770" y="353872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435346" y="361188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70" name="Shape 168"/>
          <p:cNvSpPr/>
          <p:nvPr/>
        </p:nvSpPr>
        <p:spPr>
          <a:xfrm>
            <a:off x="5875020" y="353872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351270" y="353872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827520" y="353872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303770" y="353872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780020" y="353872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256270" y="3538728"/>
            <a:ext cx="476250" cy="365760"/>
          </a:xfrm>
          <a:prstGeom prst="rect">
            <a:avLst/>
          </a:prstGeom>
          <a:solidFill>
            <a:srgbClr val="FAFBFC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411480" y="3904488"/>
            <a:ext cx="26060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521208" y="39044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Broadcast Campaigns</a:t>
            </a:r>
            <a:endParaRPr lang="en-US" sz="900" dirty="0"/>
          </a:p>
        </p:txBody>
      </p:sp>
      <p:sp>
        <p:nvSpPr>
          <p:cNvPr id="178" name="Shape 176"/>
          <p:cNvSpPr/>
          <p:nvPr/>
        </p:nvSpPr>
        <p:spPr>
          <a:xfrm>
            <a:off x="3017520" y="390448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3493770" y="390448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3970020" y="390448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4006596" y="397764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82" name="Shape 180"/>
          <p:cNvSpPr/>
          <p:nvPr/>
        </p:nvSpPr>
        <p:spPr>
          <a:xfrm>
            <a:off x="4446270" y="390448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4482846" y="397764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84" name="Shape 182"/>
          <p:cNvSpPr/>
          <p:nvPr/>
        </p:nvSpPr>
        <p:spPr>
          <a:xfrm>
            <a:off x="4922520" y="390448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4959096" y="397764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86" name="Shape 184"/>
          <p:cNvSpPr/>
          <p:nvPr/>
        </p:nvSpPr>
        <p:spPr>
          <a:xfrm>
            <a:off x="5398770" y="390448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5435346" y="397764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88" name="Shape 186"/>
          <p:cNvSpPr/>
          <p:nvPr/>
        </p:nvSpPr>
        <p:spPr>
          <a:xfrm>
            <a:off x="5875020" y="390448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5911596" y="397764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90" name="Shape 188"/>
          <p:cNvSpPr/>
          <p:nvPr/>
        </p:nvSpPr>
        <p:spPr>
          <a:xfrm>
            <a:off x="6351270" y="390448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387846" y="397764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92" name="Shape 190"/>
          <p:cNvSpPr/>
          <p:nvPr/>
        </p:nvSpPr>
        <p:spPr>
          <a:xfrm>
            <a:off x="6827520" y="390448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864096" y="397764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94" name="Shape 192"/>
          <p:cNvSpPr/>
          <p:nvPr/>
        </p:nvSpPr>
        <p:spPr>
          <a:xfrm>
            <a:off x="7303770" y="390448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340346" y="397764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96" name="Shape 194"/>
          <p:cNvSpPr/>
          <p:nvPr/>
        </p:nvSpPr>
        <p:spPr>
          <a:xfrm>
            <a:off x="7780020" y="390448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816596" y="397764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98" name="Shape 196"/>
          <p:cNvSpPr/>
          <p:nvPr/>
        </p:nvSpPr>
        <p:spPr>
          <a:xfrm>
            <a:off x="8256270" y="3904488"/>
            <a:ext cx="47625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6DAE0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8292846" y="3977640"/>
            <a:ext cx="403098" cy="219456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200" name="Shape 198"/>
          <p:cNvSpPr/>
          <p:nvPr/>
        </p:nvSpPr>
        <p:spPr>
          <a:xfrm>
            <a:off x="411480" y="4434840"/>
            <a:ext cx="182880" cy="146304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201" name="Text 199"/>
          <p:cNvSpPr/>
          <p:nvPr/>
        </p:nvSpPr>
        <p:spPr>
          <a:xfrm>
            <a:off x="649224" y="44074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outreach in month</a:t>
            </a:r>
            <a:endParaRPr lang="en-US" sz="900" dirty="0"/>
          </a:p>
        </p:txBody>
      </p:sp>
      <p:sp>
        <p:nvSpPr>
          <p:cNvPr id="202" name="Shape 200"/>
          <p:cNvSpPr/>
          <p:nvPr/>
        </p:nvSpPr>
        <p:spPr>
          <a:xfrm>
            <a:off x="3520440" y="4434840"/>
            <a:ext cx="182880" cy="146304"/>
          </a:xfrm>
          <a:prstGeom prst="rect">
            <a:avLst/>
          </a:prstGeom>
          <a:solidFill>
            <a:srgbClr val="FAFBFC"/>
          </a:solidFill>
          <a:ln w="6350">
            <a:solidFill>
              <a:srgbClr val="D6DAE0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3758184" y="44074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/ off-cycle</a:t>
            </a:r>
            <a:endParaRPr lang="en-US" sz="900" dirty="0"/>
          </a:p>
        </p:txBody>
      </p:sp>
      <p:sp>
        <p:nvSpPr>
          <p:cNvPr id="204" name="Shape 202"/>
          <p:cNvSpPr/>
          <p:nvPr/>
        </p:nvSpPr>
        <p:spPr>
          <a:xfrm>
            <a:off x="5440680" y="4389120"/>
            <a:ext cx="3291840" cy="256032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205" name="Text 203"/>
          <p:cNvSpPr/>
          <p:nvPr/>
        </p:nvSpPr>
        <p:spPr>
          <a:xfrm>
            <a:off x="5440680" y="43891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PARALLEL WORKSTREAMS · RUN SIMULTANEOUSLY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7589520" y="0"/>
            <a:ext cx="1554480" cy="2194560"/>
          </a:xfrm>
          <a:prstGeom prst="rtTriangle">
            <a:avLst/>
          </a:prstGeom>
          <a:solidFill>
            <a:srgbClr val="E8732A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1280160"/>
            <a:ext cx="256032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960120"/>
            <a:ext cx="228600" cy="12344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45720" cy="914400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 |  THE PATH FORWARD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North Is Ready.</a:t>
            </a:r>
            <a:endParaRPr lang="en-US" sz="3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Conversation.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E87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poultry shed. Every farm godown. Every industrial plot. Every eco-resort. Every G+1 home in North India is a C-DISC opportunity.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274320" cy="27432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3101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3675888"/>
            <a:ext cx="118872" cy="118872"/>
          </a:xfrm>
          <a:prstGeom prst="ellipse">
            <a:avLst/>
          </a:prstGeom>
          <a:solidFill>
            <a:srgbClr val="E8732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6118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Hindi installation video — the #1 outreach asset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3968496"/>
            <a:ext cx="118872" cy="118872"/>
          </a:xfrm>
          <a:prstGeom prst="ellipse">
            <a:avLst/>
          </a:prstGeom>
          <a:solidFill>
            <a:srgbClr val="E8732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90448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LinkedIn target list (200 contacts) — begin outreach Week 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4261104"/>
            <a:ext cx="118872" cy="118872"/>
          </a:xfrm>
          <a:prstGeom prst="ellipse">
            <a:avLst/>
          </a:prstGeom>
          <a:solidFill>
            <a:srgbClr val="E8732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19709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for CREDAI UP and India Warehousing Show this month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736592"/>
            <a:ext cx="9144000" cy="22860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8006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C-DISC TECHNOLOGIES  |  cdisctechnologies.com  |  cdiscpvtltd@gmail.com  |  +91 9847434848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C-DISC Technologies — North India GTM Outreach Strategy</dc:title>
  <dc:subject>PptxGenJS Presentation</dc:subject>
  <dc:creator>C-DISC Technologies Pvt Ltd</dc:creator>
  <cp:lastModifiedBy>C-DISC Technologies Pvt Ltd</cp:lastModifiedBy>
  <cp:revision>1</cp:revision>
  <dcterms:created xsi:type="dcterms:W3CDTF">2026-05-12T11:02:36Z</dcterms:created>
  <dcterms:modified xsi:type="dcterms:W3CDTF">2026-05-12T11:02:36Z</dcterms:modified>
</cp:coreProperties>
</file>