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@saathsetu (Hindi, audit 149)</c:v>
                </c:pt>
              </c:strCache>
            </c:strRef>
          </c:tx>
          <c:spPr>
            <a:solidFill>
              <a:srgbClr val="C9A84C"/>
            </a:solidFill>
            <a:ln w="38100" cap="flat">
              <a:solidFill>
                <a:srgbClr val="C9A8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Now</c:v>
                  </c:pt>
                  <c:pt idx="1">
                    <c:v>T+1</c:v>
                  </c:pt>
                  <c:pt idx="2">
                    <c:v>T+2</c:v>
                  </c:pt>
                  <c:pt idx="3">
                    <c:v>T+3</c:v>
                  </c:pt>
                  <c:pt idx="4">
                    <c:v>T+4</c:v>
                  </c:pt>
                  <c:pt idx="5">
                    <c:v>T+5</c:v>
                  </c:pt>
                  <c:pt idx="6">
                    <c:v>T+6</c:v>
                  </c:pt>
                  <c:pt idx="7">
                    <c:v>T+7</c:v>
                  </c:pt>
                  <c:pt idx="8">
                    <c:v>T+8</c:v>
                  </c:pt>
                  <c:pt idx="9">
                    <c:v>T+9</c:v>
                  </c:pt>
                  <c:pt idx="10">
                    <c:v>T+10</c:v>
                  </c:pt>
                  <c:pt idx="11">
                    <c:v>T+11</c:v>
                  </c:pt>
                  <c:pt idx="12">
                    <c:v>T+12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@drishtiastro (Marathi, audit 0)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Now</c:v>
                  </c:pt>
                  <c:pt idx="1">
                    <c:v>T+1</c:v>
                  </c:pt>
                  <c:pt idx="2">
                    <c:v>T+2</c:v>
                  </c:pt>
                  <c:pt idx="3">
                    <c:v>T+3</c:v>
                  </c:pt>
                  <c:pt idx="4">
                    <c:v>T+4</c:v>
                  </c:pt>
                  <c:pt idx="5">
                    <c:v>T+5</c:v>
                  </c:pt>
                  <c:pt idx="6">
                    <c:v>T+6</c:v>
                  </c:pt>
                  <c:pt idx="7">
                    <c:v>T+7</c:v>
                  </c:pt>
                  <c:pt idx="8">
                    <c:v>T+8</c:v>
                  </c:pt>
                  <c:pt idx="9">
                    <c:v>T+9</c:v>
                  </c:pt>
                  <c:pt idx="10">
                    <c:v>T+10</c:v>
                  </c:pt>
                  <c:pt idx="11">
                    <c:v>T+11</c:v>
                  </c:pt>
                  <c:pt idx="12">
                    <c:v>T+12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@rashitattva (Hindi, audit 1)</c:v>
                </c:pt>
              </c:strCache>
            </c:strRef>
          </c:tx>
          <c:spPr>
            <a:solidFill>
              <a:srgbClr val="EA580C"/>
            </a:solidFill>
            <a:ln w="3810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Now</c:v>
                  </c:pt>
                  <c:pt idx="1">
                    <c:v>T+1</c:v>
                  </c:pt>
                  <c:pt idx="2">
                    <c:v>T+2</c:v>
                  </c:pt>
                  <c:pt idx="3">
                    <c:v>T+3</c:v>
                  </c:pt>
                  <c:pt idx="4">
                    <c:v>T+4</c:v>
                  </c:pt>
                  <c:pt idx="5">
                    <c:v>T+5</c:v>
                  </c:pt>
                  <c:pt idx="6">
                    <c:v>T+6</c:v>
                  </c:pt>
                  <c:pt idx="7">
                    <c:v>T+7</c:v>
                  </c:pt>
                  <c:pt idx="8">
                    <c:v>T+8</c:v>
                  </c:pt>
                  <c:pt idx="9">
                    <c:v>T+9</c:v>
                  </c:pt>
                  <c:pt idx="10">
                    <c:v>T+10</c:v>
                  </c:pt>
                  <c:pt idx="11">
                    <c:v>T+11</c:v>
                  </c:pt>
                  <c:pt idx="12">
                    <c:v>T+12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@astrosaadhan (Hindi, audit 3)</c:v>
                </c:pt>
              </c:strCache>
            </c:strRef>
          </c:tx>
          <c:spPr>
            <a:solidFill>
              <a:srgbClr val="7C3AED"/>
            </a:solidFill>
            <a:ln w="381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Now</c:v>
                  </c:pt>
                  <c:pt idx="1">
                    <c:v>T+1</c:v>
                  </c:pt>
                  <c:pt idx="2">
                    <c:v>T+2</c:v>
                  </c:pt>
                  <c:pt idx="3">
                    <c:v>T+3</c:v>
                  </c:pt>
                  <c:pt idx="4">
                    <c:v>T+4</c:v>
                  </c:pt>
                  <c:pt idx="5">
                    <c:v>T+5</c:v>
                  </c:pt>
                  <c:pt idx="6">
                    <c:v>T+6</c:v>
                  </c:pt>
                  <c:pt idx="7">
                    <c:v>T+7</c:v>
                  </c:pt>
                  <c:pt idx="8">
                    <c:v>T+8</c:v>
                  </c:pt>
                  <c:pt idx="9">
                    <c:v>T+9</c:v>
                  </c:pt>
                  <c:pt idx="10">
                    <c:v>T+10</c:v>
                  </c:pt>
                  <c:pt idx="11">
                    <c:v>T+11</c:v>
                  </c:pt>
                  <c:pt idx="12">
                    <c:v>T+12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760720"/>
            <a:ext cx="121615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875520" y="731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822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ASTROLOGY PORTFOLIO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28016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Monetization
</a:t>
            </a:r>
            <a:pPr indent="0" marL="0">
              <a:buNone/>
            </a:pPr>
            <a:r>
              <a:rPr lang="en-US" sz="3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Conversion Strategy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playbook to scale 4 automated Instagram pages from 153 total followers across the portfolio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scraped ig_audit.json) — built around the @saathsetu blueprint, an offline trust network,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multi-channel distribution. Quantitative targets to be set by leadership.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09728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63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 by leadership]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4663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 SCOPE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4028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IG Handles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4663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3192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followers (audit)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3560" y="4663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2356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TBD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Internal Strategy Review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· Complication · Resolution — The SCR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McKinsey-style problem framing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36576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51560"/>
            <a:ext cx="54864" cy="5303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097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155448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automated IG pages in Marathi &amp; Hindi astrology niche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current followers across portfolio: 153 (per ig_audit.json)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@saathsetu is verified and posting at reach (avg 1,844 views)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₹199 Kundli landing pages live on bhagvatgitadaily.com subdomains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02920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astrology category is large and growing — exact TAM [TBD by sizing study]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051560"/>
            <a:ext cx="36576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1051560"/>
            <a:ext cx="54864" cy="53035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1097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34840" y="155448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accounts in algorithm cold-start trap (0–3 followers each)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24231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platform–audience mismatch: typical buyers older than IG-dominant cohort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329184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single-product (₹199) LTV likely too low to support paid acquisition at scale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34840" y="41605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offline trust anchors (temple, pandit, regional referral network)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502920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channel diversification — no WhatsApp / YouTube / IVR pipeline live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1051560"/>
            <a:ext cx="36576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21040" y="1051560"/>
            <a:ext cx="54864" cy="53035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247120" y="1097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58200" y="155448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Dual-audience playbook: Elders (trust track) + Youth (virality track)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58200" y="24231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trust layer: temple QR + pandit revenue-share network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58200" y="329184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distribution: IG + WhatsApp + YouTube + IVR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58200" y="41605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ladder (freemium → premium) with exact pricing [TBD]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58200" y="502920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90-day execution — KPI targets to be set with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Astrology Market — Demand-Side Picture (qualitative)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TAM/SAM/SOM left as [TBD] — requires a sourced sizing study before any quantitative claim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2743200" cy="1828800"/>
          </a:xfrm>
          <a:prstGeom prst="rect">
            <a:avLst/>
          </a:prstGeom>
          <a:solidFill>
            <a:srgbClr val="0B1F4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111556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148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Total Addressable Market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Source-cited estimate required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051560"/>
            <a:ext cx="2743200" cy="1828800"/>
          </a:xfrm>
          <a:prstGeom prst="rect">
            <a:avLst/>
          </a:prstGeom>
          <a:solidFill>
            <a:srgbClr val="1A3A6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55848" y="111556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3756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Digital Astrology Services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Source-cited estimate required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2200" y="1051560"/>
            <a:ext cx="2743200" cy="1828800"/>
          </a:xfrm>
          <a:prstGeom prst="rect">
            <a:avLst/>
          </a:prstGeom>
          <a:solidFill>
            <a:srgbClr val="0D9488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81928" y="111556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636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Automated Hindi/Marathi Niche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Source-cited estimate required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098280" y="1051560"/>
            <a:ext cx="2743200" cy="1828800"/>
          </a:xfrm>
          <a:prstGeom prst="rect">
            <a:avLst/>
          </a:prstGeom>
          <a:solidFill>
            <a:srgbClr val="2D9D78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08008" y="111556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8972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Growth Rate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8972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CRISIL / IBEF / RedSeer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063240"/>
            <a:ext cx="5669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63240"/>
            <a:ext cx="54864" cy="32918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54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DEMAND DRIVERS (qualitative)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35478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Hindi/regional content demand rising — exact penetration % [TBD]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9776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🏛️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0050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Astrology consumption remains culturally embedded across India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4348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👵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" y="44622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45-70 age cohort: higher willingness to pay, least served digitally (qualitative)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" y="49194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accelerated shift from offline pandits to digital astrology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349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" y="53766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is the primary trust channel for older Indian users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5806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🌙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68680" y="58338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Gen-Z astro-curiosity growing — exact growth rate [TBD]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3063240"/>
            <a:ext cx="5669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09360" y="3154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COHORTS (qualitative ranking)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6364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45-70 (Elder)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41248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spend, HIGH WTP, LOW digital penetration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6364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28-44 (Mid)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41248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spend, MED WTP, MED digital penetration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63640" y="4617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16-27 (Youth)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41248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 per head, viral potential, HIGH digital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63640" y="5166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B2B / Syndication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41248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sales cycle, recurring contracts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63640" y="6035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% shares per cohort to be sourced (FICCI / RedSeer / NCAER) before quoting in external decks.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AUDIT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Reality Check — Scraped Instagram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verified metrics from ig_audit.json | No estimates on this slide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11521440" cy="310896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822960"/>
                <a:gridCol w="914400"/>
                <a:gridCol w="960120"/>
                <a:gridCol w="960120"/>
                <a:gridCol w="1005840"/>
                <a:gridCol w="100584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FOLLOWERS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VERIFIED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LIKES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VIEWS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MAX VIEWS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LANGUAGE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B"/>
                          </a:solidFill>
                        </a:rPr>
                        <a:t>@saathsetu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9D78"/>
                          </a:solidFill>
                        </a:rPr>
                        <a:t>149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9D78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352.8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9D78"/>
                          </a:solidFill>
                        </a:rPr>
                        <a:t>1,844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9D78"/>
                          </a:solidFill>
                        </a:rPr>
                        <a:t>8,518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Hindi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9D78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@drishtiastro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0.5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56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Marathi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DORMANT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@rashitattva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1.1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580C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580C"/>
                          </a:solidFill>
                        </a:rPr>
                        <a:t>615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Hindi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</a:rPr>
                        <a:t>WEAK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@astrosaadhan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0.3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Hindi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DORMANT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429768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4297680"/>
            <a:ext cx="54864" cy="219456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" y="4370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Concentration Risk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736592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portfolio reach sits on 1 account. 3 of 4 accounts contribute negligibly.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46120" y="429768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4297680"/>
            <a:ext cx="54864" cy="219456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7" name="Text 14"/>
          <p:cNvSpPr/>
          <p:nvPr/>
        </p:nvSpPr>
        <p:spPr>
          <a:xfrm>
            <a:off x="3410712" y="4370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@saathsetu is the Blueprint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83280" y="4736592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 + ~1,844 avg views = a proven content formula. Replicate the formula.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72200" y="429768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4297680"/>
            <a:ext cx="54864" cy="21945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8"/>
          <p:cNvSpPr/>
          <p:nvPr/>
        </p:nvSpPr>
        <p:spPr>
          <a:xfrm>
            <a:off x="6336792" y="4370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Algorithm Cold-Start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09360" y="4736592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likes + 0 comments triggers near-zero distribution. Must break the loop first.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098280" y="429768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098280" y="4297680"/>
            <a:ext cx="54864" cy="2194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9262872" y="4370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Untapped Web Assets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235440" y="4736592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bhagvatgitadaily.com subdomains exist — not yet bridged to IG or monetisation.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— Qualitative Benchmark on 7 Dimensions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subjective 1-5 ratings, not financial estimates. Quantitative figures left [TBD] pending sourced data.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11521440" cy="4937760"/>
        </p:xfrm>
        <a:graphic>
          <a:graphicData uri="http://schemas.openxmlformats.org/drawingml/2006/table">
            <a:tbl>
              <a:tblPr/>
              <a:tblGrid>
                <a:gridCol w="1280160"/>
                <a:gridCol w="1417320"/>
                <a:gridCol w="960120"/>
                <a:gridCol w="1051560"/>
                <a:gridCol w="1005840"/>
                <a:gridCol w="1280160"/>
                <a:gridCol w="86868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PLAYER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SCALE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AI DEPTH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YOUTH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ELDER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REGIONAL LANG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OFFLINE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0B429"/>
                          </a:solidFill>
                        </a:rPr>
                        <a:t>OUR EDGE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AstroTalk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Large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Weak Gen-Z; not AI-native; high CAC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AstroSage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Established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Dated UI; no AI yet — window open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Ganeshaspeaks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Legacy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No mobile-native or youth product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Co-Star (US)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AI-native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No India/Hindi; no elder product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Nebula (Global)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Paid acq.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High CAC; no regional; no offline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Sanctuary (US)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Hybrid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Reference for hybrid AI+human model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InstaAstro (IN)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Funded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Closest comp; differentiate on AI cost base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</a:rPr>
                        <a:t>OUR TARGET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</a:rPr>
                        <a:t>[TBD]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</a:rPr>
                        <a:t>5/5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</a:rPr>
                        <a:t>5/5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</a:rPr>
                        <a:t>5/5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</a:rPr>
                        <a:t>5/5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</a:rPr>
                        <a:t>4/5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</a:rPr>
                        <a:t>Only player covering BOTH segments + offline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Matrix — AI Depth vs. Multi-Generational Reach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white space: High AI + Multi-Gen — no incumbent currently owns this quadrant in India (qualitative)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804672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188720"/>
            <a:ext cx="0" cy="51206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" y="3749040"/>
            <a:ext cx="7772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5720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AI AUTOMATION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AI AUTOMATION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137160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41148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SINGLE-GEN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Multi-Gen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Multi-Gen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OUR TARGET ZONE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Single-Gen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Single-Gen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70832" y="1207008"/>
            <a:ext cx="3959352" cy="2514600"/>
          </a:xfrm>
          <a:prstGeom prst="rect">
            <a:avLst/>
          </a:prstGeom>
          <a:solidFill>
            <a:srgbClr val="2D9D78">
              <a:alpha val="12000"/>
            </a:srgbClr>
          </a:solidFill>
          <a:ln w="6350">
            <a:solidFill>
              <a:srgbClr val="2D9D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93392" y="1901952"/>
            <a:ext cx="219456" cy="219456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0" y="2121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AstroTalk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536192" y="2542032"/>
            <a:ext cx="219456" cy="21945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AstroSage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87552" y="2176272"/>
            <a:ext cx="219456" cy="21945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Ganeshaspeaks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48272" y="4370832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590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Co-Star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91072" y="3913632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4133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33872" y="3090672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Sanctuary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93792" y="2816352"/>
            <a:ext cx="219456" cy="21945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InstaAstro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49440" y="1737360"/>
            <a:ext cx="347472" cy="34747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212140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503920" y="1051560"/>
            <a:ext cx="33375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503920" y="1051560"/>
            <a:ext cx="54864" cy="5394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vs KEY PLAYERS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14447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(out of 5)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3920" y="1737360"/>
          <a:ext cx="3337560" cy="4206240"/>
        </p:xfrm>
        <a:graphic>
          <a:graphicData uri="http://schemas.openxmlformats.org/drawingml/2006/table">
            <a:tbl>
              <a:tblPr/>
              <a:tblGrid>
                <a:gridCol w="1600200"/>
                <a:gridCol w="548640"/>
                <a:gridCol w="594360"/>
                <a:gridCol w="594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0B429"/>
                          </a:solidFill>
                        </a:rPr>
                        <a:t>US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AstroTalk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Co-Star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AI Automation Depth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D9D78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Youth 16-28 Appeal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D9D78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Elder 45+ Appeal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D9D78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Regional Language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D9D78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Offline Trust Anchors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D9D78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Unit Economics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D9D78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</a:rPr>
                        <a:t>TOTAL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</a:rPr>
                        <a:t>27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</a:rPr>
                        <a:t>19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</a:rPr>
                        <a:t>16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Growth Has Stalled — MECE Issue Tree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issue-tree decomposition of the 3 dormant accounts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51960" y="1051560"/>
            <a:ext cx="3657600" cy="731520"/>
          </a:xfrm>
          <a:prstGeom prst="rect">
            <a:avLst/>
          </a:prstGeom>
          <a:solidFill>
            <a:srgbClr val="E53E3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1097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Low Follower Growth (3 of 4 accounts flatlined)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783080"/>
            <a:ext cx="0" cy="45720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40280"/>
            <a:ext cx="3291840" cy="640080"/>
          </a:xfrm>
          <a:prstGeom prst="rect">
            <a:avLst/>
          </a:prstGeom>
          <a:solidFill>
            <a:srgbClr val="1A3A6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Demand-Side Issues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1783080"/>
            <a:ext cx="0" cy="45720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240280"/>
            <a:ext cx="3291840" cy="640080"/>
          </a:xfrm>
          <a:prstGeom prst="rect">
            <a:avLst/>
          </a:prstGeom>
          <a:solidFill>
            <a:srgbClr val="EA580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4340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Supply-Side Issues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92640" y="1783080"/>
            <a:ext cx="0" cy="457200"/>
          </a:xfrm>
          <a:prstGeom prst="line">
            <a:avLst/>
          </a:prstGeom>
          <a:noFill/>
          <a:ln w="19050">
            <a:solidFill>
              <a:srgbClr val="E53E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240280"/>
            <a:ext cx="3291840" cy="640080"/>
          </a:xfrm>
          <a:prstGeom prst="rect">
            <a:avLst/>
          </a:prstGeom>
          <a:solidFill>
            <a:srgbClr val="E53E3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3816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Authority Issues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2880360"/>
            <a:ext cx="0" cy="365760"/>
          </a:xfrm>
          <a:prstGeom prst="line">
            <a:avLst/>
          </a:prstGeom>
          <a:noFill/>
          <a:ln w="15240">
            <a:solidFill>
              <a:srgbClr val="1A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24612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46120"/>
            <a:ext cx="54864" cy="777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3192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Platform-audience mismatch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(buyers likely older than IG cohort)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74520" y="2880360"/>
            <a:ext cx="0" cy="365760"/>
          </a:xfrm>
          <a:prstGeom prst="line">
            <a:avLst/>
          </a:prstGeom>
          <a:noFill/>
          <a:ln w="15240">
            <a:solidFill>
              <a:srgbClr val="1A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16052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160520"/>
            <a:ext cx="54864" cy="777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336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regional content strategy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(Marathi market under-indexed)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2880360"/>
            <a:ext cx="0" cy="365760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324612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0" y="3246120"/>
            <a:ext cx="54864" cy="7772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4251960" y="33192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cold-start trap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20 posts, ~0 engagement = ~0 distribution)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2880360"/>
            <a:ext cx="0" cy="365760"/>
          </a:xfrm>
          <a:prstGeom prst="line">
            <a:avLst/>
          </a:prstGeom>
          <a:noFill/>
          <a:ln w="15240">
            <a:solidFill>
              <a:srgbClr val="EA580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416052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0" y="4160520"/>
            <a:ext cx="54864" cy="7772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6" name="Text 34"/>
          <p:cNvSpPr/>
          <p:nvPr/>
        </p:nvSpPr>
        <p:spPr>
          <a:xfrm>
            <a:off x="4251960" y="42336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A/B content testing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format, no iteration)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464040" y="2880360"/>
            <a:ext cx="0" cy="365760"/>
          </a:xfrm>
          <a:prstGeom prst="line">
            <a:avLst/>
          </a:prstGeom>
          <a:noFill/>
          <a:ln w="15240">
            <a:solidFill>
              <a:srgbClr val="E53E3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09560" y="324612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909560" y="3246120"/>
            <a:ext cx="54864" cy="7772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0" name="Text 38"/>
          <p:cNvSpPr/>
          <p:nvPr/>
        </p:nvSpPr>
        <p:spPr>
          <a:xfrm>
            <a:off x="8046720" y="33192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offline credibility anchor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(temple, pandit, referral)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64040" y="2880360"/>
            <a:ext cx="0" cy="365760"/>
          </a:xfrm>
          <a:prstGeom prst="line">
            <a:avLst/>
          </a:prstGeom>
          <a:noFill/>
          <a:ln w="15240">
            <a:solidFill>
              <a:srgbClr val="E53E3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9560" y="4160520"/>
            <a:ext cx="33832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909560" y="4160520"/>
            <a:ext cx="54864" cy="7772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4" name="Text 42"/>
          <p:cNvSpPr/>
          <p:nvPr/>
        </p:nvSpPr>
        <p:spPr>
          <a:xfrm>
            <a:off x="8046720" y="42336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badge on 3 accounts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(@saathsetu verified — others not)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5074920"/>
            <a:ext cx="11521440" cy="1325880"/>
          </a:xfrm>
          <a:prstGeom prst="rect">
            <a:avLst/>
          </a:prstGeom>
          <a:solidFill>
            <a:srgbClr val="0B1F4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2920" y="5166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926080" y="5166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posts on the same 3 accounts will NOT move the needle. The channel mix and offline trust anchor must change first. The fix is structural, not tactical.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568756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implement cold-start escape playbook (Slide 9) + offline trust network (Slide 10) simultaneously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STRATEGY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Dual-Audience Playbook — Elders (Trust) vs. Youth (Virality)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customer journeys, one shared content infrastructure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5577840" cy="5394960"/>
          </a:xfrm>
          <a:prstGeom prst="rect">
            <a:avLst/>
          </a:prstGeom>
          <a:solidFill>
            <a:srgbClr val="0B1F4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1430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A: ELDERS 45+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Ritual Economy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18288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WTP cohort; least digitally served. Acquisition cost target [TBD]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176272"/>
            <a:ext cx="5394960" cy="530352"/>
          </a:xfrm>
          <a:prstGeom prst="rect">
            <a:avLst/>
          </a:prstGeom>
          <a:solidFill>
            <a:srgbClr val="0D1F4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219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03120" y="22219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children, property, career, marriage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5394960" cy="5303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889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03120" y="27889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IVR call, Temple QR, Regional TV/Radio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310128"/>
            <a:ext cx="5394960" cy="530352"/>
          </a:xfrm>
          <a:prstGeom prst="rect">
            <a:avLst/>
          </a:prstGeom>
          <a:solidFill>
            <a:srgbClr val="0D1F4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558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Format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03120" y="33558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consult, printed Kundli PDF, Sanskrit shlokas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877056"/>
            <a:ext cx="5394960" cy="5303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92277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Points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03120" y="39227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ladder — exact pricing [TBD]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443984"/>
            <a:ext cx="5394960" cy="530352"/>
          </a:xfrm>
          <a:prstGeom prst="rect">
            <a:avLst/>
          </a:prstGeom>
          <a:solidFill>
            <a:srgbClr val="0D1F45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4897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Hook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03120" y="44897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Hindi/Marathi LLM agent (no typing needed)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5010912"/>
            <a:ext cx="5394960" cy="5303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05663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Driver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03120" y="50566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panchang + festival pooja reminders via WhatsApp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5577840"/>
            <a:ext cx="5394960" cy="530352"/>
          </a:xfrm>
          <a:prstGeom prst="rect">
            <a:avLst/>
          </a:prstGeom>
          <a:solidFill>
            <a:srgbClr val="0D1F45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6235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103120" y="5623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via temple QR + pandit referral [TBD]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1051560"/>
            <a:ext cx="5806440" cy="5394960"/>
          </a:xfrm>
          <a:prstGeom prst="rect">
            <a:avLst/>
          </a:prstGeom>
          <a:solidFill>
            <a:srgbClr val="0D9488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17920" y="1143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B: YOUTH 16-28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Vibe Economy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217920" y="1828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acquisition potential. Feeds elder funnel via family referrals.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80760" y="2176272"/>
            <a:ext cx="5669280" cy="530352"/>
          </a:xfrm>
          <a:prstGeom prst="rect">
            <a:avLst/>
          </a:prstGeom>
          <a:solidFill>
            <a:srgbClr val="0A7A6E"/>
          </a:solidFill>
          <a:ln/>
        </p:spPr>
      </p:sp>
      <p:sp>
        <p:nvSpPr>
          <p:cNvPr id="40" name="Text 38"/>
          <p:cNvSpPr/>
          <p:nvPr/>
        </p:nvSpPr>
        <p:spPr>
          <a:xfrm>
            <a:off x="6172200" y="22219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26680" y="222199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Breakups, exams, career anxiety, zodiac identity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80760" y="2743200"/>
            <a:ext cx="5669280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6172200" y="27889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26680" y="27889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Reels, YouTube Shorts, Snap, Discord, Spotify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80760" y="3310128"/>
            <a:ext cx="5669280" cy="530352"/>
          </a:xfrm>
          <a:prstGeom prst="rect">
            <a:avLst/>
          </a:prstGeom>
          <a:solidFill>
            <a:srgbClr val="0A7A6E"/>
          </a:solidFill>
          <a:ln/>
        </p:spPr>
      </p:sp>
      <p:sp>
        <p:nvSpPr>
          <p:cNvPr id="46" name="Text 44"/>
          <p:cNvSpPr/>
          <p:nvPr/>
        </p:nvSpPr>
        <p:spPr>
          <a:xfrm>
            <a:off x="6172200" y="33558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Format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726680" y="33558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Reels, AI birth-chart cards, compatibility quizzes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080760" y="3877056"/>
            <a:ext cx="5669280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6172200" y="392277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Points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726680" y="392277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→ subscription ladder. Exact pricing [TBD]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080760" y="4443984"/>
            <a:ext cx="5669280" cy="530352"/>
          </a:xfrm>
          <a:prstGeom prst="rect">
            <a:avLst/>
          </a:prstGeom>
          <a:solidFill>
            <a:srgbClr val="0A7A6E"/>
          </a:solidFill>
          <a:ln/>
        </p:spPr>
      </p:sp>
      <p:sp>
        <p:nvSpPr>
          <p:cNvPr id="52" name="Text 50"/>
          <p:cNvSpPr/>
          <p:nvPr/>
        </p:nvSpPr>
        <p:spPr>
          <a:xfrm>
            <a:off x="6172200" y="44897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Hook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726680" y="448970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'AI Jyotish' avatar + share-card compatibility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080760" y="5010912"/>
            <a:ext cx="5669280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5" name="Text 53"/>
          <p:cNvSpPr/>
          <p:nvPr/>
        </p:nvSpPr>
        <p:spPr>
          <a:xfrm>
            <a:off x="6172200" y="505663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Driver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726680" y="505663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push horoscope + streak gamification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080760" y="5577840"/>
            <a:ext cx="5669280" cy="530352"/>
          </a:xfrm>
          <a:prstGeom prst="rect">
            <a:avLst/>
          </a:prstGeom>
          <a:solidFill>
            <a:srgbClr val="0A7A6E"/>
          </a:solidFill>
          <a:ln/>
        </p:spPr>
      </p:sp>
      <p:sp>
        <p:nvSpPr>
          <p:cNvPr id="58" name="Text 56"/>
          <p:cNvSpPr/>
          <p:nvPr/>
        </p:nvSpPr>
        <p:spPr>
          <a:xfrm>
            <a:off x="6172200" y="56235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726680" y="56235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via organic Reels [TBD]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 — INSTAGRAM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Cold-Start Escape Plan — Breaking Algorithm Inertia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@saathsetu's formula across the 3 dormant accounts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11521440" cy="960120"/>
          </a:xfrm>
          <a:prstGeom prst="rect">
            <a:avLst/>
          </a:prstGeom>
          <a:solidFill>
            <a:srgbClr val="2D9D78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1155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@SAATHSETU FORMULA — REVERSE-ENGINEERED FROM REAL AUDIT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41732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  ·  Hindi language  ·  6 posts (not 19)  ·  Avg 1,844 views  ·  Max 8,518 views  ·  Avg 352.8 likes  →  high engagement-to-follower ratio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3840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76272"/>
            <a:ext cx="54864" cy="214884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" y="2267712"/>
            <a:ext cx="502920" cy="502920"/>
          </a:xfrm>
          <a:prstGeom prst="ellipse">
            <a:avLst/>
          </a:prstGeom>
          <a:solidFill>
            <a:srgbClr val="0B1F4B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Pod Launch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816352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WhatsApp group of ~50 real accounts. First 30 mins of every post: coordinate likes + saves + comments. Breaks cold-start velocity threshold.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2724912"/>
            <a:ext cx="822960" cy="201168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724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97680" y="2176272"/>
            <a:ext cx="3840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2176272"/>
            <a:ext cx="54864" cy="2148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3" name="Shape 21"/>
          <p:cNvSpPr/>
          <p:nvPr/>
        </p:nvSpPr>
        <p:spPr>
          <a:xfrm>
            <a:off x="4462272" y="2267712"/>
            <a:ext cx="502920" cy="50292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4462272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Save-Bait Content Strategy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34840" y="2816352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designed for 'saves' (highest-weighted IG signal): weekly rashifal, festival tithi calendar, birth-chart cheat-sheets.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74920" y="2724912"/>
            <a:ext cx="822960" cy="2011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724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275320" y="2176272"/>
            <a:ext cx="3840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2176272"/>
            <a:ext cx="54864" cy="2148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8439912" y="226771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8439912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5256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Audio Stacking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0" y="2816352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top trending Hindi/Marathi audio within 24 hrs of trend spike. Stack 3 relevant hashtags + 3 niche ones to maximise Explore probability.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52560" y="2724912"/>
            <a:ext cx="82296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9052560" y="2724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4462272"/>
            <a:ext cx="3840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4462272"/>
            <a:ext cx="54864" cy="214884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9" name="Shape 37"/>
          <p:cNvSpPr/>
          <p:nvPr/>
        </p:nvSpPr>
        <p:spPr>
          <a:xfrm>
            <a:off x="484632" y="4553712"/>
            <a:ext cx="502920" cy="50292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97280" y="4572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 Posts with Micro-Influencers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5102352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regional devotional creators (5K-50K followers) for Collab Posts. Shared follower pools; near-zero CAC.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97280" y="5010912"/>
            <a:ext cx="822960" cy="201168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44" name="Text 42"/>
          <p:cNvSpPr/>
          <p:nvPr/>
        </p:nvSpPr>
        <p:spPr>
          <a:xfrm>
            <a:off x="1097280" y="5010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2-3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297680" y="4462272"/>
            <a:ext cx="3840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297680" y="4462272"/>
            <a:ext cx="54864" cy="2148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7" name="Shape 45"/>
          <p:cNvSpPr/>
          <p:nvPr/>
        </p:nvSpPr>
        <p:spPr>
          <a:xfrm>
            <a:off x="4462272" y="4553712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8" name="Text 46"/>
          <p:cNvSpPr/>
          <p:nvPr/>
        </p:nvSpPr>
        <p:spPr>
          <a:xfrm>
            <a:off x="4462272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74920" y="4572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@saathsetu Cross-Promote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434840" y="5102352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verified @saathsetu to shoutout the 3 dormant handles in Stories + Reels. Transfers authority + follower spillover.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74920" y="5010912"/>
            <a:ext cx="822960" cy="2011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2" name="Text 50"/>
          <p:cNvSpPr/>
          <p:nvPr/>
        </p:nvSpPr>
        <p:spPr>
          <a:xfrm>
            <a:off x="5074920" y="5010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275320" y="4462272"/>
            <a:ext cx="3840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275320" y="4462272"/>
            <a:ext cx="54864" cy="2148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Shape 53"/>
          <p:cNvSpPr/>
          <p:nvPr/>
        </p:nvSpPr>
        <p:spPr>
          <a:xfrm>
            <a:off x="8439912" y="455371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8439912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052560" y="4572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Volume Cadence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412480" y="5102352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daily Reel cadence per handle for ~14 days (target volume [TBD by capacity]). Algorithm interprets sustained cadence as a 'media brand'.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052560" y="5010912"/>
            <a:ext cx="82296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9052560" y="5010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1-14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ACQUISITION — OFFLINE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QR Network + Pandit Revenue-Share — Our Unfair Advantage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targets (volume, CAC, conversions) to be set after a pilot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11521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51560"/>
            <a:ext cx="54864" cy="20116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143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OFFLINE-TO-DIGITAL LOOP WORKS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444752"/>
            <a:ext cx="1783080" cy="1463040"/>
          </a:xfrm>
          <a:prstGeom prst="rect">
            <a:avLst/>
          </a:prstGeom>
          <a:solidFill>
            <a:srgbClr val="0B1F4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Stickers 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temples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kundli offer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on sticker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50008" y="2148840"/>
            <a:ext cx="7315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0592" y="1444752"/>
            <a:ext cx="1783080" cy="1463040"/>
          </a:xfrm>
          <a:prstGeom prst="rect">
            <a:avLst/>
          </a:prstGeom>
          <a:solidFill>
            <a:srgbClr val="1A3A6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Scans QR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WhatsApp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96312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Auto-message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DOB form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51960" y="2148840"/>
            <a:ext cx="7315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52544" y="1444752"/>
            <a:ext cx="1783080" cy="1463040"/>
          </a:xfrm>
          <a:prstGeom prst="rect">
            <a:avLst/>
          </a:prstGeom>
          <a:solidFill>
            <a:srgbClr val="0B1F4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98264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Kundli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98264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hrs via WA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53912" y="2148840"/>
            <a:ext cx="7315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1444752"/>
            <a:ext cx="1783080" cy="1463040"/>
          </a:xfrm>
          <a:prstGeom prst="rect">
            <a:avLst/>
          </a:prstGeom>
          <a:solidFill>
            <a:srgbClr val="1A3A6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report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0216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link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Razorpay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055864" y="2148840"/>
            <a:ext cx="7315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6448" y="1444752"/>
            <a:ext cx="1783080" cy="1463040"/>
          </a:xfrm>
          <a:prstGeom prst="rect">
            <a:avLst/>
          </a:prstGeom>
          <a:solidFill>
            <a:srgbClr val="0B1F4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2168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Pandit Earns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02168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conversion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referral flywheel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957816" y="2148840"/>
            <a:ext cx="7315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0" y="1444752"/>
            <a:ext cx="1783080" cy="1463040"/>
          </a:xfrm>
          <a:prstGeom prst="rect">
            <a:avLst/>
          </a:prstGeom>
          <a:solidFill>
            <a:srgbClr val="1A3A6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412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Follows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+ YouTube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10412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offline users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3200400"/>
            <a:ext cx="38404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200400"/>
            <a:ext cx="54864" cy="32461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" y="3291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QR Network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373075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pilot of partner temples in Pune / Nashik / Nagpur / Mumbai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24281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QR scan &amp; conversion volumes [TBD by pilot]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 cost ~₹8/unit (vendor quote needed)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526694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temples for @drishtiastro; Hindi belt for others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577900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 design: free kundli + 'Scan for Shubh Muhurat'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97680" y="3200400"/>
            <a:ext cx="38404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97680" y="3200400"/>
            <a:ext cx="54864" cy="3246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4462272" y="3291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Pandit Revenue-Share Program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434840" y="373075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local pandits as 'Jyotish Ambassadors'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434840" y="424281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per paying customer [exact amount TBD]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434840" y="47548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WhatsApp-first: pandit shares link in their broadcast group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434840" y="526694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short onboarding video in Hindi/Marathi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434840" y="577900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 volume &amp; MRR contribution [TBD]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275320" y="3200400"/>
            <a:ext cx="38404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275320" y="3200400"/>
            <a:ext cx="54864" cy="32461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4" name="Text 52"/>
          <p:cNvSpPr/>
          <p:nvPr/>
        </p:nvSpPr>
        <p:spPr>
          <a:xfrm>
            <a:off x="8439912" y="3291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Satsang &amp; Devotional Event Activations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412480" y="373075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satsang organizers for live event mentions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412480" y="424281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free panchang booklets with QR codes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412480" y="47548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newspaper inserts (rate cards [TBD])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412480" y="526694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TV ticker ads in Tier 2/3 cities (rates [TBD])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412480" y="577900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pop-ups: Navratri, Ganesh Chaturthi, Makar Sankranti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 — YOUTH ACQUISITION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AI-Native Tactics to Win the 16-28 Cohort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Co-Star's viral mechanics — India replication opportunity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38404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51560"/>
            <a:ext cx="54864" cy="2697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161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Compatibility Share Cards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69164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two birth dates → AI generates 'compatibility %' card. One-tap share to WA/IG Stories. Aim: high viral coefficient.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27832"/>
            <a:ext cx="3611880" cy="384048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Track: shares / new visits ratio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0" y="1051560"/>
            <a:ext cx="38404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051560"/>
            <a:ext cx="54864" cy="2697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1161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Ambassador SaaS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69164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student per college as a referral ambassador. Per-signup commission. Dashboard with live earnings. Auto-payout via UPI.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3227832"/>
            <a:ext cx="3611880" cy="384048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Track: signups / cost-per-signup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75320" y="1051560"/>
            <a:ext cx="38404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75320" y="1051560"/>
            <a:ext cx="54864" cy="2697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15400" y="1161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Reel Factory (Automated)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169164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zodiac meme script → CapCut auto-edits with trending audio → posted within 2 hrs of trend spike across handles.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3227832"/>
            <a:ext cx="3611880" cy="384048"/>
          </a:xfrm>
          <a:prstGeom prst="rect">
            <a:avLst/>
          </a:prstGeom>
          <a:solidFill>
            <a:srgbClr val="EA580C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Track: Reel volume, Explore reach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886200"/>
            <a:ext cx="38404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886200"/>
            <a:ext cx="54864" cy="269748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0120" y="3995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'AI Pandit' Bot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52628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birth chart bot in top Gen-Z Discord servers. Free reading → link to paid subscription. Zero-CAC user acquisition.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6062472"/>
            <a:ext cx="3611880" cy="384048"/>
          </a:xfrm>
          <a:prstGeom prst="rect">
            <a:avLst/>
          </a:prstGeom>
          <a:solidFill>
            <a:srgbClr val="2D9D78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080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Track: servers joined, sign-ups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97680" y="3886200"/>
            <a:ext cx="38404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97680" y="3886200"/>
            <a:ext cx="54864" cy="26974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0" name="Text 38"/>
          <p:cNvSpPr/>
          <p:nvPr/>
        </p:nvSpPr>
        <p:spPr>
          <a:xfrm>
            <a:off x="44348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937760" y="3995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Devotional Drops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34840" y="452628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lo-fi mantra + astrology meditation playlist with AI cover art. Episode descriptions link to free kundli.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34840" y="6062472"/>
            <a:ext cx="3611880" cy="384048"/>
          </a:xfrm>
          <a:prstGeom prst="rect">
            <a:avLst/>
          </a:prstGeom>
          <a:solidFill>
            <a:srgbClr val="E53E3E">
              <a:alpha val="1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480560" y="6080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Track: playlist followers, clicks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275320" y="3886200"/>
            <a:ext cx="38404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75320" y="3886200"/>
            <a:ext cx="54864" cy="269748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915400" y="3995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8:30 AM Push Horoscope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412480" y="452628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Web-push + WhatsApp notification with AI 2-line personalised horoscope by zodiac. Streak mechanic drives daily opens.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412480" y="6062472"/>
            <a:ext cx="3611880" cy="384048"/>
          </a:xfrm>
          <a:prstGeom prst="rect">
            <a:avLst/>
          </a:prstGeom>
          <a:solidFill>
            <a:srgbClr val="0B1F4B">
              <a:alpha val="1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458200" y="6080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Track: open rate, subscription CVR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Pillar Framework — 4 Handles, 3 Pillars, 1 Automated Factory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@saathsetu's high-performing content DNA (per audit)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36118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51560"/>
            <a:ext cx="54864" cy="512064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12" name="Shape 10"/>
          <p:cNvSpPr/>
          <p:nvPr/>
        </p:nvSpPr>
        <p:spPr>
          <a:xfrm>
            <a:off x="2880360" y="1115568"/>
            <a:ext cx="868680" cy="502920"/>
          </a:xfrm>
          <a:prstGeom prst="ellipse">
            <a:avLst/>
          </a:prstGeom>
          <a:solidFill>
            <a:srgbClr val="0B1F4B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11155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1143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1: TRUST &amp; RITUAL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1691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19933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rashifal (zodiac forecast)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404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muhurat &amp; tithi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8163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Panchang / auspicious timing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Sanskrit shloka with meaning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33375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94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habitual daily return. High save rate (IG's top signal). Targets elders.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33375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6460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510235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@saathsetu · @drishtiastro (Marathi)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43400" y="1051560"/>
            <a:ext cx="36118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43400" y="1051560"/>
            <a:ext cx="54864" cy="5120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6903720" y="1115568"/>
            <a:ext cx="86868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11155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80560" y="1143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2: EDUCATION &amp; INSIGHT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80560" y="1691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80560" y="19933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'Did you know' astrology facts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2404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retrograde explainers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28163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chart reading tutorials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80560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Kundli vs Sun sign comparison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80560" y="3730752"/>
            <a:ext cx="33375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4480560" y="3794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80560" y="40690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share rate. Positions brand as authority. Works for both age groups.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4800600"/>
            <a:ext cx="33375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4480560" y="486460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510235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@rashitattva · @astrosaadhan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66760" y="1051560"/>
            <a:ext cx="361188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366760" y="1051560"/>
            <a:ext cx="54864" cy="51206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27080" y="1115568"/>
            <a:ext cx="86868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5" name="Text 43"/>
          <p:cNvSpPr/>
          <p:nvPr/>
        </p:nvSpPr>
        <p:spPr>
          <a:xfrm>
            <a:off x="10927080" y="11155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03920" y="1143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3: VIRAL &amp; IDENTITY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503920" y="1691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503920" y="19933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Zodiac compatibility memes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03920" y="2404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personality if born in...' Reels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03920" y="28163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audio + astrology hook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503920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birth chart art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503920" y="3730752"/>
            <a:ext cx="33375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/>
          <p:nvPr/>
        </p:nvSpPr>
        <p:spPr>
          <a:xfrm>
            <a:off x="8503920" y="3794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503920" y="40690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Explore page fuel. Drives youth followers. Shareable to Stories.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503920" y="4800600"/>
            <a:ext cx="33375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86460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503920" y="510235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handles (youth-coded hook)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0040" y="6263640"/>
            <a:ext cx="11521440" cy="411480"/>
          </a:xfrm>
          <a:prstGeom prst="rect">
            <a:avLst/>
          </a:prstGeom>
          <a:solidFill>
            <a:srgbClr val="0B1F4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291072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CADENCE TARGETS:   Volumes per handle to be set by capacity — fully automated pipeline assumed (see Slide 20)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PROJECTIONS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Growth Trajectory — Illustrative Target Path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is illustrative — actual monthly targets to be set by leadership after baseline pilot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20040" y="1051560"/>
          <a:ext cx="731520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772400" y="1051560"/>
            <a:ext cx="406908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051560"/>
            <a:ext cx="54864" cy="5212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795528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FRAMEWORK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09560" y="1554480"/>
            <a:ext cx="64008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641080" y="1554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Escape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41080" y="18105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pods + cross-promos break algorithm inertia. Dormant handles begin to post &amp; gain.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909560" y="2304288"/>
            <a:ext cx="640080" cy="45720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9" name="Text 16"/>
          <p:cNvSpPr/>
          <p:nvPr/>
        </p:nvSpPr>
        <p:spPr>
          <a:xfrm>
            <a:off x="7909560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641080" y="2304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Network Live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641080" y="25603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QRs deployed in pilot cities. Pilot cohort of pandits onboarded.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909560" y="3054096"/>
            <a:ext cx="64008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3" name="Text 20"/>
          <p:cNvSpPr/>
          <p:nvPr/>
        </p:nvSpPr>
        <p:spPr>
          <a:xfrm>
            <a:off x="7909560" y="30540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641080" y="30540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Validation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641080" y="33101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recognises handles as 'media brands'. Explore distribution begins.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909560" y="3803904"/>
            <a:ext cx="64008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4"/>
          <p:cNvSpPr/>
          <p:nvPr/>
        </p:nvSpPr>
        <p:spPr>
          <a:xfrm>
            <a:off x="7909560" y="3803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T+5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641080" y="38039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Inflection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641080" y="40599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share-cards viral loop active. Campus ambassador network delivers steady supply.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909560" y="4553712"/>
            <a:ext cx="64008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1" name="Text 28"/>
          <p:cNvSpPr/>
          <p:nvPr/>
        </p:nvSpPr>
        <p:spPr>
          <a:xfrm>
            <a:off x="7909560" y="45537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T+8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8641080" y="45537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Flywheel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641080" y="480974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 subs fund paid Reels ads. Organic growth becomes self-sustaining.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909560" y="5303520"/>
            <a:ext cx="640080" cy="45720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35" name="Text 32"/>
          <p:cNvSpPr/>
          <p:nvPr/>
        </p:nvSpPr>
        <p:spPr>
          <a:xfrm>
            <a:off x="7909560" y="5303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T+12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641080" y="53035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25K+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641080" y="55595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target to be confirmed by leadership. Actual ramp pace depends on T+3 baseline.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STRATEGY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 — 5-Tier Product Ladder (qualitative)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structure is directional — exact pricing, expected volume, and revenue per tier left [TBD by C-team]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" y="1188720"/>
            <a:ext cx="10972800" cy="868680"/>
          </a:xfrm>
          <a:prstGeom prst="rect">
            <a:avLst/>
          </a:prstGeom>
          <a:solidFill>
            <a:srgbClr val="E2E8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1600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— Free Mini-Kundli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9080" y="13258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32120" y="1298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 [TBD]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32120" y="1645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 [TBD]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43800" y="1280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magnet. Captures email + WhatsApp + DOB. Converts to Tier 1 via nurture.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08760" y="2231136"/>
            <a:ext cx="9144000" cy="868680"/>
          </a:xfrm>
          <a:prstGeom prst="rect">
            <a:avLst/>
          </a:prstGeom>
          <a:solidFill>
            <a:srgbClr val="0D948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2276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00200" y="2642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Kundli Report (current SKU)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36829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₹199 (current)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23408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 [TBD]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2688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 [TBD]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58200" y="232257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today. Delivered via AI + PDF pipeline.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23160" y="3273552"/>
            <a:ext cx="7315200" cy="868680"/>
          </a:xfrm>
          <a:prstGeom prst="rect">
            <a:avLst/>
          </a:prstGeom>
          <a:solidFill>
            <a:srgbClr val="1A3A6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319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14600" y="3685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Astro Subscription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34107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6092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 [TBD]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60920" y="3730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 [TBD]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72600" y="3364992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horoscope + 1 monthly consult + panchang. WhatsApp delivery.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4315968"/>
            <a:ext cx="5486400" cy="868680"/>
          </a:xfrm>
          <a:prstGeom prst="rect">
            <a:avLst/>
          </a:prstGeom>
          <a:solidFill>
            <a:srgbClr val="0B1F4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4361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29000" y="4727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Kundli + Remedy Pack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12280" y="44531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275320" y="4425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 [TBD]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75320" y="4773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 [TBD]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51960" y="5358384"/>
            <a:ext cx="3657600" cy="868680"/>
          </a:xfrm>
          <a:prstGeom prst="rect">
            <a:avLst/>
          </a:prstGeom>
          <a:solidFill>
            <a:srgbClr val="C9A84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3400" y="54041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43400" y="57698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Pandit Consultation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26680" y="549554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189720" y="5468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VOL: [TBD]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89720" y="58155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 [TBD]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6400800"/>
            <a:ext cx="11521440" cy="502920"/>
          </a:xfrm>
          <a:prstGeom prst="rect">
            <a:avLst/>
          </a:prstGeom>
          <a:solidFill>
            <a:srgbClr val="0B1F4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64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MONTHLY REVENUE POTENTIAL: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646480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  ·  MRR / ARR / GM / payback — all to be modelled after baseline pilot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— ALTERNATIVE STREAMS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Revenue Streams Beyond the ₹199 Kundli Report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reduces single-product dependency. Pricing per stream [TBD].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283464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51560"/>
            <a:ext cx="54864" cy="2578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161288"/>
            <a:ext cx="640080" cy="201168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1612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4300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14356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Panchang Subscription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075688"/>
            <a:ext cx="2606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push: auspicious timing, rahu kaal, nakshatra. WhatsApp or app. Low churn — used daily.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1051560"/>
            <a:ext cx="283464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051560"/>
            <a:ext cx="54864" cy="2578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Shape 17"/>
          <p:cNvSpPr/>
          <p:nvPr/>
        </p:nvSpPr>
        <p:spPr>
          <a:xfrm>
            <a:off x="3429000" y="1161288"/>
            <a:ext cx="640080" cy="201168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1612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11480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14356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Gemstone &amp; Remedy E-commerce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2075688"/>
            <a:ext cx="2606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gemstone based on kundli → dropshipped via affiliate. Trust-based commerce.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051560"/>
            <a:ext cx="283464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1051560"/>
            <a:ext cx="54864" cy="2578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1161288"/>
            <a:ext cx="640080" cy="201168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1612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08660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0" y="14356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Astrology Learning Course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2075688"/>
            <a:ext cx="2606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Multi-week WhatsApp/video course. 'Learn to read your own kundli.' Recorded + automated.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235440" y="1051560"/>
            <a:ext cx="283464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235440" y="1051560"/>
            <a:ext cx="54864" cy="2578608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3" name="Shape 31"/>
          <p:cNvSpPr/>
          <p:nvPr/>
        </p:nvSpPr>
        <p:spPr>
          <a:xfrm>
            <a:off x="9372600" y="1161288"/>
            <a:ext cx="640080" cy="201168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4" name="Text 32"/>
          <p:cNvSpPr/>
          <p:nvPr/>
        </p:nvSpPr>
        <p:spPr>
          <a:xfrm>
            <a:off x="9372600" y="11612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05840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72600" y="14356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Horoscope Syndication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372600" y="2075688"/>
            <a:ext cx="2606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daily horoscope content to regional news apps, radio stations, cable channels.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794760"/>
            <a:ext cx="283464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794760"/>
            <a:ext cx="54864" cy="2578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3904488"/>
            <a:ext cx="640080" cy="2011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904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4300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🎪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7200" y="4178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Pooja Bookings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4818888"/>
            <a:ext cx="2606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Pre-book pandits for Navratri, Diwali, Ganesh Chaturthi via platform. Commission per booking.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91840" y="3794760"/>
            <a:ext cx="283464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91840" y="3794760"/>
            <a:ext cx="54864" cy="25786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7" name="Shape 45"/>
          <p:cNvSpPr/>
          <p:nvPr/>
        </p:nvSpPr>
        <p:spPr>
          <a:xfrm>
            <a:off x="3429000" y="3904488"/>
            <a:ext cx="640080" cy="201168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48" name="Text 46"/>
          <p:cNvSpPr/>
          <p:nvPr/>
        </p:nvSpPr>
        <p:spPr>
          <a:xfrm>
            <a:off x="3429000" y="3904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11480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429000" y="4178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Astrologer Marketplace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429000" y="4818888"/>
            <a:ext cx="2606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pandits list on platform. Users book sessions. AI handles scheduling.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63640" y="3794760"/>
            <a:ext cx="283464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63640" y="3794760"/>
            <a:ext cx="54864" cy="2578608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54" name="Shape 52"/>
          <p:cNvSpPr/>
          <p:nvPr/>
        </p:nvSpPr>
        <p:spPr>
          <a:xfrm>
            <a:off x="6400800" y="3904488"/>
            <a:ext cx="640080" cy="201168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0" y="3904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08660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🎁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00800" y="4178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Astro Gift Kits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400800" y="4818888"/>
            <a:ext cx="2606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Birth-month-specific: rudraksha, yantra, printed kundli. Gifting season spikes at Diwali/birthdays.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235440" y="3794760"/>
            <a:ext cx="283464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235440" y="3794760"/>
            <a:ext cx="54864" cy="257860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1" name="Shape 59"/>
          <p:cNvSpPr/>
          <p:nvPr/>
        </p:nvSpPr>
        <p:spPr>
          <a:xfrm>
            <a:off x="9372600" y="3904488"/>
            <a:ext cx="640080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2" name="Text 60"/>
          <p:cNvSpPr/>
          <p:nvPr/>
        </p:nvSpPr>
        <p:spPr>
          <a:xfrm>
            <a:off x="9372600" y="3904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005840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📺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372600" y="4178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Devotional YouTube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9372600" y="4818888"/>
            <a:ext cx="2606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puja tutorials → YouTube Partner Program. Devotional brand sponsorships.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Build — Stream Mix (qualitative)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per stream = [TBD] until baseline pilot. Composition shown as structural priority.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777240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51560"/>
            <a:ext cx="54864" cy="5212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CONTRIBUTION PRIORITY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15544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Kundli Reports (Tier 1 — current SKU)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18288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near-term contributor. Already live. Scales with traffic.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4231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Subscriptions (Tier 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697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MRR. Reduces revenue volatility. Becomes #1 by mid-horizon.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rgbClr val="0B1F4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Reports + Consultations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5661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AOV. Targets elder cohort with HIGH WTP.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16052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&amp; Seasonal Bookings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4434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spikes (Navratri, Diwali). Smooths cash flow.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07492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50292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Syndication + E-commerce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5303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Diversification. Longer sales cycles but high margin.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0" y="1051560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29600" y="105156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8394192" y="1088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MRR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87552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394192" y="1490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on ops costs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0" y="1856232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29600" y="1856232"/>
            <a:ext cx="54864" cy="71323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0" name="Text 38"/>
          <p:cNvSpPr/>
          <p:nvPr/>
        </p:nvSpPr>
        <p:spPr>
          <a:xfrm>
            <a:off x="8394192" y="1892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 MRR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875520" y="1856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394192" y="22951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paid Reels ads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29600" y="2660904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0" y="2660904"/>
            <a:ext cx="54864" cy="7132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45" name="Text 43"/>
          <p:cNvSpPr/>
          <p:nvPr/>
        </p:nvSpPr>
        <p:spPr>
          <a:xfrm>
            <a:off x="8394192" y="2697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 MRR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875520" y="26609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1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394192" y="30998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targets achieved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229600" y="3465576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229600" y="3465576"/>
            <a:ext cx="54864" cy="7132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0" name="Text 48"/>
          <p:cNvSpPr/>
          <p:nvPr/>
        </p:nvSpPr>
        <p:spPr>
          <a:xfrm>
            <a:off x="8394192" y="3502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 MRR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875520" y="34655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394192" y="39044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/ steady-state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229600" y="4270248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229600" y="4270248"/>
            <a:ext cx="54864" cy="71323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55" name="Text 53"/>
          <p:cNvSpPr/>
          <p:nvPr/>
        </p:nvSpPr>
        <p:spPr>
          <a:xfrm>
            <a:off x="8394192" y="4306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875520" y="42702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D9D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70%+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8394192" y="4709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automates delivery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229600" y="5074920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229600" y="5074920"/>
            <a:ext cx="54864" cy="7132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0" name="Text 58"/>
          <p:cNvSpPr/>
          <p:nvPr/>
        </p:nvSpPr>
        <p:spPr>
          <a:xfrm>
            <a:off x="8394192" y="5111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(Blended)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875520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8394192" y="55138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pilot baseline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OPTIMIZATION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CRO Audit — Current State vs. Best Practice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astrokalpana.bhagvatgitadaily.com &amp; astrorajni.bhagvatgitadaily.com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53949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51560"/>
            <a:ext cx="54864" cy="539496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PAGE ISSUES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618488"/>
            <a:ext cx="182880" cy="1828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urgency trigger: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18196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countdown timer, no 'limited slots today' — buyers defer and forget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30552"/>
            <a:ext cx="182880" cy="1828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2084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social proof: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3317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testimonials, no 'X people bought today', no star ratings above fold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642616"/>
            <a:ext cx="182880" cy="1828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5968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headline: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284378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'Kundli Report ₹199' — zero emotional hook or benefit statement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182880" cy="1828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3108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 signals: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" y="33558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badge, no money-back guarantee, no astrologer face/name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66744"/>
            <a:ext cx="182880" cy="1828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3621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friction: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" y="38679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fields on one page — DOB, time, place — likely high drop-off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178808"/>
            <a:ext cx="182880" cy="1828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" y="4133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WhatsApp CTA: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4088" y="43799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 purchase only — no free lead magnet to capture non-buyers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690872"/>
            <a:ext cx="182880" cy="1828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645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UX issues: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" y="4892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responsiveness not verified — most Indian astrology traffic is mobile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5202936"/>
            <a:ext cx="182880" cy="1828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51572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retargeting pixel: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" y="54041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visitors don't see the brand again — no Meta/Google pixel installed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5715000"/>
            <a:ext cx="182880" cy="1828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38" name="Text 36"/>
          <p:cNvSpPr/>
          <p:nvPr/>
        </p:nvSpPr>
        <p:spPr>
          <a:xfrm>
            <a:off x="704088" y="5669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payment option: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4088" y="59161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gateway — UPI/RuPay not prominently featured for Tier 2/3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52160" y="1051560"/>
            <a:ext cx="598932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52160" y="1051560"/>
            <a:ext cx="54864" cy="539496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42" name="Text 40"/>
          <p:cNvSpPr/>
          <p:nvPr/>
        </p:nvSpPr>
        <p:spPr>
          <a:xfrm>
            <a:off x="6035040" y="11430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FIXES (PRIORITY ORDER)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89320" y="1609344"/>
            <a:ext cx="292608" cy="20116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4" name="Text 42"/>
          <p:cNvSpPr/>
          <p:nvPr/>
        </p:nvSpPr>
        <p:spPr>
          <a:xfrm>
            <a:off x="5989320" y="160934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5508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Headline: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55080" y="18470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'Unlock Your Destiny — Get Your Personalised Kundli in 24 Hours' + hero image of a family smiling over a printed report.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89320" y="2176272"/>
            <a:ext cx="292608" cy="20116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8" name="Text 46"/>
          <p:cNvSpPr/>
          <p:nvPr/>
        </p:nvSpPr>
        <p:spPr>
          <a:xfrm>
            <a:off x="5989320" y="217627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55080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Block: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55080" y="24140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'N Kundlis delivered' counter (real number) + 3 WhatsApp-style testimonials with profile photos + star rating (when accumulated).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89320" y="2743200"/>
            <a:ext cx="292608" cy="20116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2" name="Text 50"/>
          <p:cNvSpPr/>
          <p:nvPr/>
        </p:nvSpPr>
        <p:spPr>
          <a:xfrm>
            <a:off x="5989320" y="27432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355080" y="2706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/ Scarcity: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355080" y="29809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'Limited slots at ₹199 — price increases tomorrow.' Honest reset cycle. Creates urgency without deception.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89320" y="3310128"/>
            <a:ext cx="292608" cy="2011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6" name="Text 54"/>
          <p:cNvSpPr/>
          <p:nvPr/>
        </p:nvSpPr>
        <p:spPr>
          <a:xfrm>
            <a:off x="5989320" y="331012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355080" y="3273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Kundli Lead Magnet: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55080" y="35478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paid CTA: 'Get a FREE mini-Kundli first — enter DOB.' Nurture to paid via WhatsApp drip.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989320" y="3877056"/>
            <a:ext cx="292608" cy="2011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0" name="Text 58"/>
          <p:cNvSpPr/>
          <p:nvPr/>
        </p:nvSpPr>
        <p:spPr>
          <a:xfrm>
            <a:off x="5989320" y="387705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35508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Stack Above Fold: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355080" y="4114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SSL badge, '100% accurate or money back', pandit photo with name, Razorpay 'Safe Checkout' badge.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989320" y="4443984"/>
            <a:ext cx="292608" cy="2011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4" name="Text 62"/>
          <p:cNvSpPr/>
          <p:nvPr/>
        </p:nvSpPr>
        <p:spPr>
          <a:xfrm>
            <a:off x="5989320" y="444398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355080" y="4407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 Mobile Form: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355080" y="46817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multi-field form with 3-step wizard: 1) DOB 2) Birth Time 3) Pay. Each step = 1 tap.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989320" y="5010912"/>
            <a:ext cx="29260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8" name="Text 66"/>
          <p:cNvSpPr/>
          <p:nvPr/>
        </p:nvSpPr>
        <p:spPr>
          <a:xfrm>
            <a:off x="5989320" y="501091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355080" y="4974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Order + Retargeting: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355080" y="524865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'Order via WhatsApp' button (zero form friction). Install Meta Pixel + Google Tag for retargeting.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989320" y="5577840"/>
            <a:ext cx="292608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2" name="Text 70"/>
          <p:cNvSpPr/>
          <p:nvPr/>
        </p:nvSpPr>
        <p:spPr>
          <a:xfrm>
            <a:off x="5989320" y="557784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355080" y="5541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+ EMI Options: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6355080" y="58155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Razorpay's UPI intent, BNPL options, split-pay options to improve Tier 2/3 conversion.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Optimization — Before vs. After (qualitative)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studies cite 2-5× CVR uplift from systematic CRO. Actual lift to be measured during A/B testing.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11521440" cy="3840480"/>
        </p:xfrm>
        <a:graphic>
          <a:graphicData uri="http://schemas.openxmlformats.org/drawingml/2006/table">
            <a:tbl>
              <a:tblPr/>
              <a:tblGrid>
                <a:gridCol w="3657600"/>
                <a:gridCol w="2560320"/>
                <a:gridCol w="2926080"/>
                <a:gridCol w="2377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CURRENT STATE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POST-OPTIMIZATION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D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B429"/>
                          </a:solidFill>
                        </a:rPr>
                        <a:t>UPLIFT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B"/>
                          </a:solidFill>
                        </a:rPr>
                        <a:t>Landing Page CVR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Current 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9D78"/>
                          </a:solidFill>
                        </a:rPr>
                        <a:t>Higher CVR (range to be measured)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9D78"/>
                          </a:solidFill>
                        </a:rPr>
                        <a:t>Significant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B"/>
                          </a:solidFill>
                        </a:rPr>
                        <a:t>Lead Capture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9D78"/>
                          </a:solidFill>
                        </a:rPr>
                        <a:t>Capture via free Kundli lead magnet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New stream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B"/>
                          </a:solidFill>
                        </a:rPr>
                        <a:t>Mobile Bounce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Unmeasured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9D78"/>
                          </a:solidFill>
                        </a:rPr>
                        <a:t>Reduced via single-step wizard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Reduction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B"/>
                          </a:solidFill>
                        </a:rPr>
                        <a:t>WhatsApp Orders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9D78"/>
                          </a:solidFill>
                        </a:rPr>
                        <a:t>New channel (volume TBD)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C3AED"/>
                          </a:solidFill>
                        </a:rPr>
                        <a:t>New channel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B"/>
                          </a:solidFill>
                        </a:rPr>
                        <a:t>Retargeting 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₹0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9D78"/>
                          </a:solidFill>
                        </a:rPr>
                        <a:t>Recoverable lost-visitor 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9A84C"/>
                          </a:solidFill>
                        </a:rPr>
                        <a:t>From 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B"/>
                          </a:solidFill>
                        </a:rPr>
                        <a:t>Avg Order Value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₹199 (current SKU)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9D78"/>
                          </a:solidFill>
                        </a:rPr>
                        <a:t>Higher AOV via upsell to ₹1,499 tier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4B"/>
                          </a:solidFill>
                        </a:rPr>
                        <a:t>Upsell lift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5029200"/>
            <a:ext cx="11521440" cy="1463040"/>
          </a:xfrm>
          <a:prstGeom prst="rect">
            <a:avLst/>
          </a:prstGeom>
          <a:solidFill>
            <a:srgbClr val="0B1F4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REVENUE IMPACT MODEL (template)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Monthly Visitors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5779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 by GA]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68880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CVR (current → target)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468880" y="5779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389120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AOV (₹199 → upsell)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389120" y="5779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09360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Lead Nurture Revenue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09360" y="5779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0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Retargeting Revenue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29600" y="5779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[TBD]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149840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TOTAL IMPACT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149840" y="5779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INITIATIVE — WHATSAPP FIRST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as Primary Monetisation Surface — The Missing Channel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has the largest installed base in India. Open rates are reliably higher than email for the target cohort.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3840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51560"/>
            <a:ext cx="54864" cy="2542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143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78408" y="11430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Setup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673352"/>
            <a:ext cx="36118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official WABA account. Enables broadcast, automated replies, payment links. Setup + per-message fees per Meta's BSP pricing.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051560"/>
            <a:ext cx="3840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051560"/>
            <a:ext cx="54864" cy="254203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1143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56048" y="11430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Panchang Broadcast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1673352"/>
            <a:ext cx="36118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push: aaj ka rashifal, rahu kaal, shubh muhurat. Auto-generated via LLM. Opt-in base built over time.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75320" y="1051560"/>
            <a:ext cx="3840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75320" y="1051560"/>
            <a:ext cx="54864" cy="2542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1143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33688" y="11430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Jyotish Bot (In-Chat)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1673352"/>
            <a:ext cx="36118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DOB → bot generates free mini-kundli → upsell to paid full report. Automated. No human in loop.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3840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49040"/>
            <a:ext cx="54864" cy="25420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🎪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8408" y="38404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Campaign Sequences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370832"/>
            <a:ext cx="36118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3-message sequences for Navratri, Diwali, Makar Sankranti. Free tithi info → pooja booking offer → last-chance reminder.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7680" y="3749040"/>
            <a:ext cx="3840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97680" y="3749040"/>
            <a:ext cx="54864" cy="2542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43484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56048" y="38404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Pandit Referral Network on WA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34840" y="4370832"/>
            <a:ext cx="36118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Pandits get unique WhatsApp referral links. Conversions tracked. Commission paid via UPI instantly.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75320" y="3749040"/>
            <a:ext cx="3840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75320" y="3749040"/>
            <a:ext cx="54864" cy="25420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933688" y="38404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Community for Subscribers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4370832"/>
            <a:ext cx="36118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subscribers get access to exclusive 'Jyotish Community' group. Daily content + live Q&amp;A. Reduces churn.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— AI CONTENT FACTORY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Content Pipeline — From Prompt to Posted Reel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Reel volume per day to be set by capacity. Tools listed are current best-in-class options.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2423160"/>
            <a:ext cx="25603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051560"/>
            <a:ext cx="187452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051560"/>
            <a:ext cx="54864" cy="27889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1097280"/>
            <a:ext cx="594360" cy="502920"/>
          </a:xfrm>
          <a:prstGeom prst="ellipse">
            <a:avLst/>
          </a:prstGeom>
          <a:solidFill>
            <a:srgbClr val="0B1F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097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Generator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231136"/>
            <a:ext cx="1554480" cy="228600"/>
          </a:xfrm>
          <a:prstGeom prst="rect">
            <a:avLst/>
          </a:prstGeom>
          <a:solidFill>
            <a:srgbClr val="0B1F4B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2311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Claude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3192" y="2523744"/>
            <a:ext cx="1737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trending hashtags + ephemeris data → generates Reel scripts.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95928" y="2423160"/>
            <a:ext cx="25603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04288" y="1051560"/>
            <a:ext cx="187452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04288" y="1051560"/>
            <a:ext cx="54864" cy="27889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2" name="Shape 20"/>
          <p:cNvSpPr/>
          <p:nvPr/>
        </p:nvSpPr>
        <p:spPr>
          <a:xfrm>
            <a:off x="2898648" y="1097280"/>
            <a:ext cx="594360" cy="50292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2898648" y="1097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7744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87168" y="2231136"/>
            <a:ext cx="1554480" cy="228600"/>
          </a:xfrm>
          <a:prstGeom prst="rect">
            <a:avLst/>
          </a:prstGeom>
          <a:solidFill>
            <a:srgbClr val="1A3A6B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487168" y="22311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77440" y="2523744"/>
            <a:ext cx="1737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script to regional Hindi/Marathi voice. Pre-configured voice personas.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0176" y="2423160"/>
            <a:ext cx="25603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88536" y="1051560"/>
            <a:ext cx="187452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88536" y="1051560"/>
            <a:ext cx="54864" cy="2788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4882896" y="1097280"/>
            <a:ext cx="59436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882896" y="1097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61688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Generation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71416" y="2231136"/>
            <a:ext cx="1554480" cy="228600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471416" y="22311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 / Canva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61688" y="2523744"/>
            <a:ext cx="1737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avatar presents script OR auto-generates zodiac motion graphic.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64424" y="2423160"/>
            <a:ext cx="25603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2784" y="1051560"/>
            <a:ext cx="187452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72784" y="1051560"/>
            <a:ext cx="54864" cy="2788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40" name="Shape 38"/>
          <p:cNvSpPr/>
          <p:nvPr/>
        </p:nvSpPr>
        <p:spPr>
          <a:xfrm>
            <a:off x="6867144" y="1097280"/>
            <a:ext cx="594360" cy="50292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41" name="Text 39"/>
          <p:cNvSpPr/>
          <p:nvPr/>
        </p:nvSpPr>
        <p:spPr>
          <a:xfrm>
            <a:off x="6867144" y="1097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45936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&amp; SFX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55664" y="2231136"/>
            <a:ext cx="1554480" cy="228600"/>
          </a:xfrm>
          <a:prstGeom prst="rect">
            <a:avLst/>
          </a:prstGeom>
          <a:solidFill>
            <a:srgbClr val="2D9D78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55664" y="22311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9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 / IG audio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45936" y="2523744"/>
            <a:ext cx="1737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devotional background music + selects trending IG audio.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948672" y="2423160"/>
            <a:ext cx="25603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57032" y="1051560"/>
            <a:ext cx="187452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257032" y="1051560"/>
            <a:ext cx="54864" cy="2788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9" name="Shape 47"/>
          <p:cNvSpPr/>
          <p:nvPr/>
        </p:nvSpPr>
        <p:spPr>
          <a:xfrm>
            <a:off x="8851392" y="1097280"/>
            <a:ext cx="59436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0" name="Text 48"/>
          <p:cNvSpPr/>
          <p:nvPr/>
        </p:nvSpPr>
        <p:spPr>
          <a:xfrm>
            <a:off x="8851392" y="1097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330184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Auto-Edit &amp; Caption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439912" y="2231136"/>
            <a:ext cx="1554480" cy="228600"/>
          </a:xfrm>
          <a:prstGeom prst="rect">
            <a:avLst/>
          </a:prstGeom>
          <a:solidFill>
            <a:srgbClr val="EA580C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439912" y="22311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 API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330184" y="2523744"/>
            <a:ext cx="1737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video, adds Hindi/Marathi captions, applies brand watermark.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241280" y="1051560"/>
            <a:ext cx="187452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0241280" y="1051560"/>
            <a:ext cx="54864" cy="2788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7" name="Shape 55"/>
          <p:cNvSpPr/>
          <p:nvPr/>
        </p:nvSpPr>
        <p:spPr>
          <a:xfrm>
            <a:off x="10835640" y="1097280"/>
            <a:ext cx="59436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8" name="Text 56"/>
          <p:cNvSpPr/>
          <p:nvPr/>
        </p:nvSpPr>
        <p:spPr>
          <a:xfrm>
            <a:off x="10835640" y="1097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0314432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Post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0424160" y="2231136"/>
            <a:ext cx="1554480" cy="228600"/>
          </a:xfrm>
          <a:prstGeom prst="rect">
            <a:avLst/>
          </a:prstGeom>
          <a:solidFill>
            <a:srgbClr val="C9A84C">
              <a:alpha val="2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424160" y="22311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/ Buffer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314432" y="2523744"/>
            <a:ext cx="1737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to correct handle at optimal time. Hashtag stack auto-applied.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" y="4005072"/>
            <a:ext cx="115214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20040" y="4005072"/>
            <a:ext cx="54864" cy="2423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5" name="Text 63"/>
          <p:cNvSpPr/>
          <p:nvPr/>
        </p:nvSpPr>
        <p:spPr>
          <a:xfrm>
            <a:off x="502920" y="4096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FACTORY — UNIT ECONOMICS (template)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434840"/>
          <a:ext cx="11521440" cy="1874520"/>
        </p:xfrm>
        <a:graphic>
          <a:graphicData uri="http://schemas.openxmlformats.org/drawingml/2006/table">
            <a:tbl>
              <a:tblPr/>
              <a:tblGrid>
                <a:gridCol w="2560320"/>
                <a:gridCol w="3200400"/>
                <a:gridCol w="2743200"/>
                <a:gridCol w="3017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 REEL / DAY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4B"/>
                          </a:solidFill>
                        </a:rPr>
                        <a:t>Output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Reels/day [TBD]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Monthly [TBD]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Annual [TBD]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4B"/>
                          </a:solidFill>
                        </a:rPr>
                        <a:t>API 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Per-Reel cost from vendors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Monthly [TBD]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Annual [TBD]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4B"/>
                          </a:solidFill>
                        </a:rPr>
                        <a:t>Expected Views (avg)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Per-Reel target [TBD after pilot]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Monthly [TBD]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Annual [TBD]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4B"/>
                          </a:solidFill>
                        </a:rPr>
                        <a:t>Cost per 1K views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[TBD] — but expected &lt;&lt; paid ads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Compare to IG Ads CPM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Savings vs paid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4B"/>
                          </a:solidFill>
                        </a:rPr>
                        <a:t>Estimated Follower Gain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[TBD by pilot]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Monthly [TBD]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Annual [TBD]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Phased Rollout — Foundation → Distribution → Monetisation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priority sequencing with owner and success metric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36576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51560"/>
            <a:ext cx="54864" cy="5394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051560"/>
            <a:ext cx="365760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0789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389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185623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178308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AI content pipeline (LLM + voice + edit)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" y="240487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233172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engagement pod (real accounts) for all 4 handles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" y="295351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88036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@saathsetu shoutouts for 3 dormant handles (Week 1)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" y="350215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42900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&amp; deploy a small pilot batch of temple QR stickers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" y="405079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" y="397764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WhatsApp AI Jyotish bot (free kundli lead magnet)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" y="459943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452628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optimized landing page v2 (P0 CRO fixes only)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" y="514807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507492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daily Reels cadence across all handles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6080760"/>
            <a:ext cx="3657600" cy="32004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6099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Target: dormant handles begin gaining followers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0" y="1051560"/>
            <a:ext cx="36576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0" y="1051560"/>
            <a:ext cx="54864" cy="5394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3" name="Shape 31"/>
          <p:cNvSpPr/>
          <p:nvPr/>
        </p:nvSpPr>
        <p:spPr>
          <a:xfrm>
            <a:off x="4114800" y="1051560"/>
            <a:ext cx="3657600" cy="6217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10789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DISTRIBUTION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0" y="1389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31-60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24528" y="1856232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7" name="Text 35"/>
          <p:cNvSpPr/>
          <p:nvPr/>
        </p:nvSpPr>
        <p:spPr>
          <a:xfrm>
            <a:off x="4498848" y="178308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Reels output across portfolio (full factory live)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24528" y="2404872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9" name="Text 37"/>
          <p:cNvSpPr/>
          <p:nvPr/>
        </p:nvSpPr>
        <p:spPr>
          <a:xfrm>
            <a:off x="4498848" y="233172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local pandits as Jyotish Ambassadors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24528" y="2953512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1" name="Text 39"/>
          <p:cNvSpPr/>
          <p:nvPr/>
        </p:nvSpPr>
        <p:spPr>
          <a:xfrm>
            <a:off x="4498848" y="288036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AI compatibility share-card (youth viral loop)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24528" y="3502152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3" name="Text 41"/>
          <p:cNvSpPr/>
          <p:nvPr/>
        </p:nvSpPr>
        <p:spPr>
          <a:xfrm>
            <a:off x="4498848" y="342900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ambassador program: pilot in target colleges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24528" y="4050792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5" name="Text 43"/>
          <p:cNvSpPr/>
          <p:nvPr/>
        </p:nvSpPr>
        <p:spPr>
          <a:xfrm>
            <a:off x="4498848" y="397764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temple QR to wider pilot footprint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24528" y="4599432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7" name="Text 45"/>
          <p:cNvSpPr/>
          <p:nvPr/>
        </p:nvSpPr>
        <p:spPr>
          <a:xfrm>
            <a:off x="4498848" y="452628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retargeting campaigns (Meta Pixel + small daily budget)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24528" y="5148072"/>
            <a:ext cx="201168" cy="20116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9" name="Text 47"/>
          <p:cNvSpPr/>
          <p:nvPr/>
        </p:nvSpPr>
        <p:spPr>
          <a:xfrm>
            <a:off x="4498848" y="507492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B2B pitch to regional news apps for syndication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0" y="6080760"/>
            <a:ext cx="3657600" cy="320040"/>
          </a:xfrm>
          <a:prstGeom prst="rect">
            <a:avLst/>
          </a:prstGeom>
          <a:solidFill>
            <a:srgbClr val="1A3A6B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206240" y="6099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Target: measurable growth across all 4 handles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909560" y="1051560"/>
            <a:ext cx="393192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909560" y="1051560"/>
            <a:ext cx="54864" cy="539496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54" name="Shape 52"/>
          <p:cNvSpPr/>
          <p:nvPr/>
        </p:nvSpPr>
        <p:spPr>
          <a:xfrm>
            <a:off x="7909560" y="1051560"/>
            <a:ext cx="3931920" cy="62179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55" name="Text 53"/>
          <p:cNvSpPr/>
          <p:nvPr/>
        </p:nvSpPr>
        <p:spPr>
          <a:xfrm>
            <a:off x="8001000" y="10789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MONETISE &amp; MOAT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01000" y="13898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61-90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019288" y="1856232"/>
            <a:ext cx="201168" cy="201168"/>
          </a:xfrm>
          <a:prstGeom prst="ellipse">
            <a:avLst/>
          </a:prstGeom>
          <a:solidFill>
            <a:srgbClr val="0B1F4B"/>
          </a:solidFill>
          <a:ln/>
        </p:spPr>
      </p:sp>
      <p:sp>
        <p:nvSpPr>
          <p:cNvPr id="58" name="Text 56"/>
          <p:cNvSpPr/>
          <p:nvPr/>
        </p:nvSpPr>
        <p:spPr>
          <a:xfrm>
            <a:off x="8293608" y="178308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monthly subscription tier (with WhatsApp community)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019288" y="2404872"/>
            <a:ext cx="201168" cy="201168"/>
          </a:xfrm>
          <a:prstGeom prst="ellipse">
            <a:avLst/>
          </a:prstGeom>
          <a:solidFill>
            <a:srgbClr val="0B1F4B"/>
          </a:solidFill>
          <a:ln/>
        </p:spPr>
      </p:sp>
      <p:sp>
        <p:nvSpPr>
          <p:cNvPr id="60" name="Text 58"/>
          <p:cNvSpPr/>
          <p:nvPr/>
        </p:nvSpPr>
        <p:spPr>
          <a:xfrm>
            <a:off x="8293608" y="233172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pooja booking pipeline (pre-Navratri campaign)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019288" y="2953512"/>
            <a:ext cx="201168" cy="201168"/>
          </a:xfrm>
          <a:prstGeom prst="ellipse">
            <a:avLst/>
          </a:prstGeom>
          <a:solidFill>
            <a:srgbClr val="0B1F4B"/>
          </a:solidFill>
          <a:ln/>
        </p:spPr>
      </p:sp>
      <p:sp>
        <p:nvSpPr>
          <p:cNvPr id="62" name="Text 60"/>
          <p:cNvSpPr/>
          <p:nvPr/>
        </p:nvSpPr>
        <p:spPr>
          <a:xfrm>
            <a:off x="8293608" y="288036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+ pandit consult tier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019288" y="3502152"/>
            <a:ext cx="201168" cy="201168"/>
          </a:xfrm>
          <a:prstGeom prst="ellipse">
            <a:avLst/>
          </a:prstGeom>
          <a:solidFill>
            <a:srgbClr val="0B1F4B"/>
          </a:solidFill>
          <a:ln/>
        </p:spPr>
      </p:sp>
      <p:sp>
        <p:nvSpPr>
          <p:cNvPr id="64" name="Text 62"/>
          <p:cNvSpPr/>
          <p:nvPr/>
        </p:nvSpPr>
        <p:spPr>
          <a:xfrm>
            <a:off x="8293608" y="342900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channel launch (long-form puja + kundli tutorials)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019288" y="4050792"/>
            <a:ext cx="201168" cy="201168"/>
          </a:xfrm>
          <a:prstGeom prst="ellipse">
            <a:avLst/>
          </a:prstGeom>
          <a:solidFill>
            <a:srgbClr val="0B1F4B"/>
          </a:solidFill>
          <a:ln/>
        </p:spPr>
      </p:sp>
      <p:sp>
        <p:nvSpPr>
          <p:cNvPr id="66" name="Text 64"/>
          <p:cNvSpPr/>
          <p:nvPr/>
        </p:nvSpPr>
        <p:spPr>
          <a:xfrm>
            <a:off x="8293608" y="397764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Gemstone e-commerce integration (affiliate dropship)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019288" y="4599432"/>
            <a:ext cx="201168" cy="201168"/>
          </a:xfrm>
          <a:prstGeom prst="ellipse">
            <a:avLst/>
          </a:prstGeom>
          <a:solidFill>
            <a:srgbClr val="0B1F4B"/>
          </a:solidFill>
          <a:ln/>
        </p:spPr>
      </p:sp>
      <p:sp>
        <p:nvSpPr>
          <p:cNvPr id="68" name="Text 66"/>
          <p:cNvSpPr/>
          <p:nvPr/>
        </p:nvSpPr>
        <p:spPr>
          <a:xfrm>
            <a:off x="8293608" y="452628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CRO optimisation (P1 + P2 fixes live)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019288" y="5148072"/>
            <a:ext cx="201168" cy="201168"/>
          </a:xfrm>
          <a:prstGeom prst="ellipse">
            <a:avLst/>
          </a:prstGeom>
          <a:solidFill>
            <a:srgbClr val="0B1F4B"/>
          </a:solidFill>
          <a:ln/>
        </p:spPr>
      </p:sp>
      <p:sp>
        <p:nvSpPr>
          <p:cNvPr id="70" name="Text 68"/>
          <p:cNvSpPr/>
          <p:nvPr/>
        </p:nvSpPr>
        <p:spPr>
          <a:xfrm>
            <a:off x="8293608" y="507492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stable MRR and consistent follower growth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909560" y="6080760"/>
            <a:ext cx="3931920" cy="320040"/>
          </a:xfrm>
          <a:prstGeom prst="rect">
            <a:avLst/>
          </a:prstGeom>
          <a:solidFill>
            <a:srgbClr val="0B1F4B">
              <a:alpha val="2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8001000" y="60990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Target: monetisation flywheel begins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The AI Advantage (qualitative)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CAC/LTV/GM values to be modelled after pilot. Structure shown below is the framework.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37490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51560"/>
            <a:ext cx="54864" cy="475488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143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— Customer Acquisition Cost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19072"/>
          <a:ext cx="3749040" cy="397764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Temple QR + Pandit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[TBD]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Organic Reels (avg)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[TBD]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WhatsApp Bot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[TBD]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Campus Ambassador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[TBD]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Paid Retargeting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[TBD]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Blended CAC (target)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AstroTalk CAC (peer)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</a:rPr>
                        <a:t>Reportedly 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114800" y="1051560"/>
            <a:ext cx="37490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14800" y="1051560"/>
            <a:ext cx="54864" cy="4754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4251960" y="1143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— Customer Lifetime Value</a:t>
            </a:r>
            <a:endParaRPr lang="en-US" sz="11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719072"/>
          <a:ext cx="3749040" cy="397764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Kundli Report x1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₹199 (current SKU)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Repeat purchase 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[TBD]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Subscription (n months)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[TBD]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Upgrade to premium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[TBD]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Referrals generated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[TBD]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12-month LTV (est.)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4B"/>
                          </a:solidFill>
                        </a:rPr>
                        <a:t>[TBD]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LTV : CAC Ratio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7909560" y="1051560"/>
            <a:ext cx="37490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909560" y="1051560"/>
            <a:ext cx="54864" cy="4754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6"/>
          <p:cNvSpPr/>
          <p:nvPr/>
        </p:nvSpPr>
        <p:spPr>
          <a:xfrm>
            <a:off x="8046720" y="1143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by Product</a:t>
            </a:r>
            <a:endParaRPr lang="en-US" sz="1100" dirty="0"/>
          </a:p>
        </p:txBody>
      </p:sp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1719072"/>
          <a:ext cx="3749040" cy="397764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Kundli Report (AI)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 (AI-delivered)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Subscription (WA)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Premium Report (AI)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Live Consult (marketplace)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Medium (rev-share)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E-commerce (dropship)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Low-medium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B2B Syndication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Blended Portfolio GM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Target 70%+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2" name="Shape 17"/>
          <p:cNvSpPr/>
          <p:nvPr/>
        </p:nvSpPr>
        <p:spPr>
          <a:xfrm>
            <a:off x="320040" y="5925312"/>
            <a:ext cx="11521440" cy="713232"/>
          </a:xfrm>
          <a:prstGeom prst="rect">
            <a:avLst/>
          </a:prstGeom>
          <a:solidFill>
            <a:srgbClr val="0B1F4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02920" y="6035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DESIGN PRINCIPLE: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47472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cost structure should deliver high LTV:CAC ratio + high gross margin + fast payback — exact targets to be set after baseline.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02920" y="63276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metrics are achievable only with AI-first cost structure — not with human astrologers as primary delivery mechanism.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vs. Traditional — Full Initiative Portfolio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breakthrough innovations and proven traditional channels for risk diversification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11521440" cy="640080"/>
          </a:xfrm>
          <a:prstGeom prst="rect">
            <a:avLst/>
          </a:prstGeom>
          <a:solidFill>
            <a:srgbClr val="0B1F4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15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BREAKTHROUGH INITIATIVES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11155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(PROVEN) RECOMMENDATIONS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051560"/>
            <a:ext cx="0" cy="580644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28800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82880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2450592" y="1901952"/>
            <a:ext cx="50292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450592" y="1901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75488" y="1901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🛕 Temple QR Network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lead volume from offline channel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1828800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82880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20"/>
          <p:cNvSpPr/>
          <p:nvPr/>
        </p:nvSpPr>
        <p:spPr>
          <a:xfrm>
            <a:off x="5285232" y="1901952"/>
            <a:ext cx="50292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285232" y="1901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310128" y="19019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Pandit Revenue-Share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0128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Referral-driven sales pipeline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2944368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944368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2450592" y="3017520"/>
            <a:ext cx="50292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2450592" y="3017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75488" y="3017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WhatsApp AI Jyotish Bot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" y="3447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lead-to-paid funnel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2944368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2944368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32"/>
          <p:cNvSpPr/>
          <p:nvPr/>
        </p:nvSpPr>
        <p:spPr>
          <a:xfrm>
            <a:off x="5285232" y="3017520"/>
            <a:ext cx="50292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285232" y="3017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310128" y="3017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Compatibility Share Cards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10128" y="3447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acquisition mechanic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059936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4059936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Shape 38"/>
          <p:cNvSpPr/>
          <p:nvPr/>
        </p:nvSpPr>
        <p:spPr>
          <a:xfrm>
            <a:off x="2450592" y="4133088"/>
            <a:ext cx="50292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2450592" y="4133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75488" y="4133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Campus Ambassador SaaS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5488" y="45628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Low-CAC student referrals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0" y="4059936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4059936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6" name="Shape 44"/>
          <p:cNvSpPr/>
          <p:nvPr/>
        </p:nvSpPr>
        <p:spPr>
          <a:xfrm>
            <a:off x="5285232" y="4133088"/>
            <a:ext cx="50292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5285232" y="4133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310128" y="4133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Spotify Devotional Drops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310128" y="45628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Zero-CAC discovery channel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5175504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5175504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Shape 50"/>
          <p:cNvSpPr/>
          <p:nvPr/>
        </p:nvSpPr>
        <p:spPr>
          <a:xfrm>
            <a:off x="2450592" y="5248656"/>
            <a:ext cx="502920" cy="201168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53" name="Text 51"/>
          <p:cNvSpPr/>
          <p:nvPr/>
        </p:nvSpPr>
        <p:spPr>
          <a:xfrm>
            <a:off x="2450592" y="52486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75488" y="52486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Gemstone AI Recommendations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75488" y="5678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Trust-based commerce stream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0" y="5175504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0" y="5175504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8" name="Shape 56"/>
          <p:cNvSpPr/>
          <p:nvPr/>
        </p:nvSpPr>
        <p:spPr>
          <a:xfrm>
            <a:off x="5285232" y="5248656"/>
            <a:ext cx="502920" cy="201168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59" name="Text 57"/>
          <p:cNvSpPr/>
          <p:nvPr/>
        </p:nvSpPr>
        <p:spPr>
          <a:xfrm>
            <a:off x="5285232" y="52486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3310128" y="52486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B2B Horoscope Syndication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310128" y="5678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B2B revenue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72200" y="1828800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72200" y="1828800"/>
            <a:ext cx="54864" cy="9601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4" name="Text 62"/>
          <p:cNvSpPr/>
          <p:nvPr/>
        </p:nvSpPr>
        <p:spPr>
          <a:xfrm>
            <a:off x="6281928" y="19019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Regional Newspaper + Cable TV Ads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81928" y="23591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Lokmat, Dainik Jagran — Sunday slots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006840" y="1828800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06840" y="1828800"/>
            <a:ext cx="54864" cy="9601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8" name="Text 66"/>
          <p:cNvSpPr/>
          <p:nvPr/>
        </p:nvSpPr>
        <p:spPr>
          <a:xfrm>
            <a:off x="9116568" y="19019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🎪 Festival Campaign Sequences (Auto)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9116568" y="23591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Navratri, Diwali, Makar Sankranti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172200" y="2944368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72200" y="2944368"/>
            <a:ext cx="54864" cy="9601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2" name="Text 70"/>
          <p:cNvSpPr/>
          <p:nvPr/>
        </p:nvSpPr>
        <p:spPr>
          <a:xfrm>
            <a:off x="6281928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 Nurture Drip (7-Day)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81928" y="3474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kundli → paid upgrade sequence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006840" y="2944368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006840" y="2944368"/>
            <a:ext cx="54864" cy="9601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6" name="Text 74"/>
          <p:cNvSpPr/>
          <p:nvPr/>
        </p:nvSpPr>
        <p:spPr>
          <a:xfrm>
            <a:off x="9116568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Google SEO for 'kundli online'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116568" y="3474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AstroSage built scale via SEO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172200" y="4059936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172200" y="4059936"/>
            <a:ext cx="54864" cy="9601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0" name="Text 78"/>
          <p:cNvSpPr/>
          <p:nvPr/>
        </p:nvSpPr>
        <p:spPr>
          <a:xfrm>
            <a:off x="6281928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YouTube Long-Form Channel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281928" y="4590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program + sponsorship revenue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006840" y="4059936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006840" y="4059936"/>
            <a:ext cx="54864" cy="9601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4" name="Text 82"/>
          <p:cNvSpPr/>
          <p:nvPr/>
        </p:nvSpPr>
        <p:spPr>
          <a:xfrm>
            <a:off x="9116568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EMI &amp; BNPL Payment Options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9116568" y="4590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Tier 2/3 conversion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172200" y="5175504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72200" y="5175504"/>
            <a:ext cx="54864" cy="9601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8" name="Text 86"/>
          <p:cNvSpPr/>
          <p:nvPr/>
        </p:nvSpPr>
        <p:spPr>
          <a:xfrm>
            <a:off x="6281928" y="52486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Testimonial Collection System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6281928" y="57058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Auto-request post-delivery via WA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9006840" y="5175504"/>
            <a:ext cx="2651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006840" y="5175504"/>
            <a:ext cx="54864" cy="9601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2" name="Text 90"/>
          <p:cNvSpPr/>
          <p:nvPr/>
        </p:nvSpPr>
        <p:spPr>
          <a:xfrm>
            <a:off x="9116568" y="52486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Cross-Handle Content Recycling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9116568" y="57058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→ Marathi → YouTube repurpose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— Top Risks, Likelihood, Impact &amp; Mitigations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management using McKinsey 2×2 impact/probability matrix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11521440" cy="534924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1005840"/>
                <a:gridCol w="7406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MITIGATION STRATEGY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Instagram Algorithm Change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Build WhatsApp + YouTube as parallel channels. Never &gt; 50% revenue dependency on IG.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Low Temple QR Conversion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A/B test 3 QR offer variants (free kundli vs rashifal vs discount). Pivot within 2 weeks.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Pandit Trust / Fraud Risk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Verify pandits via Aadhar-linked onboarding. Cap payout until 90-day track record.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AI Content Quality Dip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9D78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Human spot-check ~10% of content daily. Quality rubric. Auto-flag low-engagement posts.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Competitor Copies Strategy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Moat = offline temple network + pandit relationships. Trust networks are slow to copy.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WhatsApp WABA Policy Violation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9D78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Strict opt-in compliance. Use approved message templates. Cap broadcast. Legal review.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Payment Gateway Drop-Off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Integrate multiple gateways (Razorpay + Paytm + UPI). WA order as zero-friction backup.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Regulatory Risk (Astrology Claims)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9D78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Add 'for entertainment purposes' disclaimer. Avoid medical/legal claims. Legal review.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KPI FRAMEWORK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Scorecard — Leading &amp; Lagging Indicators by Pillar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per milestone left [TBD by leadership]. Trend direction shown across M1 → M12.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2025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ASTROLOGY PORTFOLIO GROWTH STRATEGY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064240" y="6620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3657600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51560"/>
            <a:ext cx="54864" cy="5669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051560"/>
            <a:ext cx="36576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KPIs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3657600" cy="5138928"/>
        </p:xfrm>
        <a:graphic>
          <a:graphicData uri="http://schemas.openxmlformats.org/drawingml/2006/table">
            <a:tbl>
              <a:tblPr/>
              <a:tblGrid>
                <a:gridCol w="1554480"/>
                <a:gridCol w="502920"/>
                <a:gridCol w="502920"/>
                <a:gridCol w="548640"/>
                <a:gridCol w="548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>
                        <a:alpha val="60000"/>
                      </a:srgbClr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Total Followers (all 4)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Daily Reel Views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Follower Growth Rate/mo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Saves per Reel (avg)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Temple QR Scans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206240" y="1051560"/>
            <a:ext cx="3657600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1051560"/>
            <a:ext cx="54864" cy="5669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Shape 14"/>
          <p:cNvSpPr/>
          <p:nvPr/>
        </p:nvSpPr>
        <p:spPr>
          <a:xfrm>
            <a:off x="4206240" y="1051560"/>
            <a:ext cx="365760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297680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KPIs</a:t>
            </a:r>
            <a:endParaRPr lang="en-US" sz="12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481328"/>
          <a:ext cx="3657600" cy="5138928"/>
        </p:xfrm>
        <a:graphic>
          <a:graphicData uri="http://schemas.openxmlformats.org/drawingml/2006/table">
            <a:tbl>
              <a:tblPr/>
              <a:tblGrid>
                <a:gridCol w="1554480"/>
                <a:gridCol w="502920"/>
                <a:gridCol w="502920"/>
                <a:gridCol w="548640"/>
                <a:gridCol w="548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>
                        <a:alpha val="60000"/>
                      </a:srgbClr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MRR (all streams)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Kundli Report Sales/mo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Subscription Subs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Avg Order Value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WhatsApp Opt-in Base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8092440" y="1051560"/>
            <a:ext cx="3657600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92440" y="1051560"/>
            <a:ext cx="54864" cy="566928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22" name="Shape 18"/>
          <p:cNvSpPr/>
          <p:nvPr/>
        </p:nvSpPr>
        <p:spPr>
          <a:xfrm>
            <a:off x="8092440" y="1051560"/>
            <a:ext cx="3657600" cy="41148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23" name="Text 19"/>
          <p:cNvSpPr/>
          <p:nvPr/>
        </p:nvSpPr>
        <p:spPr>
          <a:xfrm>
            <a:off x="8183880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KPIs</a:t>
            </a:r>
            <a:endParaRPr lang="en-US" sz="120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481328"/>
          <a:ext cx="3657600" cy="5138928"/>
        </p:xfrm>
        <a:graphic>
          <a:graphicData uri="http://schemas.openxmlformats.org/drawingml/2006/table">
            <a:tbl>
              <a:tblPr/>
              <a:tblGrid>
                <a:gridCol w="1554480"/>
                <a:gridCol w="502920"/>
                <a:gridCol w="502920"/>
                <a:gridCol w="548640"/>
                <a:gridCol w="548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>
                        <a:alpha val="60000"/>
                      </a:srgbClr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Landing Page CVR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WA Bot Conversion Rate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Blended CAC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LTV : CAC Ratio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F4B"/>
                          </a:solidFill>
                        </a:rPr>
                        <a:t>Gross Margin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A580C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D9D78"/>
                          </a:solidFill>
                        </a:rPr>
                        <a:t>[TBD]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0" y="731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CLEAR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1005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 First.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Market.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astrology market has no fully AI-native, multi-generational, offline-to-digital player.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to claim that position is the next 90 days — before AstroTalk or InstaAstro replicates this playbook.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0965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engagement pods + @saathsetu shoutouts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00200" y="4645152"/>
            <a:ext cx="914400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600200" y="4645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406908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57800" y="40965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temple QR stickers &amp; start pandit WhatsApp outreach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57800" y="4645152"/>
            <a:ext cx="914400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4645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229600" y="406908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915400" y="40965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WhatsApp AI Jyotish bot + optimised landing page v2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15400" y="4645152"/>
            <a:ext cx="914400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8915400" y="4645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5303520"/>
            <a:ext cx="11887200" cy="36576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3949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frameworks: McKinsey SCR · BCG Growth-Share · Bain NPS  |  Data sources: scraped ig_audit.json (real) + macro figures left [TBD pending sourcing]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06424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Astrology Portfolio — Growth &amp; Monetization Strategy</dc:title>
  <dc:subject>PptxGenJS Presentation</dc:subject>
  <dc:creator>Strategy Team</dc:creator>
  <cp:lastModifiedBy>Strategy Team</cp:lastModifiedBy>
  <cp:revision>1</cp:revision>
  <dcterms:created xsi:type="dcterms:W3CDTF">2026-05-21T05:04:18Z</dcterms:created>
  <dcterms:modified xsi:type="dcterms:W3CDTF">2026-05-21T05:04:18Z</dcterms:modified>
</cp:coreProperties>
</file>