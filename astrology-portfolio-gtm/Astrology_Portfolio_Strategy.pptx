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FFDFE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-1371600"/>
            <a:ext cx="5486400" cy="5486400"/>
          </a:xfrm>
          <a:prstGeom prst="ellipse">
            <a:avLst/>
          </a:prstGeom>
          <a:solidFill>
            <a:srgbClr val="FFDFE3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FECCD3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144000" y="4114800"/>
            <a:ext cx="3657600" cy="3657600"/>
          </a:xfrm>
          <a:prstGeom prst="ellipse">
            <a:avLst/>
          </a:prstGeom>
          <a:solidFill>
            <a:srgbClr val="FECCD3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0" y="45720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spc="400" kern="0" dirty="0">
                <a:solidFill>
                  <a:srgbClr val="1A1216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ASTRO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0" y="155448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spc="400" kern="0" dirty="0">
                <a:solidFill>
                  <a:srgbClr val="D63D58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PORTFOLIO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2926080" y="3108960"/>
            <a:ext cx="6309360" cy="1005840"/>
          </a:xfrm>
          <a:prstGeom prst="rect">
            <a:avLst/>
          </a:prstGeom>
          <a:solidFill>
            <a:srgbClr val="FFFFFF"/>
          </a:solidFill>
          <a:ln w="38100">
            <a:solidFill>
              <a:srgbClr val="D63D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310896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300" kern="0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· MONETIZATION · CONVERSION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0" y="425196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PLAYBOOK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754880"/>
            <a:ext cx="256032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240">
            <a:solidFill>
              <a:srgbClr val="D63D5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4754880"/>
            <a:ext cx="2560320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548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51389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149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0080" y="57607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5989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· Verified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29000" y="4754880"/>
            <a:ext cx="256032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240">
            <a:solidFill>
              <a:srgbClr val="D63D5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29000" y="4754880"/>
            <a:ext cx="2560320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9" name="Text 17"/>
          <p:cNvSpPr/>
          <p:nvPr/>
        </p:nvSpPr>
        <p:spPr>
          <a:xfrm>
            <a:off x="3429000" y="47548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29000" y="51389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3429000" y="57607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29000" y="5989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17920" y="4754880"/>
            <a:ext cx="256032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240">
            <a:solidFill>
              <a:srgbClr val="D63D5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4754880"/>
            <a:ext cx="2560320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47548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@rashitattva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17920" y="51389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6217920" y="57607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0" y="5989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006840" y="4754880"/>
            <a:ext cx="256032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240">
            <a:solidFill>
              <a:srgbClr val="D63D5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06840" y="4754880"/>
            <a:ext cx="2560320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31" name="Text 29"/>
          <p:cNvSpPr/>
          <p:nvPr/>
        </p:nvSpPr>
        <p:spPr>
          <a:xfrm>
            <a:off x="9006840" y="47548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@astrosaadhan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006840" y="51389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3D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9006840" y="57607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006840" y="5989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36" name="Text 3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PLAYBOOK  ·  4 INSTAGRAM HANDLES  ·  ₹199 KUNDLI FUNNEL  ·  PATH TO 25K + MONETIZATION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20040" y="713232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AUTOMATED ASTROLOGY PAGES, ONE VIRAL FORMULA, BUT ZERO SCALED MONETIZATION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12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47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93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28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340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352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75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387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398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410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422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445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57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469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480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492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504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515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527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62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585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97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620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632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644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655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667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679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690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9702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714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726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737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749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61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772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784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796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7807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819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831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3842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5854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7866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9877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21889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2 / 10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80160"/>
            <a:ext cx="384048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316736"/>
            <a:ext cx="37673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316736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CONTEXT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457200" y="173736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astrology app market is on a once-in-a-decade growth curve — but the category is winner-take-most.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57200" y="2240280"/>
            <a:ext cx="17373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2286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163M</a:t>
            </a:r>
            <a:endParaRPr lang="en-US" sz="1400" dirty="0"/>
          </a:p>
        </p:txBody>
      </p:sp>
      <p:sp>
        <p:nvSpPr>
          <p:cNvPr id="72" name="Text 70"/>
          <p:cNvSpPr/>
          <p:nvPr/>
        </p:nvSpPr>
        <p:spPr>
          <a:xfrm>
            <a:off x="45720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market (2024)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2240280" y="2240280"/>
            <a:ext cx="17830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4028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1.79B</a:t>
            </a:r>
            <a:endParaRPr lang="en-US" sz="1400" dirty="0"/>
          </a:p>
        </p:txBody>
      </p:sp>
      <p:sp>
        <p:nvSpPr>
          <p:cNvPr id="75" name="Text 73"/>
          <p:cNvSpPr/>
          <p:nvPr/>
        </p:nvSpPr>
        <p:spPr>
          <a:xfrm>
            <a:off x="2240280" y="2560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by 2030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57200" y="2926080"/>
            <a:ext cx="17373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57200" y="2971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49.19%</a:t>
            </a:r>
            <a:endParaRPr lang="en-US" sz="1400" dirty="0"/>
          </a:p>
        </p:txBody>
      </p:sp>
      <p:sp>
        <p:nvSpPr>
          <p:cNvPr id="78" name="Text 76"/>
          <p:cNvSpPr/>
          <p:nvPr/>
        </p:nvSpPr>
        <p:spPr>
          <a:xfrm>
            <a:off x="457200" y="3246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'25–'30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2240280" y="2926080"/>
            <a:ext cx="17830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240280" y="29718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2240280" y="32461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AstroTalk share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457200" y="361188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MarkNtel Advisors (Aug 2025) · Upstox industry report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4297680" y="1280160"/>
            <a:ext cx="758952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4334256" y="1316736"/>
            <a:ext cx="751636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5" name="Text 83"/>
          <p:cNvSpPr/>
          <p:nvPr/>
        </p:nvSpPr>
        <p:spPr>
          <a:xfrm>
            <a:off x="4334256" y="1316736"/>
            <a:ext cx="7516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REALITY  ·  WHERE WE STAND TODAY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4434840" y="1737360"/>
            <a:ext cx="128016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7" name="Text 85"/>
          <p:cNvSpPr/>
          <p:nvPr/>
        </p:nvSpPr>
        <p:spPr>
          <a:xfrm>
            <a:off x="4434840" y="17373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5715000" y="1737360"/>
            <a:ext cx="64008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9" name="Text 87"/>
          <p:cNvSpPr/>
          <p:nvPr/>
        </p:nvSpPr>
        <p:spPr>
          <a:xfrm>
            <a:off x="5715000" y="17373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6355080" y="1737360"/>
            <a:ext cx="91440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1" name="Text 89"/>
          <p:cNvSpPr/>
          <p:nvPr/>
        </p:nvSpPr>
        <p:spPr>
          <a:xfrm>
            <a:off x="6355080" y="17373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7269480" y="1737360"/>
            <a:ext cx="59436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3" name="Text 91"/>
          <p:cNvSpPr/>
          <p:nvPr/>
        </p:nvSpPr>
        <p:spPr>
          <a:xfrm>
            <a:off x="7269480" y="17373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7863840" y="1737360"/>
            <a:ext cx="96012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5" name="Text 93"/>
          <p:cNvSpPr/>
          <p:nvPr/>
        </p:nvSpPr>
        <p:spPr>
          <a:xfrm>
            <a:off x="7863840" y="173736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VIEWS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8823960" y="1737360"/>
            <a:ext cx="96012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7" name="Text 95"/>
          <p:cNvSpPr/>
          <p:nvPr/>
        </p:nvSpPr>
        <p:spPr>
          <a:xfrm>
            <a:off x="8823960" y="173736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VIEWS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9784080" y="1737360"/>
            <a:ext cx="73152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9" name="Text 97"/>
          <p:cNvSpPr/>
          <p:nvPr/>
        </p:nvSpPr>
        <p:spPr>
          <a:xfrm>
            <a:off x="9784080" y="17373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4434840" y="2029968"/>
            <a:ext cx="12801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434840" y="2029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5715000" y="2029968"/>
            <a:ext cx="6400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715000" y="2029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6355080" y="2029968"/>
            <a:ext cx="9144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355080" y="20299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7269480" y="2029968"/>
            <a:ext cx="594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269480" y="20299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7863840" y="2029968"/>
            <a:ext cx="9601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7863840" y="202996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1,591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8823960" y="2029968"/>
            <a:ext cx="9601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8823960" y="202996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8,518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9784080" y="2029968"/>
            <a:ext cx="7315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9784080" y="20299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4434840" y="2395728"/>
            <a:ext cx="128016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434840" y="23957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@rashitattva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5715000" y="2395728"/>
            <a:ext cx="64008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715000" y="23957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6355080" y="2395728"/>
            <a:ext cx="91440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55080" y="2395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7269480" y="2395728"/>
            <a:ext cx="59436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269480" y="239572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7863840" y="2395728"/>
            <a:ext cx="96012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863840" y="23957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8823960" y="2395728"/>
            <a:ext cx="96012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823960" y="23957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615</a:t>
            </a:r>
            <a:endParaRPr lang="en-US" sz="900" dirty="0"/>
          </a:p>
        </p:txBody>
      </p:sp>
      <p:sp>
        <p:nvSpPr>
          <p:cNvPr id="126" name="Shape 124"/>
          <p:cNvSpPr/>
          <p:nvPr/>
        </p:nvSpPr>
        <p:spPr>
          <a:xfrm>
            <a:off x="9784080" y="2395728"/>
            <a:ext cx="73152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784080" y="23957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128" name="Shape 126"/>
          <p:cNvSpPr/>
          <p:nvPr/>
        </p:nvSpPr>
        <p:spPr>
          <a:xfrm>
            <a:off x="4434840" y="2761488"/>
            <a:ext cx="12801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434840" y="27614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@astrosaadhan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5715000" y="2761488"/>
            <a:ext cx="6400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15000" y="27614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355080" y="2761488"/>
            <a:ext cx="9144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355080" y="27614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34" name="Shape 132"/>
          <p:cNvSpPr/>
          <p:nvPr/>
        </p:nvSpPr>
        <p:spPr>
          <a:xfrm>
            <a:off x="7269480" y="2761488"/>
            <a:ext cx="5943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269480" y="276148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136" name="Shape 134"/>
          <p:cNvSpPr/>
          <p:nvPr/>
        </p:nvSpPr>
        <p:spPr>
          <a:xfrm>
            <a:off x="7863840" y="2761488"/>
            <a:ext cx="9601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863840" y="276148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138" name="Shape 136"/>
          <p:cNvSpPr/>
          <p:nvPr/>
        </p:nvSpPr>
        <p:spPr>
          <a:xfrm>
            <a:off x="8823960" y="2761488"/>
            <a:ext cx="9601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823960" y="276148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9784080" y="2761488"/>
            <a:ext cx="7315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84080" y="276148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4434840" y="3127248"/>
            <a:ext cx="128016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34840" y="31272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</a:t>
            </a:r>
            <a:endParaRPr lang="en-US" sz="900" dirty="0"/>
          </a:p>
        </p:txBody>
      </p:sp>
      <p:sp>
        <p:nvSpPr>
          <p:cNvPr id="144" name="Shape 142"/>
          <p:cNvSpPr/>
          <p:nvPr/>
        </p:nvSpPr>
        <p:spPr>
          <a:xfrm>
            <a:off x="5715000" y="3127248"/>
            <a:ext cx="64008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15000" y="31272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</a:t>
            </a:r>
            <a:endParaRPr lang="en-US" sz="900" dirty="0"/>
          </a:p>
        </p:txBody>
      </p:sp>
      <p:sp>
        <p:nvSpPr>
          <p:cNvPr id="146" name="Shape 144"/>
          <p:cNvSpPr/>
          <p:nvPr/>
        </p:nvSpPr>
        <p:spPr>
          <a:xfrm>
            <a:off x="6355080" y="3127248"/>
            <a:ext cx="91440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6355080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148" name="Shape 146"/>
          <p:cNvSpPr/>
          <p:nvPr/>
        </p:nvSpPr>
        <p:spPr>
          <a:xfrm>
            <a:off x="7269480" y="3127248"/>
            <a:ext cx="59436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269480" y="31272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50" name="Shape 148"/>
          <p:cNvSpPr/>
          <p:nvPr/>
        </p:nvSpPr>
        <p:spPr>
          <a:xfrm>
            <a:off x="7863840" y="3127248"/>
            <a:ext cx="96012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7863840" y="312724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8823960" y="3127248"/>
            <a:ext cx="96012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8823960" y="312724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154" name="Shape 152"/>
          <p:cNvSpPr/>
          <p:nvPr/>
        </p:nvSpPr>
        <p:spPr>
          <a:xfrm>
            <a:off x="9784080" y="3127248"/>
            <a:ext cx="731520" cy="3657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784080" y="31272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156" name="Text 154"/>
          <p:cNvSpPr/>
          <p:nvPr/>
        </p:nvSpPr>
        <p:spPr>
          <a:xfrm>
            <a:off x="4434840" y="349300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First-party Instagram scrape (May 2026, our own data)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320040" y="3886200"/>
            <a:ext cx="3840480" cy="25603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58" name="Shape 156"/>
          <p:cNvSpPr/>
          <p:nvPr/>
        </p:nvSpPr>
        <p:spPr>
          <a:xfrm>
            <a:off x="356616" y="3922776"/>
            <a:ext cx="37673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59" name="Text 157"/>
          <p:cNvSpPr/>
          <p:nvPr/>
        </p:nvSpPr>
        <p:spPr>
          <a:xfrm>
            <a:off x="356616" y="3922776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 TO 25K FOLLOWERS (×4)</a:t>
            </a:r>
            <a:endParaRPr lang="en-US" sz="1200" dirty="0"/>
          </a:p>
        </p:txBody>
      </p:sp>
      <p:sp>
        <p:nvSpPr>
          <p:cNvPr id="160" name="Shape 158"/>
          <p:cNvSpPr/>
          <p:nvPr/>
        </p:nvSpPr>
        <p:spPr>
          <a:xfrm>
            <a:off x="457200" y="4389120"/>
            <a:ext cx="137160" cy="13716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61" name="Text 159"/>
          <p:cNvSpPr/>
          <p:nvPr/>
        </p:nvSpPr>
        <p:spPr>
          <a:xfrm>
            <a:off x="658368" y="4343400"/>
            <a:ext cx="3456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cold-start</a:t>
            </a:r>
            <a:endParaRPr lang="en-US" sz="950" dirty="0"/>
          </a:p>
        </p:txBody>
      </p:sp>
      <p:sp>
        <p:nvSpPr>
          <p:cNvPr id="162" name="Text 160"/>
          <p:cNvSpPr/>
          <p:nvPr/>
        </p:nvSpPr>
        <p:spPr>
          <a:xfrm>
            <a:off x="658368" y="4526280"/>
            <a:ext cx="3456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4 accounts have &lt;20 posts, ~0 engagement. IG assigns near-zero distribution.</a:t>
            </a:r>
            <a:endParaRPr lang="en-US" sz="800" dirty="0"/>
          </a:p>
        </p:txBody>
      </p:sp>
      <p:sp>
        <p:nvSpPr>
          <p:cNvPr id="163" name="Shape 161"/>
          <p:cNvSpPr/>
          <p:nvPr/>
        </p:nvSpPr>
        <p:spPr>
          <a:xfrm>
            <a:off x="457200" y="4800600"/>
            <a:ext cx="137160" cy="13716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64" name="Text 162"/>
          <p:cNvSpPr/>
          <p:nvPr/>
        </p:nvSpPr>
        <p:spPr>
          <a:xfrm>
            <a:off x="658368" y="4754880"/>
            <a:ext cx="3456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Single-format dependency</a:t>
            </a:r>
            <a:endParaRPr lang="en-US" sz="950" dirty="0"/>
          </a:p>
        </p:txBody>
      </p:sp>
      <p:sp>
        <p:nvSpPr>
          <p:cNvPr id="165" name="Text 163"/>
          <p:cNvSpPr/>
          <p:nvPr/>
        </p:nvSpPr>
        <p:spPr>
          <a:xfrm>
            <a:off x="658368" y="4937760"/>
            <a:ext cx="3456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Reels on all handles (per scrape). No carousels = no saves anchor.</a:t>
            </a:r>
            <a:endParaRPr lang="en-US" sz="800" dirty="0"/>
          </a:p>
        </p:txBody>
      </p:sp>
      <p:sp>
        <p:nvSpPr>
          <p:cNvPr id="166" name="Shape 164"/>
          <p:cNvSpPr/>
          <p:nvPr/>
        </p:nvSpPr>
        <p:spPr>
          <a:xfrm>
            <a:off x="457200" y="5212080"/>
            <a:ext cx="137160" cy="13716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67" name="Text 165"/>
          <p:cNvSpPr/>
          <p:nvPr/>
        </p:nvSpPr>
        <p:spPr>
          <a:xfrm>
            <a:off x="658368" y="5166360"/>
            <a:ext cx="3456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Audience-platform mismatch</a:t>
            </a:r>
            <a:endParaRPr lang="en-US" sz="950" dirty="0"/>
          </a:p>
        </p:txBody>
      </p:sp>
      <p:sp>
        <p:nvSpPr>
          <p:cNvPr id="168" name="Text 166"/>
          <p:cNvSpPr/>
          <p:nvPr/>
        </p:nvSpPr>
        <p:spPr>
          <a:xfrm>
            <a:off x="658368" y="5349240"/>
            <a:ext cx="3456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Astrology buyers skew 35-65; IG core skews 18-34. Top-of-funnel ≠ buyer.</a:t>
            </a:r>
            <a:endParaRPr lang="en-US" sz="800" dirty="0"/>
          </a:p>
        </p:txBody>
      </p:sp>
      <p:sp>
        <p:nvSpPr>
          <p:cNvPr id="169" name="Shape 167"/>
          <p:cNvSpPr/>
          <p:nvPr/>
        </p:nvSpPr>
        <p:spPr>
          <a:xfrm>
            <a:off x="457200" y="5623560"/>
            <a:ext cx="137160" cy="13716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70" name="Text 168"/>
          <p:cNvSpPr/>
          <p:nvPr/>
        </p:nvSpPr>
        <p:spPr>
          <a:xfrm>
            <a:off x="658368" y="5577840"/>
            <a:ext cx="3456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market under-built</a:t>
            </a:r>
            <a:endParaRPr lang="en-US" sz="950" dirty="0"/>
          </a:p>
        </p:txBody>
      </p:sp>
      <p:sp>
        <p:nvSpPr>
          <p:cNvPr id="171" name="Text 169"/>
          <p:cNvSpPr/>
          <p:nvPr/>
        </p:nvSpPr>
        <p:spPr>
          <a:xfrm>
            <a:off x="658368" y="5760720"/>
            <a:ext cx="3456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 at 0 followers despite 17 posts — Marathi astro is undersupplied but unseeded.</a:t>
            </a:r>
            <a:endParaRPr lang="en-US" sz="800" dirty="0"/>
          </a:p>
        </p:txBody>
      </p:sp>
      <p:sp>
        <p:nvSpPr>
          <p:cNvPr id="172" name="Shape 170"/>
          <p:cNvSpPr/>
          <p:nvPr/>
        </p:nvSpPr>
        <p:spPr>
          <a:xfrm>
            <a:off x="457200" y="6035040"/>
            <a:ext cx="137160" cy="13716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73" name="Text 171"/>
          <p:cNvSpPr/>
          <p:nvPr/>
        </p:nvSpPr>
        <p:spPr>
          <a:xfrm>
            <a:off x="658368" y="5989320"/>
            <a:ext cx="3456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disclosure on @astrosaadhan</a:t>
            </a:r>
            <a:endParaRPr lang="en-US" sz="950" dirty="0"/>
          </a:p>
        </p:txBody>
      </p:sp>
      <p:sp>
        <p:nvSpPr>
          <p:cNvPr id="174" name="Text 172"/>
          <p:cNvSpPr/>
          <p:nvPr/>
        </p:nvSpPr>
        <p:spPr>
          <a:xfrm>
            <a:off x="658368" y="6172200"/>
            <a:ext cx="3456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openly labels content 'created by AI' — kills trust with elder buyer.</a:t>
            </a:r>
            <a:endParaRPr lang="en-US" sz="800" dirty="0"/>
          </a:p>
        </p:txBody>
      </p:sp>
      <p:sp>
        <p:nvSpPr>
          <p:cNvPr id="175" name="Shape 173"/>
          <p:cNvSpPr/>
          <p:nvPr/>
        </p:nvSpPr>
        <p:spPr>
          <a:xfrm>
            <a:off x="4297680" y="3886200"/>
            <a:ext cx="3794760" cy="25603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4334256" y="392277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77" name="Text 175"/>
          <p:cNvSpPr/>
          <p:nvPr/>
        </p:nvSpPr>
        <p:spPr>
          <a:xfrm>
            <a:off x="4334256" y="392277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FAILURE LOOP</a:t>
            </a:r>
            <a:endParaRPr lang="en-US" sz="1200" dirty="0"/>
          </a:p>
        </p:txBody>
      </p:sp>
      <p:sp>
        <p:nvSpPr>
          <p:cNvPr id="178" name="Shape 176"/>
          <p:cNvSpPr/>
          <p:nvPr/>
        </p:nvSpPr>
        <p:spPr>
          <a:xfrm>
            <a:off x="4526280" y="4434840"/>
            <a:ext cx="13716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3D58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4526280" y="44348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1000" dirty="0"/>
          </a:p>
        </p:txBody>
      </p:sp>
      <p:sp>
        <p:nvSpPr>
          <p:cNvPr id="180" name="Shape 178"/>
          <p:cNvSpPr/>
          <p:nvPr/>
        </p:nvSpPr>
        <p:spPr>
          <a:xfrm>
            <a:off x="6400800" y="4434840"/>
            <a:ext cx="13716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3D58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400800" y="44348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algo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182" name="Shape 180"/>
          <p:cNvSpPr/>
          <p:nvPr/>
        </p:nvSpPr>
        <p:spPr>
          <a:xfrm>
            <a:off x="6400800" y="5532120"/>
            <a:ext cx="13716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3D58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6400800" y="5532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proof,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</a:t>
            </a:r>
            <a:endParaRPr lang="en-US" sz="1000" dirty="0"/>
          </a:p>
        </p:txBody>
      </p:sp>
      <p:sp>
        <p:nvSpPr>
          <p:cNvPr id="184" name="Shape 182"/>
          <p:cNvSpPr/>
          <p:nvPr/>
        </p:nvSpPr>
        <p:spPr>
          <a:xfrm>
            <a:off x="4526280" y="5532120"/>
            <a:ext cx="13716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3D58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4526280" y="5532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₹199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000" dirty="0"/>
          </a:p>
        </p:txBody>
      </p:sp>
      <p:sp>
        <p:nvSpPr>
          <p:cNvPr id="186" name="Shape 184"/>
          <p:cNvSpPr/>
          <p:nvPr/>
        </p:nvSpPr>
        <p:spPr>
          <a:xfrm>
            <a:off x="5943600" y="4754880"/>
            <a:ext cx="457200" cy="274320"/>
          </a:xfrm>
          <a:prstGeom prst="rightArrow">
            <a:avLst/>
          </a:prstGeom>
          <a:solidFill>
            <a:srgbClr val="D63D58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903720" y="5349240"/>
            <a:ext cx="274320" cy="411480"/>
          </a:xfrm>
          <a:prstGeom prst="downArrow">
            <a:avLst/>
          </a:prstGeom>
          <a:solidFill>
            <a:srgbClr val="D63D58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943600" y="5852160"/>
            <a:ext cx="457200" cy="274320"/>
          </a:xfrm>
          <a:prstGeom prst="leftArrow">
            <a:avLst/>
          </a:prstGeom>
          <a:solidFill>
            <a:srgbClr val="D63D5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212080" y="5349240"/>
            <a:ext cx="274320" cy="411480"/>
          </a:xfrm>
          <a:prstGeom prst="upArrow">
            <a:avLst/>
          </a:prstGeom>
          <a:solidFill>
            <a:srgbClr val="D63D58"/>
          </a:solidFill>
          <a:ln/>
        </p:spPr>
      </p:sp>
      <p:sp>
        <p:nvSpPr>
          <p:cNvPr id="190" name="Text 188"/>
          <p:cNvSpPr/>
          <p:nvPr/>
        </p:nvSpPr>
        <p:spPr>
          <a:xfrm>
            <a:off x="4434840" y="608076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LOOP: viral hook reverse-engineering + multi-channel distribution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8229600" y="3886200"/>
            <a:ext cx="3657600" cy="25603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>
            <a:off x="8266176" y="3922776"/>
            <a:ext cx="358444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93" name="Text 191"/>
          <p:cNvSpPr/>
          <p:nvPr/>
        </p:nvSpPr>
        <p:spPr>
          <a:xfrm>
            <a:off x="8266176" y="392277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 METRIC</a:t>
            </a:r>
            <a:endParaRPr lang="en-US" sz="1200" dirty="0"/>
          </a:p>
        </p:txBody>
      </p:sp>
      <p:sp>
        <p:nvSpPr>
          <p:cNvPr id="194" name="Text 192"/>
          <p:cNvSpPr/>
          <p:nvPr/>
        </p:nvSpPr>
        <p:spPr>
          <a:xfrm>
            <a:off x="8366760" y="44348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Paid Kundli Orders per 1K Followers</a:t>
            </a:r>
            <a:endParaRPr lang="en-US" sz="1100" dirty="0"/>
          </a:p>
        </p:txBody>
      </p:sp>
      <p:sp>
        <p:nvSpPr>
          <p:cNvPr id="195" name="Text 193"/>
          <p:cNvSpPr/>
          <p:nvPr/>
        </p:nvSpPr>
        <p:spPr>
          <a:xfrm>
            <a:off x="8366760" y="473659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reach (followers/views), trust (engagement), and monetisation (₹199 sale) in one number — protects against vanity-follower growth without revenue.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8366760" y="5614416"/>
            <a:ext cx="73152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97" name="Text 195"/>
          <p:cNvSpPr/>
          <p:nvPr/>
        </p:nvSpPr>
        <p:spPr>
          <a:xfrm>
            <a:off x="8503920" y="557784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views per Reel</a:t>
            </a:r>
            <a:endParaRPr lang="en-US" sz="800" dirty="0"/>
          </a:p>
        </p:txBody>
      </p:sp>
      <p:sp>
        <p:nvSpPr>
          <p:cNvPr id="198" name="Text 196"/>
          <p:cNvSpPr/>
          <p:nvPr/>
        </p:nvSpPr>
        <p:spPr>
          <a:xfrm>
            <a:off x="10241280" y="5577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4 handles</a:t>
            </a:r>
            <a:endParaRPr lang="en-US" sz="750" dirty="0"/>
          </a:p>
        </p:txBody>
      </p:sp>
      <p:sp>
        <p:nvSpPr>
          <p:cNvPr id="199" name="Shape 197"/>
          <p:cNvSpPr/>
          <p:nvPr/>
        </p:nvSpPr>
        <p:spPr>
          <a:xfrm>
            <a:off x="8366760" y="5779008"/>
            <a:ext cx="73152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0" name="Text 198"/>
          <p:cNvSpPr/>
          <p:nvPr/>
        </p:nvSpPr>
        <p:spPr>
          <a:xfrm>
            <a:off x="8503920" y="574243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rate per post</a:t>
            </a:r>
            <a:endParaRPr lang="en-US" sz="800" dirty="0"/>
          </a:p>
        </p:txBody>
      </p:sp>
      <p:sp>
        <p:nvSpPr>
          <p:cNvPr id="201" name="Text 199"/>
          <p:cNvSpPr/>
          <p:nvPr/>
        </p:nvSpPr>
        <p:spPr>
          <a:xfrm>
            <a:off x="10241280" y="574243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IG's strongest signal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8366760" y="5943600"/>
            <a:ext cx="73152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3" name="Text 201"/>
          <p:cNvSpPr/>
          <p:nvPr/>
        </p:nvSpPr>
        <p:spPr>
          <a:xfrm>
            <a:off x="8503920" y="590702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opt-in conversion</a:t>
            </a:r>
            <a:endParaRPr lang="en-US" sz="800" dirty="0"/>
          </a:p>
        </p:txBody>
      </p:sp>
      <p:sp>
        <p:nvSpPr>
          <p:cNvPr id="204" name="Text 202"/>
          <p:cNvSpPr/>
          <p:nvPr/>
        </p:nvSpPr>
        <p:spPr>
          <a:xfrm>
            <a:off x="10241280" y="5907024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post-page-view</a:t>
            </a:r>
            <a:endParaRPr lang="en-US" sz="750" dirty="0"/>
          </a:p>
        </p:txBody>
      </p:sp>
      <p:sp>
        <p:nvSpPr>
          <p:cNvPr id="205" name="Shape 203"/>
          <p:cNvSpPr/>
          <p:nvPr/>
        </p:nvSpPr>
        <p:spPr>
          <a:xfrm>
            <a:off x="8366760" y="6108192"/>
            <a:ext cx="73152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6" name="Text 204"/>
          <p:cNvSpPr/>
          <p:nvPr/>
        </p:nvSpPr>
        <p:spPr>
          <a:xfrm>
            <a:off x="8503920" y="607161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₹199 order</a:t>
            </a:r>
            <a:endParaRPr lang="en-US" sz="800" dirty="0"/>
          </a:p>
        </p:txBody>
      </p:sp>
      <p:sp>
        <p:nvSpPr>
          <p:cNvPr id="207" name="Text 205"/>
          <p:cNvSpPr/>
          <p:nvPr/>
        </p:nvSpPr>
        <p:spPr>
          <a:xfrm>
            <a:off x="10241280" y="6071616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discipline</a:t>
            </a:r>
            <a:endParaRPr lang="en-US" sz="750" dirty="0"/>
          </a:p>
        </p:txBody>
      </p:sp>
      <p:sp>
        <p:nvSpPr>
          <p:cNvPr id="208" name="Shape 206"/>
          <p:cNvSpPr/>
          <p:nvPr/>
        </p:nvSpPr>
        <p:spPr>
          <a:xfrm>
            <a:off x="8366760" y="6272784"/>
            <a:ext cx="73152" cy="9144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9" name="Text 207"/>
          <p:cNvSpPr/>
          <p:nvPr/>
        </p:nvSpPr>
        <p:spPr>
          <a:xfrm>
            <a:off x="8503920" y="623620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ratio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10241280" y="623620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durability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20040" y="713232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MECE DECOMPOSITION OF WHY @SAATHSETU SCALED AND THE OTHER 3 STALLED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12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47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93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28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340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352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75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387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398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410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422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445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57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469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480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492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504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515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527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62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585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97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620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632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644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655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667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679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690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9702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714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726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737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749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61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772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784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796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7807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819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831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3842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5854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7866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9877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21889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3 / 10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80160"/>
            <a:ext cx="384048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316736"/>
            <a:ext cx="37673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316736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REALITY — INDIA ASTRO MARKET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457200" y="17647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is huge, supply is concentrated.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02920" y="2249424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1" name="Text 69"/>
          <p:cNvSpPr/>
          <p:nvPr/>
        </p:nvSpPr>
        <p:spPr>
          <a:xfrm>
            <a:off x="640080" y="21945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163M Indian astrology app market (2024), 49.19% CAGR — fastest in spiritual tech (MarkNtel)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502920" y="2542032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3" name="Text 71"/>
          <p:cNvSpPr/>
          <p:nvPr/>
        </p:nvSpPr>
        <p:spPr>
          <a:xfrm>
            <a:off x="640080" y="248716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Vedic astrology = 60%+ of category (MarkNtel)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502920" y="2834640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5" name="Text 73"/>
          <p:cNvSpPr/>
          <p:nvPr/>
        </p:nvSpPr>
        <p:spPr>
          <a:xfrm>
            <a:off x="640080" y="27797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AstroTalk holds ~80% market share, ~30M downloads, ₹70 cr monthly revenue (Upstox)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502920" y="3127248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7" name="Text 75"/>
          <p:cNvSpPr/>
          <p:nvPr/>
        </p:nvSpPr>
        <p:spPr>
          <a:xfrm>
            <a:off x="640080" y="307238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AstroSage = ₹60 cr FY24 revenue, 10M+ installs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502920" y="3419856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9" name="Text 77"/>
          <p:cNvSpPr/>
          <p:nvPr/>
        </p:nvSpPr>
        <p:spPr>
          <a:xfrm>
            <a:off x="640080" y="336499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AppsForBharat (SriMandir) raised $40M in 2024 — faith-as-a-service category emerging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502920" y="3712464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1" name="Text 79"/>
          <p:cNvSpPr/>
          <p:nvPr/>
        </p:nvSpPr>
        <p:spPr>
          <a:xfrm>
            <a:off x="640080" y="3657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Hinglish/regional captions earn 25–30% higher engagement than English (Instagram India Mega Report)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297680" y="1280160"/>
            <a:ext cx="37947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83" name="Shape 81"/>
          <p:cNvSpPr/>
          <p:nvPr/>
        </p:nvSpPr>
        <p:spPr>
          <a:xfrm>
            <a:off x="4334256" y="131673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4" name="Text 82"/>
          <p:cNvSpPr/>
          <p:nvPr/>
        </p:nvSpPr>
        <p:spPr>
          <a:xfrm>
            <a:off x="4334256" y="131673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DEFICIT INDEX (TDI)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4526280" y="1783080"/>
            <a:ext cx="1508760" cy="777240"/>
          </a:xfrm>
          <a:prstGeom prst="ellipse">
            <a:avLst/>
          </a:prstGeom>
          <a:solidFill>
            <a:srgbClr val="FFDFE3"/>
          </a:solidFill>
          <a:ln w="12700">
            <a:solidFill>
              <a:srgbClr val="D63D5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526280" y="178308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(badge/cert)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6400800" y="1783080"/>
            <a:ext cx="1508760" cy="777240"/>
          </a:xfrm>
          <a:prstGeom prst="ellipse">
            <a:avLst/>
          </a:prstGeom>
          <a:solidFill>
            <a:srgbClr val="FFDFE3"/>
          </a:solidFill>
          <a:ln w="12700">
            <a:solidFill>
              <a:srgbClr val="D63D5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400800" y="178308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(human, not AI)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4526280" y="2788920"/>
            <a:ext cx="1508760" cy="777240"/>
          </a:xfrm>
          <a:prstGeom prst="ellipse">
            <a:avLst/>
          </a:prstGeom>
          <a:solidFill>
            <a:srgbClr val="FFDFE3"/>
          </a:solidFill>
          <a:ln w="12700">
            <a:solidFill>
              <a:srgbClr val="D63D5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526280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proof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(testimonials)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6400800" y="2788920"/>
            <a:ext cx="1508760" cy="777240"/>
          </a:xfrm>
          <a:prstGeom prst="ellipse">
            <a:avLst/>
          </a:prstGeom>
          <a:solidFill>
            <a:srgbClr val="FFDFE3"/>
          </a:solidFill>
          <a:ln w="12700">
            <a:solidFill>
              <a:srgbClr val="D63D5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400800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 cadence)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617720" y="3703320"/>
            <a:ext cx="3200400" cy="274320"/>
          </a:xfrm>
          <a:prstGeom prst="rect">
            <a:avLst/>
          </a:prstGeom>
          <a:solidFill>
            <a:srgbClr val="D63D58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0" y="3703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TDI = Verification + Voice + Visual Proof + Velocity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8229600" y="1280160"/>
            <a:ext cx="365760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>
            <a:off x="8266176" y="1316736"/>
            <a:ext cx="358444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7" name="Text 95"/>
          <p:cNvSpPr/>
          <p:nvPr/>
        </p:nvSpPr>
        <p:spPr>
          <a:xfrm>
            <a:off x="8266176" y="131673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FUNNEL LEAKAGE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12480" y="1828800"/>
            <a:ext cx="3291840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9" name="Text 97"/>
          <p:cNvSpPr/>
          <p:nvPr/>
        </p:nvSpPr>
        <p:spPr>
          <a:xfrm>
            <a:off x="8412480" y="1828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 views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8321040" y="2121408"/>
            <a:ext cx="3474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≤ 1,844 avg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8686800" y="2212848"/>
            <a:ext cx="2743200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02" name="Text 100"/>
          <p:cNvSpPr/>
          <p:nvPr/>
        </p:nvSpPr>
        <p:spPr>
          <a:xfrm>
            <a:off x="8686800" y="22128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visit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8321040" y="2505456"/>
            <a:ext cx="3474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~3-5% of viewers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8961120" y="2596896"/>
            <a:ext cx="219456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05" name="Text 103"/>
          <p:cNvSpPr/>
          <p:nvPr/>
        </p:nvSpPr>
        <p:spPr>
          <a:xfrm>
            <a:off x="8961120" y="2596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8321040" y="2889504"/>
            <a:ext cx="3474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79.6× lift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9235440" y="2980944"/>
            <a:ext cx="164592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08" name="Text 106"/>
          <p:cNvSpPr/>
          <p:nvPr/>
        </p:nvSpPr>
        <p:spPr>
          <a:xfrm>
            <a:off x="9235440" y="29809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click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8321040" y="3273552"/>
            <a:ext cx="3474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link only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9509760" y="3364992"/>
            <a:ext cx="109728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11" name="Text 109"/>
          <p:cNvSpPr/>
          <p:nvPr/>
        </p:nvSpPr>
        <p:spPr>
          <a:xfrm>
            <a:off x="9509760" y="33649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₹199 order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8321040" y="3657600"/>
            <a:ext cx="3474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estimate &lt; 3%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8321040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DROP — Reels → Profile → Follow gap is widest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320040" y="4160520"/>
            <a:ext cx="5897880" cy="22860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>
            <a:off x="356616" y="4197096"/>
            <a:ext cx="58247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6" name="Text 114"/>
          <p:cNvSpPr/>
          <p:nvPr/>
        </p:nvSpPr>
        <p:spPr>
          <a:xfrm>
            <a:off x="356616" y="4197096"/>
            <a:ext cx="5824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JOBS-TO-BE-DONE PYRAMID — WHAT THE BUYER IS HIRING US FOR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1920240" y="4617720"/>
            <a:ext cx="1280160" cy="365760"/>
          </a:xfrm>
          <a:prstGeom prst="rect">
            <a:avLst/>
          </a:prstGeom>
          <a:solidFill>
            <a:srgbClr val="D63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0" y="4617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4617720" y="4617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seen, feel hope, feel guided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1463040" y="5029200"/>
            <a:ext cx="2194560" cy="365760"/>
          </a:xfrm>
          <a:prstGeom prst="rect">
            <a:avLst/>
          </a:prstGeom>
          <a:solidFill>
            <a:srgbClr val="D63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463040" y="5029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4617720" y="5029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from peers, family, partner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1005840" y="5440680"/>
            <a:ext cx="3108960" cy="365760"/>
          </a:xfrm>
          <a:prstGeom prst="rect">
            <a:avLst/>
          </a:prstGeom>
          <a:solidFill>
            <a:srgbClr val="D63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1005840" y="5440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4617720" y="5440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 am a Mulank 3 / Aries / Saturn person' — language to define self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548640" y="5852160"/>
            <a:ext cx="4023360" cy="365760"/>
          </a:xfrm>
          <a:prstGeom prst="rect">
            <a:avLst/>
          </a:prstGeom>
          <a:solidFill>
            <a:srgbClr val="D63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48640" y="5852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800" dirty="0"/>
          </a:p>
        </p:txBody>
      </p:sp>
      <p:sp>
        <p:nvSpPr>
          <p:cNvPr id="128" name="Text 126"/>
          <p:cNvSpPr/>
          <p:nvPr/>
        </p:nvSpPr>
        <p:spPr>
          <a:xfrm>
            <a:off x="4617720" y="5852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 for marriage, career, health, partner choice</a:t>
            </a:r>
            <a:endParaRPr lang="en-US" sz="750" dirty="0"/>
          </a:p>
        </p:txBody>
      </p:sp>
      <p:sp>
        <p:nvSpPr>
          <p:cNvPr id="129" name="Text 127"/>
          <p:cNvSpPr/>
          <p:nvPr/>
        </p:nvSpPr>
        <p:spPr>
          <a:xfrm>
            <a:off x="502920" y="62636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engineering @saathsetu's 8.5K-view Reel: hits all 4 layers in one 30-sec hook (partner-birthdate angle)</a:t>
            </a:r>
            <a:endParaRPr lang="en-US" sz="750" dirty="0"/>
          </a:p>
        </p:txBody>
      </p:sp>
      <p:sp>
        <p:nvSpPr>
          <p:cNvPr id="130" name="Shape 128"/>
          <p:cNvSpPr/>
          <p:nvPr/>
        </p:nvSpPr>
        <p:spPr>
          <a:xfrm>
            <a:off x="6355080" y="4160520"/>
            <a:ext cx="5532120" cy="22860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>
            <a:off x="6391656" y="4197096"/>
            <a:ext cx="545896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32" name="Text 130"/>
          <p:cNvSpPr/>
          <p:nvPr/>
        </p:nvSpPr>
        <p:spPr>
          <a:xfrm>
            <a:off x="6391656" y="4197096"/>
            <a:ext cx="5458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TREE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6492240" y="45720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Insufficient daily-utility content at portfolio scale (only 1/4 handles posts consistently)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6492240" y="48920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DRIVERS</a:t>
            </a:r>
            <a:endParaRPr lang="en-US" sz="850" dirty="0"/>
          </a:p>
        </p:txBody>
      </p:sp>
      <p:sp>
        <p:nvSpPr>
          <p:cNvPr id="135" name="Text 133"/>
          <p:cNvSpPr/>
          <p:nvPr/>
        </p:nvSpPr>
        <p:spPr>
          <a:xfrm>
            <a:off x="6492240" y="5166360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6629400" y="516636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carousel/static content — Reels-only strategy misses saves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6492240" y="5367528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38" name="Text 136"/>
          <p:cNvSpPr/>
          <p:nvPr/>
        </p:nvSpPr>
        <p:spPr>
          <a:xfrm>
            <a:off x="6629400" y="5367528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voice exposed publicly on @astrosaadhan kills trust</a:t>
            </a:r>
            <a:endParaRPr lang="en-US" sz="800" dirty="0"/>
          </a:p>
        </p:txBody>
      </p:sp>
      <p:sp>
        <p:nvSpPr>
          <p:cNvPr id="139" name="Text 137"/>
          <p:cNvSpPr/>
          <p:nvPr/>
        </p:nvSpPr>
        <p:spPr>
          <a:xfrm>
            <a:off x="6492240" y="5568696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40" name="Text 138"/>
          <p:cNvSpPr/>
          <p:nvPr/>
        </p:nvSpPr>
        <p:spPr>
          <a:xfrm>
            <a:off x="6629400" y="5568696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market unseeded — @drishtiastro 0 followers despite 17 posts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6492240" y="5769864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42" name="Text 140"/>
          <p:cNvSpPr/>
          <p:nvPr/>
        </p:nvSpPr>
        <p:spPr>
          <a:xfrm>
            <a:off x="6629400" y="5769864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cross-promotion from verified @saathsetu to other 3</a:t>
            </a:r>
            <a:endParaRPr lang="en-US" sz="800" dirty="0"/>
          </a:p>
        </p:txBody>
      </p:sp>
      <p:sp>
        <p:nvSpPr>
          <p:cNvPr id="143" name="Text 141"/>
          <p:cNvSpPr/>
          <p:nvPr/>
        </p:nvSpPr>
        <p:spPr>
          <a:xfrm>
            <a:off x="6492240" y="60350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(BUYER-SIDE)</a:t>
            </a:r>
            <a:endParaRPr lang="en-US" sz="850" dirty="0"/>
          </a:p>
        </p:txBody>
      </p:sp>
      <p:sp>
        <p:nvSpPr>
          <p:cNvPr id="144" name="Text 142"/>
          <p:cNvSpPr/>
          <p:nvPr/>
        </p:nvSpPr>
        <p:spPr>
          <a:xfrm>
            <a:off x="6492240" y="6263640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Bio not optimised for elder reader · low pixel size · no Hindi headers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AUDIT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20040" y="713232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ENGAGEMENT METRICS + REVERSE-ENGINEERED VIRAL FORMULA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12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47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93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28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340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352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75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387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398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410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422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445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57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469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480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492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504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515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527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62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585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97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620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632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644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655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667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679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690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9702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714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726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737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749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61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772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784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796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7807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819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831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3842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5854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7866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9877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21889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4 / 10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80160"/>
            <a:ext cx="11567160" cy="237744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31673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31673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FIRST-PARTY INSTAGRAM SCRAPE  ·  4 HANDLES × 15 METRICS  ·  MAY 2026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11480" y="1755648"/>
            <a:ext cx="128016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0" name="Text 68"/>
          <p:cNvSpPr/>
          <p:nvPr/>
        </p:nvSpPr>
        <p:spPr>
          <a:xfrm>
            <a:off x="411480" y="17556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1691640" y="1755648"/>
            <a:ext cx="5486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2" name="Text 70"/>
          <p:cNvSpPr/>
          <p:nvPr/>
        </p:nvSpPr>
        <p:spPr>
          <a:xfrm>
            <a:off x="1691640" y="175564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2240280" y="1755648"/>
            <a:ext cx="7772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4" name="Text 72"/>
          <p:cNvSpPr/>
          <p:nvPr/>
        </p:nvSpPr>
        <p:spPr>
          <a:xfrm>
            <a:off x="2240280" y="175564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3017520" y="1755648"/>
            <a:ext cx="50292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6" name="Text 74"/>
          <p:cNvSpPr/>
          <p:nvPr/>
        </p:nvSpPr>
        <p:spPr>
          <a:xfrm>
            <a:off x="3017520" y="175564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3520440" y="1755648"/>
            <a:ext cx="68580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8" name="Text 76"/>
          <p:cNvSpPr/>
          <p:nvPr/>
        </p:nvSpPr>
        <p:spPr>
          <a:xfrm>
            <a:off x="3520440" y="175564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LIKES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4206240" y="1755648"/>
            <a:ext cx="68580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0" name="Text 78"/>
          <p:cNvSpPr/>
          <p:nvPr/>
        </p:nvSpPr>
        <p:spPr>
          <a:xfrm>
            <a:off x="4206240" y="175564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VIEWS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4892040" y="1755648"/>
            <a:ext cx="68580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2" name="Text 80"/>
          <p:cNvSpPr/>
          <p:nvPr/>
        </p:nvSpPr>
        <p:spPr>
          <a:xfrm>
            <a:off x="4892040" y="175564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VIEWS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5577840" y="1755648"/>
            <a:ext cx="73152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4" name="Text 82"/>
          <p:cNvSpPr/>
          <p:nvPr/>
        </p:nvSpPr>
        <p:spPr>
          <a:xfrm>
            <a:off x="5577840" y="17556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VIEWS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6309360" y="1755648"/>
            <a:ext cx="7772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6" name="Text 84"/>
          <p:cNvSpPr/>
          <p:nvPr/>
        </p:nvSpPr>
        <p:spPr>
          <a:xfrm>
            <a:off x="6309360" y="175564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OUTLIER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7086600" y="1755648"/>
            <a:ext cx="82296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8" name="Text 86"/>
          <p:cNvSpPr/>
          <p:nvPr/>
        </p:nvSpPr>
        <p:spPr>
          <a:xfrm>
            <a:off x="7086600" y="175564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%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909560" y="1755648"/>
            <a:ext cx="59436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0" name="Text 88"/>
          <p:cNvSpPr/>
          <p:nvPr/>
        </p:nvSpPr>
        <p:spPr>
          <a:xfrm>
            <a:off x="7909560" y="175564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8503920" y="1755648"/>
            <a:ext cx="59436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2" name="Text 90"/>
          <p:cNvSpPr/>
          <p:nvPr/>
        </p:nvSpPr>
        <p:spPr>
          <a:xfrm>
            <a:off x="8503920" y="175564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098280" y="1755648"/>
            <a:ext cx="54864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4" name="Text 92"/>
          <p:cNvSpPr/>
          <p:nvPr/>
        </p:nvSpPr>
        <p:spPr>
          <a:xfrm>
            <a:off x="9098280" y="175564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%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9646920" y="1755648"/>
            <a:ext cx="685800" cy="329184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6" name="Text 94"/>
          <p:cNvSpPr/>
          <p:nvPr/>
        </p:nvSpPr>
        <p:spPr>
          <a:xfrm>
            <a:off x="9646920" y="175564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GAP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411480" y="2084832"/>
            <a:ext cx="12801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11480" y="20848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1691640" y="2084832"/>
            <a:ext cx="548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691640" y="208483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2240280" y="2084832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40280" y="208483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3017520" y="2084832"/>
            <a:ext cx="5029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017520" y="20848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3520440" y="2084832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520440" y="208483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302.7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4206240" y="2084832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206240" y="208483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1,591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4892040" y="2084832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892040" y="208483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8,518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5577840" y="2084832"/>
            <a:ext cx="7315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7840" y="20848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6309360" y="2084832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309360" y="208483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207.7×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7086600" y="2084832"/>
            <a:ext cx="8229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086600" y="208483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79.6%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7909560" y="2084832"/>
            <a:ext cx="5943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7909560" y="2084832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8503920" y="2084832"/>
            <a:ext cx="5943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503920" y="2084832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9098280" y="2084832"/>
            <a:ext cx="548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098280" y="208483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9646920" y="2084832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9646920" y="208483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1.98d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411480" y="2414016"/>
            <a:ext cx="12801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1480" y="24140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@rashitattva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1691640" y="2414016"/>
            <a:ext cx="5486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691640" y="241401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2240280" y="2414016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2240280" y="241401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3017520" y="2414016"/>
            <a:ext cx="50292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3017520" y="241401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3520440" y="2414016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3520440" y="241401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4206240" y="2414016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206240" y="241401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4892040" y="2414016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892040" y="241401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615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5577840" y="2414016"/>
            <a:ext cx="73152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577840" y="241401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750" dirty="0"/>
          </a:p>
        </p:txBody>
      </p:sp>
      <p:sp>
        <p:nvSpPr>
          <p:cNvPr id="141" name="Shape 139"/>
          <p:cNvSpPr/>
          <p:nvPr/>
        </p:nvSpPr>
        <p:spPr>
          <a:xfrm>
            <a:off x="6309360" y="2414016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309360" y="241401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136.4×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7086600" y="2414016"/>
            <a:ext cx="8229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086600" y="24140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18.1%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7909560" y="2414016"/>
            <a:ext cx="5943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09560" y="241401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750" dirty="0"/>
          </a:p>
        </p:txBody>
      </p:sp>
      <p:sp>
        <p:nvSpPr>
          <p:cNvPr id="147" name="Shape 145"/>
          <p:cNvSpPr/>
          <p:nvPr/>
        </p:nvSpPr>
        <p:spPr>
          <a:xfrm>
            <a:off x="8503920" y="2414016"/>
            <a:ext cx="5943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503920" y="241401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9098280" y="2414016"/>
            <a:ext cx="5486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9098280" y="241401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750" dirty="0"/>
          </a:p>
        </p:txBody>
      </p:sp>
      <p:sp>
        <p:nvSpPr>
          <p:cNvPr id="151" name="Shape 149"/>
          <p:cNvSpPr/>
          <p:nvPr/>
        </p:nvSpPr>
        <p:spPr>
          <a:xfrm>
            <a:off x="9646920" y="2414016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646920" y="241401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1.81d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11480" y="2743200"/>
            <a:ext cx="12801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11480" y="2743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@astrosaadhan</a:t>
            </a: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1691640" y="2743200"/>
            <a:ext cx="548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691640" y="274320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750" dirty="0"/>
          </a:p>
        </p:txBody>
      </p:sp>
      <p:sp>
        <p:nvSpPr>
          <p:cNvPr id="157" name="Shape 155"/>
          <p:cNvSpPr/>
          <p:nvPr/>
        </p:nvSpPr>
        <p:spPr>
          <a:xfrm>
            <a:off x="2240280" y="2743200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2240280" y="274320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3017520" y="2743200"/>
            <a:ext cx="5029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3017520" y="27432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3520440" y="2743200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3520440" y="27432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50" dirty="0"/>
          </a:p>
        </p:txBody>
      </p:sp>
      <p:sp>
        <p:nvSpPr>
          <p:cNvPr id="163" name="Shape 161"/>
          <p:cNvSpPr/>
          <p:nvPr/>
        </p:nvSpPr>
        <p:spPr>
          <a:xfrm>
            <a:off x="4206240" y="2743200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4206240" y="27432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4892040" y="2743200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892040" y="27432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5577840" y="2743200"/>
            <a:ext cx="7315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5577840" y="27432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750" dirty="0"/>
          </a:p>
        </p:txBody>
      </p:sp>
      <p:sp>
        <p:nvSpPr>
          <p:cNvPr id="169" name="Shape 167"/>
          <p:cNvSpPr/>
          <p:nvPr/>
        </p:nvSpPr>
        <p:spPr>
          <a:xfrm>
            <a:off x="6309360" y="2743200"/>
            <a:ext cx="7772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6309360" y="274320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11.1×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7086600" y="2743200"/>
            <a:ext cx="8229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0" y="27432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1.6%</a:t>
            </a:r>
            <a:endParaRPr lang="en-US" sz="750" dirty="0"/>
          </a:p>
        </p:txBody>
      </p:sp>
      <p:sp>
        <p:nvSpPr>
          <p:cNvPr id="173" name="Shape 171"/>
          <p:cNvSpPr/>
          <p:nvPr/>
        </p:nvSpPr>
        <p:spPr>
          <a:xfrm>
            <a:off x="7909560" y="2743200"/>
            <a:ext cx="5943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909560" y="274320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750" dirty="0"/>
          </a:p>
        </p:txBody>
      </p:sp>
      <p:sp>
        <p:nvSpPr>
          <p:cNvPr id="175" name="Shape 173"/>
          <p:cNvSpPr/>
          <p:nvPr/>
        </p:nvSpPr>
        <p:spPr>
          <a:xfrm>
            <a:off x="8503920" y="2743200"/>
            <a:ext cx="59436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03920" y="274320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750" dirty="0"/>
          </a:p>
        </p:txBody>
      </p:sp>
      <p:sp>
        <p:nvSpPr>
          <p:cNvPr id="177" name="Shape 175"/>
          <p:cNvSpPr/>
          <p:nvPr/>
        </p:nvSpPr>
        <p:spPr>
          <a:xfrm>
            <a:off x="9098280" y="2743200"/>
            <a:ext cx="548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9098280" y="274320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50" dirty="0"/>
          </a:p>
        </p:txBody>
      </p:sp>
      <p:sp>
        <p:nvSpPr>
          <p:cNvPr id="179" name="Shape 177"/>
          <p:cNvSpPr/>
          <p:nvPr/>
        </p:nvSpPr>
        <p:spPr>
          <a:xfrm>
            <a:off x="9646920" y="2743200"/>
            <a:ext cx="6858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9646920" y="27432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1.36d</a:t>
            </a:r>
            <a:endParaRPr lang="en-US" sz="750" dirty="0"/>
          </a:p>
        </p:txBody>
      </p:sp>
      <p:sp>
        <p:nvSpPr>
          <p:cNvPr id="181" name="Shape 179"/>
          <p:cNvSpPr/>
          <p:nvPr/>
        </p:nvSpPr>
        <p:spPr>
          <a:xfrm>
            <a:off x="411480" y="3072384"/>
            <a:ext cx="12801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411480" y="307238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</a:t>
            </a:r>
            <a:endParaRPr lang="en-US" sz="750" dirty="0"/>
          </a:p>
        </p:txBody>
      </p:sp>
      <p:sp>
        <p:nvSpPr>
          <p:cNvPr id="183" name="Shape 181"/>
          <p:cNvSpPr/>
          <p:nvPr/>
        </p:nvSpPr>
        <p:spPr>
          <a:xfrm>
            <a:off x="1691640" y="3072384"/>
            <a:ext cx="5486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691640" y="307238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</a:t>
            </a:r>
            <a:endParaRPr lang="en-US" sz="750" dirty="0"/>
          </a:p>
        </p:txBody>
      </p:sp>
      <p:sp>
        <p:nvSpPr>
          <p:cNvPr id="185" name="Shape 183"/>
          <p:cNvSpPr/>
          <p:nvPr/>
        </p:nvSpPr>
        <p:spPr>
          <a:xfrm>
            <a:off x="2240280" y="3072384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224028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50" dirty="0"/>
          </a:p>
        </p:txBody>
      </p:sp>
      <p:sp>
        <p:nvSpPr>
          <p:cNvPr id="187" name="Shape 185"/>
          <p:cNvSpPr/>
          <p:nvPr/>
        </p:nvSpPr>
        <p:spPr>
          <a:xfrm>
            <a:off x="3017520" y="3072384"/>
            <a:ext cx="50292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017520" y="307238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189" name="Shape 187"/>
          <p:cNvSpPr/>
          <p:nvPr/>
        </p:nvSpPr>
        <p:spPr>
          <a:xfrm>
            <a:off x="3520440" y="3072384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520440" y="307238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750" dirty="0"/>
          </a:p>
        </p:txBody>
      </p:sp>
      <p:sp>
        <p:nvSpPr>
          <p:cNvPr id="191" name="Shape 189"/>
          <p:cNvSpPr/>
          <p:nvPr/>
        </p:nvSpPr>
        <p:spPr>
          <a:xfrm>
            <a:off x="4206240" y="3072384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4206240" y="307238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sp>
        <p:nvSpPr>
          <p:cNvPr id="193" name="Shape 191"/>
          <p:cNvSpPr/>
          <p:nvPr/>
        </p:nvSpPr>
        <p:spPr>
          <a:xfrm>
            <a:off x="4892040" y="3072384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4892040" y="307238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750" dirty="0"/>
          </a:p>
        </p:txBody>
      </p:sp>
      <p:sp>
        <p:nvSpPr>
          <p:cNvPr id="195" name="Shape 193"/>
          <p:cNvSpPr/>
          <p:nvPr/>
        </p:nvSpPr>
        <p:spPr>
          <a:xfrm>
            <a:off x="5577840" y="3072384"/>
            <a:ext cx="73152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5577840" y="30723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sp>
        <p:nvSpPr>
          <p:cNvPr id="197" name="Shape 195"/>
          <p:cNvSpPr/>
          <p:nvPr/>
        </p:nvSpPr>
        <p:spPr>
          <a:xfrm>
            <a:off x="6309360" y="3072384"/>
            <a:ext cx="7772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630936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2.3×</a:t>
            </a:r>
            <a:endParaRPr lang="en-US" sz="750" dirty="0"/>
          </a:p>
        </p:txBody>
      </p:sp>
      <p:sp>
        <p:nvSpPr>
          <p:cNvPr id="199" name="Shape 197"/>
          <p:cNvSpPr/>
          <p:nvPr/>
        </p:nvSpPr>
        <p:spPr>
          <a:xfrm>
            <a:off x="7086600" y="3072384"/>
            <a:ext cx="8229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7086600" y="307238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13.2%</a:t>
            </a:r>
            <a:endParaRPr lang="en-US" sz="750" dirty="0"/>
          </a:p>
        </p:txBody>
      </p:sp>
      <p:sp>
        <p:nvSpPr>
          <p:cNvPr id="201" name="Shape 199"/>
          <p:cNvSpPr/>
          <p:nvPr/>
        </p:nvSpPr>
        <p:spPr>
          <a:xfrm>
            <a:off x="7909560" y="3072384"/>
            <a:ext cx="5943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7909560" y="3072384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750" dirty="0"/>
          </a:p>
        </p:txBody>
      </p:sp>
      <p:sp>
        <p:nvSpPr>
          <p:cNvPr id="203" name="Shape 201"/>
          <p:cNvSpPr/>
          <p:nvPr/>
        </p:nvSpPr>
        <p:spPr>
          <a:xfrm>
            <a:off x="8503920" y="3072384"/>
            <a:ext cx="59436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8503920" y="3072384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750" dirty="0"/>
          </a:p>
        </p:txBody>
      </p:sp>
      <p:sp>
        <p:nvSpPr>
          <p:cNvPr id="205" name="Shape 203"/>
          <p:cNvSpPr/>
          <p:nvPr/>
        </p:nvSpPr>
        <p:spPr>
          <a:xfrm>
            <a:off x="9098280" y="3072384"/>
            <a:ext cx="54864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9098280" y="307238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750" dirty="0"/>
          </a:p>
        </p:txBody>
      </p:sp>
      <p:sp>
        <p:nvSpPr>
          <p:cNvPr id="207" name="Shape 205"/>
          <p:cNvSpPr/>
          <p:nvPr/>
        </p:nvSpPr>
        <p:spPr>
          <a:xfrm>
            <a:off x="9646920" y="3072384"/>
            <a:ext cx="685800" cy="32918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9646920" y="307238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1.46d</a:t>
            </a:r>
            <a:endParaRPr lang="en-US" sz="750" dirty="0"/>
          </a:p>
        </p:txBody>
      </p:sp>
      <p:sp>
        <p:nvSpPr>
          <p:cNvPr id="209" name="Text 207"/>
          <p:cNvSpPr/>
          <p:nvPr/>
        </p:nvSpPr>
        <p:spPr>
          <a:xfrm>
            <a:off x="411480" y="3401568"/>
            <a:ext cx="1152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scrape · viral outlier = max views ÷ median views · engagement % = (likes+comments) ÷ followers</a:t>
            </a:r>
            <a:endParaRPr lang="en-US" sz="700" dirty="0"/>
          </a:p>
        </p:txBody>
      </p:sp>
      <p:sp>
        <p:nvSpPr>
          <p:cNvPr id="210" name="Shape 208"/>
          <p:cNvSpPr/>
          <p:nvPr/>
        </p:nvSpPr>
        <p:spPr>
          <a:xfrm>
            <a:off x="320040" y="3794760"/>
            <a:ext cx="3840480" cy="26974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211" name="Shape 209"/>
          <p:cNvSpPr/>
          <p:nvPr/>
        </p:nvSpPr>
        <p:spPr>
          <a:xfrm>
            <a:off x="356616" y="3831336"/>
            <a:ext cx="37673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12" name="Text 210"/>
          <p:cNvSpPr/>
          <p:nvPr/>
        </p:nvSpPr>
        <p:spPr>
          <a:xfrm>
            <a:off x="356616" y="3831336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FORMULA  ·  REVERSE-ENGINEERED</a:t>
            </a:r>
            <a:endParaRPr lang="en-US" sz="1200" dirty="0"/>
          </a:p>
        </p:txBody>
      </p:sp>
      <p:sp>
        <p:nvSpPr>
          <p:cNvPr id="213" name="Text 211"/>
          <p:cNvSpPr/>
          <p:nvPr/>
        </p:nvSpPr>
        <p:spPr>
          <a:xfrm>
            <a:off x="457200" y="4251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 Reel that hit 8,518 views (207× channel median):</a:t>
            </a:r>
            <a:endParaRPr lang="en-US" sz="900" dirty="0"/>
          </a:p>
        </p:txBody>
      </p:sp>
      <p:sp>
        <p:nvSpPr>
          <p:cNvPr id="214" name="Shape 212"/>
          <p:cNvSpPr/>
          <p:nvPr/>
        </p:nvSpPr>
        <p:spPr>
          <a:xfrm>
            <a:off x="457200" y="4572000"/>
            <a:ext cx="35661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548640" y="46634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"Kya aapke partner ka janam 6, 15 ya 24 ko hua hai? 🌹 Kya aapko pata hai Venus inhe possessive bana raha hai? Calm dikhenge, insecure hain…"</a:t>
            </a:r>
            <a:endParaRPr lang="en-US" sz="800" dirty="0"/>
          </a:p>
        </p:txBody>
      </p:sp>
      <p:sp>
        <p:nvSpPr>
          <p:cNvPr id="216" name="Text 214"/>
          <p:cNvSpPr/>
          <p:nvPr/>
        </p:nvSpPr>
        <p:spPr>
          <a:xfrm>
            <a:off x="457200" y="55778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INGREDIENTS THAT MADE IT VIRAL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457200" y="585216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750" dirty="0"/>
          </a:p>
        </p:txBody>
      </p:sp>
      <p:sp>
        <p:nvSpPr>
          <p:cNvPr id="218" name="Text 216"/>
          <p:cNvSpPr/>
          <p:nvPr/>
        </p:nvSpPr>
        <p:spPr>
          <a:xfrm>
            <a:off x="731520" y="5852160"/>
            <a:ext cx="3291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Partner-birthdate hook (numerology curiosity)</a:t>
            </a:r>
            <a:endParaRPr lang="en-US" sz="750" dirty="0"/>
          </a:p>
        </p:txBody>
      </p:sp>
      <p:sp>
        <p:nvSpPr>
          <p:cNvPr id="219" name="Text 217"/>
          <p:cNvSpPr/>
          <p:nvPr/>
        </p:nvSpPr>
        <p:spPr>
          <a:xfrm>
            <a:off x="457200" y="5971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750" dirty="0"/>
          </a:p>
        </p:txBody>
      </p:sp>
      <p:sp>
        <p:nvSpPr>
          <p:cNvPr id="220" name="Text 218"/>
          <p:cNvSpPr/>
          <p:nvPr/>
        </p:nvSpPr>
        <p:spPr>
          <a:xfrm>
            <a:off x="731520" y="5971032"/>
            <a:ext cx="3291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Roman-Hindi (reads natively for Hindi belt)</a:t>
            </a:r>
            <a:endParaRPr lang="en-US" sz="750" dirty="0"/>
          </a:p>
        </p:txBody>
      </p:sp>
      <p:sp>
        <p:nvSpPr>
          <p:cNvPr id="221" name="Text 219"/>
          <p:cNvSpPr/>
          <p:nvPr/>
        </p:nvSpPr>
        <p:spPr>
          <a:xfrm>
            <a:off x="457200" y="608990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750" dirty="0"/>
          </a:p>
        </p:txBody>
      </p:sp>
      <p:sp>
        <p:nvSpPr>
          <p:cNvPr id="222" name="Text 220"/>
          <p:cNvSpPr/>
          <p:nvPr/>
        </p:nvSpPr>
        <p:spPr>
          <a:xfrm>
            <a:off x="731520" y="6089904"/>
            <a:ext cx="3291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Mulank focus + Venus/love angle</a:t>
            </a:r>
            <a:endParaRPr lang="en-US" sz="750" dirty="0"/>
          </a:p>
        </p:txBody>
      </p:sp>
      <p:sp>
        <p:nvSpPr>
          <p:cNvPr id="223" name="Text 221"/>
          <p:cNvSpPr/>
          <p:nvPr/>
        </p:nvSpPr>
        <p:spPr>
          <a:xfrm>
            <a:off x="457200" y="620877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750" dirty="0"/>
          </a:p>
        </p:txBody>
      </p:sp>
      <p:sp>
        <p:nvSpPr>
          <p:cNvPr id="224" name="Text 222"/>
          <p:cNvSpPr/>
          <p:nvPr/>
        </p:nvSpPr>
        <p:spPr>
          <a:xfrm>
            <a:off x="731520" y="6208776"/>
            <a:ext cx="3291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badge → algorithm priority</a:t>
            </a:r>
            <a:endParaRPr lang="en-US" sz="750" dirty="0"/>
          </a:p>
        </p:txBody>
      </p:sp>
      <p:sp>
        <p:nvSpPr>
          <p:cNvPr id="225" name="Text 223"/>
          <p:cNvSpPr/>
          <p:nvPr/>
        </p:nvSpPr>
        <p:spPr>
          <a:xfrm>
            <a:off x="457200" y="632764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750" dirty="0"/>
          </a:p>
        </p:txBody>
      </p:sp>
      <p:sp>
        <p:nvSpPr>
          <p:cNvPr id="226" name="Text 224"/>
          <p:cNvSpPr/>
          <p:nvPr/>
        </p:nvSpPr>
        <p:spPr>
          <a:xfrm>
            <a:off x="731520" y="6327648"/>
            <a:ext cx="3291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Emoji-led visual rhythm (🌹✨)</a:t>
            </a:r>
            <a:endParaRPr lang="en-US" sz="750" dirty="0"/>
          </a:p>
        </p:txBody>
      </p:sp>
      <p:sp>
        <p:nvSpPr>
          <p:cNvPr id="227" name="Shape 225"/>
          <p:cNvSpPr/>
          <p:nvPr/>
        </p:nvSpPr>
        <p:spPr>
          <a:xfrm>
            <a:off x="4297680" y="3794760"/>
            <a:ext cx="3794760" cy="26974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228" name="Shape 226"/>
          <p:cNvSpPr/>
          <p:nvPr/>
        </p:nvSpPr>
        <p:spPr>
          <a:xfrm>
            <a:off x="4334256" y="383133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29" name="Text 227"/>
          <p:cNvSpPr/>
          <p:nvPr/>
        </p:nvSpPr>
        <p:spPr>
          <a:xfrm>
            <a:off x="4334256" y="383133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&amp; HASHTAG PERFORMANCE</a:t>
            </a:r>
            <a:endParaRPr lang="en-US" sz="1200" dirty="0"/>
          </a:p>
        </p:txBody>
      </p:sp>
      <p:sp>
        <p:nvSpPr>
          <p:cNvPr id="230" name="Text 228"/>
          <p:cNvSpPr/>
          <p:nvPr/>
        </p:nvSpPr>
        <p:spPr>
          <a:xfrm>
            <a:off x="4434840" y="42976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TOP-HASHTAG OVERLAP ACROSS PORTFOLIO</a:t>
            </a:r>
            <a:endParaRPr lang="en-US" sz="850" dirty="0"/>
          </a:p>
        </p:txBody>
      </p:sp>
      <p:sp>
        <p:nvSpPr>
          <p:cNvPr id="231" name="Shape 229"/>
          <p:cNvSpPr/>
          <p:nvPr/>
        </p:nvSpPr>
        <p:spPr>
          <a:xfrm>
            <a:off x="4434840" y="4572000"/>
            <a:ext cx="352044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4526280" y="45720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#VedicAstrology</a:t>
            </a:r>
            <a:endParaRPr lang="en-US" sz="800" dirty="0"/>
          </a:p>
        </p:txBody>
      </p:sp>
      <p:sp>
        <p:nvSpPr>
          <p:cNvPr id="233" name="Text 231"/>
          <p:cNvSpPr/>
          <p:nvPr/>
        </p:nvSpPr>
        <p:spPr>
          <a:xfrm>
            <a:off x="6355080" y="457200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 handles  (high spam risk)</a:t>
            </a:r>
            <a:endParaRPr lang="en-US" sz="750" dirty="0"/>
          </a:p>
        </p:txBody>
      </p:sp>
      <p:sp>
        <p:nvSpPr>
          <p:cNvPr id="234" name="Shape 232"/>
          <p:cNvSpPr/>
          <p:nvPr/>
        </p:nvSpPr>
        <p:spPr>
          <a:xfrm>
            <a:off x="4434840" y="4791456"/>
            <a:ext cx="3520440" cy="201168"/>
          </a:xfrm>
          <a:prstGeom prst="rect">
            <a:avLst/>
          </a:prstGeom>
          <a:solidFill>
            <a:srgbClr val="FFDF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35" name="Text 233"/>
          <p:cNvSpPr/>
          <p:nvPr/>
        </p:nvSpPr>
        <p:spPr>
          <a:xfrm>
            <a:off x="4526280" y="4791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#Numerology</a:t>
            </a:r>
            <a:endParaRPr lang="en-US" sz="800" dirty="0"/>
          </a:p>
        </p:txBody>
      </p:sp>
      <p:sp>
        <p:nvSpPr>
          <p:cNvPr id="236" name="Text 234"/>
          <p:cNvSpPr/>
          <p:nvPr/>
        </p:nvSpPr>
        <p:spPr>
          <a:xfrm>
            <a:off x="6355080" y="4791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 handles  (high spam risk)</a:t>
            </a:r>
            <a:endParaRPr lang="en-US" sz="750" dirty="0"/>
          </a:p>
        </p:txBody>
      </p:sp>
      <p:sp>
        <p:nvSpPr>
          <p:cNvPr id="237" name="Shape 235"/>
          <p:cNvSpPr/>
          <p:nvPr/>
        </p:nvSpPr>
        <p:spPr>
          <a:xfrm>
            <a:off x="4434840" y="5010912"/>
            <a:ext cx="352044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4526280" y="50109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#Mulank + planet</a:t>
            </a:r>
            <a:endParaRPr lang="en-US" sz="800" dirty="0"/>
          </a:p>
        </p:txBody>
      </p:sp>
      <p:sp>
        <p:nvSpPr>
          <p:cNvPr id="239" name="Text 237"/>
          <p:cNvSpPr/>
          <p:nvPr/>
        </p:nvSpPr>
        <p:spPr>
          <a:xfrm>
            <a:off x="6355080" y="50109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individual performer</a:t>
            </a:r>
            <a:endParaRPr lang="en-US" sz="750" dirty="0"/>
          </a:p>
        </p:txBody>
      </p:sp>
      <p:sp>
        <p:nvSpPr>
          <p:cNvPr id="240" name="Shape 238"/>
          <p:cNvSpPr/>
          <p:nvPr/>
        </p:nvSpPr>
        <p:spPr>
          <a:xfrm>
            <a:off x="4434840" y="5230368"/>
            <a:ext cx="3520440" cy="201168"/>
          </a:xfrm>
          <a:prstGeom prst="rect">
            <a:avLst/>
          </a:prstGeom>
          <a:solidFill>
            <a:srgbClr val="FFDF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4526280" y="5230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#MarathiAstrology</a:t>
            </a:r>
            <a:endParaRPr lang="en-US" sz="800" dirty="0"/>
          </a:p>
        </p:txBody>
      </p:sp>
      <p:sp>
        <p:nvSpPr>
          <p:cNvPr id="242" name="Text 240"/>
          <p:cNvSpPr/>
          <p:nvPr/>
        </p:nvSpPr>
        <p:spPr>
          <a:xfrm>
            <a:off x="6355080" y="5230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@drishtiastro - opportunity</a:t>
            </a:r>
            <a:endParaRPr lang="en-US" sz="750" dirty="0"/>
          </a:p>
        </p:txBody>
      </p:sp>
      <p:sp>
        <p:nvSpPr>
          <p:cNvPr id="243" name="Text 241"/>
          <p:cNvSpPr/>
          <p:nvPr/>
        </p:nvSpPr>
        <p:spPr>
          <a:xfrm>
            <a:off x="4434840" y="54864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PATTERNS DETECTED IN POSTS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4434840" y="5760720"/>
            <a:ext cx="18288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janam-date hook</a:t>
            </a:r>
            <a:endParaRPr lang="en-US" sz="750" dirty="0"/>
          </a:p>
        </p:txBody>
      </p:sp>
      <p:sp>
        <p:nvSpPr>
          <p:cNvPr id="245" name="Text 243"/>
          <p:cNvSpPr/>
          <p:nvPr/>
        </p:nvSpPr>
        <p:spPr>
          <a:xfrm>
            <a:off x="6355080" y="5760720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750" dirty="0"/>
          </a:p>
        </p:txBody>
      </p:sp>
      <p:sp>
        <p:nvSpPr>
          <p:cNvPr id="246" name="Text 244"/>
          <p:cNvSpPr/>
          <p:nvPr/>
        </p:nvSpPr>
        <p:spPr>
          <a:xfrm>
            <a:off x="4434840" y="5879592"/>
            <a:ext cx="18288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mulank hook</a:t>
            </a:r>
            <a:endParaRPr lang="en-US" sz="750" dirty="0"/>
          </a:p>
        </p:txBody>
      </p:sp>
      <p:sp>
        <p:nvSpPr>
          <p:cNvPr id="247" name="Text 245"/>
          <p:cNvSpPr/>
          <p:nvPr/>
        </p:nvSpPr>
        <p:spPr>
          <a:xfrm>
            <a:off x="6355080" y="5879592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750" dirty="0"/>
          </a:p>
        </p:txBody>
      </p:sp>
      <p:sp>
        <p:nvSpPr>
          <p:cNvPr id="248" name="Text 246"/>
          <p:cNvSpPr/>
          <p:nvPr/>
        </p:nvSpPr>
        <p:spPr>
          <a:xfrm>
            <a:off x="4434840" y="5998464"/>
            <a:ext cx="18288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partner-love hook</a:t>
            </a:r>
            <a:endParaRPr lang="en-US" sz="750" dirty="0"/>
          </a:p>
        </p:txBody>
      </p:sp>
      <p:sp>
        <p:nvSpPr>
          <p:cNvPr id="249" name="Text 247"/>
          <p:cNvSpPr/>
          <p:nvPr/>
        </p:nvSpPr>
        <p:spPr>
          <a:xfrm>
            <a:off x="6355080" y="5998464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750" dirty="0"/>
          </a:p>
        </p:txBody>
      </p:sp>
      <p:sp>
        <p:nvSpPr>
          <p:cNvPr id="250" name="Text 248"/>
          <p:cNvSpPr/>
          <p:nvPr/>
        </p:nvSpPr>
        <p:spPr>
          <a:xfrm>
            <a:off x="4434840" y="6117336"/>
            <a:ext cx="18288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✨ emoji hook</a:t>
            </a:r>
            <a:endParaRPr lang="en-US" sz="750" dirty="0"/>
          </a:p>
        </p:txBody>
      </p:sp>
      <p:sp>
        <p:nvSpPr>
          <p:cNvPr id="251" name="Text 249"/>
          <p:cNvSpPr/>
          <p:nvPr/>
        </p:nvSpPr>
        <p:spPr>
          <a:xfrm>
            <a:off x="6355080" y="6117336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750" dirty="0"/>
          </a:p>
        </p:txBody>
      </p:sp>
      <p:sp>
        <p:nvSpPr>
          <p:cNvPr id="252" name="Text 250"/>
          <p:cNvSpPr/>
          <p:nvPr/>
        </p:nvSpPr>
        <p:spPr>
          <a:xfrm>
            <a:off x="4434840" y="6236208"/>
            <a:ext cx="18288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fire 🔥 emoji</a:t>
            </a:r>
            <a:endParaRPr lang="en-US" sz="750" dirty="0"/>
          </a:p>
        </p:txBody>
      </p:sp>
      <p:sp>
        <p:nvSpPr>
          <p:cNvPr id="253" name="Text 251"/>
          <p:cNvSpPr/>
          <p:nvPr/>
        </p:nvSpPr>
        <p:spPr>
          <a:xfrm>
            <a:off x="6355080" y="6236208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50" dirty="0"/>
          </a:p>
        </p:txBody>
      </p:sp>
      <p:sp>
        <p:nvSpPr>
          <p:cNvPr id="254" name="Shape 252"/>
          <p:cNvSpPr/>
          <p:nvPr/>
        </p:nvSpPr>
        <p:spPr>
          <a:xfrm>
            <a:off x="8229600" y="3794760"/>
            <a:ext cx="3657600" cy="26974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255" name="Shape 253"/>
          <p:cNvSpPr/>
          <p:nvPr/>
        </p:nvSpPr>
        <p:spPr>
          <a:xfrm>
            <a:off x="8266176" y="3831336"/>
            <a:ext cx="358444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56" name="Text 254"/>
          <p:cNvSpPr/>
          <p:nvPr/>
        </p:nvSpPr>
        <p:spPr>
          <a:xfrm>
            <a:off x="8266176" y="383133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NOT WORKING</a:t>
            </a:r>
            <a:endParaRPr lang="en-US" sz="1200" dirty="0"/>
          </a:p>
        </p:txBody>
      </p:sp>
      <p:sp>
        <p:nvSpPr>
          <p:cNvPr id="257" name="Shape 255"/>
          <p:cNvSpPr/>
          <p:nvPr/>
        </p:nvSpPr>
        <p:spPr>
          <a:xfrm>
            <a:off x="8366760" y="4306824"/>
            <a:ext cx="73152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58" name="Text 256"/>
          <p:cNvSpPr/>
          <p:nvPr/>
        </p:nvSpPr>
        <p:spPr>
          <a:xfrm>
            <a:off x="8503920" y="425196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@astrosaadhan bio admits AI</a:t>
            </a:r>
            <a:endParaRPr lang="en-US" sz="850" dirty="0"/>
          </a:p>
        </p:txBody>
      </p:sp>
      <p:sp>
        <p:nvSpPr>
          <p:cNvPr id="259" name="Text 257"/>
          <p:cNvSpPr/>
          <p:nvPr/>
        </p:nvSpPr>
        <p:spPr>
          <a:xfrm>
            <a:off x="8503920" y="4434840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'Yeh content thoughtfully created by AI — glido labs' — kills elder trust.</a:t>
            </a:r>
            <a:endParaRPr lang="en-US" sz="750" dirty="0"/>
          </a:p>
        </p:txBody>
      </p:sp>
      <p:sp>
        <p:nvSpPr>
          <p:cNvPr id="260" name="Shape 258"/>
          <p:cNvSpPr/>
          <p:nvPr/>
        </p:nvSpPr>
        <p:spPr>
          <a:xfrm>
            <a:off x="8366760" y="4736592"/>
            <a:ext cx="73152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61" name="Text 259"/>
          <p:cNvSpPr/>
          <p:nvPr/>
        </p:nvSpPr>
        <p:spPr>
          <a:xfrm>
            <a:off x="8503920" y="468172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 Marathi solo</a:t>
            </a:r>
            <a:endParaRPr lang="en-US" sz="850" dirty="0"/>
          </a:p>
        </p:txBody>
      </p:sp>
      <p:sp>
        <p:nvSpPr>
          <p:cNvPr id="262" name="Text 260"/>
          <p:cNvSpPr/>
          <p:nvPr/>
        </p:nvSpPr>
        <p:spPr>
          <a:xfrm>
            <a:off x="8503920" y="4864608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opportunity: 0 followers but Marathi astro market underserved. No cross-promo from @saathsetu.</a:t>
            </a:r>
            <a:endParaRPr lang="en-US" sz="750" dirty="0"/>
          </a:p>
        </p:txBody>
      </p:sp>
      <p:sp>
        <p:nvSpPr>
          <p:cNvPr id="263" name="Shape 261"/>
          <p:cNvSpPr/>
          <p:nvPr/>
        </p:nvSpPr>
        <p:spPr>
          <a:xfrm>
            <a:off x="8366760" y="5166360"/>
            <a:ext cx="73152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64" name="Text 262"/>
          <p:cNvSpPr/>
          <p:nvPr/>
        </p:nvSpPr>
        <p:spPr>
          <a:xfrm>
            <a:off x="8503920" y="5111496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are &lt; 20 days old</a:t>
            </a:r>
            <a:endParaRPr lang="en-US" sz="850" dirty="0"/>
          </a:p>
        </p:txBody>
      </p:sp>
      <p:sp>
        <p:nvSpPr>
          <p:cNvPr id="265" name="Text 263"/>
          <p:cNvSpPr/>
          <p:nvPr/>
        </p:nvSpPr>
        <p:spPr>
          <a:xfrm>
            <a:off x="8503920" y="5294376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span 11.9-18.1 days. Insufficient signal for algorithm.</a:t>
            </a:r>
            <a:endParaRPr lang="en-US" sz="750" dirty="0"/>
          </a:p>
        </p:txBody>
      </p:sp>
      <p:sp>
        <p:nvSpPr>
          <p:cNvPr id="266" name="Shape 264"/>
          <p:cNvSpPr/>
          <p:nvPr/>
        </p:nvSpPr>
        <p:spPr>
          <a:xfrm>
            <a:off x="8366760" y="5596128"/>
            <a:ext cx="73152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67" name="Text 265"/>
          <p:cNvSpPr/>
          <p:nvPr/>
        </p:nvSpPr>
        <p:spPr>
          <a:xfrm>
            <a:off x="8503920" y="554126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Reels on @saathsetu</a:t>
            </a:r>
            <a:endParaRPr lang="en-US" sz="850" dirty="0"/>
          </a:p>
        </p:txBody>
      </p:sp>
      <p:sp>
        <p:nvSpPr>
          <p:cNvPr id="268" name="Text 266"/>
          <p:cNvSpPr/>
          <p:nvPr/>
        </p:nvSpPr>
        <p:spPr>
          <a:xfrm>
            <a:off x="8503920" y="5724144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carousel = no save anchor. Saves are IG's strongest signal.</a:t>
            </a:r>
            <a:endParaRPr lang="en-US" sz="750" dirty="0"/>
          </a:p>
        </p:txBody>
      </p:sp>
      <p:sp>
        <p:nvSpPr>
          <p:cNvPr id="269" name="Shape 267"/>
          <p:cNvSpPr/>
          <p:nvPr/>
        </p:nvSpPr>
        <p:spPr>
          <a:xfrm>
            <a:off x="8366760" y="6025896"/>
            <a:ext cx="73152" cy="292608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70" name="Text 268"/>
          <p:cNvSpPr/>
          <p:nvPr/>
        </p:nvSpPr>
        <p:spPr>
          <a:xfrm>
            <a:off x="8503920" y="59710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% misleading</a:t>
            </a:r>
            <a:endParaRPr lang="en-US" sz="850" dirty="0"/>
          </a:p>
        </p:txBody>
      </p:sp>
      <p:sp>
        <p:nvSpPr>
          <p:cNvPr id="271" name="Text 269"/>
          <p:cNvSpPr/>
          <p:nvPr/>
        </p:nvSpPr>
        <p:spPr>
          <a:xfrm>
            <a:off x="8503920" y="6153912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@rashitattva 'engagement 18.1%' is on 1 follower = 1 like. Pure outlier noise.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20040" y="713232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PLAY ON THE INDIA ASTROLOGY MAP — ANSOFF · BCG · COMPETITOR BENCHMARK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12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47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93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28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340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352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75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387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398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410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422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445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57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469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480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492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504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515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527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62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585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97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620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632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644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655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667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679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690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9702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714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726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737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749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61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772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784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796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7807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819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831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3842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5854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7866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9877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21889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5 / 10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80160"/>
            <a:ext cx="11567160" cy="22860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31673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31673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COMPETITOR DATA  ·  SOURCED FROM PUBLIC FILINGS, PRESS, TRACXN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57200" y="1737360"/>
            <a:ext cx="137160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0" name="Text 68"/>
          <p:cNvSpPr/>
          <p:nvPr/>
        </p:nvSpPr>
        <p:spPr>
          <a:xfrm>
            <a:off x="45720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1828800" y="1737360"/>
            <a:ext cx="146304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2" name="Text 70"/>
          <p:cNvSpPr/>
          <p:nvPr/>
        </p:nvSpPr>
        <p:spPr>
          <a:xfrm>
            <a:off x="1828800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3291840" y="1737360"/>
            <a:ext cx="192024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4" name="Text 72"/>
          <p:cNvSpPr/>
          <p:nvPr/>
        </p:nvSpPr>
        <p:spPr>
          <a:xfrm>
            <a:off x="3291840" y="1737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/ DOWNLOADS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212080" y="1737360"/>
            <a:ext cx="182880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6" name="Text 74"/>
          <p:cNvSpPr/>
          <p:nvPr/>
        </p:nvSpPr>
        <p:spPr>
          <a:xfrm>
            <a:off x="5212080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 / ARR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7040880" y="1737360"/>
            <a:ext cx="128016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8" name="Text 76"/>
          <p:cNvSpPr/>
          <p:nvPr/>
        </p:nvSpPr>
        <p:spPr>
          <a:xfrm>
            <a:off x="7040880" y="1737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COHORT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8321040" y="1737360"/>
            <a:ext cx="128016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0" name="Text 78"/>
          <p:cNvSpPr/>
          <p:nvPr/>
        </p:nvSpPr>
        <p:spPr>
          <a:xfrm>
            <a:off x="8321040" y="1737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9601200" y="1737360"/>
            <a:ext cx="237744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2" name="Text 80"/>
          <p:cNvSpPr/>
          <p:nvPr/>
        </p:nvSpPr>
        <p:spPr>
          <a:xfrm>
            <a:off x="9601200" y="1737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vs THEM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457200" y="2103120"/>
            <a:ext cx="13716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7200" y="21031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AstroTalk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1828800" y="2103120"/>
            <a:ext cx="14630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828800" y="21031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Live consult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3291840" y="2103120"/>
            <a:ext cx="1920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291840" y="2103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30M+ downloads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5212080" y="2103120"/>
            <a:ext cx="18288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12080" y="2103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₹840 cr ARR (₹70cr × 12)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7040880" y="2103120"/>
            <a:ext cx="128016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040880" y="21031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25-44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8321040" y="2103120"/>
            <a:ext cx="128016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321040" y="21031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(human)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9601200" y="2103120"/>
            <a:ext cx="23774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9601200" y="21031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cheaper Reel-funnel ₹199 SKU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57200" y="2340864"/>
            <a:ext cx="137160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7200" y="23408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AstroSage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1828800" y="2340864"/>
            <a:ext cx="146304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828800" y="23408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Kundli + App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3291840" y="2340864"/>
            <a:ext cx="192024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291840" y="2340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10M+ installs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5212080" y="2340864"/>
            <a:ext cx="182880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212080" y="23408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 cr FY24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7040880" y="2340864"/>
            <a:ext cx="128016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040880" y="234086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35-65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8321040" y="2340864"/>
            <a:ext cx="128016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21040" y="234086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launching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9601200" y="2340864"/>
            <a:ext cx="237744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601200" y="23408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UI + WhatsApp-native delivery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457200" y="2578608"/>
            <a:ext cx="13716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57200" y="25786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Astroyogi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1828800" y="2578608"/>
            <a:ext cx="14630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828800" y="257860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Telco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3291840" y="2578608"/>
            <a:ext cx="1920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291840" y="25786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n=500K (2023)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5212080" y="2578608"/>
            <a:ext cx="18288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212080" y="25786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(not disclosed)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7040880" y="2578608"/>
            <a:ext cx="128016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040880" y="25786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25-35 (their data)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8321040" y="2578608"/>
            <a:ext cx="128016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21040" y="25786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9601200" y="2578608"/>
            <a:ext cx="23774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9601200" y="25786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Hindi-belt + Marathi micro-niche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457200" y="2816352"/>
            <a:ext cx="137160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57200" y="28163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InstaAstro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1828800" y="2816352"/>
            <a:ext cx="146304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828800" y="28163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3291840" y="2816352"/>
            <a:ext cx="192024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291840" y="28163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VC-funded series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5212080" y="2816352"/>
            <a:ext cx="182880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212080" y="2816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disclosed (~₹30-50 cr est)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7040880" y="2816352"/>
            <a:ext cx="128016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040880" y="28163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25-40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8321040" y="2816352"/>
            <a:ext cx="128016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321040" y="28163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9601200" y="2816352"/>
            <a:ext cx="2377440" cy="237744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601200" y="28163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CAC via organic IG hook content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457200" y="3054096"/>
            <a:ext cx="13716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57200" y="30540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AppsForBharat</a:t>
            </a:r>
            <a:endParaRPr lang="en-US" sz="750" dirty="0"/>
          </a:p>
        </p:txBody>
      </p:sp>
      <p:sp>
        <p:nvSpPr>
          <p:cNvPr id="141" name="Shape 139"/>
          <p:cNvSpPr/>
          <p:nvPr/>
        </p:nvSpPr>
        <p:spPr>
          <a:xfrm>
            <a:off x="1828800" y="3054096"/>
            <a:ext cx="14630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82880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SriMandir (puja+astro)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3291840" y="3054096"/>
            <a:ext cx="1920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291840" y="305409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5M+ downloads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5212080" y="3054096"/>
            <a:ext cx="182880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212080" y="30540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 raised 2024</a:t>
            </a:r>
            <a:endParaRPr lang="en-US" sz="750" dirty="0"/>
          </a:p>
        </p:txBody>
      </p:sp>
      <p:sp>
        <p:nvSpPr>
          <p:cNvPr id="147" name="Shape 145"/>
          <p:cNvSpPr/>
          <p:nvPr/>
        </p:nvSpPr>
        <p:spPr>
          <a:xfrm>
            <a:off x="7040880" y="3054096"/>
            <a:ext cx="128016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7040880" y="30540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35-65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8321040" y="3054096"/>
            <a:ext cx="128016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21040" y="30540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151" name="Shape 149"/>
          <p:cNvSpPr/>
          <p:nvPr/>
        </p:nvSpPr>
        <p:spPr>
          <a:xfrm>
            <a:off x="9601200" y="3054096"/>
            <a:ext cx="23774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601200" y="30540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Astro-only focus + price under ₹500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57200" y="3291840"/>
            <a:ext cx="1371600" cy="237744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57200" y="32918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PORTFOLIO</a:t>
            </a: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1828800" y="3291840"/>
            <a:ext cx="1463040" cy="237744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828800" y="32918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Reels + ₹199 PDF</a:t>
            </a:r>
            <a:endParaRPr lang="en-US" sz="750" dirty="0"/>
          </a:p>
        </p:txBody>
      </p:sp>
      <p:sp>
        <p:nvSpPr>
          <p:cNvPr id="157" name="Shape 155"/>
          <p:cNvSpPr/>
          <p:nvPr/>
        </p:nvSpPr>
        <p:spPr>
          <a:xfrm>
            <a:off x="3291840" y="3291840"/>
            <a:ext cx="1920240" cy="237744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3291840" y="32918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 total followers</a:t>
            </a: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5212080" y="3291840"/>
            <a:ext cx="1828800" cy="237744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5212080" y="32918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₹199 × N kundli per day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7040880" y="3291840"/>
            <a:ext cx="1280160" cy="237744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7040880" y="32918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25-55</a:t>
            </a:r>
            <a:endParaRPr lang="en-US" sz="750" dirty="0"/>
          </a:p>
        </p:txBody>
      </p:sp>
      <p:sp>
        <p:nvSpPr>
          <p:cNvPr id="163" name="Shape 161"/>
          <p:cNvSpPr/>
          <p:nvPr/>
        </p:nvSpPr>
        <p:spPr>
          <a:xfrm>
            <a:off x="8321040" y="3291840"/>
            <a:ext cx="1280160" cy="237744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321040" y="32918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voice + edit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601200" y="3291840"/>
            <a:ext cx="2377440" cy="237744"/>
          </a:xfrm>
          <a:prstGeom prst="rect">
            <a:avLst/>
          </a:prstGeom>
          <a:solidFill>
            <a:srgbClr val="D63D58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9601200" y="3291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AI-native, multi-language, IG-organic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457200" y="3456432"/>
            <a:ext cx="1152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Upstox (Astrotalk ₹70cr/mo, 30M downloads), MarkNtel Advisors (AstroTalk ~80% share), AstroSage ₹60cr FY24, AppsForBharat $40M (TechCrunch 2024), Tracxn industry report</a:t>
            </a:r>
            <a:endParaRPr lang="en-US" sz="700" dirty="0"/>
          </a:p>
        </p:txBody>
      </p:sp>
      <p:sp>
        <p:nvSpPr>
          <p:cNvPr id="168" name="Shape 166"/>
          <p:cNvSpPr/>
          <p:nvPr/>
        </p:nvSpPr>
        <p:spPr>
          <a:xfrm>
            <a:off x="320040" y="3703320"/>
            <a:ext cx="384048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69" name="Shape 167"/>
          <p:cNvSpPr/>
          <p:nvPr/>
        </p:nvSpPr>
        <p:spPr>
          <a:xfrm>
            <a:off x="356616" y="3739896"/>
            <a:ext cx="37673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70" name="Text 168"/>
          <p:cNvSpPr/>
          <p:nvPr/>
        </p:nvSpPr>
        <p:spPr>
          <a:xfrm>
            <a:off x="356616" y="3739896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ANSOFF MATRIX  ·  WHERE THE PLAYS LIVE</a:t>
            </a:r>
            <a:endParaRPr lang="en-US" sz="1200" dirty="0"/>
          </a:p>
        </p:txBody>
      </p:sp>
      <p:sp>
        <p:nvSpPr>
          <p:cNvPr id="171" name="Shape 169"/>
          <p:cNvSpPr/>
          <p:nvPr/>
        </p:nvSpPr>
        <p:spPr>
          <a:xfrm>
            <a:off x="457200" y="4160520"/>
            <a:ext cx="1783080" cy="1097280"/>
          </a:xfrm>
          <a:prstGeom prst="rect">
            <a:avLst/>
          </a:prstGeom>
          <a:solidFill>
            <a:srgbClr val="FFDFE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40280" y="4160520"/>
            <a:ext cx="1783080" cy="1097280"/>
          </a:xfrm>
          <a:prstGeom prst="rect">
            <a:avLst/>
          </a:prstGeom>
          <a:solidFill>
            <a:srgbClr val="D63D58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457200" y="5257800"/>
            <a:ext cx="1783080" cy="1097280"/>
          </a:xfrm>
          <a:prstGeom prst="rect">
            <a:avLst/>
          </a:prstGeom>
          <a:solidFill>
            <a:srgbClr val="FECCD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240280" y="5257800"/>
            <a:ext cx="1783080" cy="1097280"/>
          </a:xfrm>
          <a:prstGeom prst="rect">
            <a:avLst/>
          </a:prstGeom>
          <a:solidFill>
            <a:srgbClr val="FBE0E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502920" y="42062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</a:t>
            </a:r>
            <a:endParaRPr lang="en-US" sz="750" dirty="0"/>
          </a:p>
        </p:txBody>
      </p:sp>
      <p:sp>
        <p:nvSpPr>
          <p:cNvPr id="176" name="Text 174"/>
          <p:cNvSpPr/>
          <p:nvPr/>
        </p:nvSpPr>
        <p:spPr>
          <a:xfrm>
            <a:off x="502920" y="4434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₹199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more buyers</a:t>
            </a:r>
            <a:endParaRPr lang="en-US" sz="700" dirty="0"/>
          </a:p>
        </p:txBody>
      </p:sp>
      <p:sp>
        <p:nvSpPr>
          <p:cNvPr id="177" name="Text 175"/>
          <p:cNvSpPr/>
          <p:nvPr/>
        </p:nvSpPr>
        <p:spPr>
          <a:xfrm>
            <a:off x="2286000" y="42062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PRODUCT DEV ★</a:t>
            </a:r>
            <a:endParaRPr lang="en-US" sz="750" dirty="0"/>
          </a:p>
        </p:txBody>
      </p:sp>
      <p:sp>
        <p:nvSpPr>
          <p:cNvPr id="178" name="Text 176"/>
          <p:cNvSpPr/>
          <p:nvPr/>
        </p:nvSpPr>
        <p:spPr>
          <a:xfrm>
            <a:off x="2286000" y="44348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panchang sub</a:t>
            </a:r>
            <a:endParaRPr lang="en-US" sz="700" dirty="0"/>
          </a:p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₹499 chat-add-on (live)</a:t>
            </a:r>
            <a:endParaRPr lang="en-US" sz="700" dirty="0"/>
          </a:p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₹1,499 detailed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502920" y="530352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DEV</a:t>
            </a:r>
            <a:endParaRPr lang="en-US" sz="750" dirty="0"/>
          </a:p>
        </p:txBody>
      </p:sp>
      <p:sp>
        <p:nvSpPr>
          <p:cNvPr id="180" name="Text 178"/>
          <p:cNvSpPr/>
          <p:nvPr/>
        </p:nvSpPr>
        <p:spPr>
          <a:xfrm>
            <a:off x="502920" y="5532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scale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(@drishtiastro)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horoscope licensing</a:t>
            </a:r>
            <a:endParaRPr lang="en-US" sz="700" dirty="0"/>
          </a:p>
        </p:txBody>
      </p:sp>
      <p:sp>
        <p:nvSpPr>
          <p:cNvPr id="181" name="Text 179"/>
          <p:cNvSpPr/>
          <p:nvPr/>
        </p:nvSpPr>
        <p:spPr>
          <a:xfrm>
            <a:off x="2286000" y="530352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</a:t>
            </a:r>
            <a:endParaRPr lang="en-US" sz="750" dirty="0"/>
          </a:p>
        </p:txBody>
      </p:sp>
      <p:sp>
        <p:nvSpPr>
          <p:cNvPr id="182" name="Text 180"/>
          <p:cNvSpPr/>
          <p:nvPr/>
        </p:nvSpPr>
        <p:spPr>
          <a:xfrm>
            <a:off x="2286000" y="5532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Gemstone e-com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(highest risk)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457200" y="64008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existing market         new market →</a:t>
            </a:r>
            <a:endParaRPr lang="en-US" sz="700" dirty="0"/>
          </a:p>
        </p:txBody>
      </p:sp>
      <p:sp>
        <p:nvSpPr>
          <p:cNvPr id="184" name="Shape 182"/>
          <p:cNvSpPr/>
          <p:nvPr/>
        </p:nvSpPr>
        <p:spPr>
          <a:xfrm>
            <a:off x="4297680" y="3703320"/>
            <a:ext cx="37947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4334256" y="373989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86" name="Text 184"/>
          <p:cNvSpPr/>
          <p:nvPr/>
        </p:nvSpPr>
        <p:spPr>
          <a:xfrm>
            <a:off x="4334256" y="373989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BCG MATRIX  ·  PORTFOLIO HANDLE PRIORITISATION</a:t>
            </a:r>
            <a:endParaRPr lang="en-US" sz="1200" dirty="0"/>
          </a:p>
        </p:txBody>
      </p:sp>
      <p:sp>
        <p:nvSpPr>
          <p:cNvPr id="187" name="Shape 185"/>
          <p:cNvSpPr/>
          <p:nvPr/>
        </p:nvSpPr>
        <p:spPr>
          <a:xfrm>
            <a:off x="4434840" y="4160520"/>
            <a:ext cx="1760220" cy="1097280"/>
          </a:xfrm>
          <a:prstGeom prst="rect">
            <a:avLst/>
          </a:prstGeom>
          <a:solidFill>
            <a:srgbClr val="D63D58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6195060" y="4160520"/>
            <a:ext cx="1760220" cy="1097280"/>
          </a:xfrm>
          <a:prstGeom prst="rect">
            <a:avLst/>
          </a:prstGeom>
          <a:solidFill>
            <a:srgbClr val="FFDFE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4434840" y="5257800"/>
            <a:ext cx="1760220" cy="1097280"/>
          </a:xfrm>
          <a:prstGeom prst="rect">
            <a:avLst/>
          </a:prstGeom>
          <a:solidFill>
            <a:srgbClr val="FECCD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6195060" y="5257800"/>
            <a:ext cx="1760220" cy="1097280"/>
          </a:xfrm>
          <a:prstGeom prst="rect">
            <a:avLst/>
          </a:prstGeom>
          <a:solidFill>
            <a:srgbClr val="FBE0E3"/>
          </a:solidFill>
          <a:ln w="6350">
            <a:solidFill>
              <a:srgbClr val="8E8084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4480560" y="4206240"/>
            <a:ext cx="1668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</a:t>
            </a:r>
            <a:endParaRPr lang="en-US" sz="800" dirty="0"/>
          </a:p>
        </p:txBody>
      </p:sp>
      <p:sp>
        <p:nvSpPr>
          <p:cNvPr id="192" name="Text 190"/>
          <p:cNvSpPr/>
          <p:nvPr/>
        </p:nvSpPr>
        <p:spPr>
          <a:xfrm>
            <a:off x="6240780" y="4206240"/>
            <a:ext cx="1668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MARK</a:t>
            </a:r>
            <a:endParaRPr lang="en-US" sz="800" dirty="0"/>
          </a:p>
        </p:txBody>
      </p:sp>
      <p:sp>
        <p:nvSpPr>
          <p:cNvPr id="193" name="Text 191"/>
          <p:cNvSpPr/>
          <p:nvPr/>
        </p:nvSpPr>
        <p:spPr>
          <a:xfrm>
            <a:off x="4480560" y="5303520"/>
            <a:ext cx="1668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COW</a:t>
            </a:r>
            <a:endParaRPr lang="en-US" sz="800" dirty="0"/>
          </a:p>
        </p:txBody>
      </p:sp>
      <p:sp>
        <p:nvSpPr>
          <p:cNvPr id="194" name="Text 192"/>
          <p:cNvSpPr/>
          <p:nvPr/>
        </p:nvSpPr>
        <p:spPr>
          <a:xfrm>
            <a:off x="6240780" y="5303520"/>
            <a:ext cx="1668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</a:t>
            </a:r>
            <a:endParaRPr lang="en-US" sz="800" dirty="0"/>
          </a:p>
        </p:txBody>
      </p:sp>
      <p:sp>
        <p:nvSpPr>
          <p:cNvPr id="195" name="Shape 193"/>
          <p:cNvSpPr/>
          <p:nvPr/>
        </p:nvSpPr>
        <p:spPr>
          <a:xfrm>
            <a:off x="4892040" y="489204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304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8920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saath</a:t>
            </a:r>
            <a:endParaRPr lang="en-US" sz="600" dirty="0"/>
          </a:p>
        </p:txBody>
      </p:sp>
      <p:sp>
        <p:nvSpPr>
          <p:cNvPr id="197" name="Shape 195"/>
          <p:cNvSpPr/>
          <p:nvPr/>
        </p:nvSpPr>
        <p:spPr>
          <a:xfrm>
            <a:off x="6743700" y="4800600"/>
            <a:ext cx="365760" cy="3657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304F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674370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rashi</a:t>
            </a:r>
            <a:endParaRPr lang="en-US" sz="550" dirty="0"/>
          </a:p>
        </p:txBody>
      </p:sp>
      <p:sp>
        <p:nvSpPr>
          <p:cNvPr id="199" name="Shape 197"/>
          <p:cNvSpPr/>
          <p:nvPr/>
        </p:nvSpPr>
        <p:spPr>
          <a:xfrm>
            <a:off x="6469380" y="525780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304F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646938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drish</a:t>
            </a:r>
            <a:endParaRPr lang="en-US" sz="600" dirty="0"/>
          </a:p>
        </p:txBody>
      </p:sp>
      <p:sp>
        <p:nvSpPr>
          <p:cNvPr id="201" name="Shape 199"/>
          <p:cNvSpPr/>
          <p:nvPr/>
        </p:nvSpPr>
        <p:spPr>
          <a:xfrm>
            <a:off x="6560820" y="5806440"/>
            <a:ext cx="365760" cy="3657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E808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6560820" y="5806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</a:t>
            </a:r>
            <a:endParaRPr lang="en-US" sz="550" dirty="0"/>
          </a:p>
        </p:txBody>
      </p:sp>
      <p:sp>
        <p:nvSpPr>
          <p:cNvPr id="203" name="Text 201"/>
          <p:cNvSpPr/>
          <p:nvPr/>
        </p:nvSpPr>
        <p:spPr>
          <a:xfrm>
            <a:off x="4434840" y="6400800"/>
            <a:ext cx="3520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share within our portfolio →</a:t>
            </a:r>
            <a:endParaRPr lang="en-US" sz="700" dirty="0"/>
          </a:p>
        </p:txBody>
      </p:sp>
      <p:sp>
        <p:nvSpPr>
          <p:cNvPr id="204" name="Shape 202"/>
          <p:cNvSpPr/>
          <p:nvPr/>
        </p:nvSpPr>
        <p:spPr>
          <a:xfrm>
            <a:off x="8229600" y="3703320"/>
            <a:ext cx="365760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>
            <a:off x="8266176" y="3739896"/>
            <a:ext cx="358444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6" name="Text 204"/>
          <p:cNvSpPr/>
          <p:nvPr/>
        </p:nvSpPr>
        <p:spPr>
          <a:xfrm>
            <a:off x="8266176" y="373989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5 FORCES  ·  INDIA ASTRO</a:t>
            </a:r>
            <a:endParaRPr lang="en-US" sz="1200" dirty="0"/>
          </a:p>
        </p:txBody>
      </p:sp>
      <p:sp>
        <p:nvSpPr>
          <p:cNvPr id="207" name="Shape 205"/>
          <p:cNvSpPr/>
          <p:nvPr/>
        </p:nvSpPr>
        <p:spPr>
          <a:xfrm>
            <a:off x="8366760" y="4160520"/>
            <a:ext cx="3383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366760" y="4160520"/>
            <a:ext cx="640080" cy="4114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09" name="Text 207"/>
          <p:cNvSpPr/>
          <p:nvPr/>
        </p:nvSpPr>
        <p:spPr>
          <a:xfrm>
            <a:off x="8366760" y="4160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9070848" y="419709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new entrants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9070848" y="437997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900+ religious tech startups (Tracxn 2024)</a:t>
            </a:r>
            <a:endParaRPr lang="en-US" sz="700" dirty="0"/>
          </a:p>
        </p:txBody>
      </p:sp>
      <p:sp>
        <p:nvSpPr>
          <p:cNvPr id="212" name="Shape 210"/>
          <p:cNvSpPr/>
          <p:nvPr/>
        </p:nvSpPr>
        <p:spPr>
          <a:xfrm>
            <a:off x="8366760" y="4608576"/>
            <a:ext cx="3383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8366760" y="4608576"/>
            <a:ext cx="640080" cy="41148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214" name="Text 212"/>
          <p:cNvSpPr/>
          <p:nvPr/>
        </p:nvSpPr>
        <p:spPr>
          <a:xfrm>
            <a:off x="8366760" y="46085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800" dirty="0"/>
          </a:p>
        </p:txBody>
      </p:sp>
      <p:sp>
        <p:nvSpPr>
          <p:cNvPr id="215" name="Text 213"/>
          <p:cNvSpPr/>
          <p:nvPr/>
        </p:nvSpPr>
        <p:spPr>
          <a:xfrm>
            <a:off x="9070848" y="464515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bargaining power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9070848" y="48280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Plentiful free kundli alternatives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8366760" y="5056632"/>
            <a:ext cx="3383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8366760" y="5056632"/>
            <a:ext cx="640080" cy="411480"/>
          </a:xfrm>
          <a:prstGeom prst="rect">
            <a:avLst/>
          </a:prstGeom>
          <a:solidFill>
            <a:srgbClr val="1F7A4A"/>
          </a:solidFill>
          <a:ln/>
        </p:spPr>
      </p:sp>
      <p:sp>
        <p:nvSpPr>
          <p:cNvPr id="219" name="Text 217"/>
          <p:cNvSpPr/>
          <p:nvPr/>
        </p:nvSpPr>
        <p:spPr>
          <a:xfrm>
            <a:off x="8366760" y="505663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220" name="Text 218"/>
          <p:cNvSpPr/>
          <p:nvPr/>
        </p:nvSpPr>
        <p:spPr>
          <a:xfrm>
            <a:off x="9070848" y="509320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power</a:t>
            </a:r>
            <a:endParaRPr lang="en-US" sz="850" dirty="0"/>
          </a:p>
        </p:txBody>
      </p:sp>
      <p:sp>
        <p:nvSpPr>
          <p:cNvPr id="221" name="Text 219"/>
          <p:cNvSpPr/>
          <p:nvPr/>
        </p:nvSpPr>
        <p:spPr>
          <a:xfrm>
            <a:off x="9070848" y="527608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replaces astrologer dependency</a:t>
            </a:r>
            <a:endParaRPr lang="en-US" sz="700" dirty="0"/>
          </a:p>
        </p:txBody>
      </p:sp>
      <p:sp>
        <p:nvSpPr>
          <p:cNvPr id="222" name="Shape 220"/>
          <p:cNvSpPr/>
          <p:nvPr/>
        </p:nvSpPr>
        <p:spPr>
          <a:xfrm>
            <a:off x="8366760" y="5504688"/>
            <a:ext cx="3383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8366760" y="5504688"/>
            <a:ext cx="640080" cy="4114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24" name="Text 222"/>
          <p:cNvSpPr/>
          <p:nvPr/>
        </p:nvSpPr>
        <p:spPr>
          <a:xfrm>
            <a:off x="8366760" y="55046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225" name="Text 223"/>
          <p:cNvSpPr/>
          <p:nvPr/>
        </p:nvSpPr>
        <p:spPr>
          <a:xfrm>
            <a:off x="9070848" y="554126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substitutes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9070848" y="572414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YouTube astrologers, WhatsApp pandits</a:t>
            </a:r>
            <a:endParaRPr lang="en-US" sz="700" dirty="0"/>
          </a:p>
        </p:txBody>
      </p:sp>
      <p:sp>
        <p:nvSpPr>
          <p:cNvPr id="227" name="Shape 225"/>
          <p:cNvSpPr/>
          <p:nvPr/>
        </p:nvSpPr>
        <p:spPr>
          <a:xfrm>
            <a:off x="8366760" y="5952744"/>
            <a:ext cx="3383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8366760" y="5952744"/>
            <a:ext cx="640080" cy="4114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29" name="Text 227"/>
          <p:cNvSpPr/>
          <p:nvPr/>
        </p:nvSpPr>
        <p:spPr>
          <a:xfrm>
            <a:off x="8366760" y="5952744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230" name="Text 228"/>
          <p:cNvSpPr/>
          <p:nvPr/>
        </p:nvSpPr>
        <p:spPr>
          <a:xfrm>
            <a:off x="9070848" y="598932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rivalry</a:t>
            </a:r>
            <a:endParaRPr lang="en-US" sz="850" dirty="0"/>
          </a:p>
        </p:txBody>
      </p:sp>
      <p:sp>
        <p:nvSpPr>
          <p:cNvPr id="231" name="Text 229"/>
          <p:cNvSpPr/>
          <p:nvPr/>
        </p:nvSpPr>
        <p:spPr>
          <a:xfrm>
            <a:off x="9070848" y="61722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AstroTalk ~80% share; consolidation underway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LEVERS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20040" y="713232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PLAY × HOW TO WIN — A 5-PILLAR GROWTH ARCHITECTURE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12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47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93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28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340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352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75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387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398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410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422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445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57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469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480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492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504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515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527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62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585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97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620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632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644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655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667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679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690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9702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714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726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737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749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61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772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784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796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7807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819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831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3842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5854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7866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9877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21889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6 / 10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80160"/>
            <a:ext cx="5897880" cy="25603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316736"/>
            <a:ext cx="58247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316736"/>
            <a:ext cx="5824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PLAY  ·  3 BEACHHEADS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57200" y="1737360"/>
            <a:ext cx="56235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57200" y="1737360"/>
            <a:ext cx="1097280" cy="6400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1" name="Text 69"/>
          <p:cNvSpPr/>
          <p:nvPr/>
        </p:nvSpPr>
        <p:spPr>
          <a:xfrm>
            <a:off x="457200" y="179222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 #1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457200" y="2011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#1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1600200" y="1783080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Hindi-belt partner-birthdate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600200" y="1993392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@saathsetu viral formula across @rashitattva + @astrosaadhan. UP-Bihar-MP cohort: 25-45.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600200" y="2176272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 ₹199 → ₹499 kundli + chat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57200" y="2450592"/>
            <a:ext cx="56235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57200" y="2450592"/>
            <a:ext cx="1097280" cy="64008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8" name="Text 76"/>
          <p:cNvSpPr/>
          <p:nvPr/>
        </p:nvSpPr>
        <p:spPr>
          <a:xfrm>
            <a:off x="457200" y="25054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 #2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457200" y="272491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#2</a:t>
            </a:r>
            <a:endParaRPr lang="en-US" sz="2400" dirty="0"/>
          </a:p>
        </p:txBody>
      </p:sp>
      <p:sp>
        <p:nvSpPr>
          <p:cNvPr id="80" name="Text 78"/>
          <p:cNvSpPr/>
          <p:nvPr/>
        </p:nvSpPr>
        <p:spPr>
          <a:xfrm>
            <a:off x="1600200" y="2496312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micro-niche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1600200" y="2706624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@drishtiastro: virgin Marathi astro market. No major incumbent. Mumbai-Pune-Nashik.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1600200" y="2889504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 ₹199 Marathi PDF + WA panchang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457200" y="3163824"/>
            <a:ext cx="56235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7200" y="3163824"/>
            <a:ext cx="1097280" cy="6400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5" name="Text 83"/>
          <p:cNvSpPr/>
          <p:nvPr/>
        </p:nvSpPr>
        <p:spPr>
          <a:xfrm>
            <a:off x="457200" y="32186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 #3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57200" y="343814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1600200" y="3209544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NRI Hindi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1600200" y="3419856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+ UAE Hindi-speaking 30-55. Higher AOV. Long-form YT + WA delivery — natural fit.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1600200" y="3602736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SKU: $15 USD kundli + live ₹2,499 consult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6355080" y="1280160"/>
            <a:ext cx="5532120" cy="25603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>
            <a:off x="6391656" y="1316736"/>
            <a:ext cx="545896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2" name="Text 90"/>
          <p:cNvSpPr/>
          <p:nvPr/>
        </p:nvSpPr>
        <p:spPr>
          <a:xfrm>
            <a:off x="6391656" y="1316736"/>
            <a:ext cx="5458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WIN  ·  5 STRATEGIC PILLARS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492240" y="1755648"/>
            <a:ext cx="384048" cy="38404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94" name="Text 92"/>
          <p:cNvSpPr/>
          <p:nvPr/>
        </p:nvSpPr>
        <p:spPr>
          <a:xfrm>
            <a:off x="649224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5" name="Text 93"/>
          <p:cNvSpPr/>
          <p:nvPr/>
        </p:nvSpPr>
        <p:spPr>
          <a:xfrm>
            <a:off x="6995160" y="17739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ENGINE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6995160" y="195681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partner-birthdate hook across 3 handles. Daily Reel cadence.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6492240" y="2167128"/>
            <a:ext cx="384048" cy="38404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98" name="Text 96"/>
          <p:cNvSpPr/>
          <p:nvPr/>
        </p:nvSpPr>
        <p:spPr>
          <a:xfrm>
            <a:off x="649224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9" name="Text 97"/>
          <p:cNvSpPr/>
          <p:nvPr/>
        </p:nvSpPr>
        <p:spPr>
          <a:xfrm>
            <a:off x="6995160" y="21854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STACK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95160" y="23682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verified on all 4. Remove AI disclosure on @astrosaadhan. Hindi pandit voice.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492240" y="2578608"/>
            <a:ext cx="384048" cy="38404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02" name="Text 100"/>
          <p:cNvSpPr/>
          <p:nvPr/>
        </p:nvSpPr>
        <p:spPr>
          <a:xfrm>
            <a:off x="649224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3" name="Text 101"/>
          <p:cNvSpPr/>
          <p:nvPr/>
        </p:nvSpPr>
        <p:spPr>
          <a:xfrm>
            <a:off x="6995160" y="259689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MOAT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6995160" y="277977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YouTube + IVR + Temple QR. No single-platform risk.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492240" y="2990088"/>
            <a:ext cx="384048" cy="38404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06" name="Text 104"/>
          <p:cNvSpPr/>
          <p:nvPr/>
        </p:nvSpPr>
        <p:spPr>
          <a:xfrm>
            <a:off x="649224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07" name="Text 105"/>
          <p:cNvSpPr/>
          <p:nvPr/>
        </p:nvSpPr>
        <p:spPr>
          <a:xfrm>
            <a:off x="6995160" y="300837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LADDER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6995160" y="319125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 sub → ₹199 PDF → ₹499 chat → ₹1,499 detailed → ₹2,499 live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6492240" y="3401568"/>
            <a:ext cx="384048" cy="38404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110" name="Text 108"/>
          <p:cNvSpPr/>
          <p:nvPr/>
        </p:nvSpPr>
        <p:spPr>
          <a:xfrm>
            <a:off x="6492240" y="3401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11" name="Text 109"/>
          <p:cNvSpPr/>
          <p:nvPr/>
        </p:nvSpPr>
        <p:spPr>
          <a:xfrm>
            <a:off x="6995160" y="341985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DISCIPLINE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995160" y="360273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rebuild. WhatsApp checkout. UPI + EMI. Retargeting pixel.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320040" y="3977640"/>
            <a:ext cx="11567160" cy="25146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>
            <a:off x="356616" y="401421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5" name="Text 113"/>
          <p:cNvSpPr/>
          <p:nvPr/>
        </p:nvSpPr>
        <p:spPr>
          <a:xfrm>
            <a:off x="356616" y="401421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CHOICES CASCADE (ROGER MARTIN · PLAYING TO WIN)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57200" y="4434840"/>
            <a:ext cx="22402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57200" y="4434840"/>
            <a:ext cx="2240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18" name="Text 116"/>
          <p:cNvSpPr/>
          <p:nvPr/>
        </p:nvSpPr>
        <p:spPr>
          <a:xfrm>
            <a:off x="457200" y="44348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914400" y="4434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ASPIRATION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548640" y="480060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India's #1 AI-native, multi-language astrology brand for the Hindi-Hinglish-Marathi belt within 18 months. Crack 25K followers per page and ₹50L+ MRR.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2788920" y="4434840"/>
            <a:ext cx="22402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788920" y="4434840"/>
            <a:ext cx="2240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3" name="Text 121"/>
          <p:cNvSpPr/>
          <p:nvPr/>
        </p:nvSpPr>
        <p:spPr>
          <a:xfrm>
            <a:off x="2788920" y="44348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24" name="Text 122"/>
          <p:cNvSpPr/>
          <p:nvPr/>
        </p:nvSpPr>
        <p:spPr>
          <a:xfrm>
            <a:off x="3246120" y="4434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PLAY</a:t>
            </a:r>
            <a:endParaRPr lang="en-US" sz="850" dirty="0"/>
          </a:p>
        </p:txBody>
      </p:sp>
      <p:sp>
        <p:nvSpPr>
          <p:cNvPr id="125" name="Text 123"/>
          <p:cNvSpPr/>
          <p:nvPr/>
        </p:nvSpPr>
        <p:spPr>
          <a:xfrm>
            <a:off x="2880360" y="480060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Hindi-belt (25-55) primary | Marathi sub-niche secondary | NRI diaspora tertiary. AVOID urban English-Gen-Z (Co-Star, AstroTalk dominate) and live-consult marketplace (margin compression).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5120640" y="4434840"/>
            <a:ext cx="22402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120640" y="4434840"/>
            <a:ext cx="2240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8" name="Text 126"/>
          <p:cNvSpPr/>
          <p:nvPr/>
        </p:nvSpPr>
        <p:spPr>
          <a:xfrm>
            <a:off x="5120640" y="44348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29" name="Text 127"/>
          <p:cNvSpPr/>
          <p:nvPr/>
        </p:nvSpPr>
        <p:spPr>
          <a:xfrm>
            <a:off x="5577840" y="4434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WIN</a:t>
            </a:r>
            <a:endParaRPr lang="en-US" sz="850" dirty="0"/>
          </a:p>
        </p:txBody>
      </p:sp>
      <p:sp>
        <p:nvSpPr>
          <p:cNvPr id="130" name="Text 128"/>
          <p:cNvSpPr/>
          <p:nvPr/>
        </p:nvSpPr>
        <p:spPr>
          <a:xfrm>
            <a:off x="5212080" y="480060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hook engine (partner-birthdate + Mulank+planet) × AI cost base × cross-handle promotion × WhatsApp checkout × Hindi-pandit voice (no AI disclosure). 8x cheaper unit economics than AstroTalk.</a:t>
            </a:r>
            <a:endParaRPr lang="en-US" sz="800" dirty="0"/>
          </a:p>
        </p:txBody>
      </p:sp>
      <p:sp>
        <p:nvSpPr>
          <p:cNvPr id="131" name="Shape 129"/>
          <p:cNvSpPr/>
          <p:nvPr/>
        </p:nvSpPr>
        <p:spPr>
          <a:xfrm>
            <a:off x="7452360" y="4434840"/>
            <a:ext cx="22402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452360" y="4434840"/>
            <a:ext cx="2240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3" name="Text 131"/>
          <p:cNvSpPr/>
          <p:nvPr/>
        </p:nvSpPr>
        <p:spPr>
          <a:xfrm>
            <a:off x="7452360" y="44348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134" name="Text 132"/>
          <p:cNvSpPr/>
          <p:nvPr/>
        </p:nvSpPr>
        <p:spPr>
          <a:xfrm>
            <a:off x="7909560" y="4434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850" dirty="0"/>
          </a:p>
        </p:txBody>
      </p:sp>
      <p:sp>
        <p:nvSpPr>
          <p:cNvPr id="135" name="Text 133"/>
          <p:cNvSpPr/>
          <p:nvPr/>
        </p:nvSpPr>
        <p:spPr>
          <a:xfrm>
            <a:off x="7543800" y="480060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Reel factory (GPT + ElevenLabs + Canva) | WhatsApp Business API | Razorpay UPI/EMI | Microsoft Clarity heatmap (already installed per scrape) | Vidya/Vedic copywriter (human-in-loop).</a:t>
            </a:r>
            <a:endParaRPr lang="en-US" sz="800" dirty="0"/>
          </a:p>
        </p:txBody>
      </p:sp>
      <p:sp>
        <p:nvSpPr>
          <p:cNvPr id="136" name="Shape 134"/>
          <p:cNvSpPr/>
          <p:nvPr/>
        </p:nvSpPr>
        <p:spPr>
          <a:xfrm>
            <a:off x="9784080" y="4434840"/>
            <a:ext cx="224028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784080" y="4434840"/>
            <a:ext cx="2240280" cy="32004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8" name="Text 136"/>
          <p:cNvSpPr/>
          <p:nvPr/>
        </p:nvSpPr>
        <p:spPr>
          <a:xfrm>
            <a:off x="9784080" y="44348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139" name="Text 137"/>
          <p:cNvSpPr/>
          <p:nvPr/>
        </p:nvSpPr>
        <p:spPr>
          <a:xfrm>
            <a:off x="10241280" y="4434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SYSTEMS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9875520" y="480060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NSM review | content pod (3 people) | landing CRO sprint cadence (bi-weekly) | WhatsApp drip A/B testing | UTM + Meta pixel tracking.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ENGINE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20040" y="713232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ESCAPE PLAYBOOK + CONTENT FACTORY + DISTRIBUTION MOATS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12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47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93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28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340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352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75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387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398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410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422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445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57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469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480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492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504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515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527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62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585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97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620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632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644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655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667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679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690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9702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714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726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737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749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61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772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784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796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7807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819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831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3842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5854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7866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9877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21889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7 / 10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80160"/>
            <a:ext cx="3840480" cy="516636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316736"/>
            <a:ext cx="37673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316736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COLD-START ESCAPE (30 DAYS)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457200" y="17556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algorithmic inertia of 3 dormant handles.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57200" y="2057400"/>
            <a:ext cx="35661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57200" y="2057400"/>
            <a:ext cx="502920" cy="6400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" y="20574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73" name="Text 71"/>
          <p:cNvSpPr/>
          <p:nvPr/>
        </p:nvSpPr>
        <p:spPr>
          <a:xfrm>
            <a:off x="1005840" y="21031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 cross-promo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1005840" y="230428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handle posts a Story shoutout for each of 3 dormant handles. Avg 1,591 views = 800-1,200 sample.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457200" y="2770632"/>
            <a:ext cx="35661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57200" y="2770632"/>
            <a:ext cx="502920" cy="6400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7" name="Text 75"/>
          <p:cNvSpPr/>
          <p:nvPr/>
        </p:nvSpPr>
        <p:spPr>
          <a:xfrm>
            <a:off x="457200" y="2770632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78" name="Text 76"/>
          <p:cNvSpPr/>
          <p:nvPr/>
        </p:nvSpPr>
        <p:spPr>
          <a:xfrm>
            <a:off x="1005840" y="281635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Reverse-engineered hook drops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05840" y="30175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Day-1 to Day-14: 1 partner-birthdate Reel per handle per day. Variants on Mulank 1-9 × Venus/Mars/Saturn.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457200" y="3483864"/>
            <a:ext cx="35661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57200" y="3483864"/>
            <a:ext cx="502920" cy="6400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3483864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83" name="Text 81"/>
          <p:cNvSpPr/>
          <p:nvPr/>
        </p:nvSpPr>
        <p:spPr>
          <a:xfrm>
            <a:off x="1005840" y="352958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Save-bait carousels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05840" y="37307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1 carousel/day per handle: 'Aap Mulank 5 ho? Yeh 7 cheez aapko jaroor jaanni chahiye.' High save rate = algo lift.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57200" y="4197096"/>
            <a:ext cx="35661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57200" y="4197096"/>
            <a:ext cx="502920" cy="6400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7" name="Text 85"/>
          <p:cNvSpPr/>
          <p:nvPr/>
        </p:nvSpPr>
        <p:spPr>
          <a:xfrm>
            <a:off x="457200" y="4197096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88" name="Text 86"/>
          <p:cNvSpPr/>
          <p:nvPr/>
        </p:nvSpPr>
        <p:spPr>
          <a:xfrm>
            <a:off x="1005840" y="4242816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pod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1005840" y="444398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WhatsApp group of 30 real accounts. First 30 min after every post = coordinated likes/saves/DMs.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57200" y="4910328"/>
            <a:ext cx="35661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57200" y="4910328"/>
            <a:ext cx="502920" cy="6400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2" name="Text 90"/>
          <p:cNvSpPr/>
          <p:nvPr/>
        </p:nvSpPr>
        <p:spPr>
          <a:xfrm>
            <a:off x="457200" y="4910328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93" name="Text 91"/>
          <p:cNvSpPr/>
          <p:nvPr/>
        </p:nvSpPr>
        <p:spPr>
          <a:xfrm>
            <a:off x="1005840" y="4956048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Trending audio stack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1005840" y="515721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top-3 Hindi/Marathi trending audio within 24h of trend spike. Stack 3 #VedicAstrology + 3 hyper-niche tags.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457200" y="5623560"/>
            <a:ext cx="35661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57200" y="5623560"/>
            <a:ext cx="502920" cy="6400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97" name="Text 95"/>
          <p:cNvSpPr/>
          <p:nvPr/>
        </p:nvSpPr>
        <p:spPr>
          <a:xfrm>
            <a:off x="457200" y="5623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98" name="Text 96"/>
          <p:cNvSpPr/>
          <p:nvPr/>
        </p:nvSpPr>
        <p:spPr>
          <a:xfrm>
            <a:off x="1005840" y="566928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push for @drishtiastro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05840" y="587044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ALL content to Marathi (currently 11 Devanagari / 23 Roman). Marathi-specific hashtags. Mumbai-Pune-Nashik geo-targeting.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4297680" y="1280160"/>
            <a:ext cx="3794760" cy="516636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>
            <a:off x="4334256" y="131673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02" name="Text 100"/>
          <p:cNvSpPr/>
          <p:nvPr/>
        </p:nvSpPr>
        <p:spPr>
          <a:xfrm>
            <a:off x="4334256" y="131673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AI CONTENT FACTORY (DAILY OUTPUT)</a:t>
            </a:r>
            <a:endParaRPr lang="en-US" sz="1200" dirty="0"/>
          </a:p>
        </p:txBody>
      </p:sp>
      <p:sp>
        <p:nvSpPr>
          <p:cNvPr id="103" name="Text 101"/>
          <p:cNvSpPr/>
          <p:nvPr/>
        </p:nvSpPr>
        <p:spPr>
          <a:xfrm>
            <a:off x="4434840" y="175564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~22 Reels + 4 carousels + 1 long-form/day across portfolio.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434840" y="2057400"/>
            <a:ext cx="35204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434840" y="2057400"/>
            <a:ext cx="1005840" cy="64008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06" name="Text 104"/>
          <p:cNvSpPr/>
          <p:nvPr/>
        </p:nvSpPr>
        <p:spPr>
          <a:xfrm>
            <a:off x="4434840" y="21305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4434840" y="240487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+ claude.ai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5486400" y="2148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50 Roman-Hindi hooks/day from Mulank × planet × emotion matrix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4434840" y="2770632"/>
            <a:ext cx="35204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434840" y="2770632"/>
            <a:ext cx="1005840" cy="64008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11" name="Text 109"/>
          <p:cNvSpPr/>
          <p:nvPr/>
        </p:nvSpPr>
        <p:spPr>
          <a:xfrm>
            <a:off x="4434840" y="284378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4434840" y="31181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Voice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5486400" y="286207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Hindi voice (NOT marked AI). 3 voices per handle for variety.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4434840" y="3483864"/>
            <a:ext cx="35204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434840" y="3483864"/>
            <a:ext cx="1005840" cy="64008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16" name="Text 114"/>
          <p:cNvSpPr/>
          <p:nvPr/>
        </p:nvSpPr>
        <p:spPr>
          <a:xfrm>
            <a:off x="4434840" y="35570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4434840" y="38313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Pro + HeyGen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5486400" y="357530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 Reel template (text + B-roll + planet visual)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4434840" y="4197096"/>
            <a:ext cx="35204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434840" y="4197096"/>
            <a:ext cx="1005840" cy="64008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1" name="Text 119"/>
          <p:cNvSpPr/>
          <p:nvPr/>
        </p:nvSpPr>
        <p:spPr>
          <a:xfrm>
            <a:off x="4434840" y="42702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122" name="Text 120"/>
          <p:cNvSpPr/>
          <p:nvPr/>
        </p:nvSpPr>
        <p:spPr>
          <a:xfrm>
            <a:off x="4434840" y="45445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CapCut + Suno</a:t>
            </a:r>
            <a:endParaRPr lang="en-US" sz="750" dirty="0"/>
          </a:p>
        </p:txBody>
      </p:sp>
      <p:sp>
        <p:nvSpPr>
          <p:cNvPr id="123" name="Text 121"/>
          <p:cNvSpPr/>
          <p:nvPr/>
        </p:nvSpPr>
        <p:spPr>
          <a:xfrm>
            <a:off x="5486400" y="428853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sync to trending audio. Hook in first 1.2 sec — critical for IG.</a:t>
            </a:r>
            <a:endParaRPr lang="en-US" sz="800" dirty="0"/>
          </a:p>
        </p:txBody>
      </p:sp>
      <p:sp>
        <p:nvSpPr>
          <p:cNvPr id="124" name="Shape 122"/>
          <p:cNvSpPr/>
          <p:nvPr/>
        </p:nvSpPr>
        <p:spPr>
          <a:xfrm>
            <a:off x="4434840" y="4910328"/>
            <a:ext cx="35204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434840" y="4910328"/>
            <a:ext cx="1005840" cy="64008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6" name="Text 124"/>
          <p:cNvSpPr/>
          <p:nvPr/>
        </p:nvSpPr>
        <p:spPr>
          <a:xfrm>
            <a:off x="4434840" y="49834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127" name="Text 125"/>
          <p:cNvSpPr/>
          <p:nvPr/>
        </p:nvSpPr>
        <p:spPr>
          <a:xfrm>
            <a:off x="4434840" y="52578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/ Buffer</a:t>
            </a:r>
            <a:endParaRPr lang="en-US" sz="750" dirty="0"/>
          </a:p>
        </p:txBody>
      </p:sp>
      <p:sp>
        <p:nvSpPr>
          <p:cNvPr id="128" name="Text 126"/>
          <p:cNvSpPr/>
          <p:nvPr/>
        </p:nvSpPr>
        <p:spPr>
          <a:xfrm>
            <a:off x="5486400" y="50017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Auto-schedule per handle at optimal slot (4-5 PM + 9-10 PM Indian)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4434840" y="5623560"/>
            <a:ext cx="35204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434840" y="5623560"/>
            <a:ext cx="1005840" cy="64008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1" name="Text 129"/>
          <p:cNvSpPr/>
          <p:nvPr/>
        </p:nvSpPr>
        <p:spPr>
          <a:xfrm>
            <a:off x="4434840" y="56967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4434840" y="597103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Clarity</a:t>
            </a:r>
            <a:endParaRPr lang="en-US" sz="750" dirty="0"/>
          </a:p>
        </p:txBody>
      </p:sp>
      <p:sp>
        <p:nvSpPr>
          <p:cNvPr id="133" name="Text 131"/>
          <p:cNvSpPr/>
          <p:nvPr/>
        </p:nvSpPr>
        <p:spPr>
          <a:xfrm>
            <a:off x="5486400" y="5715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live on landing page — feeds heatmap into Reel-CTA optimisation</a:t>
            </a: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>
            <a:off x="8229600" y="1280160"/>
            <a:ext cx="3657600" cy="516636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35" name="Shape 133"/>
          <p:cNvSpPr/>
          <p:nvPr/>
        </p:nvSpPr>
        <p:spPr>
          <a:xfrm>
            <a:off x="8266176" y="1316736"/>
            <a:ext cx="358444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36" name="Text 134"/>
          <p:cNvSpPr/>
          <p:nvPr/>
        </p:nvSpPr>
        <p:spPr>
          <a:xfrm>
            <a:off x="8266176" y="131673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DISTRIBUTION MOATS</a:t>
            </a:r>
            <a:endParaRPr lang="en-US" sz="1200" dirty="0"/>
          </a:p>
        </p:txBody>
      </p:sp>
      <p:sp>
        <p:nvSpPr>
          <p:cNvPr id="137" name="Text 135"/>
          <p:cNvSpPr/>
          <p:nvPr/>
        </p:nvSpPr>
        <p:spPr>
          <a:xfrm>
            <a:off x="8366760" y="1755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IG dependency to &lt;60% of new orders.</a:t>
            </a:r>
            <a:endParaRPr lang="en-US" sz="900" dirty="0"/>
          </a:p>
        </p:txBody>
      </p:sp>
      <p:sp>
        <p:nvSpPr>
          <p:cNvPr id="138" name="Shape 136"/>
          <p:cNvSpPr/>
          <p:nvPr/>
        </p:nvSpPr>
        <p:spPr>
          <a:xfrm>
            <a:off x="8366760" y="2057400"/>
            <a:ext cx="33832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66760" y="2057400"/>
            <a:ext cx="640080" cy="640080"/>
          </a:xfrm>
          <a:prstGeom prst="rect">
            <a:avLst/>
          </a:prstGeom>
          <a:solidFill>
            <a:srgbClr val="FBE0E3"/>
          </a:solidFill>
          <a:ln/>
        </p:spPr>
      </p:sp>
      <p:sp>
        <p:nvSpPr>
          <p:cNvPr id="140" name="Text 138"/>
          <p:cNvSpPr/>
          <p:nvPr/>
        </p:nvSpPr>
        <p:spPr>
          <a:xfrm>
            <a:off x="836676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2200" dirty="0"/>
          </a:p>
        </p:txBody>
      </p:sp>
      <p:sp>
        <p:nvSpPr>
          <p:cNvPr id="141" name="Text 139"/>
          <p:cNvSpPr/>
          <p:nvPr/>
        </p:nvSpPr>
        <p:spPr>
          <a:xfrm>
            <a:off x="9052560" y="21031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Business</a:t>
            </a:r>
            <a:endParaRPr lang="en-US" sz="900" dirty="0"/>
          </a:p>
        </p:txBody>
      </p:sp>
      <p:sp>
        <p:nvSpPr>
          <p:cNvPr id="142" name="Text 140"/>
          <p:cNvSpPr/>
          <p:nvPr/>
        </p:nvSpPr>
        <p:spPr>
          <a:xfrm>
            <a:off x="9052560" y="230428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panchang push to opt-in list. Free kundli → ₹199 upsell. Voice-note Hindi support.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8366760" y="2770632"/>
            <a:ext cx="33832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66760" y="2770632"/>
            <a:ext cx="640080" cy="640080"/>
          </a:xfrm>
          <a:prstGeom prst="rect">
            <a:avLst/>
          </a:prstGeom>
          <a:solidFill>
            <a:srgbClr val="FBE0E3"/>
          </a:solidFill>
          <a:ln/>
        </p:spPr>
      </p:sp>
      <p:sp>
        <p:nvSpPr>
          <p:cNvPr id="145" name="Text 143"/>
          <p:cNvSpPr/>
          <p:nvPr/>
        </p:nvSpPr>
        <p:spPr>
          <a:xfrm>
            <a:off x="8366760" y="2770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🛕</a:t>
            </a:r>
            <a:endParaRPr lang="en-US" sz="2200" dirty="0"/>
          </a:p>
        </p:txBody>
      </p:sp>
      <p:sp>
        <p:nvSpPr>
          <p:cNvPr id="146" name="Text 144"/>
          <p:cNvSpPr/>
          <p:nvPr/>
        </p:nvSpPr>
        <p:spPr>
          <a:xfrm>
            <a:off x="9052560" y="28163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Temple QR Network</a:t>
            </a:r>
            <a:endParaRPr lang="en-US" sz="900" dirty="0"/>
          </a:p>
        </p:txBody>
      </p:sp>
      <p:sp>
        <p:nvSpPr>
          <p:cNvPr id="147" name="Text 145"/>
          <p:cNvSpPr/>
          <p:nvPr/>
        </p:nvSpPr>
        <p:spPr>
          <a:xfrm>
            <a:off x="9052560" y="30175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Stickers at 50 pilot temples (Pune, Mumbai, Nashik). 'Free kundli — scan' → WA flow.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8366760" y="3483864"/>
            <a:ext cx="33832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8366760" y="3483864"/>
            <a:ext cx="640080" cy="640080"/>
          </a:xfrm>
          <a:prstGeom prst="rect">
            <a:avLst/>
          </a:prstGeom>
          <a:solidFill>
            <a:srgbClr val="FBE0E3"/>
          </a:solidFill>
          <a:ln/>
        </p:spPr>
      </p:sp>
      <p:sp>
        <p:nvSpPr>
          <p:cNvPr id="150" name="Text 148"/>
          <p:cNvSpPr/>
          <p:nvPr/>
        </p:nvSpPr>
        <p:spPr>
          <a:xfrm>
            <a:off x="8366760" y="3483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📺</a:t>
            </a:r>
            <a:endParaRPr lang="en-US" sz="2200" dirty="0"/>
          </a:p>
        </p:txBody>
      </p:sp>
      <p:sp>
        <p:nvSpPr>
          <p:cNvPr id="151" name="Text 149"/>
          <p:cNvSpPr/>
          <p:nvPr/>
        </p:nvSpPr>
        <p:spPr>
          <a:xfrm>
            <a:off x="9052560" y="35295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long-form</a:t>
            </a:r>
            <a:endParaRPr lang="en-US" sz="900" dirty="0"/>
          </a:p>
        </p:txBody>
      </p:sp>
      <p:sp>
        <p:nvSpPr>
          <p:cNvPr id="152" name="Text 150"/>
          <p:cNvSpPr/>
          <p:nvPr/>
        </p:nvSpPr>
        <p:spPr>
          <a:xfrm>
            <a:off x="9052560" y="37307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8-min 'Mulank 1 wale 2026 mein kya' video. SEO compounds. Mid-roll ads.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8366760" y="4197096"/>
            <a:ext cx="33832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366760" y="4197096"/>
            <a:ext cx="640080" cy="640080"/>
          </a:xfrm>
          <a:prstGeom prst="rect">
            <a:avLst/>
          </a:prstGeom>
          <a:solidFill>
            <a:srgbClr val="FBE0E3"/>
          </a:solidFill>
          <a:ln/>
        </p:spPr>
      </p:sp>
      <p:sp>
        <p:nvSpPr>
          <p:cNvPr id="155" name="Text 153"/>
          <p:cNvSpPr/>
          <p:nvPr/>
        </p:nvSpPr>
        <p:spPr>
          <a:xfrm>
            <a:off x="8366760" y="41970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  <a:endParaRPr lang="en-US" sz="2200" dirty="0"/>
          </a:p>
        </p:txBody>
      </p:sp>
      <p:sp>
        <p:nvSpPr>
          <p:cNvPr id="156" name="Text 154"/>
          <p:cNvSpPr/>
          <p:nvPr/>
        </p:nvSpPr>
        <p:spPr>
          <a:xfrm>
            <a:off x="9052560" y="424281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IVR cold call (Hindi)</a:t>
            </a:r>
            <a:endParaRPr lang="en-US" sz="900" dirty="0"/>
          </a:p>
        </p:txBody>
      </p:sp>
      <p:sp>
        <p:nvSpPr>
          <p:cNvPr id="157" name="Text 155"/>
          <p:cNvSpPr/>
          <p:nvPr/>
        </p:nvSpPr>
        <p:spPr>
          <a:xfrm>
            <a:off x="9052560" y="444398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Pre-recorded voice: 'Aap apni kundli sun-na chahte ho?' Press 1 = WA opt-in. ₹0.4/call.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8366760" y="4910328"/>
            <a:ext cx="33832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366760" y="4910328"/>
            <a:ext cx="640080" cy="640080"/>
          </a:xfrm>
          <a:prstGeom prst="rect">
            <a:avLst/>
          </a:prstGeom>
          <a:solidFill>
            <a:srgbClr val="FBE0E3"/>
          </a:solidFill>
          <a:ln/>
        </p:spPr>
      </p:sp>
      <p:sp>
        <p:nvSpPr>
          <p:cNvPr id="160" name="Text 158"/>
          <p:cNvSpPr/>
          <p:nvPr/>
        </p:nvSpPr>
        <p:spPr>
          <a:xfrm>
            <a:off x="8366760" y="4910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</a:t>
            </a:r>
            <a:endParaRPr lang="en-US" sz="2200" dirty="0"/>
          </a:p>
        </p:txBody>
      </p:sp>
      <p:sp>
        <p:nvSpPr>
          <p:cNvPr id="161" name="Text 159"/>
          <p:cNvSpPr/>
          <p:nvPr/>
        </p:nvSpPr>
        <p:spPr>
          <a:xfrm>
            <a:off x="9052560" y="49560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Pandit referral</a:t>
            </a:r>
            <a:endParaRPr lang="en-US" sz="900" dirty="0"/>
          </a:p>
        </p:txBody>
      </p:sp>
      <p:sp>
        <p:nvSpPr>
          <p:cNvPr id="162" name="Text 160"/>
          <p:cNvSpPr/>
          <p:nvPr/>
        </p:nvSpPr>
        <p:spPr>
          <a:xfrm>
            <a:off x="9052560" y="51572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pandits get ₹30 commission per ₹199 order. WhatsApp link shared in their broadcast.</a:t>
            </a:r>
            <a:endParaRPr lang="en-US" sz="750" dirty="0"/>
          </a:p>
        </p:txBody>
      </p:sp>
      <p:sp>
        <p:nvSpPr>
          <p:cNvPr id="163" name="Shape 161"/>
          <p:cNvSpPr/>
          <p:nvPr/>
        </p:nvSpPr>
        <p:spPr>
          <a:xfrm>
            <a:off x="8366760" y="5623560"/>
            <a:ext cx="33832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8366760" y="5623560"/>
            <a:ext cx="640080" cy="640080"/>
          </a:xfrm>
          <a:prstGeom prst="rect">
            <a:avLst/>
          </a:prstGeom>
          <a:solidFill>
            <a:srgbClr val="FBE0E3"/>
          </a:solidFill>
          <a:ln/>
        </p:spPr>
      </p:sp>
      <p:sp>
        <p:nvSpPr>
          <p:cNvPr id="165" name="Text 163"/>
          <p:cNvSpPr/>
          <p:nvPr/>
        </p:nvSpPr>
        <p:spPr>
          <a:xfrm>
            <a:off x="8366760" y="5623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🎪</a:t>
            </a:r>
            <a:endParaRPr lang="en-US" sz="2200" dirty="0"/>
          </a:p>
        </p:txBody>
      </p:sp>
      <p:sp>
        <p:nvSpPr>
          <p:cNvPr id="166" name="Text 164"/>
          <p:cNvSpPr/>
          <p:nvPr/>
        </p:nvSpPr>
        <p:spPr>
          <a:xfrm>
            <a:off x="9052560" y="56692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activations</a:t>
            </a:r>
            <a:endParaRPr lang="en-US" sz="900" dirty="0"/>
          </a:p>
        </p:txBody>
      </p:sp>
      <p:sp>
        <p:nvSpPr>
          <p:cNvPr id="167" name="Text 165"/>
          <p:cNvSpPr/>
          <p:nvPr/>
        </p:nvSpPr>
        <p:spPr>
          <a:xfrm>
            <a:off x="9052560" y="58704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Diwali, Navratri, Makar Sankranti — pre-built 3-message WA sequences.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20040" y="713232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POST, WHEN TO POST, AND WHY EACH PIECE CONVERTS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12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47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93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28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340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352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75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387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398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410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422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445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57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469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480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492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504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515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527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62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585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97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620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632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644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655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667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679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690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9702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714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726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737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749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61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772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784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796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7807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819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831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3842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5854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7866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9877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21889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8 / 10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80160"/>
            <a:ext cx="1156716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31673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31673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3-PILLAR CONTENT FRAMEWORK · 70/20/10 RULE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57200" y="1691640"/>
            <a:ext cx="37490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57200" y="1691640"/>
            <a:ext cx="3749040" cy="36576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71" name="Text 69"/>
          <p:cNvSpPr/>
          <p:nvPr/>
        </p:nvSpPr>
        <p:spPr>
          <a:xfrm>
            <a:off x="45720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TRUST &amp; RITUAL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594360" y="2167128"/>
            <a:ext cx="109728" cy="109728"/>
          </a:xfrm>
          <a:prstGeom prst="ellipse">
            <a:avLst/>
          </a:prstGeom>
          <a:solidFill>
            <a:srgbClr val="A6304F"/>
          </a:solidFill>
          <a:ln/>
        </p:spPr>
      </p:sp>
      <p:sp>
        <p:nvSpPr>
          <p:cNvPr id="73" name="Text 71"/>
          <p:cNvSpPr/>
          <p:nvPr/>
        </p:nvSpPr>
        <p:spPr>
          <a:xfrm>
            <a:off x="749808" y="21214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rashifal in Hindi/Marathi (5 AM auto-post)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594360" y="2459736"/>
            <a:ext cx="109728" cy="109728"/>
          </a:xfrm>
          <a:prstGeom prst="ellipse">
            <a:avLst/>
          </a:prstGeom>
          <a:solidFill>
            <a:srgbClr val="A6304F"/>
          </a:solidFill>
          <a:ln/>
        </p:spPr>
      </p:sp>
      <p:sp>
        <p:nvSpPr>
          <p:cNvPr id="75" name="Text 73"/>
          <p:cNvSpPr/>
          <p:nvPr/>
        </p:nvSpPr>
        <p:spPr>
          <a:xfrm>
            <a:off x="749808" y="2414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Aaj ka panchang + rahu kaal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594360" y="2752344"/>
            <a:ext cx="109728" cy="109728"/>
          </a:xfrm>
          <a:prstGeom prst="ellipse">
            <a:avLst/>
          </a:prstGeom>
          <a:solidFill>
            <a:srgbClr val="A6304F"/>
          </a:solidFill>
          <a:ln/>
        </p:spPr>
      </p:sp>
      <p:sp>
        <p:nvSpPr>
          <p:cNvPr id="77" name="Text 75"/>
          <p:cNvSpPr/>
          <p:nvPr/>
        </p:nvSpPr>
        <p:spPr>
          <a:xfrm>
            <a:off x="749808" y="270662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muhurat (Navratri, Akshay Tritiya...)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94360" y="3044952"/>
            <a:ext cx="109728" cy="109728"/>
          </a:xfrm>
          <a:prstGeom prst="ellipse">
            <a:avLst/>
          </a:prstGeom>
          <a:solidFill>
            <a:srgbClr val="A6304F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Sanskrit shloka + 1-line Hindi meaning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548640" y="3337560"/>
            <a:ext cx="3566160" cy="5943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40080" y="33832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CONVERTS: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40080" y="3584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habit. High save rate. Targets Hindi-belt 35-65 buyer.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4297680" y="1691640"/>
            <a:ext cx="37490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297680" y="1691640"/>
            <a:ext cx="3749040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5" name="Text 83"/>
          <p:cNvSpPr/>
          <p:nvPr/>
        </p:nvSpPr>
        <p:spPr>
          <a:xfrm>
            <a:off x="429768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IDENTITY &amp; VIRAL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4434840" y="2167128"/>
            <a:ext cx="109728" cy="10972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87" name="Text 85"/>
          <p:cNvSpPr/>
          <p:nvPr/>
        </p:nvSpPr>
        <p:spPr>
          <a:xfrm>
            <a:off x="4590288" y="21214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Partner-birthdate hook (our 8.5K-view formula)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434840" y="2459736"/>
            <a:ext cx="109728" cy="10972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89" name="Text 87"/>
          <p:cNvSpPr/>
          <p:nvPr/>
        </p:nvSpPr>
        <p:spPr>
          <a:xfrm>
            <a:off x="4590288" y="2414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Mulank × planet × emotion combos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434840" y="2752344"/>
            <a:ext cx="109728" cy="10972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91" name="Text 89"/>
          <p:cNvSpPr/>
          <p:nvPr/>
        </p:nvSpPr>
        <p:spPr>
          <a:xfrm>
            <a:off x="4590288" y="270662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'Aap Mulank 5 ho toh yeh problem aati hai...'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434840" y="3044952"/>
            <a:ext cx="109728" cy="109728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93" name="Text 91"/>
          <p:cNvSpPr/>
          <p:nvPr/>
        </p:nvSpPr>
        <p:spPr>
          <a:xfrm>
            <a:off x="4590288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share-cards (2 dates → match %)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389120" y="3337560"/>
            <a:ext cx="3566160" cy="5943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480560" y="33832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CONVERTS: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4480560" y="3584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Explore-page fuel. Drives 18-34 followers + family share.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8138160" y="1691640"/>
            <a:ext cx="37490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138160" y="1691640"/>
            <a:ext cx="3749040" cy="36576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99" name="Text 97"/>
          <p:cNvSpPr/>
          <p:nvPr/>
        </p:nvSpPr>
        <p:spPr>
          <a:xfrm>
            <a:off x="81381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EDUCATION &amp; AUTHORITY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8275320" y="2167128"/>
            <a:ext cx="109728" cy="109728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101" name="Text 99"/>
          <p:cNvSpPr/>
          <p:nvPr/>
        </p:nvSpPr>
        <p:spPr>
          <a:xfrm>
            <a:off x="8430768" y="21214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'Saturn vakri kya hota hai?' explainer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8275320" y="2459736"/>
            <a:ext cx="109728" cy="109728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103" name="Text 101"/>
          <p:cNvSpPr/>
          <p:nvPr/>
        </p:nvSpPr>
        <p:spPr>
          <a:xfrm>
            <a:off x="8430768" y="2414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 chart reading tutorial (carousel)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8275320" y="2752344"/>
            <a:ext cx="109728" cy="109728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105" name="Text 103"/>
          <p:cNvSpPr/>
          <p:nvPr/>
        </p:nvSpPr>
        <p:spPr>
          <a:xfrm>
            <a:off x="8430768" y="270662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myths debunked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8275320" y="3044952"/>
            <a:ext cx="109728" cy="109728"/>
          </a:xfrm>
          <a:prstGeom prst="ellipse">
            <a:avLst/>
          </a:prstGeom>
          <a:solidFill>
            <a:srgbClr val="C77E17"/>
          </a:solidFill>
          <a:ln/>
        </p:spPr>
      </p:sp>
      <p:sp>
        <p:nvSpPr>
          <p:cNvPr id="107" name="Text 105"/>
          <p:cNvSpPr/>
          <p:nvPr/>
        </p:nvSpPr>
        <p:spPr>
          <a:xfrm>
            <a:off x="8430768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'Why I trust Vedic over Western'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8229600" y="3337560"/>
            <a:ext cx="3566160" cy="59436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321040" y="33832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CONVERTS: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8321040" y="3584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brand. Drives shares to family WhatsApp groups.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320040" y="4160520"/>
            <a:ext cx="3840480" cy="23317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356616" y="4197096"/>
            <a:ext cx="37673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3" name="Text 111"/>
          <p:cNvSpPr/>
          <p:nvPr/>
        </p:nvSpPr>
        <p:spPr>
          <a:xfrm>
            <a:off x="356616" y="4197096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SCHEDULE  ·  24 HOURS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457200" y="4526280"/>
            <a:ext cx="868680" cy="25603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15" name="Text 113"/>
          <p:cNvSpPr/>
          <p:nvPr/>
        </p:nvSpPr>
        <p:spPr>
          <a:xfrm>
            <a:off x="457200" y="45262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05:00 AM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1417320" y="454456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Panchang carousel</a:t>
            </a:r>
            <a:endParaRPr lang="en-US" sz="800" dirty="0"/>
          </a:p>
        </p:txBody>
      </p:sp>
      <p:sp>
        <p:nvSpPr>
          <p:cNvPr id="117" name="Text 115"/>
          <p:cNvSpPr/>
          <p:nvPr/>
        </p:nvSpPr>
        <p:spPr>
          <a:xfrm>
            <a:off x="3200400" y="454456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457200" y="4818888"/>
            <a:ext cx="868680" cy="25603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19" name="Text 117"/>
          <p:cNvSpPr/>
          <p:nvPr/>
        </p:nvSpPr>
        <p:spPr>
          <a:xfrm>
            <a:off x="457200" y="48188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07:30 AM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1417320" y="48371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rashifal Reel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3200400" y="483717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saath + drishti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457200" y="5111496"/>
            <a:ext cx="868680" cy="256032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3" name="Text 121"/>
          <p:cNvSpPr/>
          <p:nvPr/>
        </p:nvSpPr>
        <p:spPr>
          <a:xfrm>
            <a:off x="457200" y="511149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12:30 PM</a:t>
            </a:r>
            <a:endParaRPr lang="en-US" sz="850" dirty="0"/>
          </a:p>
        </p:txBody>
      </p:sp>
      <p:sp>
        <p:nvSpPr>
          <p:cNvPr id="124" name="Text 122"/>
          <p:cNvSpPr/>
          <p:nvPr/>
        </p:nvSpPr>
        <p:spPr>
          <a:xfrm>
            <a:off x="1417320" y="5129784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hook Reel #1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3200400" y="5129784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rashitattva</a:t>
            </a:r>
            <a:endParaRPr lang="en-US" sz="700" dirty="0"/>
          </a:p>
        </p:txBody>
      </p:sp>
      <p:sp>
        <p:nvSpPr>
          <p:cNvPr id="126" name="Shape 124"/>
          <p:cNvSpPr/>
          <p:nvPr/>
        </p:nvSpPr>
        <p:spPr>
          <a:xfrm>
            <a:off x="457200" y="5404104"/>
            <a:ext cx="868680" cy="25603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27" name="Text 125"/>
          <p:cNvSpPr/>
          <p:nvPr/>
        </p:nvSpPr>
        <p:spPr>
          <a:xfrm>
            <a:off x="457200" y="540410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04:00 PM</a:t>
            </a:r>
            <a:endParaRPr lang="en-US" sz="850" dirty="0"/>
          </a:p>
        </p:txBody>
      </p:sp>
      <p:sp>
        <p:nvSpPr>
          <p:cNvPr id="128" name="Text 126"/>
          <p:cNvSpPr/>
          <p:nvPr/>
        </p:nvSpPr>
        <p:spPr>
          <a:xfrm>
            <a:off x="1417320" y="5422392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compat Reel</a:t>
            </a:r>
            <a:endParaRPr lang="en-US" sz="800" dirty="0"/>
          </a:p>
        </p:txBody>
      </p:sp>
      <p:sp>
        <p:nvSpPr>
          <p:cNvPr id="129" name="Text 127"/>
          <p:cNvSpPr/>
          <p:nvPr/>
        </p:nvSpPr>
        <p:spPr>
          <a:xfrm>
            <a:off x="3200400" y="542239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</a:t>
            </a:r>
            <a:endParaRPr lang="en-US" sz="700" dirty="0"/>
          </a:p>
        </p:txBody>
      </p:sp>
      <p:sp>
        <p:nvSpPr>
          <p:cNvPr id="130" name="Shape 128"/>
          <p:cNvSpPr/>
          <p:nvPr/>
        </p:nvSpPr>
        <p:spPr>
          <a:xfrm>
            <a:off x="457200" y="5696712"/>
            <a:ext cx="868680" cy="25603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31" name="Text 129"/>
          <p:cNvSpPr/>
          <p:nvPr/>
        </p:nvSpPr>
        <p:spPr>
          <a:xfrm>
            <a:off x="457200" y="569671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07:00 PM</a:t>
            </a:r>
            <a:endParaRPr lang="en-US" sz="850" dirty="0"/>
          </a:p>
        </p:txBody>
      </p:sp>
      <p:sp>
        <p:nvSpPr>
          <p:cNvPr id="132" name="Text 130"/>
          <p:cNvSpPr/>
          <p:nvPr/>
        </p:nvSpPr>
        <p:spPr>
          <a:xfrm>
            <a:off x="1417320" y="57150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Trending audio Reel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3200400" y="571500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saath + astro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457200" y="5989320"/>
            <a:ext cx="868680" cy="256032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5" name="Text 133"/>
          <p:cNvSpPr/>
          <p:nvPr/>
        </p:nvSpPr>
        <p:spPr>
          <a:xfrm>
            <a:off x="457200" y="59893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PM</a:t>
            </a:r>
            <a:endParaRPr lang="en-US" sz="850" dirty="0"/>
          </a:p>
        </p:txBody>
      </p:sp>
      <p:sp>
        <p:nvSpPr>
          <p:cNvPr id="136" name="Text 134"/>
          <p:cNvSpPr/>
          <p:nvPr/>
        </p:nvSpPr>
        <p:spPr>
          <a:xfrm>
            <a:off x="1417320" y="60076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carousel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3200400" y="600760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drishtiastro</a:t>
            </a:r>
            <a:endParaRPr lang="en-US" sz="700" dirty="0"/>
          </a:p>
        </p:txBody>
      </p:sp>
      <p:sp>
        <p:nvSpPr>
          <p:cNvPr id="138" name="Text 136"/>
          <p:cNvSpPr/>
          <p:nvPr/>
        </p:nvSpPr>
        <p:spPr>
          <a:xfrm>
            <a:off x="457200" y="632764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~22 Reels + 8 carousels weekly · auto-scheduled via Buffer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4297680" y="4160520"/>
            <a:ext cx="3794760" cy="23317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40" name="Shape 138"/>
          <p:cNvSpPr/>
          <p:nvPr/>
        </p:nvSpPr>
        <p:spPr>
          <a:xfrm>
            <a:off x="4334256" y="4197096"/>
            <a:ext cx="37216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41" name="Text 139"/>
          <p:cNvSpPr/>
          <p:nvPr/>
        </p:nvSpPr>
        <p:spPr>
          <a:xfrm>
            <a:off x="4334256" y="4197096"/>
            <a:ext cx="3721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TAXONOMY  ·  COPY-PASTE TEMPLATES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4434840" y="4526280"/>
            <a:ext cx="35204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526280" y="454456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Partner-Birthdate (HERO)</a:t>
            </a:r>
            <a:endParaRPr lang="en-US" sz="750" dirty="0"/>
          </a:p>
        </p:txBody>
      </p:sp>
      <p:sp>
        <p:nvSpPr>
          <p:cNvPr id="144" name="Text 142"/>
          <p:cNvSpPr/>
          <p:nvPr/>
        </p:nvSpPr>
        <p:spPr>
          <a:xfrm>
            <a:off x="6537960" y="454456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8.5K views (proven)</a:t>
            </a:r>
            <a:endParaRPr lang="en-US" sz="650" dirty="0"/>
          </a:p>
        </p:txBody>
      </p:sp>
      <p:sp>
        <p:nvSpPr>
          <p:cNvPr id="145" name="Text 143"/>
          <p:cNvSpPr/>
          <p:nvPr/>
        </p:nvSpPr>
        <p:spPr>
          <a:xfrm>
            <a:off x="4526280" y="469087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"Aapke partner ka janam X taarikh ko hua hai? Toh yeh planet inhe..."</a:t>
            </a:r>
            <a:endParaRPr lang="en-US" sz="700" dirty="0"/>
          </a:p>
        </p:txBody>
      </p:sp>
      <p:sp>
        <p:nvSpPr>
          <p:cNvPr id="146" name="Shape 144"/>
          <p:cNvSpPr/>
          <p:nvPr/>
        </p:nvSpPr>
        <p:spPr>
          <a:xfrm>
            <a:off x="4434840" y="4892040"/>
            <a:ext cx="35204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526280" y="49103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Mulank Identity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6537960" y="491032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on @astrosaadhan</a:t>
            </a:r>
            <a:endParaRPr lang="en-US" sz="650" dirty="0"/>
          </a:p>
        </p:txBody>
      </p:sp>
      <p:sp>
        <p:nvSpPr>
          <p:cNvPr id="149" name="Text 147"/>
          <p:cNvSpPr/>
          <p:nvPr/>
        </p:nvSpPr>
        <p:spPr>
          <a:xfrm>
            <a:off x="4526280" y="505663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"Sab Mulank 4 ek jaise nahi hote. Agar tum 13 ko born ho toh..."</a:t>
            </a:r>
            <a:endParaRPr lang="en-US" sz="700" dirty="0"/>
          </a:p>
        </p:txBody>
      </p:sp>
      <p:sp>
        <p:nvSpPr>
          <p:cNvPr id="150" name="Shape 148"/>
          <p:cNvSpPr/>
          <p:nvPr/>
        </p:nvSpPr>
        <p:spPr>
          <a:xfrm>
            <a:off x="4434840" y="5257800"/>
            <a:ext cx="35204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526280" y="527608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1×1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6537960" y="527608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Share-card potential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526280" y="542239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"Mulank 1 + Mulank 6 = (insert outcome). Yeh emotional combination ka..."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4434840" y="5623560"/>
            <a:ext cx="35204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526280" y="564184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 Vakri Alert</a:t>
            </a:r>
            <a:endParaRPr lang="en-US" sz="750" dirty="0"/>
          </a:p>
        </p:txBody>
      </p:sp>
      <p:sp>
        <p:nvSpPr>
          <p:cNvPr id="156" name="Text 154"/>
          <p:cNvSpPr/>
          <p:nvPr/>
        </p:nvSpPr>
        <p:spPr>
          <a:xfrm>
            <a:off x="6537960" y="56418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Time-bound urgency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4526280" y="57881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"Saturn vakri ho gaya. Inn 3 raashi walon ka khelega zyada..."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4434840" y="5989320"/>
            <a:ext cx="35204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526280" y="600760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Numerology Decision Hook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6537960" y="600760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&gt; 50%</a:t>
            </a:r>
            <a:endParaRPr lang="en-US" sz="650" dirty="0"/>
          </a:p>
        </p:txBody>
      </p:sp>
      <p:sp>
        <p:nvSpPr>
          <p:cNvPr id="161" name="Text 159"/>
          <p:cNvSpPr/>
          <p:nvPr/>
        </p:nvSpPr>
        <p:spPr>
          <a:xfrm>
            <a:off x="4526280" y="615391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"Yeh date pe shaadi mat karna agar tumhara Mulank ___ hai..."</a:t>
            </a:r>
            <a:endParaRPr lang="en-US" sz="700" dirty="0"/>
          </a:p>
        </p:txBody>
      </p:sp>
      <p:sp>
        <p:nvSpPr>
          <p:cNvPr id="162" name="Text 160"/>
          <p:cNvSpPr/>
          <p:nvPr/>
        </p:nvSpPr>
        <p:spPr>
          <a:xfrm>
            <a:off x="4434840" y="6327648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hook ≤ 1.2 sec to first emotional beat — IG algo decides distribution there</a:t>
            </a:r>
            <a:endParaRPr lang="en-US" sz="750" dirty="0"/>
          </a:p>
        </p:txBody>
      </p:sp>
      <p:sp>
        <p:nvSpPr>
          <p:cNvPr id="163" name="Shape 161"/>
          <p:cNvSpPr/>
          <p:nvPr/>
        </p:nvSpPr>
        <p:spPr>
          <a:xfrm>
            <a:off x="8229600" y="4160520"/>
            <a:ext cx="3657600" cy="23317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64" name="Shape 162"/>
          <p:cNvSpPr/>
          <p:nvPr/>
        </p:nvSpPr>
        <p:spPr>
          <a:xfrm>
            <a:off x="8266176" y="4197096"/>
            <a:ext cx="358444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65" name="Text 163"/>
          <p:cNvSpPr/>
          <p:nvPr/>
        </p:nvSpPr>
        <p:spPr>
          <a:xfrm>
            <a:off x="8266176" y="419709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CROSS-HANDLE PROMOTION MAP</a:t>
            </a:r>
            <a:endParaRPr lang="en-US" sz="1200" dirty="0"/>
          </a:p>
        </p:txBody>
      </p:sp>
      <p:sp>
        <p:nvSpPr>
          <p:cNvPr id="166" name="Shape 164"/>
          <p:cNvSpPr/>
          <p:nvPr/>
        </p:nvSpPr>
        <p:spPr>
          <a:xfrm>
            <a:off x="9601200" y="4526280"/>
            <a:ext cx="914400" cy="914400"/>
          </a:xfrm>
          <a:prstGeom prst="ellipse">
            <a:avLst/>
          </a:prstGeom>
          <a:solidFill>
            <a:srgbClr val="D63D58"/>
          </a:solidFill>
          <a:ln w="25400">
            <a:solidFill>
              <a:srgbClr val="A6304F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9601200" y="4526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</a:t>
            </a:r>
            <a:endParaRPr lang="en-US" sz="900" dirty="0"/>
          </a:p>
        </p:txBody>
      </p:sp>
      <p:sp>
        <p:nvSpPr>
          <p:cNvPr id="168" name="Shape 166"/>
          <p:cNvSpPr/>
          <p:nvPr/>
        </p:nvSpPr>
        <p:spPr>
          <a:xfrm>
            <a:off x="8412480" y="5669280"/>
            <a:ext cx="73152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304F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8412480" y="5669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@drishti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8778240" y="5669280"/>
            <a:ext cx="1280160" cy="-685800"/>
          </a:xfrm>
          <a:prstGeom prst="line">
            <a:avLst/>
          </a:prstGeom>
          <a:noFill/>
          <a:ln w="12700">
            <a:solidFill>
              <a:srgbClr val="D63D58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9601200" y="6126480"/>
            <a:ext cx="73152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304F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9601200" y="6126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@rashi</a:t>
            </a:r>
            <a:endParaRPr lang="en-US" sz="700" dirty="0"/>
          </a:p>
        </p:txBody>
      </p:sp>
      <p:sp>
        <p:nvSpPr>
          <p:cNvPr id="173" name="Shape 171"/>
          <p:cNvSpPr/>
          <p:nvPr/>
        </p:nvSpPr>
        <p:spPr>
          <a:xfrm>
            <a:off x="9966960" y="6126480"/>
            <a:ext cx="91440" cy="-1143000"/>
          </a:xfrm>
          <a:prstGeom prst="line">
            <a:avLst/>
          </a:prstGeom>
          <a:noFill/>
          <a:ln w="12700">
            <a:solidFill>
              <a:srgbClr val="D63D58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10789920" y="5669280"/>
            <a:ext cx="73152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304F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789920" y="5669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@astro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11155680" y="5669280"/>
            <a:ext cx="-1097280" cy="-685800"/>
          </a:xfrm>
          <a:prstGeom prst="line">
            <a:avLst/>
          </a:prstGeom>
          <a:noFill/>
          <a:ln w="12700">
            <a:solidFill>
              <a:srgbClr val="D63D58"/>
            </a:solidFill>
            <a:prstDash val="solid"/>
            <a:tailEnd type="triangle"/>
          </a:ln>
        </p:spPr>
      </p:sp>
      <p:sp>
        <p:nvSpPr>
          <p:cNvPr id="177" name="Text 175"/>
          <p:cNvSpPr/>
          <p:nvPr/>
        </p:nvSpPr>
        <p:spPr>
          <a:xfrm>
            <a:off x="8366760" y="632764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handle = trust transfer engine.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MONETIZATION &amp; CRO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20040" y="713232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₹199 SINGLE SKU TO ₹49→₹2,499 LADDER + LANDING-PAGE FIXES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12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47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93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28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340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352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75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387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398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410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422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445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57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469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480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492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504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515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527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62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585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97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620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632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644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655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667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679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690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9702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714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726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737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749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61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772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784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796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7807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819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831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3842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5854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7866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9877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21889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9 / 10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80160"/>
            <a:ext cx="11567160" cy="233172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316736"/>
            <a:ext cx="114940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316736"/>
            <a:ext cx="11494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LADDER  ·  GROW BUYER FROM ₹49 TO ₹2,499 OVER 12 MONTHS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57200" y="1764792"/>
            <a:ext cx="1828800" cy="1783080"/>
          </a:xfrm>
          <a:prstGeom prst="rect">
            <a:avLst/>
          </a:prstGeom>
          <a:solidFill>
            <a:srgbClr val="FBE0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57200" y="1764792"/>
            <a:ext cx="1828800" cy="4114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1" name="Text 69"/>
          <p:cNvSpPr/>
          <p:nvPr/>
        </p:nvSpPr>
        <p:spPr>
          <a:xfrm>
            <a:off x="457200" y="17647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0292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1F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</a:t>
            </a:r>
            <a:endParaRPr lang="en-US" sz="2200" dirty="0"/>
          </a:p>
        </p:txBody>
      </p:sp>
      <p:sp>
        <p:nvSpPr>
          <p:cNvPr id="73" name="Text 71"/>
          <p:cNvSpPr/>
          <p:nvPr/>
        </p:nvSpPr>
        <p:spPr>
          <a:xfrm>
            <a:off x="530352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Mini-kundli + 1 daily WA push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530352" y="3246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Lead magnet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2350008" y="1764792"/>
            <a:ext cx="1828800" cy="1783080"/>
          </a:xfrm>
          <a:prstGeom prst="rect">
            <a:avLst/>
          </a:prstGeom>
          <a:solidFill>
            <a:srgbClr val="FFDFE3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350008" y="1764792"/>
            <a:ext cx="1828800" cy="41148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7" name="Text 75"/>
          <p:cNvSpPr/>
          <p:nvPr/>
        </p:nvSpPr>
        <p:spPr>
          <a:xfrm>
            <a:off x="2350008" y="17647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PANCHANG SUB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2395728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1F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₹49/mo</a:t>
            </a:r>
            <a:endParaRPr lang="en-US" sz="2200" dirty="0"/>
          </a:p>
        </p:txBody>
      </p:sp>
      <p:sp>
        <p:nvSpPr>
          <p:cNvPr id="79" name="Text 77"/>
          <p:cNvSpPr/>
          <p:nvPr/>
        </p:nvSpPr>
        <p:spPr>
          <a:xfrm>
            <a:off x="242316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WA panchang + tithi alerts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2423160" y="3246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Habit + upsell pool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4242816" y="1764792"/>
            <a:ext cx="1828800" cy="1783080"/>
          </a:xfrm>
          <a:prstGeom prst="rect">
            <a:avLst/>
          </a:prstGeom>
          <a:solidFill>
            <a:srgbClr val="D63D58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242816" y="1764792"/>
            <a:ext cx="18288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Text 81"/>
          <p:cNvSpPr/>
          <p:nvPr/>
        </p:nvSpPr>
        <p:spPr>
          <a:xfrm>
            <a:off x="4242816" y="17647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KUNDLI PDF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4288536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₹199</a:t>
            </a:r>
            <a:endParaRPr lang="en-US" sz="2200" dirty="0"/>
          </a:p>
        </p:txBody>
      </p:sp>
      <p:sp>
        <p:nvSpPr>
          <p:cNvPr id="85" name="Text 83"/>
          <p:cNvSpPr/>
          <p:nvPr/>
        </p:nvSpPr>
        <p:spPr>
          <a:xfrm>
            <a:off x="4315968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11-page Vedic PDF (live SKU)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4315968" y="3246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Already monetising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135624" y="1764792"/>
            <a:ext cx="1828800" cy="1783080"/>
          </a:xfrm>
          <a:prstGeom prst="rect">
            <a:avLst/>
          </a:prstGeom>
          <a:solidFill>
            <a:srgbClr val="A6304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135624" y="1764792"/>
            <a:ext cx="18288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/>
          <p:nvPr/>
        </p:nvSpPr>
        <p:spPr>
          <a:xfrm>
            <a:off x="6135624" y="17647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+ CHAT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6181344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₹499</a:t>
            </a:r>
            <a:endParaRPr lang="en-US" sz="2200" dirty="0"/>
          </a:p>
        </p:txBody>
      </p:sp>
      <p:sp>
        <p:nvSpPr>
          <p:cNvPr id="91" name="Text 89"/>
          <p:cNvSpPr/>
          <p:nvPr/>
        </p:nvSpPr>
        <p:spPr>
          <a:xfrm>
            <a:off x="6208776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PDF + 15-min astrologer chat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208776" y="3246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Live SKU on astrorajni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8028432" y="1764792"/>
            <a:ext cx="1828800" cy="1783080"/>
          </a:xfrm>
          <a:prstGeom prst="rect">
            <a:avLst/>
          </a:prstGeom>
          <a:solidFill>
            <a:srgbClr val="A6304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028432" y="1764792"/>
            <a:ext cx="18288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Text 93"/>
          <p:cNvSpPr/>
          <p:nvPr/>
        </p:nvSpPr>
        <p:spPr>
          <a:xfrm>
            <a:off x="8028432" y="17647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8074152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₹1,499</a:t>
            </a:r>
            <a:endParaRPr lang="en-US" sz="2200" dirty="0"/>
          </a:p>
        </p:txBody>
      </p:sp>
      <p:sp>
        <p:nvSpPr>
          <p:cNvPr id="97" name="Text 95"/>
          <p:cNvSpPr/>
          <p:nvPr/>
        </p:nvSpPr>
        <p:spPr>
          <a:xfrm>
            <a:off x="8101584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40-page + remedy + AI consult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8101584" y="3246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Mid-funnel hero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9921240" y="1764792"/>
            <a:ext cx="1828800" cy="1783080"/>
          </a:xfrm>
          <a:prstGeom prst="rect">
            <a:avLst/>
          </a:prstGeom>
          <a:solidFill>
            <a:srgbClr val="C77E17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921240" y="1764792"/>
            <a:ext cx="18288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Text 99"/>
          <p:cNvSpPr/>
          <p:nvPr/>
        </p:nvSpPr>
        <p:spPr>
          <a:xfrm>
            <a:off x="9921240" y="17647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CONSULT</a:t>
            </a:r>
            <a:endParaRPr lang="en-US" sz="900" dirty="0"/>
          </a:p>
        </p:txBody>
      </p:sp>
      <p:sp>
        <p:nvSpPr>
          <p:cNvPr id="102" name="Text 100"/>
          <p:cNvSpPr/>
          <p:nvPr/>
        </p:nvSpPr>
        <p:spPr>
          <a:xfrm>
            <a:off x="996696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₹2,499</a:t>
            </a:r>
            <a:endParaRPr lang="en-US" sz="2200" dirty="0"/>
          </a:p>
        </p:txBody>
      </p:sp>
      <p:sp>
        <p:nvSpPr>
          <p:cNvPr id="103" name="Text 101"/>
          <p:cNvSpPr/>
          <p:nvPr/>
        </p:nvSpPr>
        <p:spPr>
          <a:xfrm>
            <a:off x="9994392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pandit + recorded call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9994392" y="3246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Premium tier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20040" y="3749040"/>
            <a:ext cx="589788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>
            <a:off x="356616" y="3785616"/>
            <a:ext cx="582472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07" name="Text 105"/>
          <p:cNvSpPr/>
          <p:nvPr/>
        </p:nvSpPr>
        <p:spPr>
          <a:xfrm>
            <a:off x="356616" y="3785616"/>
            <a:ext cx="5824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ALTERNATIVE REVENUE STREAMS BEYOND ₹199 PDF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457200" y="4224528"/>
            <a:ext cx="2788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30352" y="422452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1800" dirty="0"/>
          </a:p>
        </p:txBody>
      </p:sp>
      <p:sp>
        <p:nvSpPr>
          <p:cNvPr id="110" name="Text 108"/>
          <p:cNvSpPr/>
          <p:nvPr/>
        </p:nvSpPr>
        <p:spPr>
          <a:xfrm>
            <a:off x="960120" y="42428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Panchang Subscription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960120" y="44805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₹49/mo recurring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3337560" y="4224528"/>
            <a:ext cx="2788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10712" y="422452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💎</a:t>
            </a:r>
            <a:endParaRPr lang="en-US" sz="1800" dirty="0"/>
          </a:p>
        </p:txBody>
      </p:sp>
      <p:sp>
        <p:nvSpPr>
          <p:cNvPr id="114" name="Text 112"/>
          <p:cNvSpPr/>
          <p:nvPr/>
        </p:nvSpPr>
        <p:spPr>
          <a:xfrm>
            <a:off x="3840480" y="42428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Gemstone E-commerce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3840480" y="44805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15-25% margin (dropship)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457200" y="4773168"/>
            <a:ext cx="2788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0352" y="477316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800" dirty="0"/>
          </a:p>
        </p:txBody>
      </p:sp>
      <p:sp>
        <p:nvSpPr>
          <p:cNvPr id="118" name="Text 116"/>
          <p:cNvSpPr/>
          <p:nvPr/>
        </p:nvSpPr>
        <p:spPr>
          <a:xfrm>
            <a:off x="960120" y="47914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Numerology Course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960120" y="50292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₹1,999 self-paced WA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3337560" y="4773168"/>
            <a:ext cx="2788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410712" y="477316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1800" dirty="0"/>
          </a:p>
        </p:txBody>
      </p:sp>
      <p:sp>
        <p:nvSpPr>
          <p:cNvPr id="122" name="Text 120"/>
          <p:cNvSpPr/>
          <p:nvPr/>
        </p:nvSpPr>
        <p:spPr>
          <a:xfrm>
            <a:off x="3840480" y="47914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Horoscope License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3840480" y="50292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₹15K-₹50K/mo per outlet</a:t>
            </a:r>
            <a:endParaRPr lang="en-US" sz="750" dirty="0"/>
          </a:p>
        </p:txBody>
      </p:sp>
      <p:sp>
        <p:nvSpPr>
          <p:cNvPr id="124" name="Shape 122"/>
          <p:cNvSpPr/>
          <p:nvPr/>
        </p:nvSpPr>
        <p:spPr>
          <a:xfrm>
            <a:off x="457200" y="5321808"/>
            <a:ext cx="2788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30352" y="532180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🎪</a:t>
            </a:r>
            <a:endParaRPr lang="en-US" sz="1800" dirty="0"/>
          </a:p>
        </p:txBody>
      </p:sp>
      <p:sp>
        <p:nvSpPr>
          <p:cNvPr id="126" name="Text 124"/>
          <p:cNvSpPr/>
          <p:nvPr/>
        </p:nvSpPr>
        <p:spPr>
          <a:xfrm>
            <a:off x="960120" y="534009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Pooja Booking</a:t>
            </a:r>
            <a:endParaRPr lang="en-US" sz="900" dirty="0"/>
          </a:p>
        </p:txBody>
      </p:sp>
      <p:sp>
        <p:nvSpPr>
          <p:cNvPr id="127" name="Text 125"/>
          <p:cNvSpPr/>
          <p:nvPr/>
        </p:nvSpPr>
        <p:spPr>
          <a:xfrm>
            <a:off x="960120" y="55778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commission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3337560" y="5321808"/>
            <a:ext cx="2788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3410712" y="532180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1800" dirty="0"/>
          </a:p>
        </p:txBody>
      </p:sp>
      <p:sp>
        <p:nvSpPr>
          <p:cNvPr id="130" name="Text 128"/>
          <p:cNvSpPr/>
          <p:nvPr/>
        </p:nvSpPr>
        <p:spPr>
          <a:xfrm>
            <a:off x="3840480" y="534009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Astrologer Marketplace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3840480" y="55778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platform fee</a:t>
            </a:r>
            <a:endParaRPr lang="en-US" sz="750" dirty="0"/>
          </a:p>
        </p:txBody>
      </p:sp>
      <p:sp>
        <p:nvSpPr>
          <p:cNvPr id="132" name="Shape 130"/>
          <p:cNvSpPr/>
          <p:nvPr/>
        </p:nvSpPr>
        <p:spPr>
          <a:xfrm>
            <a:off x="457200" y="5870448"/>
            <a:ext cx="2788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30352" y="587044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</a:t>
            </a:r>
            <a:endParaRPr lang="en-US" sz="1800" dirty="0"/>
          </a:p>
        </p:txBody>
      </p:sp>
      <p:sp>
        <p:nvSpPr>
          <p:cNvPr id="134" name="Text 132"/>
          <p:cNvSpPr/>
          <p:nvPr/>
        </p:nvSpPr>
        <p:spPr>
          <a:xfrm>
            <a:off x="960120" y="58887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Gift Kits (Diwali)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96012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₹799-₹2,499 AOV</a:t>
            </a:r>
            <a:endParaRPr lang="en-US" sz="750" dirty="0"/>
          </a:p>
        </p:txBody>
      </p:sp>
      <p:sp>
        <p:nvSpPr>
          <p:cNvPr id="136" name="Shape 134"/>
          <p:cNvSpPr/>
          <p:nvPr/>
        </p:nvSpPr>
        <p:spPr>
          <a:xfrm>
            <a:off x="3337560" y="5870448"/>
            <a:ext cx="2788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410712" y="587044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📺</a:t>
            </a:r>
            <a:endParaRPr lang="en-US" sz="1800" dirty="0"/>
          </a:p>
        </p:txBody>
      </p:sp>
      <p:sp>
        <p:nvSpPr>
          <p:cNvPr id="138" name="Text 136"/>
          <p:cNvSpPr/>
          <p:nvPr/>
        </p:nvSpPr>
        <p:spPr>
          <a:xfrm>
            <a:off x="3840480" y="58887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+ Brand Sponsor</a:t>
            </a:r>
            <a:endParaRPr lang="en-US" sz="900" dirty="0"/>
          </a:p>
        </p:txBody>
      </p:sp>
      <p:sp>
        <p:nvSpPr>
          <p:cNvPr id="139" name="Text 137"/>
          <p:cNvSpPr/>
          <p:nvPr/>
        </p:nvSpPr>
        <p:spPr>
          <a:xfrm>
            <a:off x="384048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Adsense + ₹50K-₹2L per video</a:t>
            </a:r>
            <a:endParaRPr lang="en-US" sz="750" dirty="0"/>
          </a:p>
        </p:txBody>
      </p:sp>
      <p:sp>
        <p:nvSpPr>
          <p:cNvPr id="140" name="Shape 138"/>
          <p:cNvSpPr/>
          <p:nvPr/>
        </p:nvSpPr>
        <p:spPr>
          <a:xfrm>
            <a:off x="6355080" y="3749040"/>
            <a:ext cx="5532120" cy="274320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>
            <a:off x="6391656" y="3785616"/>
            <a:ext cx="545896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42" name="Text 140"/>
          <p:cNvSpPr/>
          <p:nvPr/>
        </p:nvSpPr>
        <p:spPr>
          <a:xfrm>
            <a:off x="6391656" y="3785616"/>
            <a:ext cx="5458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CRO  ·  REAL AUDIT OF YOUR TWO LIVE PAGES</a:t>
            </a:r>
            <a:endParaRPr lang="en-US" sz="1200" dirty="0"/>
          </a:p>
        </p:txBody>
      </p:sp>
      <p:sp>
        <p:nvSpPr>
          <p:cNvPr id="143" name="Text 141"/>
          <p:cNvSpPr/>
          <p:nvPr/>
        </p:nvSpPr>
        <p:spPr>
          <a:xfrm>
            <a:off x="6492240" y="4206240"/>
            <a:ext cx="5349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audited: astrokalpana.bhagvatgitadaily.com  +  astrorajni.bhagvatgitadaily.com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6492240" y="448056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WORKING (KEEP)</a:t>
            </a:r>
            <a:endParaRPr lang="en-US" sz="900" dirty="0"/>
          </a:p>
        </p:txBody>
      </p:sp>
      <p:sp>
        <p:nvSpPr>
          <p:cNvPr id="145" name="Text 143"/>
          <p:cNvSpPr/>
          <p:nvPr/>
        </p:nvSpPr>
        <p:spPr>
          <a:xfrm>
            <a:off x="6492240" y="475488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'52,459+ reports delivered' = strong social proof</a:t>
            </a:r>
            <a:endParaRPr lang="en-US" sz="750" dirty="0"/>
          </a:p>
        </p:txBody>
      </p:sp>
      <p:sp>
        <p:nvSpPr>
          <p:cNvPr id="146" name="Text 144"/>
          <p:cNvSpPr/>
          <p:nvPr/>
        </p:nvSpPr>
        <p:spPr>
          <a:xfrm>
            <a:off x="6492240" y="4946904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Microsoft Clarity already installed = heatmap data ready</a:t>
            </a:r>
            <a:endParaRPr lang="en-US" sz="750" dirty="0"/>
          </a:p>
        </p:txBody>
      </p:sp>
      <p:sp>
        <p:nvSpPr>
          <p:cNvPr id="147" name="Text 145"/>
          <p:cNvSpPr/>
          <p:nvPr/>
        </p:nvSpPr>
        <p:spPr>
          <a:xfrm>
            <a:off x="6492240" y="513892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₹199 + ₹499 ladder live on astrorajni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6492240" y="5330952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24-72hr WhatsApp delivery promise (clear SLA)</a:t>
            </a:r>
            <a:endParaRPr lang="en-US" sz="750" dirty="0"/>
          </a:p>
        </p:txBody>
      </p:sp>
      <p:sp>
        <p:nvSpPr>
          <p:cNvPr id="149" name="Text 147"/>
          <p:cNvSpPr/>
          <p:nvPr/>
        </p:nvSpPr>
        <p:spPr>
          <a:xfrm>
            <a:off x="6492240" y="55229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Next.js + Tailwind = fast load, mobile-first</a:t>
            </a:r>
            <a:endParaRPr lang="en-US" sz="750" dirty="0"/>
          </a:p>
        </p:txBody>
      </p:sp>
      <p:sp>
        <p:nvSpPr>
          <p:cNvPr id="150" name="Text 148"/>
          <p:cNvSpPr/>
          <p:nvPr/>
        </p:nvSpPr>
        <p:spPr>
          <a:xfrm>
            <a:off x="6492240" y="571500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Hinglish copy matches buyer's reading mode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9189720" y="44805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(P0/P1)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9189720" y="4773168"/>
            <a:ext cx="274320" cy="16459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53" name="Text 151"/>
          <p:cNvSpPr/>
          <p:nvPr/>
        </p:nvSpPr>
        <p:spPr>
          <a:xfrm>
            <a:off x="9189720" y="4773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9509760" y="475488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+ scarcity (live)</a:t>
            </a: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9189720" y="4965192"/>
            <a:ext cx="274320" cy="16459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56" name="Text 154"/>
          <p:cNvSpPr/>
          <p:nvPr/>
        </p:nvSpPr>
        <p:spPr>
          <a:xfrm>
            <a:off x="9189720" y="496519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9509760" y="49469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video testimonials above fold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9189720" y="5157216"/>
            <a:ext cx="274320" cy="16459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59" name="Text 157"/>
          <p:cNvSpPr/>
          <p:nvPr/>
        </p:nvSpPr>
        <p:spPr>
          <a:xfrm>
            <a:off x="9189720" y="515721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9509760" y="513892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Money-back guarantee badge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189720" y="5349240"/>
            <a:ext cx="274320" cy="16459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62" name="Text 160"/>
          <p:cNvSpPr/>
          <p:nvPr/>
        </p:nvSpPr>
        <p:spPr>
          <a:xfrm>
            <a:off x="9189720" y="53492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9509760" y="533095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mini-kundli lead magnet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189720" y="5541264"/>
            <a:ext cx="274320" cy="16459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65" name="Text 163"/>
          <p:cNvSpPr/>
          <p:nvPr/>
        </p:nvSpPr>
        <p:spPr>
          <a:xfrm>
            <a:off x="9189720" y="554126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9509760" y="55229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'Order via DM' CTA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9189720" y="5733288"/>
            <a:ext cx="274320" cy="16459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68" name="Text 166"/>
          <p:cNvSpPr/>
          <p:nvPr/>
        </p:nvSpPr>
        <p:spPr>
          <a:xfrm>
            <a:off x="9189720" y="573328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509760" y="571500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Intent + Simpl BNPL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9189720" y="5925312"/>
            <a:ext cx="274320" cy="164592"/>
          </a:xfrm>
          <a:prstGeom prst="rect">
            <a:avLst/>
          </a:prstGeom>
          <a:solidFill>
            <a:srgbClr val="8E8084"/>
          </a:solidFill>
          <a:ln/>
        </p:spPr>
      </p:sp>
      <p:sp>
        <p:nvSpPr>
          <p:cNvPr id="171" name="Text 169"/>
          <p:cNvSpPr/>
          <p:nvPr/>
        </p:nvSpPr>
        <p:spPr>
          <a:xfrm>
            <a:off x="9189720" y="592531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509760" y="590702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Pixel + retargeting setup</a:t>
            </a:r>
            <a:endParaRPr lang="en-US" sz="750" dirty="0"/>
          </a:p>
        </p:txBody>
      </p:sp>
      <p:sp>
        <p:nvSpPr>
          <p:cNvPr id="173" name="Shape 171"/>
          <p:cNvSpPr/>
          <p:nvPr/>
        </p:nvSpPr>
        <p:spPr>
          <a:xfrm>
            <a:off x="9189720" y="6117336"/>
            <a:ext cx="274320" cy="164592"/>
          </a:xfrm>
          <a:prstGeom prst="rect">
            <a:avLst/>
          </a:prstGeom>
          <a:solidFill>
            <a:srgbClr val="8E8084"/>
          </a:solidFill>
          <a:ln/>
        </p:spPr>
      </p:sp>
      <p:sp>
        <p:nvSpPr>
          <p:cNvPr id="174" name="Text 172"/>
          <p:cNvSpPr/>
          <p:nvPr/>
        </p:nvSpPr>
        <p:spPr>
          <a:xfrm>
            <a:off x="9189720" y="611733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650" dirty="0"/>
          </a:p>
        </p:txBody>
      </p:sp>
      <p:sp>
        <p:nvSpPr>
          <p:cNvPr id="175" name="Text 173"/>
          <p:cNvSpPr/>
          <p:nvPr/>
        </p:nvSpPr>
        <p:spPr>
          <a:xfrm>
            <a:off x="9509760" y="609904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Astrologer face photo + name above CTA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1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11551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2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&amp; SCOREBOARD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20040" y="713232"/>
            <a:ext cx="11551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PHASED ROADMAP + KPI TARGETS + RISK REGISTER + THE ASK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12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47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93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05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28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340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352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75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387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398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410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422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445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457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469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480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492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504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515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527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62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585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97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6208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6325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6442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6559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6676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6792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6909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97026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7143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7260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7376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7493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610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7727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7844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7960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78077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8194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8311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384280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585448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786616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987784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2188952" y="1069848"/>
            <a:ext cx="109728" cy="22860"/>
          </a:xfrm>
          <a:prstGeom prst="rect">
            <a:avLst/>
          </a:prstGeom>
          <a:solidFill>
            <a:srgbClr val="FAB0BC"/>
          </a:solidFill>
          <a:ln w="12700">
            <a:solidFill>
              <a:srgbClr val="FAB0B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820095" y="65836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 / 10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6583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8E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PORTFOLIO GROWTH STRATEGY  ·  CONFIDENTIAL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1280160"/>
            <a:ext cx="7909560" cy="260604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356616" y="1316736"/>
            <a:ext cx="78364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68" name="Text 66"/>
          <p:cNvSpPr/>
          <p:nvPr/>
        </p:nvSpPr>
        <p:spPr>
          <a:xfrm>
            <a:off x="356616" y="1316736"/>
            <a:ext cx="7836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ROADMAP  ·  FOUNDATION → SCALE → MONETISE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57200" y="1737360"/>
            <a:ext cx="2514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57200" y="1737360"/>
            <a:ext cx="2514600" cy="45720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1" name="Text 69"/>
          <p:cNvSpPr/>
          <p:nvPr/>
        </p:nvSpPr>
        <p:spPr>
          <a:xfrm>
            <a:off x="548640" y="17830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548640" y="20116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1-30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548640" y="2340864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4" name="Text 72"/>
          <p:cNvSpPr/>
          <p:nvPr/>
        </p:nvSpPr>
        <p:spPr>
          <a:xfrm>
            <a:off x="640080" y="22860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@saathsetu cross-promo for 3 dormant handles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548640" y="2542032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24871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AI Reel factory (GPT + ElevenLabs + Canva)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548640" y="2743200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78" name="Text 76"/>
          <p:cNvSpPr/>
          <p:nvPr/>
        </p:nvSpPr>
        <p:spPr>
          <a:xfrm>
            <a:off x="640080" y="26883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5-6 Reel cadence per handle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548640" y="2944368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0" name="Text 78"/>
          <p:cNvSpPr/>
          <p:nvPr/>
        </p:nvSpPr>
        <p:spPr>
          <a:xfrm>
            <a:off x="640080" y="28895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Save-bait carousels (1/day per handle)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548640" y="3145536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30906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WhatsApp panchang subscription (₹49)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548640" y="3346704"/>
            <a:ext cx="54864" cy="73152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84" name="Text 82"/>
          <p:cNvSpPr/>
          <p:nvPr/>
        </p:nvSpPr>
        <p:spPr>
          <a:xfrm>
            <a:off x="640080" y="32918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P0 fixes (testimonials + scarcity + guarantee)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57200" y="3520440"/>
            <a:ext cx="2514600" cy="320040"/>
          </a:xfrm>
          <a:prstGeom prst="rect">
            <a:avLst/>
          </a:prstGeom>
          <a:solidFill>
            <a:srgbClr val="D63D58">
              <a:alpha val="20000"/>
            </a:srgbClr>
          </a:solidFill>
          <a:ln/>
        </p:spPr>
      </p:sp>
      <p:sp>
        <p:nvSpPr>
          <p:cNvPr id="86" name="Text 84"/>
          <p:cNvSpPr/>
          <p:nvPr/>
        </p:nvSpPr>
        <p:spPr>
          <a:xfrm>
            <a:off x="548640" y="35661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1K followers / handle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800+ daily Reel views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3063240" y="1737360"/>
            <a:ext cx="2514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063240" y="1737360"/>
            <a:ext cx="2514600" cy="45720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89" name="Text 87"/>
          <p:cNvSpPr/>
          <p:nvPr/>
        </p:nvSpPr>
        <p:spPr>
          <a:xfrm>
            <a:off x="3154680" y="17830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3154680" y="20116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31-60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3154680" y="2340864"/>
            <a:ext cx="54864" cy="73152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2" name="Text 90"/>
          <p:cNvSpPr/>
          <p:nvPr/>
        </p:nvSpPr>
        <p:spPr>
          <a:xfrm>
            <a:off x="3246120" y="22860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pivot for @drishtiastro (delete English content)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3154680" y="2542032"/>
            <a:ext cx="54864" cy="73152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4" name="Text 92"/>
          <p:cNvSpPr/>
          <p:nvPr/>
        </p:nvSpPr>
        <p:spPr>
          <a:xfrm>
            <a:off x="3246120" y="24871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50 local pandits as Jyotish Ambassadors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3154680" y="2743200"/>
            <a:ext cx="54864" cy="73152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6" name="Text 94"/>
          <p:cNvSpPr/>
          <p:nvPr/>
        </p:nvSpPr>
        <p:spPr>
          <a:xfrm>
            <a:off x="3246120" y="26883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Temple QR pilot in 30 locations (Pune-Mumbai-Nashik)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3154680" y="2944368"/>
            <a:ext cx="54864" cy="73152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98" name="Text 96"/>
          <p:cNvSpPr/>
          <p:nvPr/>
        </p:nvSpPr>
        <p:spPr>
          <a:xfrm>
            <a:off x="3246120" y="28895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₹499 chat add-on at scale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3154680" y="3145536"/>
            <a:ext cx="54864" cy="73152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00" name="Text 98"/>
          <p:cNvSpPr/>
          <p:nvPr/>
        </p:nvSpPr>
        <p:spPr>
          <a:xfrm>
            <a:off x="3246120" y="30906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share-card viral loop deploy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3154680" y="3346704"/>
            <a:ext cx="54864" cy="73152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02" name="Text 100"/>
          <p:cNvSpPr/>
          <p:nvPr/>
        </p:nvSpPr>
        <p:spPr>
          <a:xfrm>
            <a:off x="3246120" y="32918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Pixel + retargeting (₹5K/mo budget)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3063240" y="3520440"/>
            <a:ext cx="2514600" cy="320040"/>
          </a:xfrm>
          <a:prstGeom prst="rect">
            <a:avLst/>
          </a:prstGeom>
          <a:solidFill>
            <a:srgbClr val="A6304F">
              <a:alpha val="20000"/>
            </a:srgbClr>
          </a:solidFill>
          <a:ln/>
        </p:spPr>
      </p:sp>
      <p:sp>
        <p:nvSpPr>
          <p:cNvPr id="104" name="Text 102"/>
          <p:cNvSpPr/>
          <p:nvPr/>
        </p:nvSpPr>
        <p:spPr>
          <a:xfrm>
            <a:off x="3154680" y="35661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5K followers / handle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orders / day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5669280" y="1737360"/>
            <a:ext cx="2514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9280" y="1737360"/>
            <a:ext cx="2514600" cy="457200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07" name="Text 105"/>
          <p:cNvSpPr/>
          <p:nvPr/>
        </p:nvSpPr>
        <p:spPr>
          <a:xfrm>
            <a:off x="5760720" y="17830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5760720" y="201168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61-90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5760720" y="2340864"/>
            <a:ext cx="54864" cy="7315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10" name="Text 108"/>
          <p:cNvSpPr/>
          <p:nvPr/>
        </p:nvSpPr>
        <p:spPr>
          <a:xfrm>
            <a:off x="5852160" y="22860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₹1,499 detailed report tier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5760720" y="2542032"/>
            <a:ext cx="54864" cy="7315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12" name="Text 110"/>
          <p:cNvSpPr/>
          <p:nvPr/>
        </p:nvSpPr>
        <p:spPr>
          <a:xfrm>
            <a:off x="5852160" y="24871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long-form channel (1 video/week)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5760720" y="2743200"/>
            <a:ext cx="54864" cy="7315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14" name="Text 112"/>
          <p:cNvSpPr/>
          <p:nvPr/>
        </p:nvSpPr>
        <p:spPr>
          <a:xfrm>
            <a:off x="5852160" y="26883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horoscope syndication pitch (3 outlets)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5760720" y="2944368"/>
            <a:ext cx="54864" cy="7315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16" name="Text 114"/>
          <p:cNvSpPr/>
          <p:nvPr/>
        </p:nvSpPr>
        <p:spPr>
          <a:xfrm>
            <a:off x="5852160" y="28895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Gemstone affiliate launch (Diwali-timed)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5760720" y="3145536"/>
            <a:ext cx="54864" cy="7315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18" name="Text 116"/>
          <p:cNvSpPr/>
          <p:nvPr/>
        </p:nvSpPr>
        <p:spPr>
          <a:xfrm>
            <a:off x="5852160" y="30906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campaign sequences automated (Diwali, Navratri)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5760720" y="3346704"/>
            <a:ext cx="54864" cy="73152"/>
          </a:xfrm>
          <a:prstGeom prst="rect">
            <a:avLst/>
          </a:prstGeom>
          <a:solidFill>
            <a:srgbClr val="C77E17"/>
          </a:solidFill>
          <a:ln/>
        </p:spPr>
      </p:sp>
      <p:sp>
        <p:nvSpPr>
          <p:cNvPr id="120" name="Text 118"/>
          <p:cNvSpPr/>
          <p:nvPr/>
        </p:nvSpPr>
        <p:spPr>
          <a:xfrm>
            <a:off x="5852160" y="32918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pandit avatar voice replaces AI disclosure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669280" y="3520440"/>
            <a:ext cx="2514600" cy="320040"/>
          </a:xfrm>
          <a:prstGeom prst="rect">
            <a:avLst/>
          </a:prstGeom>
          <a:solidFill>
            <a:srgbClr val="C77E17">
              <a:alpha val="20000"/>
            </a:srgbClr>
          </a:solidFill>
          <a:ln/>
        </p:spPr>
      </p:sp>
      <p:sp>
        <p:nvSpPr>
          <p:cNvPr id="122" name="Text 120"/>
          <p:cNvSpPr/>
          <p:nvPr/>
        </p:nvSpPr>
        <p:spPr>
          <a:xfrm>
            <a:off x="5760720" y="35661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10K-15K followers / handle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₹10L MRR portfolio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8366760" y="1280160"/>
            <a:ext cx="3520440" cy="260604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24" name="Shape 122"/>
          <p:cNvSpPr/>
          <p:nvPr/>
        </p:nvSpPr>
        <p:spPr>
          <a:xfrm>
            <a:off x="8403336" y="1316736"/>
            <a:ext cx="344728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25" name="Text 123"/>
          <p:cNvSpPr/>
          <p:nvPr/>
        </p:nvSpPr>
        <p:spPr>
          <a:xfrm>
            <a:off x="8403336" y="1316736"/>
            <a:ext cx="3447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SCOREBOARD  ·  D-30 / D-60 / D-90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8503920" y="1755648"/>
            <a:ext cx="146304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7" name="Text 125"/>
          <p:cNvSpPr/>
          <p:nvPr/>
        </p:nvSpPr>
        <p:spPr>
          <a:xfrm>
            <a:off x="8503920" y="17556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800" dirty="0"/>
          </a:p>
        </p:txBody>
      </p:sp>
      <p:sp>
        <p:nvSpPr>
          <p:cNvPr id="128" name="Shape 126"/>
          <p:cNvSpPr/>
          <p:nvPr/>
        </p:nvSpPr>
        <p:spPr>
          <a:xfrm>
            <a:off x="9966960" y="1755648"/>
            <a:ext cx="64008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29" name="Text 127"/>
          <p:cNvSpPr/>
          <p:nvPr/>
        </p:nvSpPr>
        <p:spPr>
          <a:xfrm>
            <a:off x="9966960" y="17556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D-30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10607040" y="1755648"/>
            <a:ext cx="64008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1" name="Text 129"/>
          <p:cNvSpPr/>
          <p:nvPr/>
        </p:nvSpPr>
        <p:spPr>
          <a:xfrm>
            <a:off x="10607040" y="17556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D-60</a:t>
            </a:r>
            <a:endParaRPr lang="en-US" sz="800" dirty="0"/>
          </a:p>
        </p:txBody>
      </p:sp>
      <p:sp>
        <p:nvSpPr>
          <p:cNvPr id="132" name="Shape 130"/>
          <p:cNvSpPr/>
          <p:nvPr/>
        </p:nvSpPr>
        <p:spPr>
          <a:xfrm>
            <a:off x="11247120" y="1755648"/>
            <a:ext cx="640080" cy="29260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33" name="Text 131"/>
          <p:cNvSpPr/>
          <p:nvPr/>
        </p:nvSpPr>
        <p:spPr>
          <a:xfrm>
            <a:off x="11247120" y="17556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D-90</a:t>
            </a: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>
            <a:off x="8503920" y="2048256"/>
            <a:ext cx="14630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8503920" y="20482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/ handle</a:t>
            </a:r>
            <a:endParaRPr lang="en-US" sz="750" dirty="0"/>
          </a:p>
        </p:txBody>
      </p:sp>
      <p:sp>
        <p:nvSpPr>
          <p:cNvPr id="136" name="Shape 134"/>
          <p:cNvSpPr/>
          <p:nvPr/>
        </p:nvSpPr>
        <p:spPr>
          <a:xfrm>
            <a:off x="9966960" y="2048256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966960" y="20482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</a:t>
            </a:r>
            <a:endParaRPr lang="en-US" sz="750" dirty="0"/>
          </a:p>
        </p:txBody>
      </p:sp>
      <p:sp>
        <p:nvSpPr>
          <p:cNvPr id="138" name="Shape 136"/>
          <p:cNvSpPr/>
          <p:nvPr/>
        </p:nvSpPr>
        <p:spPr>
          <a:xfrm>
            <a:off x="10607040" y="2048256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607040" y="20482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5K</a:t>
            </a:r>
            <a:endParaRPr lang="en-US" sz="750" dirty="0"/>
          </a:p>
        </p:txBody>
      </p:sp>
      <p:sp>
        <p:nvSpPr>
          <p:cNvPr id="140" name="Shape 138"/>
          <p:cNvSpPr/>
          <p:nvPr/>
        </p:nvSpPr>
        <p:spPr>
          <a:xfrm>
            <a:off x="11247120" y="2048256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1247120" y="20482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10-15K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503920" y="2304288"/>
            <a:ext cx="146304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503920" y="23042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Reel views / portfolio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9966960" y="2304288"/>
            <a:ext cx="64008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966960" y="23042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5K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10607040" y="2304288"/>
            <a:ext cx="64008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0607040" y="23042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25K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11247120" y="2304288"/>
            <a:ext cx="64008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11247120" y="23042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100K+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8503920" y="2560320"/>
            <a:ext cx="14630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503920" y="2560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/ day (₹199)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9966960" y="2560320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9966960" y="2560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sp>
        <p:nvSpPr>
          <p:cNvPr id="154" name="Shape 152"/>
          <p:cNvSpPr/>
          <p:nvPr/>
        </p:nvSpPr>
        <p:spPr>
          <a:xfrm>
            <a:off x="10607040" y="2560320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10607040" y="2560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11247120" y="2560320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1247120" y="2560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8503920" y="2816352"/>
            <a:ext cx="146304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503920" y="28163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opt-in base</a:t>
            </a:r>
            <a:endParaRPr lang="en-US" sz="750" dirty="0"/>
          </a:p>
        </p:txBody>
      </p:sp>
      <p:sp>
        <p:nvSpPr>
          <p:cNvPr id="160" name="Shape 158"/>
          <p:cNvSpPr/>
          <p:nvPr/>
        </p:nvSpPr>
        <p:spPr>
          <a:xfrm>
            <a:off x="9966960" y="2816352"/>
            <a:ext cx="64008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966960" y="2816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10607040" y="2816352"/>
            <a:ext cx="64008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607040" y="2816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5K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11247120" y="2816352"/>
            <a:ext cx="64008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1247120" y="2816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20K</a:t>
            </a:r>
            <a:endParaRPr lang="en-US" sz="750" dirty="0"/>
          </a:p>
        </p:txBody>
      </p:sp>
      <p:sp>
        <p:nvSpPr>
          <p:cNvPr id="166" name="Shape 164"/>
          <p:cNvSpPr/>
          <p:nvPr/>
        </p:nvSpPr>
        <p:spPr>
          <a:xfrm>
            <a:off x="8503920" y="3072384"/>
            <a:ext cx="14630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503920" y="30723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CAC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966960" y="3072384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9966960" y="30723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₹120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10607040" y="3072384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0607040" y="30723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</a:t>
            </a:r>
            <a:endParaRPr lang="en-US" sz="750" dirty="0"/>
          </a:p>
        </p:txBody>
      </p:sp>
      <p:sp>
        <p:nvSpPr>
          <p:cNvPr id="172" name="Shape 170"/>
          <p:cNvSpPr/>
          <p:nvPr/>
        </p:nvSpPr>
        <p:spPr>
          <a:xfrm>
            <a:off x="11247120" y="3072384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1247120" y="30723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8503920" y="3328416"/>
            <a:ext cx="146304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8503920" y="332841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AOV (avg order value)</a:t>
            </a:r>
            <a:endParaRPr lang="en-US" sz="750" dirty="0"/>
          </a:p>
        </p:txBody>
      </p:sp>
      <p:sp>
        <p:nvSpPr>
          <p:cNvPr id="176" name="Shape 174"/>
          <p:cNvSpPr/>
          <p:nvPr/>
        </p:nvSpPr>
        <p:spPr>
          <a:xfrm>
            <a:off x="9966960" y="3328416"/>
            <a:ext cx="64008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966960" y="332841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₹199</a:t>
            </a:r>
            <a:endParaRPr lang="en-US" sz="750" dirty="0"/>
          </a:p>
        </p:txBody>
      </p:sp>
      <p:sp>
        <p:nvSpPr>
          <p:cNvPr id="178" name="Shape 176"/>
          <p:cNvSpPr/>
          <p:nvPr/>
        </p:nvSpPr>
        <p:spPr>
          <a:xfrm>
            <a:off x="10607040" y="3328416"/>
            <a:ext cx="64008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607040" y="332841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₹260</a:t>
            </a:r>
            <a:endParaRPr lang="en-US" sz="750" dirty="0"/>
          </a:p>
        </p:txBody>
      </p:sp>
      <p:sp>
        <p:nvSpPr>
          <p:cNvPr id="180" name="Shape 178"/>
          <p:cNvSpPr/>
          <p:nvPr/>
        </p:nvSpPr>
        <p:spPr>
          <a:xfrm>
            <a:off x="11247120" y="3328416"/>
            <a:ext cx="640080" cy="256032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11247120" y="332841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₹380</a:t>
            </a:r>
            <a:endParaRPr lang="en-US" sz="750" dirty="0"/>
          </a:p>
        </p:txBody>
      </p:sp>
      <p:sp>
        <p:nvSpPr>
          <p:cNvPr id="182" name="Shape 180"/>
          <p:cNvSpPr/>
          <p:nvPr/>
        </p:nvSpPr>
        <p:spPr>
          <a:xfrm>
            <a:off x="8503920" y="3584448"/>
            <a:ext cx="14630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8503920" y="35844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MRR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9966960" y="3584448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9966960" y="35844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₹60K</a:t>
            </a:r>
            <a:endParaRPr lang="en-US" sz="750" dirty="0"/>
          </a:p>
        </p:txBody>
      </p:sp>
      <p:sp>
        <p:nvSpPr>
          <p:cNvPr id="186" name="Shape 184"/>
          <p:cNvSpPr/>
          <p:nvPr/>
        </p:nvSpPr>
        <p:spPr>
          <a:xfrm>
            <a:off x="10607040" y="3584448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10607040" y="35844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₹3L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11247120" y="3584448"/>
            <a:ext cx="6400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11247120" y="35844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₹10L</a:t>
            </a:r>
            <a:endParaRPr lang="en-US" sz="750" dirty="0"/>
          </a:p>
        </p:txBody>
      </p:sp>
      <p:sp>
        <p:nvSpPr>
          <p:cNvPr id="190" name="Shape 188"/>
          <p:cNvSpPr/>
          <p:nvPr/>
        </p:nvSpPr>
        <p:spPr>
          <a:xfrm>
            <a:off x="320040" y="4023360"/>
            <a:ext cx="790956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191" name="Shape 189"/>
          <p:cNvSpPr/>
          <p:nvPr/>
        </p:nvSpPr>
        <p:spPr>
          <a:xfrm>
            <a:off x="356616" y="4059936"/>
            <a:ext cx="783640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192" name="Text 190"/>
          <p:cNvSpPr/>
          <p:nvPr/>
        </p:nvSpPr>
        <p:spPr>
          <a:xfrm>
            <a:off x="356616" y="4059936"/>
            <a:ext cx="7836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  ·  TOP 5 RISKS &amp; MITIGATIONS</a:t>
            </a:r>
            <a:endParaRPr lang="en-US" sz="1200" dirty="0"/>
          </a:p>
        </p:txBody>
      </p:sp>
      <p:sp>
        <p:nvSpPr>
          <p:cNvPr id="193" name="Shape 191"/>
          <p:cNvSpPr/>
          <p:nvPr/>
        </p:nvSpPr>
        <p:spPr>
          <a:xfrm>
            <a:off x="457200" y="4480560"/>
            <a:ext cx="3017520" cy="27432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94" name="Text 192"/>
          <p:cNvSpPr/>
          <p:nvPr/>
        </p:nvSpPr>
        <p:spPr>
          <a:xfrm>
            <a:off x="45720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00" dirty="0"/>
          </a:p>
        </p:txBody>
      </p:sp>
      <p:sp>
        <p:nvSpPr>
          <p:cNvPr id="195" name="Shape 193"/>
          <p:cNvSpPr/>
          <p:nvPr/>
        </p:nvSpPr>
        <p:spPr>
          <a:xfrm>
            <a:off x="3474720" y="4480560"/>
            <a:ext cx="594360" cy="27432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96" name="Text 194"/>
          <p:cNvSpPr/>
          <p:nvPr/>
        </p:nvSpPr>
        <p:spPr>
          <a:xfrm>
            <a:off x="3474720" y="44805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</a:t>
            </a:r>
            <a:endParaRPr lang="en-US" sz="800" dirty="0"/>
          </a:p>
        </p:txBody>
      </p:sp>
      <p:sp>
        <p:nvSpPr>
          <p:cNvPr id="197" name="Shape 195"/>
          <p:cNvSpPr/>
          <p:nvPr/>
        </p:nvSpPr>
        <p:spPr>
          <a:xfrm>
            <a:off x="4069080" y="4480560"/>
            <a:ext cx="640080" cy="27432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198" name="Text 196"/>
          <p:cNvSpPr/>
          <p:nvPr/>
        </p:nvSpPr>
        <p:spPr>
          <a:xfrm>
            <a:off x="4069080" y="4480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800" dirty="0"/>
          </a:p>
        </p:txBody>
      </p:sp>
      <p:sp>
        <p:nvSpPr>
          <p:cNvPr id="199" name="Shape 197"/>
          <p:cNvSpPr/>
          <p:nvPr/>
        </p:nvSpPr>
        <p:spPr>
          <a:xfrm>
            <a:off x="4709160" y="4480560"/>
            <a:ext cx="3520440" cy="274320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200" name="Text 198"/>
          <p:cNvSpPr/>
          <p:nvPr/>
        </p:nvSpPr>
        <p:spPr>
          <a:xfrm>
            <a:off x="4709160" y="44805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201" name="Shape 199"/>
          <p:cNvSpPr/>
          <p:nvPr/>
        </p:nvSpPr>
        <p:spPr>
          <a:xfrm>
            <a:off x="457200" y="4754880"/>
            <a:ext cx="30175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457200" y="4754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algorithm change (Reels demoted)</a:t>
            </a:r>
            <a:endParaRPr lang="en-US" sz="750" dirty="0"/>
          </a:p>
        </p:txBody>
      </p:sp>
      <p:sp>
        <p:nvSpPr>
          <p:cNvPr id="203" name="Shape 201"/>
          <p:cNvSpPr/>
          <p:nvPr/>
        </p:nvSpPr>
        <p:spPr>
          <a:xfrm>
            <a:off x="3474720" y="4754880"/>
            <a:ext cx="59436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3474720" y="475488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50" dirty="0"/>
          </a:p>
        </p:txBody>
      </p:sp>
      <p:sp>
        <p:nvSpPr>
          <p:cNvPr id="205" name="Shape 203"/>
          <p:cNvSpPr/>
          <p:nvPr/>
        </p:nvSpPr>
        <p:spPr>
          <a:xfrm>
            <a:off x="4069080" y="4754880"/>
            <a:ext cx="64008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4069080" y="4754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207" name="Shape 205"/>
          <p:cNvSpPr/>
          <p:nvPr/>
        </p:nvSpPr>
        <p:spPr>
          <a:xfrm>
            <a:off x="4709160" y="4754880"/>
            <a:ext cx="35204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470916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WA + YT + IVR in parallel; never &gt;50% revenue from IG</a:t>
            </a:r>
            <a:endParaRPr lang="en-US" sz="750" dirty="0"/>
          </a:p>
        </p:txBody>
      </p:sp>
      <p:sp>
        <p:nvSpPr>
          <p:cNvPr id="209" name="Shape 207"/>
          <p:cNvSpPr/>
          <p:nvPr/>
        </p:nvSpPr>
        <p:spPr>
          <a:xfrm>
            <a:off x="457200" y="5074920"/>
            <a:ext cx="3017520" cy="32004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457200" y="5074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 disclosure backlash</a:t>
            </a:r>
            <a:endParaRPr lang="en-US" sz="750" dirty="0"/>
          </a:p>
        </p:txBody>
      </p:sp>
      <p:sp>
        <p:nvSpPr>
          <p:cNvPr id="211" name="Shape 209"/>
          <p:cNvSpPr/>
          <p:nvPr/>
        </p:nvSpPr>
        <p:spPr>
          <a:xfrm>
            <a:off x="3474720" y="5074920"/>
            <a:ext cx="594360" cy="32004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3474720" y="507492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50" dirty="0"/>
          </a:p>
        </p:txBody>
      </p:sp>
      <p:sp>
        <p:nvSpPr>
          <p:cNvPr id="213" name="Shape 211"/>
          <p:cNvSpPr/>
          <p:nvPr/>
        </p:nvSpPr>
        <p:spPr>
          <a:xfrm>
            <a:off x="4069080" y="5074920"/>
            <a:ext cx="640080" cy="32004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4069080" y="50749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215" name="Shape 213"/>
          <p:cNvSpPr/>
          <p:nvPr/>
        </p:nvSpPr>
        <p:spPr>
          <a:xfrm>
            <a:off x="4709160" y="5074920"/>
            <a:ext cx="3520440" cy="32004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4709160" y="50749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'created by AI' from @astrosaadhan bio; use real Hindi pandit voice</a:t>
            </a:r>
            <a:endParaRPr lang="en-US" sz="750" dirty="0"/>
          </a:p>
        </p:txBody>
      </p:sp>
      <p:sp>
        <p:nvSpPr>
          <p:cNvPr id="217" name="Shape 215"/>
          <p:cNvSpPr/>
          <p:nvPr/>
        </p:nvSpPr>
        <p:spPr>
          <a:xfrm>
            <a:off x="457200" y="5394960"/>
            <a:ext cx="30175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457200" y="5394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AstroTalk copy-cats partner hook</a:t>
            </a:r>
            <a:endParaRPr lang="en-US" sz="750" dirty="0"/>
          </a:p>
        </p:txBody>
      </p:sp>
      <p:sp>
        <p:nvSpPr>
          <p:cNvPr id="219" name="Shape 217"/>
          <p:cNvSpPr/>
          <p:nvPr/>
        </p:nvSpPr>
        <p:spPr>
          <a:xfrm>
            <a:off x="3474720" y="5394960"/>
            <a:ext cx="59436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3474720" y="539496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221" name="Shape 219"/>
          <p:cNvSpPr/>
          <p:nvPr/>
        </p:nvSpPr>
        <p:spPr>
          <a:xfrm>
            <a:off x="4069080" y="5394960"/>
            <a:ext cx="64008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4069080" y="5394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50" dirty="0"/>
          </a:p>
        </p:txBody>
      </p:sp>
      <p:sp>
        <p:nvSpPr>
          <p:cNvPr id="223" name="Shape 221"/>
          <p:cNvSpPr/>
          <p:nvPr/>
        </p:nvSpPr>
        <p:spPr>
          <a:xfrm>
            <a:off x="4709160" y="5394960"/>
            <a:ext cx="35204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4709160" y="53949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of replication &gt; defensibility; ride first-mover for 6 months</a:t>
            </a:r>
            <a:endParaRPr lang="en-US" sz="750" dirty="0"/>
          </a:p>
        </p:txBody>
      </p:sp>
      <p:sp>
        <p:nvSpPr>
          <p:cNvPr id="225" name="Shape 223"/>
          <p:cNvSpPr/>
          <p:nvPr/>
        </p:nvSpPr>
        <p:spPr>
          <a:xfrm>
            <a:off x="457200" y="5715000"/>
            <a:ext cx="3017520" cy="32004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457200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Temple QR low conversion</a:t>
            </a:r>
            <a:endParaRPr lang="en-US" sz="750" dirty="0"/>
          </a:p>
        </p:txBody>
      </p:sp>
      <p:sp>
        <p:nvSpPr>
          <p:cNvPr id="227" name="Shape 225"/>
          <p:cNvSpPr/>
          <p:nvPr/>
        </p:nvSpPr>
        <p:spPr>
          <a:xfrm>
            <a:off x="3474720" y="5715000"/>
            <a:ext cx="594360" cy="32004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3474720" y="571500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77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50" dirty="0"/>
          </a:p>
        </p:txBody>
      </p:sp>
      <p:sp>
        <p:nvSpPr>
          <p:cNvPr id="229" name="Shape 227"/>
          <p:cNvSpPr/>
          <p:nvPr/>
        </p:nvSpPr>
        <p:spPr>
          <a:xfrm>
            <a:off x="4069080" y="5715000"/>
            <a:ext cx="640080" cy="32004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4069080" y="57150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231" name="Shape 229"/>
          <p:cNvSpPr/>
          <p:nvPr/>
        </p:nvSpPr>
        <p:spPr>
          <a:xfrm>
            <a:off x="4709160" y="5715000"/>
            <a:ext cx="3520440" cy="320040"/>
          </a:xfrm>
          <a:prstGeom prst="rect">
            <a:avLst/>
          </a:prstGeom>
          <a:solidFill>
            <a:srgbClr val="FFDFE3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4709160" y="57150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30 locations; A/B test offer; pivot in 14 days if &lt;2% scan rate</a:t>
            </a:r>
            <a:endParaRPr lang="en-US" sz="750" dirty="0"/>
          </a:p>
        </p:txBody>
      </p:sp>
      <p:sp>
        <p:nvSpPr>
          <p:cNvPr id="233" name="Shape 231"/>
          <p:cNvSpPr/>
          <p:nvPr/>
        </p:nvSpPr>
        <p:spPr>
          <a:xfrm>
            <a:off x="457200" y="6035040"/>
            <a:ext cx="30175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457200" y="6035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(ASCI astrology disclaimer)</a:t>
            </a:r>
            <a:endParaRPr lang="en-US" sz="750" dirty="0"/>
          </a:p>
        </p:txBody>
      </p:sp>
      <p:sp>
        <p:nvSpPr>
          <p:cNvPr id="235" name="Shape 233"/>
          <p:cNvSpPr/>
          <p:nvPr/>
        </p:nvSpPr>
        <p:spPr>
          <a:xfrm>
            <a:off x="3474720" y="6035040"/>
            <a:ext cx="59436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3474720" y="603504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237" name="Shape 235"/>
          <p:cNvSpPr/>
          <p:nvPr/>
        </p:nvSpPr>
        <p:spPr>
          <a:xfrm>
            <a:off x="4069080" y="6035040"/>
            <a:ext cx="64008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4069080" y="60350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63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239" name="Shape 237"/>
          <p:cNvSpPr/>
          <p:nvPr/>
        </p:nvSpPr>
        <p:spPr>
          <a:xfrm>
            <a:off x="4709160" y="6035040"/>
            <a:ext cx="352044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0CFD4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4709160" y="6035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A1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'for entertainment purposes' on landing pages; legal review</a:t>
            </a:r>
            <a:endParaRPr lang="en-US" sz="750" dirty="0"/>
          </a:p>
        </p:txBody>
      </p:sp>
      <p:sp>
        <p:nvSpPr>
          <p:cNvPr id="241" name="Shape 239"/>
          <p:cNvSpPr/>
          <p:nvPr/>
        </p:nvSpPr>
        <p:spPr>
          <a:xfrm>
            <a:off x="8366760" y="4023360"/>
            <a:ext cx="3520440" cy="2468880"/>
          </a:xfrm>
          <a:prstGeom prst="rect">
            <a:avLst/>
          </a:prstGeom>
          <a:solidFill>
            <a:srgbClr val="FFF1F2"/>
          </a:solidFill>
          <a:ln w="12700">
            <a:solidFill>
              <a:srgbClr val="FAB0BC"/>
            </a:solidFill>
            <a:prstDash val="dash"/>
          </a:ln>
        </p:spPr>
      </p:sp>
      <p:sp>
        <p:nvSpPr>
          <p:cNvPr id="242" name="Shape 240"/>
          <p:cNvSpPr/>
          <p:nvPr/>
        </p:nvSpPr>
        <p:spPr>
          <a:xfrm>
            <a:off x="8403336" y="4059936"/>
            <a:ext cx="3447288" cy="365760"/>
          </a:xfrm>
          <a:prstGeom prst="rect">
            <a:avLst/>
          </a:prstGeom>
          <a:solidFill>
            <a:srgbClr val="D63D58"/>
          </a:solidFill>
          <a:ln/>
        </p:spPr>
      </p:sp>
      <p:sp>
        <p:nvSpPr>
          <p:cNvPr id="243" name="Text 241"/>
          <p:cNvSpPr/>
          <p:nvPr/>
        </p:nvSpPr>
        <p:spPr>
          <a:xfrm>
            <a:off x="8403336" y="4059936"/>
            <a:ext cx="3447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 ·  3 DECISIONS</a:t>
            </a:r>
            <a:endParaRPr lang="en-US" sz="1200" dirty="0"/>
          </a:p>
        </p:txBody>
      </p:sp>
      <p:sp>
        <p:nvSpPr>
          <p:cNvPr id="244" name="Shape 242"/>
          <p:cNvSpPr/>
          <p:nvPr/>
        </p:nvSpPr>
        <p:spPr>
          <a:xfrm>
            <a:off x="8503920" y="4480560"/>
            <a:ext cx="3246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8549640" y="4544568"/>
            <a:ext cx="365760" cy="36576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246" name="Text 244"/>
          <p:cNvSpPr/>
          <p:nvPr/>
        </p:nvSpPr>
        <p:spPr>
          <a:xfrm>
            <a:off x="8549640" y="4544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247" name="Text 245"/>
          <p:cNvSpPr/>
          <p:nvPr/>
        </p:nvSpPr>
        <p:spPr>
          <a:xfrm>
            <a:off x="9006840" y="4526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content factory</a:t>
            </a:r>
            <a:endParaRPr lang="en-US" sz="900" dirty="0"/>
          </a:p>
        </p:txBody>
      </p:sp>
      <p:sp>
        <p:nvSpPr>
          <p:cNvPr id="248" name="Text 246"/>
          <p:cNvSpPr/>
          <p:nvPr/>
        </p:nvSpPr>
        <p:spPr>
          <a:xfrm>
            <a:off x="9006840" y="4736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₹15-25K/mo opex</a:t>
            </a:r>
            <a:endParaRPr lang="en-US" sz="800" dirty="0"/>
          </a:p>
        </p:txBody>
      </p:sp>
      <p:sp>
        <p:nvSpPr>
          <p:cNvPr id="249" name="Shape 247"/>
          <p:cNvSpPr/>
          <p:nvPr/>
        </p:nvSpPr>
        <p:spPr>
          <a:xfrm>
            <a:off x="8503920" y="5074920"/>
            <a:ext cx="3246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8549640" y="5138928"/>
            <a:ext cx="365760" cy="36576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251" name="Text 249"/>
          <p:cNvSpPr/>
          <p:nvPr/>
        </p:nvSpPr>
        <p:spPr>
          <a:xfrm>
            <a:off x="8549640" y="5138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52" name="Text 250"/>
          <p:cNvSpPr/>
          <p:nvPr/>
        </p:nvSpPr>
        <p:spPr>
          <a:xfrm>
            <a:off x="9006840" y="5120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cross-promo from saath</a:t>
            </a:r>
            <a:endParaRPr lang="en-US" sz="900" dirty="0"/>
          </a:p>
        </p:txBody>
      </p:sp>
      <p:sp>
        <p:nvSpPr>
          <p:cNvPr id="253" name="Text 251"/>
          <p:cNvSpPr/>
          <p:nvPr/>
        </p:nvSpPr>
        <p:spPr>
          <a:xfrm>
            <a:off x="9006840" y="5330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costless</a:t>
            </a:r>
            <a:endParaRPr lang="en-US" sz="800" dirty="0"/>
          </a:p>
        </p:txBody>
      </p:sp>
      <p:sp>
        <p:nvSpPr>
          <p:cNvPr id="254" name="Shape 252"/>
          <p:cNvSpPr/>
          <p:nvPr/>
        </p:nvSpPr>
        <p:spPr>
          <a:xfrm>
            <a:off x="8503920" y="5669280"/>
            <a:ext cx="3246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0CFD4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8549640" y="5733288"/>
            <a:ext cx="365760" cy="365760"/>
          </a:xfrm>
          <a:prstGeom prst="ellipse">
            <a:avLst/>
          </a:prstGeom>
          <a:solidFill>
            <a:srgbClr val="D63D58"/>
          </a:solidFill>
          <a:ln/>
        </p:spPr>
      </p:sp>
      <p:sp>
        <p:nvSpPr>
          <p:cNvPr id="256" name="Text 254"/>
          <p:cNvSpPr/>
          <p:nvPr/>
        </p:nvSpPr>
        <p:spPr>
          <a:xfrm>
            <a:off x="8549640" y="5733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57" name="Text 255"/>
          <p:cNvSpPr/>
          <p:nvPr/>
        </p:nvSpPr>
        <p:spPr>
          <a:xfrm>
            <a:off x="9006840" y="57150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6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landing P0 sprint</a:t>
            </a:r>
            <a:endParaRPr lang="en-US" sz="900" dirty="0"/>
          </a:p>
        </p:txBody>
      </p:sp>
      <p:sp>
        <p:nvSpPr>
          <p:cNvPr id="258" name="Text 256"/>
          <p:cNvSpPr/>
          <p:nvPr/>
        </p:nvSpPr>
        <p:spPr>
          <a:xfrm>
            <a:off x="9006840" y="59253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64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2-week dev cycle</a:t>
            </a:r>
            <a:endParaRPr lang="en-US" sz="800" dirty="0"/>
          </a:p>
        </p:txBody>
      </p:sp>
      <p:sp>
        <p:nvSpPr>
          <p:cNvPr id="259" name="Shape 257"/>
          <p:cNvSpPr/>
          <p:nvPr/>
        </p:nvSpPr>
        <p:spPr>
          <a:xfrm>
            <a:off x="8503920" y="6263640"/>
            <a:ext cx="3246120" cy="201168"/>
          </a:xfrm>
          <a:prstGeom prst="rect">
            <a:avLst/>
          </a:prstGeom>
          <a:solidFill>
            <a:srgbClr val="A6304F"/>
          </a:solidFill>
          <a:ln/>
        </p:spPr>
      </p:sp>
      <p:sp>
        <p:nvSpPr>
          <p:cNvPr id="260" name="Text 258"/>
          <p:cNvSpPr/>
          <p:nvPr/>
        </p:nvSpPr>
        <p:spPr>
          <a:xfrm>
            <a:off x="8503920" y="626364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Upstox · MarkNtel · Tracxn · own scrape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2026-05-21T05:40:33Z</dcterms:created>
  <dcterms:modified xsi:type="dcterms:W3CDTF">2026-05-21T05:40:33Z</dcterms:modified>
</cp:coreProperties>
</file>