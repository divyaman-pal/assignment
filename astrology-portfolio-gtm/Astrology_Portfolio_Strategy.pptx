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size (USD M)</c:v>
                </c:pt>
              </c:strCache>
            </c:strRef>
          </c:tx>
          <c:spPr>
            <a:solidFill>
              <a:srgbClr val="D63D58"/>
            </a:solidFill>
            <a:ln w="38100" cap="flat">
              <a:solidFill>
                <a:srgbClr val="D63D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A6304F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3D58"/>
              </a:solidFill>
              <a:ln w="9525" cap="flat">
                <a:solidFill>
                  <a:srgbClr val="D63D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</c:v>
                  </c:pt>
                  <c:pt idx="3">
                    <c:v>2027</c:v>
                  </c:pt>
                  <c:pt idx="4">
                    <c:v>2028</c:v>
                  </c:pt>
                  <c:pt idx="5">
                    <c:v>2029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163</c:v>
                </c:pt>
                <c:pt idx="1">
                  <c:v>243</c:v>
                </c:pt>
                <c:pt idx="2">
                  <c:v>363</c:v>
                </c:pt>
                <c:pt idx="3">
                  <c:v>542</c:v>
                </c:pt>
                <c:pt idx="4">
                  <c:v>808</c:v>
                </c:pt>
                <c:pt idx="5">
                  <c:v>1206</c:v>
                </c:pt>
                <c:pt idx="6">
                  <c:v>1797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A6304F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A1F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F0CF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4B4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63D58"/>
              </a:solidFill>
              <a:effectLst/>
            </c:spPr>
          </c:dPt>
          <c:dPt>
            <c:idx val="1"/>
            <c:bubble3D val="0"/>
            <c:spPr>
              <a:solidFill>
                <a:srgbClr val="A6304F"/>
              </a:solidFill>
              <a:effectLst/>
            </c:spPr>
          </c:dPt>
          <c:dPt>
            <c:idx val="2"/>
            <c:bubble3D val="0"/>
            <c:spPr>
              <a:solidFill>
                <a:srgbClr val="FECCD3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AstroTalk</c:v>
                </c:pt>
                <c:pt idx="1">
                  <c:v>AstroSage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80</c:v>
                </c:pt>
                <c:pt idx="1">
                  <c:v>6</c:v>
                </c:pt>
                <c:pt idx="2">
                  <c:v>14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2A1F2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Funding $M</c:v>
                </c:pt>
              </c:strCache>
            </c:strRef>
          </c:tx>
          <c:spPr>
            <a:solidFill>
              <a:srgbClr val="D63D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A630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2015</c:v>
                  </c:pt>
                  <c:pt idx="1">
                    <c:v>2019</c:v>
                  </c:pt>
                  <c:pt idx="2">
                    <c:v>2022</c:v>
                  </c:pt>
                  <c:pt idx="3">
                    <c:v>2024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0.088</c:v>
                </c:pt>
                <c:pt idx="1">
                  <c:v>5</c:v>
                </c:pt>
                <c:pt idx="2">
                  <c:v>25</c:v>
                </c:pt>
                <c:pt idx="3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A630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A1F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F0CF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4B4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%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63D58"/>
              </a:solidFill>
              <a:effectLst/>
            </c:spPr>
          </c:dPt>
          <c:dPt>
            <c:idx val="1"/>
            <c:bubble3D val="0"/>
            <c:spPr>
              <a:solidFill>
                <a:srgbClr val="C77E17"/>
              </a:solidFill>
              <a:effectLst/>
            </c:spPr>
          </c:dPt>
          <c:dPt>
            <c:idx val="2"/>
            <c:bubble3D val="0"/>
            <c:spPr>
              <a:solidFill>
                <a:srgbClr val="A6304F"/>
              </a:solidFill>
              <a:effectLst/>
            </c:spPr>
          </c:dPt>
          <c:dPt>
            <c:idx val="3"/>
            <c:bubble3D val="0"/>
            <c:spPr>
              <a:solidFill>
                <a:srgbClr val="1F7A4A"/>
              </a:solidFill>
              <a:effectLst/>
            </c:spPr>
          </c:dPt>
          <c:dPt>
            <c:idx val="4"/>
            <c:bubble3D val="0"/>
            <c:spPr>
              <a:solidFill>
                <a:srgbClr val="6B3FA0"/>
              </a:solidFill>
              <a:effectLst/>
            </c:spPr>
          </c:dPt>
          <c:dPt>
            <c:idx val="5"/>
            <c:bubble3D val="0"/>
            <c:spPr>
              <a:solidFill>
                <a:srgbClr val="0D7372"/>
              </a:solidFill>
              <a:effectLst/>
            </c:spPr>
          </c:dPt>
          <c:dPt>
            <c:idx val="6"/>
            <c:bubble3D val="0"/>
            <c:spPr>
              <a:solidFill>
                <a:srgbClr val="8E808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₹199 Kundli</c:v>
                </c:pt>
                <c:pt idx="1">
                  <c:v>₹49 sub</c:v>
                </c:pt>
                <c:pt idx="2">
                  <c:v>₹499 chat</c:v>
                </c:pt>
                <c:pt idx="3">
                  <c:v>₹999 baby-name</c:v>
                </c:pt>
                <c:pt idx="4">
                  <c:v>₹1,499 detailed</c:v>
                </c:pt>
                <c:pt idx="5">
                  <c:v>B2B + festival</c:v>
                </c:pt>
                <c:pt idx="6">
                  <c:v>Alt streams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35</c:v>
                </c:pt>
                <c:pt idx="1">
                  <c:v>8</c:v>
                </c:pt>
                <c:pt idx="2">
                  <c:v>18</c:v>
                </c:pt>
                <c:pt idx="3">
                  <c:v>7</c:v>
                </c:pt>
                <c:pt idx="4">
                  <c:v>12</c:v>
                </c:pt>
                <c:pt idx="5">
                  <c:v>15</c:v>
                </c:pt>
                <c:pt idx="6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00">
              <a:solidFill>
                <a:srgbClr val="2A1F2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@saathsetu</c:v>
                </c:pt>
              </c:strCache>
            </c:strRef>
          </c:tx>
          <c:spPr>
            <a:solidFill>
              <a:srgbClr val="D63D58"/>
            </a:solidFill>
            <a:ln w="31750" cap="flat">
              <a:solidFill>
                <a:srgbClr val="D63D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3D58"/>
              </a:solidFill>
              <a:ln w="9525" cap="flat">
                <a:solidFill>
                  <a:srgbClr val="D63D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Now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149</c:v>
                </c:pt>
                <c:pt idx="1">
                  <c:v>800</c:v>
                </c:pt>
                <c:pt idx="2">
                  <c:v>2200</c:v>
                </c:pt>
                <c:pt idx="3">
                  <c:v>4500</c:v>
                </c:pt>
                <c:pt idx="4">
                  <c:v>7500</c:v>
                </c:pt>
                <c:pt idx="5">
                  <c:v>11000</c:v>
                </c:pt>
                <c:pt idx="6">
                  <c:v>14500</c:v>
                </c:pt>
                <c:pt idx="7">
                  <c:v>17500</c:v>
                </c:pt>
                <c:pt idx="8">
                  <c:v>20000</c:v>
                </c:pt>
                <c:pt idx="9">
                  <c:v>22000</c:v>
                </c:pt>
                <c:pt idx="10">
                  <c:v>24000</c:v>
                </c:pt>
                <c:pt idx="11">
                  <c:v>26000</c:v>
                </c:pt>
                <c:pt idx="12">
                  <c:v>28000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@rashitattva</c:v>
                </c:pt>
              </c:strCache>
            </c:strRef>
          </c:tx>
          <c:spPr>
            <a:solidFill>
              <a:srgbClr val="A6304F"/>
            </a:solidFill>
            <a:ln w="31750" cap="flat">
              <a:solidFill>
                <a:srgbClr val="A6304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6304F"/>
              </a:solidFill>
              <a:ln w="9525" cap="flat">
                <a:solidFill>
                  <a:srgbClr val="A630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Now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</c:v>
                </c:pt>
                <c:pt idx="1">
                  <c:v>200</c:v>
                </c:pt>
                <c:pt idx="2">
                  <c:v>800</c:v>
                </c:pt>
                <c:pt idx="3">
                  <c:v>2000</c:v>
                </c:pt>
                <c:pt idx="4">
                  <c:v>4000</c:v>
                </c:pt>
                <c:pt idx="5">
                  <c:v>6500</c:v>
                </c:pt>
                <c:pt idx="6">
                  <c:v>9500</c:v>
                </c:pt>
                <c:pt idx="7">
                  <c:v>12500</c:v>
                </c:pt>
                <c:pt idx="8">
                  <c:v>15000</c:v>
                </c:pt>
                <c:pt idx="9">
                  <c:v>17500</c:v>
                </c:pt>
                <c:pt idx="10">
                  <c:v>20000</c:v>
                </c:pt>
                <c:pt idx="11">
                  <c:v>22500</c:v>
                </c:pt>
                <c:pt idx="12">
                  <c:v>25500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@drishtiastro</c:v>
                </c:pt>
              </c:strCache>
            </c:strRef>
          </c:tx>
          <c:spPr>
            <a:solidFill>
              <a:srgbClr val="C77E17"/>
            </a:solidFill>
            <a:ln w="31750" cap="flat">
              <a:solidFill>
                <a:srgbClr val="C77E1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77E17"/>
              </a:solidFill>
              <a:ln w="9525" cap="flat">
                <a:solidFill>
                  <a:srgbClr val="C77E1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Now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</c:lvl>
              </c:multiLvlStrCache>
            </c:multiLvl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0</c:v>
                </c:pt>
                <c:pt idx="1">
                  <c:v>150</c:v>
                </c:pt>
                <c:pt idx="2">
                  <c:v>600</c:v>
                </c:pt>
                <c:pt idx="3">
                  <c:v>1500</c:v>
                </c:pt>
                <c:pt idx="4">
                  <c:v>3000</c:v>
                </c:pt>
                <c:pt idx="5">
                  <c:v>5000</c:v>
                </c:pt>
                <c:pt idx="6">
                  <c:v>7500</c:v>
                </c:pt>
                <c:pt idx="7">
                  <c:v>10000</c:v>
                </c:pt>
                <c:pt idx="8">
                  <c:v>13000</c:v>
                </c:pt>
                <c:pt idx="9">
                  <c:v>16000</c:v>
                </c:pt>
                <c:pt idx="10">
                  <c:v>19000</c:v>
                </c:pt>
                <c:pt idx="11">
                  <c:v>22000</c:v>
                </c:pt>
                <c:pt idx="12">
                  <c:v>25000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@astrosaadhan</c:v>
                </c:pt>
              </c:strCache>
            </c:strRef>
          </c:tx>
          <c:spPr>
            <a:solidFill>
              <a:srgbClr val="6B3FA0"/>
            </a:solidFill>
            <a:ln w="31750" cap="flat">
              <a:solidFill>
                <a:srgbClr val="6B3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3FA0"/>
              </a:solidFill>
              <a:ln w="9525" cap="flat">
                <a:solidFill>
                  <a:srgbClr val="6B3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Now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</c:lvl>
              </c:multiLvlStrCache>
            </c:multiLvl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3</c:v>
                </c:pt>
                <c:pt idx="1">
                  <c:v>100</c:v>
                </c:pt>
                <c:pt idx="2">
                  <c:v>400</c:v>
                </c:pt>
                <c:pt idx="3">
                  <c:v>1100</c:v>
                </c:pt>
                <c:pt idx="4">
                  <c:v>2400</c:v>
                </c:pt>
                <c:pt idx="5">
                  <c:v>4200</c:v>
                </c:pt>
                <c:pt idx="6">
                  <c:v>6500</c:v>
                </c:pt>
                <c:pt idx="7">
                  <c:v>9000</c:v>
                </c:pt>
                <c:pt idx="8">
                  <c:v>12000</c:v>
                </c:pt>
                <c:pt idx="9">
                  <c:v>15000</c:v>
                </c:pt>
                <c:pt idx="10">
                  <c:v>18000</c:v>
                </c:pt>
                <c:pt idx="11">
                  <c:v>21000</c:v>
                </c:pt>
                <c:pt idx="12">
                  <c:v>24000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2A1F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F0CF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64B4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2A1F2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Users</c:v>
                </c:pt>
              </c:strCache>
            </c:strRef>
          </c:tx>
          <c:spPr>
            <a:solidFill>
              <a:srgbClr val="D63D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A630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Reel views</c:v>
                  </c:pt>
                  <c:pt idx="1">
                    <c:v>Profile visits</c:v>
                  </c:pt>
                  <c:pt idx="2">
                    <c:v>Followers</c:v>
                  </c:pt>
                  <c:pt idx="3">
                    <c:v>Landing page</c:v>
                  </c:pt>
                  <c:pt idx="4">
                    <c:v>Add to cart</c:v>
                  </c:pt>
                  <c:pt idx="5">
                    <c:v>Paid order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500000</c:v>
                </c:pt>
                <c:pt idx="1">
                  <c:v>50000</c:v>
                </c:pt>
                <c:pt idx="2">
                  <c:v>35000</c:v>
                </c:pt>
                <c:pt idx="3">
                  <c:v>8000</c:v>
                </c:pt>
                <c:pt idx="4">
                  <c:v>2400</c:v>
                </c:pt>
                <c:pt idx="5">
                  <c:v>1200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A630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A1F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F0CF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64B4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₹199 PDF</c:v>
                </c:pt>
              </c:strCache>
            </c:strRef>
          </c:tx>
          <c:spPr>
            <a:solidFill>
              <a:srgbClr val="D63D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0.2</c:v>
                </c:pt>
                <c:pt idx="1">
                  <c:v>0.8</c:v>
                </c:pt>
                <c:pt idx="2">
                  <c:v>2</c:v>
                </c:pt>
                <c:pt idx="3">
                  <c:v>3.5</c:v>
                </c:pt>
                <c:pt idx="4">
                  <c:v>5.5</c:v>
                </c:pt>
                <c:pt idx="5">
                  <c:v>8</c:v>
                </c:pt>
                <c:pt idx="6">
                  <c:v>11</c:v>
                </c:pt>
                <c:pt idx="7">
                  <c:v>14</c:v>
                </c:pt>
                <c:pt idx="8">
                  <c:v>16.5</c:v>
                </c:pt>
                <c:pt idx="9">
                  <c:v>19</c:v>
                </c:pt>
                <c:pt idx="10">
                  <c:v>21.5</c:v>
                </c:pt>
                <c:pt idx="11">
                  <c:v>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₹49 sub</c:v>
                </c:pt>
              </c:strCache>
            </c:strRef>
          </c:tx>
          <c:spPr>
            <a:solidFill>
              <a:srgbClr val="C77E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0.1</c:v>
                </c:pt>
                <c:pt idx="2">
                  <c:v>0.3</c:v>
                </c:pt>
                <c:pt idx="3">
                  <c:v>0.6</c:v>
                </c:pt>
                <c:pt idx="4">
                  <c:v>1.2</c:v>
                </c:pt>
                <c:pt idx="5">
                  <c:v>2</c:v>
                </c:pt>
                <c:pt idx="6">
                  <c:v>3</c:v>
                </c:pt>
                <c:pt idx="7">
                  <c:v>4.2</c:v>
                </c:pt>
                <c:pt idx="8">
                  <c:v>5.5</c:v>
                </c:pt>
                <c:pt idx="9">
                  <c:v>6.8</c:v>
                </c:pt>
                <c:pt idx="10">
                  <c:v>8</c:v>
                </c:pt>
                <c:pt idx="11">
                  <c:v>9.5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₹499 chat</c:v>
                </c:pt>
              </c:strCache>
            </c:strRef>
          </c:tx>
          <c:spPr>
            <a:solidFill>
              <a:srgbClr val="A630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0.2</c:v>
                </c:pt>
                <c:pt idx="2">
                  <c:v>0.5</c:v>
                </c:pt>
                <c:pt idx="3">
                  <c:v>1</c:v>
                </c:pt>
                <c:pt idx="4">
                  <c:v>2</c:v>
                </c:pt>
                <c:pt idx="5">
                  <c:v>3.5</c:v>
                </c:pt>
                <c:pt idx="6">
                  <c:v>5.5</c:v>
                </c:pt>
                <c:pt idx="7">
                  <c:v>7.5</c:v>
                </c:pt>
                <c:pt idx="8">
                  <c:v>9.5</c:v>
                </c:pt>
                <c:pt idx="9">
                  <c:v>11.5</c:v>
                </c:pt>
                <c:pt idx="10">
                  <c:v>13.5</c:v>
                </c:pt>
                <c:pt idx="11">
                  <c:v>15.5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₹999 baby-name</c:v>
                </c:pt>
              </c:strCache>
            </c:strRef>
          </c:tx>
          <c:spPr>
            <a:solidFill>
              <a:srgbClr val="1F7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0.1</c:v>
                </c:pt>
                <c:pt idx="3">
                  <c:v>0.3</c:v>
                </c:pt>
                <c:pt idx="4">
                  <c:v>0.7</c:v>
                </c:pt>
                <c:pt idx="5">
                  <c:v>1.5</c:v>
                </c:pt>
                <c:pt idx="6">
                  <c:v>2.5</c:v>
                </c:pt>
                <c:pt idx="7">
                  <c:v>4</c:v>
                </c:pt>
                <c:pt idx="8">
                  <c:v>5.5</c:v>
                </c:pt>
                <c:pt idx="9">
                  <c:v>7</c:v>
                </c:pt>
                <c:pt idx="10">
                  <c:v>8.5</c:v>
                </c:pt>
                <c:pt idx="11">
                  <c:v>10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₹1,499 detailed</c:v>
                </c:pt>
              </c:strCache>
            </c:strRef>
          </c:tx>
          <c:spPr>
            <a:solidFill>
              <a:srgbClr val="6B3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0.5</c:v>
                </c:pt>
                <c:pt idx="4">
                  <c:v>1.2</c:v>
                </c:pt>
                <c:pt idx="5">
                  <c:v>2.5</c:v>
                </c:pt>
                <c:pt idx="6">
                  <c:v>4</c:v>
                </c:pt>
                <c:pt idx="7">
                  <c:v>6</c:v>
                </c:pt>
                <c:pt idx="8">
                  <c:v>8.5</c:v>
                </c:pt>
                <c:pt idx="9">
                  <c:v>11</c:v>
                </c:pt>
                <c:pt idx="10">
                  <c:v>13.5</c:v>
                </c:pt>
                <c:pt idx="11">
                  <c:v>16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B2B + festival</c:v>
                </c:pt>
              </c:strCache>
            </c:strRef>
          </c:tx>
          <c:spPr>
            <a:solidFill>
              <a:srgbClr val="0D73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0.2</c:v>
                </c:pt>
                <c:pt idx="3">
                  <c:v>0.5</c:v>
                </c:pt>
                <c:pt idx="4">
                  <c:v>1</c:v>
                </c:pt>
                <c:pt idx="5">
                  <c:v>2</c:v>
                </c:pt>
                <c:pt idx="6">
                  <c:v>3.5</c:v>
                </c:pt>
                <c:pt idx="7">
                  <c:v>5.5</c:v>
                </c:pt>
                <c:pt idx="8">
                  <c:v>8</c:v>
                </c:pt>
                <c:pt idx="9">
                  <c:v>11</c:v>
                </c:pt>
                <c:pt idx="10">
                  <c:v>14</c:v>
                </c:pt>
                <c:pt idx="11">
                  <c:v>17.5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A1F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F0CF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64B4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00">
              <a:solidFill>
                <a:srgbClr val="2A1F2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FFDFE3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-1371600"/>
            <a:ext cx="5486400" cy="5486400"/>
          </a:xfrm>
          <a:prstGeom prst="ellipse">
            <a:avLst/>
          </a:prstGeom>
          <a:solidFill>
            <a:srgbClr val="FFDFE3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3657600"/>
            <a:ext cx="3657600" cy="3657600"/>
          </a:xfrm>
          <a:prstGeom prst="ellipse">
            <a:avLst/>
          </a:prstGeom>
          <a:solidFill>
            <a:srgbClr val="FECCD3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144000" y="4114800"/>
            <a:ext cx="3657600" cy="3657600"/>
          </a:xfrm>
          <a:prstGeom prst="ellipse">
            <a:avLst/>
          </a:prstGeom>
          <a:solidFill>
            <a:srgbClr val="FECCD3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0" y="36576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0" b="1" spc="400" kern="0" dirty="0">
                <a:solidFill>
                  <a:srgbClr val="1A1216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ASTRO</a:t>
            </a:r>
            <a:endParaRPr lang="en-US" sz="9000" dirty="0"/>
          </a:p>
        </p:txBody>
      </p:sp>
      <p:sp>
        <p:nvSpPr>
          <p:cNvPr id="7" name="Text 5"/>
          <p:cNvSpPr/>
          <p:nvPr/>
        </p:nvSpPr>
        <p:spPr>
          <a:xfrm>
            <a:off x="0" y="141732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0" b="1" spc="400" kern="0" dirty="0">
                <a:solidFill>
                  <a:srgbClr val="D63D58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PORTFOLIO</a:t>
            </a:r>
            <a:endParaRPr lang="en-US" sz="7400" dirty="0"/>
          </a:p>
        </p:txBody>
      </p:sp>
      <p:sp>
        <p:nvSpPr>
          <p:cNvPr id="8" name="Shape 6"/>
          <p:cNvSpPr/>
          <p:nvPr/>
        </p:nvSpPr>
        <p:spPr>
          <a:xfrm>
            <a:off x="2377440" y="2926080"/>
            <a:ext cx="7406640" cy="822960"/>
          </a:xfrm>
          <a:prstGeom prst="rect">
            <a:avLst/>
          </a:prstGeom>
          <a:solidFill>
            <a:srgbClr val="FFFFFF"/>
          </a:solidFill>
          <a:ln w="38100">
            <a:solidFill>
              <a:srgbClr val="D63D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0" y="292608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SURE-SHOT STRATEGIES · TIME-BOUND EXECUTION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3886200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· MONETIZATION · CONVERSION — STRATEGY PLAYBOOK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434840"/>
            <a:ext cx="2606040" cy="1691640"/>
          </a:xfrm>
          <a:prstGeom prst="roundRect">
            <a:avLst>
              <a:gd name="adj" fmla="val 9730"/>
            </a:avLst>
          </a:prstGeom>
          <a:solidFill>
            <a:srgbClr val="FFFFFF"/>
          </a:solidFill>
          <a:ln w="15240">
            <a:solidFill>
              <a:srgbClr val="D63D5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4434840"/>
            <a:ext cx="2606040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4348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@saathsetu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80060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149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40080" y="5532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· 8.5K viral hit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48640" y="585216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· Verified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37560" y="4434840"/>
            <a:ext cx="2606040" cy="1691640"/>
          </a:xfrm>
          <a:prstGeom prst="roundRect">
            <a:avLst>
              <a:gd name="adj" fmla="val 9730"/>
            </a:avLst>
          </a:prstGeom>
          <a:solidFill>
            <a:srgbClr val="FFFFFF"/>
          </a:solidFill>
          <a:ln w="15240">
            <a:solidFill>
              <a:srgbClr val="D63D5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4434840"/>
            <a:ext cx="2606040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9" name="Text 17"/>
          <p:cNvSpPr/>
          <p:nvPr/>
        </p:nvSpPr>
        <p:spPr>
          <a:xfrm>
            <a:off x="3337560" y="44348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37560" y="480060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3429000" y="5532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· 17 posts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337560" y="585216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26480" y="4434840"/>
            <a:ext cx="2606040" cy="1691640"/>
          </a:xfrm>
          <a:prstGeom prst="roundRect">
            <a:avLst>
              <a:gd name="adj" fmla="val 9730"/>
            </a:avLst>
          </a:prstGeom>
          <a:solidFill>
            <a:srgbClr val="FFFFFF"/>
          </a:solidFill>
          <a:ln w="15240">
            <a:solidFill>
              <a:srgbClr val="D63D5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4434840"/>
            <a:ext cx="2606040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44348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@rashitattva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26480" y="480060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6217920" y="5532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 · 136× viral lift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126480" y="585216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915400" y="4434840"/>
            <a:ext cx="2606040" cy="1691640"/>
          </a:xfrm>
          <a:prstGeom prst="roundRect">
            <a:avLst>
              <a:gd name="adj" fmla="val 9730"/>
            </a:avLst>
          </a:prstGeom>
          <a:solidFill>
            <a:srgbClr val="FFFFFF"/>
          </a:solidFill>
          <a:ln w="15240">
            <a:solidFill>
              <a:srgbClr val="D63D5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15400" y="4434840"/>
            <a:ext cx="2606040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31" name="Text 29"/>
          <p:cNvSpPr/>
          <p:nvPr/>
        </p:nvSpPr>
        <p:spPr>
          <a:xfrm>
            <a:off x="8915400" y="44348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@astrosaadhan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5400" y="480060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9006840" y="5532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· AI disclosed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915400" y="585216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36" name="Text 3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 ·  10 UNIQUE STRATEGIES  ·  WEEK-BY-WEEK EXECUTION  ·  ALL NUMBERS SOURCED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PAGES · ONE VIRAL FORMULA · UNDER-CAPTURED HUGE MARKET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2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3749040" cy="256032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271016"/>
            <a:ext cx="367588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271016"/>
            <a:ext cx="3675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CONTEXT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171907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astrology category is on a once-in-a-decade S-curve. AstroTalk takes 80%, leaving 20% for 900+ startups — fragmented opportunity if positioned right.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7200" y="2331720"/>
            <a:ext cx="16916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7200" y="23591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$163M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457200" y="265176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market 2024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2240280" y="2331720"/>
            <a:ext cx="16916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40280" y="23591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$1.79B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2240280" y="265176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2030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57200" y="297180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57200" y="2990088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49.19%</a:t>
            </a:r>
            <a:endParaRPr lang="en-US" sz="1400" dirty="0"/>
          </a:p>
        </p:txBody>
      </p:sp>
      <p:sp>
        <p:nvSpPr>
          <p:cNvPr id="78" name="Text 76"/>
          <p:cNvSpPr/>
          <p:nvPr/>
        </p:nvSpPr>
        <p:spPr>
          <a:xfrm>
            <a:off x="457200" y="323697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'25-30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2240280" y="297180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240280" y="2990088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</a:t>
            </a:r>
            <a:endParaRPr lang="en-US" sz="1400" dirty="0"/>
          </a:p>
        </p:txBody>
      </p:sp>
      <p:sp>
        <p:nvSpPr>
          <p:cNvPr id="81" name="Text 79"/>
          <p:cNvSpPr/>
          <p:nvPr/>
        </p:nvSpPr>
        <p:spPr>
          <a:xfrm>
            <a:off x="2240280" y="323697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AstroTalk share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57200" y="359359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MarkNtel Advisors Aug-2025 · Upstox industry report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4206240" y="1234440"/>
            <a:ext cx="7680960" cy="256032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>
            <a:off x="4242816" y="1271016"/>
            <a:ext cx="76078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5" name="Text 83"/>
          <p:cNvSpPr/>
          <p:nvPr/>
        </p:nvSpPr>
        <p:spPr>
          <a:xfrm>
            <a:off x="4242816" y="1271016"/>
            <a:ext cx="7607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REALITY  ·  WHAT WE INHERITED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4297680" y="1691640"/>
            <a:ext cx="132588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7" name="Text 85"/>
          <p:cNvSpPr/>
          <p:nvPr/>
        </p:nvSpPr>
        <p:spPr>
          <a:xfrm>
            <a:off x="4297680" y="16916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5623560" y="1691640"/>
            <a:ext cx="64008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9" name="Text 87"/>
          <p:cNvSpPr/>
          <p:nvPr/>
        </p:nvSpPr>
        <p:spPr>
          <a:xfrm>
            <a:off x="5623560" y="1691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6263640" y="1691640"/>
            <a:ext cx="86868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1" name="Text 89"/>
          <p:cNvSpPr/>
          <p:nvPr/>
        </p:nvSpPr>
        <p:spPr>
          <a:xfrm>
            <a:off x="6263640" y="169164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7132320" y="1691640"/>
            <a:ext cx="64008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3" name="Text 91"/>
          <p:cNvSpPr/>
          <p:nvPr/>
        </p:nvSpPr>
        <p:spPr>
          <a:xfrm>
            <a:off x="7132320" y="1691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7772400" y="1691640"/>
            <a:ext cx="100584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5" name="Text 93"/>
          <p:cNvSpPr/>
          <p:nvPr/>
        </p:nvSpPr>
        <p:spPr>
          <a:xfrm>
            <a:off x="7772400" y="1691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VIEWS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8778240" y="1691640"/>
            <a:ext cx="100584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7" name="Text 95"/>
          <p:cNvSpPr/>
          <p:nvPr/>
        </p:nvSpPr>
        <p:spPr>
          <a:xfrm>
            <a:off x="8778240" y="1691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VIEWS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9784080" y="1691640"/>
            <a:ext cx="73152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9" name="Text 97"/>
          <p:cNvSpPr/>
          <p:nvPr/>
        </p:nvSpPr>
        <p:spPr>
          <a:xfrm>
            <a:off x="9784080" y="169164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4297680" y="1984248"/>
            <a:ext cx="13258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297680" y="198424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@saathsetu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5623560" y="1984248"/>
            <a:ext cx="6400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5623560" y="198424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6263640" y="1984248"/>
            <a:ext cx="8686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263640" y="19842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7132320" y="1984248"/>
            <a:ext cx="6400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132320" y="198424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7772400" y="1984248"/>
            <a:ext cx="100584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7772400" y="19842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1,591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8778240" y="1984248"/>
            <a:ext cx="100584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8778240" y="19842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8,518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9784080" y="1984248"/>
            <a:ext cx="7315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9784080" y="19842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4297680" y="2295144"/>
            <a:ext cx="132588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297680" y="229514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@rashitattva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5623560" y="2295144"/>
            <a:ext cx="64008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623560" y="229514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850" dirty="0"/>
          </a:p>
        </p:txBody>
      </p:sp>
      <p:sp>
        <p:nvSpPr>
          <p:cNvPr id="118" name="Shape 116"/>
          <p:cNvSpPr/>
          <p:nvPr/>
        </p:nvSpPr>
        <p:spPr>
          <a:xfrm>
            <a:off x="6263640" y="2295144"/>
            <a:ext cx="86868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263640" y="229514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7132320" y="2295144"/>
            <a:ext cx="64008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132320" y="229514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7772400" y="2295144"/>
            <a:ext cx="100584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772400" y="22951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850" dirty="0"/>
          </a:p>
        </p:txBody>
      </p:sp>
      <p:sp>
        <p:nvSpPr>
          <p:cNvPr id="124" name="Shape 122"/>
          <p:cNvSpPr/>
          <p:nvPr/>
        </p:nvSpPr>
        <p:spPr>
          <a:xfrm>
            <a:off x="8778240" y="2295144"/>
            <a:ext cx="100584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778240" y="22951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615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9784080" y="2295144"/>
            <a:ext cx="73152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784080" y="22951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4297680" y="2606040"/>
            <a:ext cx="13258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297680" y="260604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@astrosaadhan</a:t>
            </a:r>
            <a:endParaRPr lang="en-US" sz="850" dirty="0"/>
          </a:p>
        </p:txBody>
      </p:sp>
      <p:sp>
        <p:nvSpPr>
          <p:cNvPr id="130" name="Shape 128"/>
          <p:cNvSpPr/>
          <p:nvPr/>
        </p:nvSpPr>
        <p:spPr>
          <a:xfrm>
            <a:off x="5623560" y="2606040"/>
            <a:ext cx="6400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623560" y="2606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6263640" y="2606040"/>
            <a:ext cx="8686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63640" y="26060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134" name="Shape 132"/>
          <p:cNvSpPr/>
          <p:nvPr/>
        </p:nvSpPr>
        <p:spPr>
          <a:xfrm>
            <a:off x="7132320" y="2606040"/>
            <a:ext cx="6400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132320" y="2606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772400" y="2606040"/>
            <a:ext cx="100584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772400" y="2606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138" name="Shape 136"/>
          <p:cNvSpPr/>
          <p:nvPr/>
        </p:nvSpPr>
        <p:spPr>
          <a:xfrm>
            <a:off x="8778240" y="2606040"/>
            <a:ext cx="100584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778240" y="2606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9784080" y="2606040"/>
            <a:ext cx="7315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84080" y="2606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850" dirty="0"/>
          </a:p>
        </p:txBody>
      </p:sp>
      <p:sp>
        <p:nvSpPr>
          <p:cNvPr id="142" name="Shape 140"/>
          <p:cNvSpPr/>
          <p:nvPr/>
        </p:nvSpPr>
        <p:spPr>
          <a:xfrm>
            <a:off x="4297680" y="2916936"/>
            <a:ext cx="132588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297680" y="29169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</a:t>
            </a:r>
            <a:endParaRPr lang="en-US" sz="850" dirty="0"/>
          </a:p>
        </p:txBody>
      </p:sp>
      <p:sp>
        <p:nvSpPr>
          <p:cNvPr id="144" name="Shape 142"/>
          <p:cNvSpPr/>
          <p:nvPr/>
        </p:nvSpPr>
        <p:spPr>
          <a:xfrm>
            <a:off x="5623560" y="2916936"/>
            <a:ext cx="64008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623560" y="291693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6263640" y="2916936"/>
            <a:ext cx="86868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6263640" y="291693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850" dirty="0"/>
          </a:p>
        </p:txBody>
      </p:sp>
      <p:sp>
        <p:nvSpPr>
          <p:cNvPr id="148" name="Shape 146"/>
          <p:cNvSpPr/>
          <p:nvPr/>
        </p:nvSpPr>
        <p:spPr>
          <a:xfrm>
            <a:off x="7132320" y="2916936"/>
            <a:ext cx="64008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132320" y="291693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150" name="Shape 148"/>
          <p:cNvSpPr/>
          <p:nvPr/>
        </p:nvSpPr>
        <p:spPr>
          <a:xfrm>
            <a:off x="7772400" y="2916936"/>
            <a:ext cx="100584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7772400" y="29169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152" name="Shape 150"/>
          <p:cNvSpPr/>
          <p:nvPr/>
        </p:nvSpPr>
        <p:spPr>
          <a:xfrm>
            <a:off x="8778240" y="2916936"/>
            <a:ext cx="100584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8778240" y="29169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  <p:sp>
        <p:nvSpPr>
          <p:cNvPr id="154" name="Shape 152"/>
          <p:cNvSpPr/>
          <p:nvPr/>
        </p:nvSpPr>
        <p:spPr>
          <a:xfrm>
            <a:off x="9784080" y="2916936"/>
            <a:ext cx="731520" cy="310896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784080" y="291693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850" dirty="0"/>
          </a:p>
        </p:txBody>
      </p:sp>
      <p:sp>
        <p:nvSpPr>
          <p:cNvPr id="156" name="Text 154"/>
          <p:cNvSpPr/>
          <p:nvPr/>
        </p:nvSpPr>
        <p:spPr>
          <a:xfrm>
            <a:off x="4297680" y="3291840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First-party scrape · May 2026 · 153 followers total across 4 handles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320040" y="3931920"/>
            <a:ext cx="5760720" cy="265176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58" name="Shape 156"/>
          <p:cNvSpPr/>
          <p:nvPr/>
        </p:nvSpPr>
        <p:spPr>
          <a:xfrm>
            <a:off x="356616" y="3968496"/>
            <a:ext cx="568756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59" name="Text 157"/>
          <p:cNvSpPr/>
          <p:nvPr/>
        </p:nvSpPr>
        <p:spPr>
          <a:xfrm>
            <a:off x="356616" y="3968496"/>
            <a:ext cx="5687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STRUCTURAL BARRIERS TO 25K</a:t>
            </a:r>
            <a:endParaRPr lang="en-US" sz="1100" dirty="0"/>
          </a:p>
        </p:txBody>
      </p:sp>
      <p:sp>
        <p:nvSpPr>
          <p:cNvPr id="160" name="Shape 158"/>
          <p:cNvSpPr/>
          <p:nvPr/>
        </p:nvSpPr>
        <p:spPr>
          <a:xfrm>
            <a:off x="457200" y="4480560"/>
            <a:ext cx="182880" cy="18288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61" name="Text 159"/>
          <p:cNvSpPr/>
          <p:nvPr/>
        </p:nvSpPr>
        <p:spPr>
          <a:xfrm>
            <a:off x="457200" y="44805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62" name="Text 160"/>
          <p:cNvSpPr/>
          <p:nvPr/>
        </p:nvSpPr>
        <p:spPr>
          <a:xfrm>
            <a:off x="713232" y="445312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cold-start</a:t>
            </a:r>
            <a:endParaRPr lang="en-US" sz="950" dirty="0"/>
          </a:p>
        </p:txBody>
      </p:sp>
      <p:sp>
        <p:nvSpPr>
          <p:cNvPr id="163" name="Text 161"/>
          <p:cNvSpPr/>
          <p:nvPr/>
        </p:nvSpPr>
        <p:spPr>
          <a:xfrm>
            <a:off x="713232" y="46360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3/4 accounts &lt;20 posts, zero engagement. IG = 0 distribution.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457200" y="4873752"/>
            <a:ext cx="182880" cy="18288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65" name="Text 163"/>
          <p:cNvSpPr/>
          <p:nvPr/>
        </p:nvSpPr>
        <p:spPr>
          <a:xfrm>
            <a:off x="457200" y="48737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6" name="Text 164"/>
          <p:cNvSpPr/>
          <p:nvPr/>
        </p:nvSpPr>
        <p:spPr>
          <a:xfrm>
            <a:off x="713232" y="484632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Single-format Reels-only</a:t>
            </a:r>
            <a:endParaRPr lang="en-US" sz="950" dirty="0"/>
          </a:p>
        </p:txBody>
      </p:sp>
      <p:sp>
        <p:nvSpPr>
          <p:cNvPr id="167" name="Text 165"/>
          <p:cNvSpPr/>
          <p:nvPr/>
        </p:nvSpPr>
        <p:spPr>
          <a:xfrm>
            <a:off x="713232" y="502920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Reels on @saathsetu. No carousels = no saves anchor.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457200" y="5266944"/>
            <a:ext cx="182880" cy="18288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69" name="Text 167"/>
          <p:cNvSpPr/>
          <p:nvPr/>
        </p:nvSpPr>
        <p:spPr>
          <a:xfrm>
            <a:off x="457200" y="5266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70" name="Text 168"/>
          <p:cNvSpPr/>
          <p:nvPr/>
        </p:nvSpPr>
        <p:spPr>
          <a:xfrm>
            <a:off x="713232" y="52395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Audience-platform mismatch</a:t>
            </a:r>
            <a:endParaRPr lang="en-US" sz="950" dirty="0"/>
          </a:p>
        </p:txBody>
      </p:sp>
      <p:sp>
        <p:nvSpPr>
          <p:cNvPr id="171" name="Text 169"/>
          <p:cNvSpPr/>
          <p:nvPr/>
        </p:nvSpPr>
        <p:spPr>
          <a:xfrm>
            <a:off x="713232" y="542239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skew 35-65. IG core 18-34. Wrong gate.</a:t>
            </a:r>
            <a:endParaRPr lang="en-US" sz="750" dirty="0"/>
          </a:p>
        </p:txBody>
      </p:sp>
      <p:sp>
        <p:nvSpPr>
          <p:cNvPr id="172" name="Shape 170"/>
          <p:cNvSpPr/>
          <p:nvPr/>
        </p:nvSpPr>
        <p:spPr>
          <a:xfrm>
            <a:off x="457200" y="5660136"/>
            <a:ext cx="182880" cy="18288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73" name="Text 171"/>
          <p:cNvSpPr/>
          <p:nvPr/>
        </p:nvSpPr>
        <p:spPr>
          <a:xfrm>
            <a:off x="457200" y="56601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74" name="Text 172"/>
          <p:cNvSpPr/>
          <p:nvPr/>
        </p:nvSpPr>
        <p:spPr>
          <a:xfrm>
            <a:off x="713232" y="563270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handle unseeded</a:t>
            </a:r>
            <a:endParaRPr lang="en-US" sz="950" dirty="0"/>
          </a:p>
        </p:txBody>
      </p:sp>
      <p:sp>
        <p:nvSpPr>
          <p:cNvPr id="175" name="Text 173"/>
          <p:cNvSpPr/>
          <p:nvPr/>
        </p:nvSpPr>
        <p:spPr>
          <a:xfrm>
            <a:off x="713232" y="581558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 0 followers despite 17 posts. Marathi astro = upside.</a:t>
            </a:r>
            <a:endParaRPr lang="en-US" sz="750" dirty="0"/>
          </a:p>
        </p:txBody>
      </p:sp>
      <p:sp>
        <p:nvSpPr>
          <p:cNvPr id="176" name="Shape 174"/>
          <p:cNvSpPr/>
          <p:nvPr/>
        </p:nvSpPr>
        <p:spPr>
          <a:xfrm>
            <a:off x="457200" y="6053328"/>
            <a:ext cx="182880" cy="18288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77" name="Text 175"/>
          <p:cNvSpPr/>
          <p:nvPr/>
        </p:nvSpPr>
        <p:spPr>
          <a:xfrm>
            <a:off x="457200" y="605332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78" name="Text 176"/>
          <p:cNvSpPr/>
          <p:nvPr/>
        </p:nvSpPr>
        <p:spPr>
          <a:xfrm>
            <a:off x="713232" y="602589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disclosed in @astrosaadhan bio</a:t>
            </a:r>
            <a:endParaRPr lang="en-US" sz="950" dirty="0"/>
          </a:p>
        </p:txBody>
      </p:sp>
      <p:sp>
        <p:nvSpPr>
          <p:cNvPr id="179" name="Text 177"/>
          <p:cNvSpPr/>
          <p:nvPr/>
        </p:nvSpPr>
        <p:spPr>
          <a:xfrm>
            <a:off x="713232" y="620877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'Created by AI' kills credibility with elder buyer.</a:t>
            </a:r>
            <a:endParaRPr lang="en-US" sz="750" dirty="0"/>
          </a:p>
        </p:txBody>
      </p:sp>
      <p:sp>
        <p:nvSpPr>
          <p:cNvPr id="180" name="Shape 178"/>
          <p:cNvSpPr/>
          <p:nvPr/>
        </p:nvSpPr>
        <p:spPr>
          <a:xfrm>
            <a:off x="6172200" y="3931920"/>
            <a:ext cx="5715000" cy="265176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81" name="Shape 179"/>
          <p:cNvSpPr/>
          <p:nvPr/>
        </p:nvSpPr>
        <p:spPr>
          <a:xfrm>
            <a:off x="6208776" y="3968496"/>
            <a:ext cx="564184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82" name="Text 180"/>
          <p:cNvSpPr/>
          <p:nvPr/>
        </p:nvSpPr>
        <p:spPr>
          <a:xfrm>
            <a:off x="6208776" y="3968496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 METRIC + 6 GUARDRAILS</a:t>
            </a:r>
            <a:endParaRPr lang="en-US" sz="1100" dirty="0"/>
          </a:p>
        </p:txBody>
      </p:sp>
      <p:sp>
        <p:nvSpPr>
          <p:cNvPr id="183" name="Text 181"/>
          <p:cNvSpPr/>
          <p:nvPr/>
        </p:nvSpPr>
        <p:spPr>
          <a:xfrm>
            <a:off x="6309360" y="440740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Paid Kundli Orders per 1K Followers</a:t>
            </a:r>
            <a:endParaRPr lang="en-US" sz="1200" dirty="0"/>
          </a:p>
        </p:txBody>
      </p:sp>
      <p:sp>
        <p:nvSpPr>
          <p:cNvPr id="184" name="Text 182"/>
          <p:cNvSpPr/>
          <p:nvPr/>
        </p:nvSpPr>
        <p:spPr>
          <a:xfrm>
            <a:off x="6309360" y="470916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reach + trust + monetisation in one number — protects against vanity-follower growth without revenue.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6309360" y="5440680"/>
            <a:ext cx="64008" cy="914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86" name="Text 184"/>
          <p:cNvSpPr/>
          <p:nvPr/>
        </p:nvSpPr>
        <p:spPr>
          <a:xfrm>
            <a:off x="6446520" y="53949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views per Reel</a:t>
            </a:r>
            <a:endParaRPr lang="en-US" sz="850" dirty="0"/>
          </a:p>
        </p:txBody>
      </p:sp>
      <p:sp>
        <p:nvSpPr>
          <p:cNvPr id="187" name="Text 185"/>
          <p:cNvSpPr/>
          <p:nvPr/>
        </p:nvSpPr>
        <p:spPr>
          <a:xfrm>
            <a:off x="9235440" y="539496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4 handles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6309360" y="5632704"/>
            <a:ext cx="64008" cy="914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89" name="Text 187"/>
          <p:cNvSpPr/>
          <p:nvPr/>
        </p:nvSpPr>
        <p:spPr>
          <a:xfrm>
            <a:off x="6446520" y="55869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rate per post</a:t>
            </a:r>
            <a:endParaRPr lang="en-US" sz="850" dirty="0"/>
          </a:p>
        </p:txBody>
      </p:sp>
      <p:sp>
        <p:nvSpPr>
          <p:cNvPr id="190" name="Text 188"/>
          <p:cNvSpPr/>
          <p:nvPr/>
        </p:nvSpPr>
        <p:spPr>
          <a:xfrm>
            <a:off x="9235440" y="5586984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IG's strongest signal</a:t>
            </a:r>
            <a:endParaRPr lang="en-US" sz="750" dirty="0"/>
          </a:p>
        </p:txBody>
      </p:sp>
      <p:sp>
        <p:nvSpPr>
          <p:cNvPr id="191" name="Shape 189"/>
          <p:cNvSpPr/>
          <p:nvPr/>
        </p:nvSpPr>
        <p:spPr>
          <a:xfrm>
            <a:off x="6309360" y="5824728"/>
            <a:ext cx="64008" cy="914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92" name="Text 190"/>
          <p:cNvSpPr/>
          <p:nvPr/>
        </p:nvSpPr>
        <p:spPr>
          <a:xfrm>
            <a:off x="6446520" y="57790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opt-in conversion</a:t>
            </a:r>
            <a:endParaRPr lang="en-US" sz="850" dirty="0"/>
          </a:p>
        </p:txBody>
      </p:sp>
      <p:sp>
        <p:nvSpPr>
          <p:cNvPr id="193" name="Text 191"/>
          <p:cNvSpPr/>
          <p:nvPr/>
        </p:nvSpPr>
        <p:spPr>
          <a:xfrm>
            <a:off x="9235440" y="57790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post-page-view rate</a:t>
            </a:r>
            <a:endParaRPr lang="en-US" sz="750" dirty="0"/>
          </a:p>
        </p:txBody>
      </p:sp>
      <p:sp>
        <p:nvSpPr>
          <p:cNvPr id="194" name="Shape 192"/>
          <p:cNvSpPr/>
          <p:nvPr/>
        </p:nvSpPr>
        <p:spPr>
          <a:xfrm>
            <a:off x="6309360" y="6016752"/>
            <a:ext cx="64008" cy="914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95" name="Text 193"/>
          <p:cNvSpPr/>
          <p:nvPr/>
        </p:nvSpPr>
        <p:spPr>
          <a:xfrm>
            <a:off x="6446520" y="5971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₹199 order</a:t>
            </a:r>
            <a:endParaRPr lang="en-US" sz="850" dirty="0"/>
          </a:p>
        </p:txBody>
      </p:sp>
      <p:sp>
        <p:nvSpPr>
          <p:cNvPr id="196" name="Text 194"/>
          <p:cNvSpPr/>
          <p:nvPr/>
        </p:nvSpPr>
        <p:spPr>
          <a:xfrm>
            <a:off x="9235440" y="5971032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discipline</a:t>
            </a:r>
            <a:endParaRPr lang="en-US" sz="750" dirty="0"/>
          </a:p>
        </p:txBody>
      </p:sp>
      <p:sp>
        <p:nvSpPr>
          <p:cNvPr id="197" name="Shape 195"/>
          <p:cNvSpPr/>
          <p:nvPr/>
        </p:nvSpPr>
        <p:spPr>
          <a:xfrm>
            <a:off x="6309360" y="6208776"/>
            <a:ext cx="64008" cy="914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98" name="Text 196"/>
          <p:cNvSpPr/>
          <p:nvPr/>
        </p:nvSpPr>
        <p:spPr>
          <a:xfrm>
            <a:off x="6446520" y="61630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: CAC ratio</a:t>
            </a:r>
            <a:endParaRPr lang="en-US" sz="850" dirty="0"/>
          </a:p>
        </p:txBody>
      </p:sp>
      <p:sp>
        <p:nvSpPr>
          <p:cNvPr id="199" name="Text 197"/>
          <p:cNvSpPr/>
          <p:nvPr/>
        </p:nvSpPr>
        <p:spPr>
          <a:xfrm>
            <a:off x="9235440" y="616305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durability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309360" y="6400800"/>
            <a:ext cx="64008" cy="914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01" name="Text 199"/>
          <p:cNvSpPr/>
          <p:nvPr/>
        </p:nvSpPr>
        <p:spPr>
          <a:xfrm>
            <a:off x="6446520" y="6355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→ Show-up at consult</a:t>
            </a:r>
            <a:endParaRPr lang="en-US" sz="850" dirty="0"/>
          </a:p>
        </p:txBody>
      </p:sp>
      <p:sp>
        <p:nvSpPr>
          <p:cNvPr id="202" name="Text 200"/>
          <p:cNvSpPr/>
          <p:nvPr/>
        </p:nvSpPr>
        <p:spPr>
          <a:xfrm>
            <a:off x="9235440" y="63550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premium tier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INDIA ASTRO IS THE FASTEST-GROWING DIGITAL CATEGORY GLOBALLY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3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585216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271016"/>
            <a:ext cx="5779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271016"/>
            <a:ext cx="5779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ASTROLOGY APP MARKET (USD MILLIONS)</a:t>
            </a:r>
            <a:endParaRPr lang="en-US" sz="1100" dirty="0"/>
          </a:p>
        </p:txBody>
      </p:sp>
      <p:graphicFrame>
        <p:nvGraphicFramePr>
          <p:cNvPr id="69" name="Chart 0" descr=""/>
          <p:cNvGraphicFramePr/>
          <p:nvPr/>
        </p:nvGraphicFramePr>
        <p:xfrm>
          <a:off x="457200" y="1691640"/>
          <a:ext cx="55778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0" name="Text 67"/>
          <p:cNvSpPr/>
          <p:nvPr/>
        </p:nvSpPr>
        <p:spPr>
          <a:xfrm>
            <a:off x="457200" y="384048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MarkNtel Advisors Aug-2025 · 49.19% CAGR · projected $1.79B by 2030</a:t>
            </a:r>
            <a:endParaRPr lang="en-US" sz="700" dirty="0"/>
          </a:p>
        </p:txBody>
      </p:sp>
      <p:sp>
        <p:nvSpPr>
          <p:cNvPr id="71" name="Shape 68"/>
          <p:cNvSpPr/>
          <p:nvPr/>
        </p:nvSpPr>
        <p:spPr>
          <a:xfrm>
            <a:off x="6263640" y="1234440"/>
            <a:ext cx="562356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72" name="Shape 69"/>
          <p:cNvSpPr/>
          <p:nvPr/>
        </p:nvSpPr>
        <p:spPr>
          <a:xfrm>
            <a:off x="6300216" y="1271016"/>
            <a:ext cx="55504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3" name="Text 70"/>
          <p:cNvSpPr/>
          <p:nvPr/>
        </p:nvSpPr>
        <p:spPr>
          <a:xfrm>
            <a:off x="6300216" y="1271016"/>
            <a:ext cx="5550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ASTROLOGY APP — MARKET SHARE</a:t>
            </a:r>
            <a:endParaRPr lang="en-US" sz="1100" dirty="0"/>
          </a:p>
        </p:txBody>
      </p:sp>
      <p:graphicFrame>
        <p:nvGraphicFramePr>
          <p:cNvPr id="74" name="Chart 1" descr=""/>
          <p:cNvGraphicFramePr/>
          <p:nvPr/>
        </p:nvGraphicFramePr>
        <p:xfrm>
          <a:off x="6446520" y="1691640"/>
          <a:ext cx="53492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5" name="Text 71"/>
          <p:cNvSpPr/>
          <p:nvPr/>
        </p:nvSpPr>
        <p:spPr>
          <a:xfrm>
            <a:off x="6446520" y="3840480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MarkNtel Advisors (AstroTalk ~80% share)</a:t>
            </a:r>
            <a:endParaRPr lang="en-US" sz="700" dirty="0"/>
          </a:p>
        </p:txBody>
      </p:sp>
      <p:sp>
        <p:nvSpPr>
          <p:cNvPr id="76" name="Shape 72"/>
          <p:cNvSpPr/>
          <p:nvPr/>
        </p:nvSpPr>
        <p:spPr>
          <a:xfrm>
            <a:off x="320040" y="4114800"/>
            <a:ext cx="5852160" cy="24688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77" name="Shape 73"/>
          <p:cNvSpPr/>
          <p:nvPr/>
        </p:nvSpPr>
        <p:spPr>
          <a:xfrm>
            <a:off x="356616" y="4151376"/>
            <a:ext cx="5779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8" name="Text 74"/>
          <p:cNvSpPr/>
          <p:nvPr/>
        </p:nvSpPr>
        <p:spPr>
          <a:xfrm>
            <a:off x="356616" y="4151376"/>
            <a:ext cx="5779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DRIVERS  ·  WHY THE CURVE EXISTS</a:t>
            </a:r>
            <a:endParaRPr lang="en-US" sz="1100" dirty="0"/>
          </a:p>
        </p:txBody>
      </p:sp>
      <p:sp>
        <p:nvSpPr>
          <p:cNvPr id="79" name="Shape 75"/>
          <p:cNvSpPr/>
          <p:nvPr/>
        </p:nvSpPr>
        <p:spPr>
          <a:xfrm>
            <a:off x="457200" y="4480560"/>
            <a:ext cx="2743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1800" dirty="0"/>
          </a:p>
        </p:txBody>
      </p:sp>
      <p:sp>
        <p:nvSpPr>
          <p:cNvPr id="81" name="Text 77"/>
          <p:cNvSpPr/>
          <p:nvPr/>
        </p:nvSpPr>
        <p:spPr>
          <a:xfrm>
            <a:off x="1051560" y="4526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base</a:t>
            </a:r>
            <a:endParaRPr lang="en-US" sz="900" dirty="0"/>
          </a:p>
        </p:txBody>
      </p:sp>
      <p:sp>
        <p:nvSpPr>
          <p:cNvPr id="82" name="Text 78"/>
          <p:cNvSpPr/>
          <p:nvPr/>
        </p:nvSpPr>
        <p:spPr>
          <a:xfrm>
            <a:off x="1051560" y="4800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700M+ users (TRAI FY24)</a:t>
            </a:r>
            <a:endParaRPr lang="en-US" sz="750" dirty="0"/>
          </a:p>
        </p:txBody>
      </p:sp>
      <p:sp>
        <p:nvSpPr>
          <p:cNvPr id="83" name="Shape 79"/>
          <p:cNvSpPr/>
          <p:nvPr/>
        </p:nvSpPr>
        <p:spPr>
          <a:xfrm>
            <a:off x="3291840" y="4480560"/>
            <a:ext cx="2743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4" name="Text 80"/>
          <p:cNvSpPr/>
          <p:nvPr/>
        </p:nvSpPr>
        <p:spPr>
          <a:xfrm>
            <a:off x="338328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1800" dirty="0"/>
          </a:p>
        </p:txBody>
      </p:sp>
      <p:sp>
        <p:nvSpPr>
          <p:cNvPr id="85" name="Text 81"/>
          <p:cNvSpPr/>
          <p:nvPr/>
        </p:nvSpPr>
        <p:spPr>
          <a:xfrm>
            <a:off x="3886200" y="4526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dominance</a:t>
            </a:r>
            <a:endParaRPr lang="en-US" sz="900" dirty="0"/>
          </a:p>
        </p:txBody>
      </p:sp>
      <p:sp>
        <p:nvSpPr>
          <p:cNvPr id="86" name="Text 82"/>
          <p:cNvSpPr/>
          <p:nvPr/>
        </p:nvSpPr>
        <p:spPr>
          <a:xfrm>
            <a:off x="3886200" y="4800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500M+ Indian users — trust channel</a:t>
            </a:r>
            <a:endParaRPr lang="en-US" sz="750" dirty="0"/>
          </a:p>
        </p:txBody>
      </p:sp>
      <p:sp>
        <p:nvSpPr>
          <p:cNvPr id="87" name="Shape 83"/>
          <p:cNvSpPr/>
          <p:nvPr/>
        </p:nvSpPr>
        <p:spPr>
          <a:xfrm>
            <a:off x="457200" y="5193792"/>
            <a:ext cx="2743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8" name="Text 84"/>
          <p:cNvSpPr/>
          <p:nvPr/>
        </p:nvSpPr>
        <p:spPr>
          <a:xfrm>
            <a:off x="548640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1800" dirty="0"/>
          </a:p>
        </p:txBody>
      </p:sp>
      <p:sp>
        <p:nvSpPr>
          <p:cNvPr id="89" name="Text 85"/>
          <p:cNvSpPr/>
          <p:nvPr/>
        </p:nvSpPr>
        <p:spPr>
          <a:xfrm>
            <a:off x="10515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penetration</a:t>
            </a:r>
            <a:endParaRPr lang="en-US" sz="900" dirty="0"/>
          </a:p>
        </p:txBody>
      </p:sp>
      <p:sp>
        <p:nvSpPr>
          <p:cNvPr id="90" name="Text 86"/>
          <p:cNvSpPr/>
          <p:nvPr/>
        </p:nvSpPr>
        <p:spPr>
          <a:xfrm>
            <a:off x="1051560" y="5513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950M+ users by Mar 2024 (TRAI)</a:t>
            </a:r>
            <a:endParaRPr lang="en-US" sz="750" dirty="0"/>
          </a:p>
        </p:txBody>
      </p:sp>
      <p:sp>
        <p:nvSpPr>
          <p:cNvPr id="91" name="Shape 87"/>
          <p:cNvSpPr/>
          <p:nvPr/>
        </p:nvSpPr>
        <p:spPr>
          <a:xfrm>
            <a:off x="3291840" y="5193792"/>
            <a:ext cx="2743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92" name="Text 88"/>
          <p:cNvSpPr/>
          <p:nvPr/>
        </p:nvSpPr>
        <p:spPr>
          <a:xfrm>
            <a:off x="3383280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</a:t>
            </a:r>
            <a:endParaRPr lang="en-US" sz="1800" dirty="0"/>
          </a:p>
        </p:txBody>
      </p:sp>
      <p:sp>
        <p:nvSpPr>
          <p:cNvPr id="93" name="Text 89"/>
          <p:cNvSpPr/>
          <p:nvPr/>
        </p:nvSpPr>
        <p:spPr>
          <a:xfrm>
            <a:off x="388620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normalisation</a:t>
            </a:r>
            <a:endParaRPr lang="en-US" sz="900" dirty="0"/>
          </a:p>
        </p:txBody>
      </p:sp>
      <p:sp>
        <p:nvSpPr>
          <p:cNvPr id="94" name="Text 90"/>
          <p:cNvSpPr/>
          <p:nvPr/>
        </p:nvSpPr>
        <p:spPr>
          <a:xfrm>
            <a:off x="3886200" y="5513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134B+ txns FY23, frictionless ₹199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457200" y="5907024"/>
            <a:ext cx="2743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548640" y="5998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🌺</a:t>
            </a:r>
            <a:endParaRPr lang="en-US" sz="1800" dirty="0"/>
          </a:p>
        </p:txBody>
      </p:sp>
      <p:sp>
        <p:nvSpPr>
          <p:cNvPr id="97" name="Text 93"/>
          <p:cNvSpPr/>
          <p:nvPr/>
        </p:nvSpPr>
        <p:spPr>
          <a:xfrm>
            <a:off x="1051560" y="59527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anchor</a:t>
            </a:r>
            <a:endParaRPr lang="en-US" sz="900" dirty="0"/>
          </a:p>
        </p:txBody>
      </p:sp>
      <p:sp>
        <p:nvSpPr>
          <p:cNvPr id="98" name="Text 94"/>
          <p:cNvSpPr/>
          <p:nvPr/>
        </p:nvSpPr>
        <p:spPr>
          <a:xfrm>
            <a:off x="1051560" y="6227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Vedic = 60%+ of category (MarkNtel)</a:t>
            </a:r>
            <a:endParaRPr lang="en-US" sz="750" dirty="0"/>
          </a:p>
        </p:txBody>
      </p:sp>
      <p:sp>
        <p:nvSpPr>
          <p:cNvPr id="99" name="Shape 95"/>
          <p:cNvSpPr/>
          <p:nvPr/>
        </p:nvSpPr>
        <p:spPr>
          <a:xfrm>
            <a:off x="3291840" y="5907024"/>
            <a:ext cx="27432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3383280" y="5998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🌸</a:t>
            </a:r>
            <a:endParaRPr lang="en-US" sz="1800" dirty="0"/>
          </a:p>
        </p:txBody>
      </p:sp>
      <p:sp>
        <p:nvSpPr>
          <p:cNvPr id="101" name="Text 97"/>
          <p:cNvSpPr/>
          <p:nvPr/>
        </p:nvSpPr>
        <p:spPr>
          <a:xfrm>
            <a:off x="3886200" y="59527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Gen-Z curiosity</a:t>
            </a:r>
            <a:endParaRPr lang="en-US" sz="900" dirty="0"/>
          </a:p>
        </p:txBody>
      </p:sp>
      <p:sp>
        <p:nvSpPr>
          <p:cNvPr id="102" name="Text 98"/>
          <p:cNvSpPr/>
          <p:nvPr/>
        </p:nvSpPr>
        <p:spPr>
          <a:xfrm>
            <a:off x="3886200" y="6227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53.8% Gen-Z sought astro (Astroyogi '23)</a:t>
            </a:r>
            <a:endParaRPr lang="en-US" sz="750" dirty="0"/>
          </a:p>
        </p:txBody>
      </p:sp>
      <p:sp>
        <p:nvSpPr>
          <p:cNvPr id="103" name="Shape 99"/>
          <p:cNvSpPr/>
          <p:nvPr/>
        </p:nvSpPr>
        <p:spPr>
          <a:xfrm>
            <a:off x="6263640" y="4114800"/>
            <a:ext cx="5623560" cy="24688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04" name="Shape 100"/>
          <p:cNvSpPr/>
          <p:nvPr/>
        </p:nvSpPr>
        <p:spPr>
          <a:xfrm>
            <a:off x="6300216" y="4151376"/>
            <a:ext cx="55504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05" name="Text 101"/>
          <p:cNvSpPr/>
          <p:nvPr/>
        </p:nvSpPr>
        <p:spPr>
          <a:xfrm>
            <a:off x="6300216" y="4151376"/>
            <a:ext cx="5550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 FUNDING TRAJECTORY ($M, YEARLY)</a:t>
            </a:r>
            <a:endParaRPr lang="en-US" sz="1100" dirty="0"/>
          </a:p>
        </p:txBody>
      </p:sp>
      <p:graphicFrame>
        <p:nvGraphicFramePr>
          <p:cNvPr id="106" name="Chart 2" descr=""/>
          <p:cNvGraphicFramePr/>
          <p:nvPr/>
        </p:nvGraphicFramePr>
        <p:xfrm>
          <a:off x="6400800" y="4572000"/>
          <a:ext cx="534924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7" name="Text 102"/>
          <p:cNvSpPr/>
          <p:nvPr/>
        </p:nvSpPr>
        <p:spPr>
          <a:xfrm>
            <a:off x="6400800" y="6309360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Tracxn — funding grew $88K (2015) → $50M (2024)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MECE DECOMPOSITION OF WHY @SAATHSETU SCALED AND OTHER 3 STALLED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4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379476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271016"/>
            <a:ext cx="37216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271016"/>
            <a:ext cx="3721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REALITY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57200" y="1764792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0" name="Text 68"/>
          <p:cNvSpPr/>
          <p:nvPr/>
        </p:nvSpPr>
        <p:spPr>
          <a:xfrm>
            <a:off x="594360" y="16916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AstroTalk ~80% share, 30M+ downloads, ₹70cr monthly revenue (Upstox)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57200" y="2130552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2" name="Text 70"/>
          <p:cNvSpPr/>
          <p:nvPr/>
        </p:nvSpPr>
        <p:spPr>
          <a:xfrm>
            <a:off x="594360" y="20574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AstroSage 10M+ installs, ₹60cr FY24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57200" y="2496312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" y="24231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AppsForBharat (SriMandir) raised $40M in 2024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57200" y="2862072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6" name="Text 74"/>
          <p:cNvSpPr/>
          <p:nvPr/>
        </p:nvSpPr>
        <p:spPr>
          <a:xfrm>
            <a:off x="594360" y="27889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Vedic astrology = 60%+ of category (MarkNtel)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457200" y="3227832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8" name="Text 76"/>
          <p:cNvSpPr/>
          <p:nvPr/>
        </p:nvSpPr>
        <p:spPr>
          <a:xfrm>
            <a:off x="594360" y="31546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captions 25-30% higher engagement vs English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57200" y="3593592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0" name="Text 78"/>
          <p:cNvSpPr/>
          <p:nvPr/>
        </p:nvSpPr>
        <p:spPr>
          <a:xfrm>
            <a:off x="594360" y="35204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Hindi astro influencer Jaya Karamchandani = 204K (ceiling proof)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206240" y="1234440"/>
            <a:ext cx="379476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82" name="Shape 80"/>
          <p:cNvSpPr/>
          <p:nvPr/>
        </p:nvSpPr>
        <p:spPr>
          <a:xfrm>
            <a:off x="4242816" y="1271016"/>
            <a:ext cx="37216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3" name="Text 81"/>
          <p:cNvSpPr/>
          <p:nvPr/>
        </p:nvSpPr>
        <p:spPr>
          <a:xfrm>
            <a:off x="4242816" y="1271016"/>
            <a:ext cx="3721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DEFICIT INDEX (TDI)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4434840" y="1755648"/>
            <a:ext cx="1508760" cy="777240"/>
          </a:xfrm>
          <a:prstGeom prst="ellipse">
            <a:avLst/>
          </a:prstGeom>
          <a:solidFill>
            <a:srgbClr val="FFDFE3"/>
          </a:solidFill>
          <a:ln w="12700">
            <a:solidFill>
              <a:srgbClr val="D63D5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434840" y="1755648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(badge/cert)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263640" y="1755648"/>
            <a:ext cx="1508760" cy="777240"/>
          </a:xfrm>
          <a:prstGeom prst="ellipse">
            <a:avLst/>
          </a:prstGeom>
          <a:solidFill>
            <a:srgbClr val="FFDFE3"/>
          </a:solidFill>
          <a:ln w="12700">
            <a:solidFill>
              <a:srgbClr val="D63D5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63640" y="1755648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(human ≠ AI)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434840" y="2697480"/>
            <a:ext cx="1508760" cy="777240"/>
          </a:xfrm>
          <a:prstGeom prst="ellipse">
            <a:avLst/>
          </a:prstGeom>
          <a:solidFill>
            <a:srgbClr val="FFDFE3"/>
          </a:solidFill>
          <a:ln w="12700">
            <a:solidFill>
              <a:srgbClr val="D63D5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434840" y="269748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Proof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(testimonials)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6263640" y="2697480"/>
            <a:ext cx="1508760" cy="777240"/>
          </a:xfrm>
          <a:prstGeom prst="ellipse">
            <a:avLst/>
          </a:prstGeom>
          <a:solidFill>
            <a:srgbClr val="FFDFE3"/>
          </a:solidFill>
          <a:ln w="12700">
            <a:solidFill>
              <a:srgbClr val="D63D5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263640" y="269748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 cadence)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526280" y="3611880"/>
            <a:ext cx="3200400" cy="274320"/>
          </a:xfrm>
          <a:prstGeom prst="rect">
            <a:avLst/>
          </a:prstGeom>
          <a:solidFill>
            <a:srgbClr val="D63D58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2628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TDI = Verification + Voice + Visual Proof + Velocity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8092440" y="1234440"/>
            <a:ext cx="379476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>
            <a:off x="8129016" y="1271016"/>
            <a:ext cx="37216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6" name="Text 94"/>
          <p:cNvSpPr/>
          <p:nvPr/>
        </p:nvSpPr>
        <p:spPr>
          <a:xfrm>
            <a:off x="8129016" y="1271016"/>
            <a:ext cx="3721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FUNNEL LEAKAGE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8252460" y="1755648"/>
            <a:ext cx="3474720" cy="27432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8" name="Text 96"/>
          <p:cNvSpPr/>
          <p:nvPr/>
        </p:nvSpPr>
        <p:spPr>
          <a:xfrm>
            <a:off x="8252460" y="17556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 views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8183880" y="2029968"/>
            <a:ext cx="3611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1,844 (saath)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8526780" y="2121408"/>
            <a:ext cx="2926080" cy="27432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01" name="Text 99"/>
          <p:cNvSpPr/>
          <p:nvPr/>
        </p:nvSpPr>
        <p:spPr>
          <a:xfrm>
            <a:off x="8526780" y="21214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visit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8183880" y="2395728"/>
            <a:ext cx="3611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~3-5% of viewers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8801100" y="2487168"/>
            <a:ext cx="2377440" cy="27432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04" name="Text 102"/>
          <p:cNvSpPr/>
          <p:nvPr/>
        </p:nvSpPr>
        <p:spPr>
          <a:xfrm>
            <a:off x="8801100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8183880" y="2761488"/>
            <a:ext cx="3611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79.6× lift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9075420" y="2852928"/>
            <a:ext cx="1828800" cy="27432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07" name="Text 105"/>
          <p:cNvSpPr/>
          <p:nvPr/>
        </p:nvSpPr>
        <p:spPr>
          <a:xfrm>
            <a:off x="9075420" y="2852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click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8183880" y="3127248"/>
            <a:ext cx="3611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link only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9349740" y="3218688"/>
            <a:ext cx="1280160" cy="27432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10" name="Text 108"/>
          <p:cNvSpPr/>
          <p:nvPr/>
        </p:nvSpPr>
        <p:spPr>
          <a:xfrm>
            <a:off x="934974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₹199 order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8183880" y="3493008"/>
            <a:ext cx="3611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≈ 2-3% (est)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8183880" y="3703320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DROP: Reels → Profile → Follow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320040" y="4114800"/>
            <a:ext cx="5897880" cy="24688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>
            <a:off x="356616" y="4151376"/>
            <a:ext cx="58247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15" name="Text 113"/>
          <p:cNvSpPr/>
          <p:nvPr/>
        </p:nvSpPr>
        <p:spPr>
          <a:xfrm>
            <a:off x="356616" y="4151376"/>
            <a:ext cx="5824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JOBS-TO-BE-DONE PYRAMID  ·  WHAT THE BUYER IS HIRING US FOR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1645920" y="4572000"/>
            <a:ext cx="1097280" cy="329184"/>
          </a:xfrm>
          <a:prstGeom prst="rect">
            <a:avLst/>
          </a:prstGeom>
          <a:solidFill>
            <a:srgbClr val="D63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645920" y="45720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800" dirty="0"/>
          </a:p>
        </p:txBody>
      </p:sp>
      <p:sp>
        <p:nvSpPr>
          <p:cNvPr id="118" name="Text 116"/>
          <p:cNvSpPr/>
          <p:nvPr/>
        </p:nvSpPr>
        <p:spPr>
          <a:xfrm>
            <a:off x="4069080" y="459028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seen, feel hope, feel guided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1280160" y="4956048"/>
            <a:ext cx="1828800" cy="329184"/>
          </a:xfrm>
          <a:prstGeom prst="rect">
            <a:avLst/>
          </a:prstGeom>
          <a:solidFill>
            <a:srgbClr val="D63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280160" y="4956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4069080" y="49743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from peers, family, partner</a:t>
            </a: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914400" y="5340096"/>
            <a:ext cx="2560320" cy="329184"/>
          </a:xfrm>
          <a:prstGeom prst="rect">
            <a:avLst/>
          </a:prstGeom>
          <a:solidFill>
            <a:srgbClr val="D63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14400" y="534009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124" name="Text 122"/>
          <p:cNvSpPr/>
          <p:nvPr/>
        </p:nvSpPr>
        <p:spPr>
          <a:xfrm>
            <a:off x="4069080" y="53583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am Mulank 3 / Saturn person' — language to define self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548640" y="5724144"/>
            <a:ext cx="3291840" cy="329184"/>
          </a:xfrm>
          <a:prstGeom prst="rect">
            <a:avLst/>
          </a:prstGeom>
          <a:solidFill>
            <a:srgbClr val="D63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48640" y="572414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4069080" y="5742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 for marriage, career, health</a:t>
            </a:r>
            <a:endParaRPr lang="en-US" sz="750" dirty="0"/>
          </a:p>
        </p:txBody>
      </p:sp>
      <p:sp>
        <p:nvSpPr>
          <p:cNvPr id="128" name="Text 126"/>
          <p:cNvSpPr/>
          <p:nvPr/>
        </p:nvSpPr>
        <p:spPr>
          <a:xfrm>
            <a:off x="457200" y="6217920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@saathsetu's 8.5K Reel hits ALL 4 layers in 30 sec via partner-birthdate hook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6309360" y="4114800"/>
            <a:ext cx="5577840" cy="24688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>
            <a:off x="6345936" y="4151376"/>
            <a:ext cx="550468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31" name="Text 129"/>
          <p:cNvSpPr/>
          <p:nvPr/>
        </p:nvSpPr>
        <p:spPr>
          <a:xfrm>
            <a:off x="6345936" y="4151376"/>
            <a:ext cx="5504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TREE</a:t>
            </a:r>
            <a:endParaRPr lang="en-US" sz="1100" dirty="0"/>
          </a:p>
        </p:txBody>
      </p:sp>
      <p:sp>
        <p:nvSpPr>
          <p:cNvPr id="132" name="Text 130"/>
          <p:cNvSpPr/>
          <p:nvPr/>
        </p:nvSpPr>
        <p:spPr>
          <a:xfrm>
            <a:off x="6446520" y="4572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Insufficient daily-utility content + cross-handle promo across portfolio.</a:t>
            </a:r>
            <a:endParaRPr lang="en-US" sz="900" dirty="0"/>
          </a:p>
        </p:txBody>
      </p:sp>
      <p:sp>
        <p:nvSpPr>
          <p:cNvPr id="133" name="Text 131"/>
          <p:cNvSpPr/>
          <p:nvPr/>
        </p:nvSpPr>
        <p:spPr>
          <a:xfrm>
            <a:off x="6446520" y="486460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DRIVERS</a:t>
            </a:r>
            <a:endParaRPr lang="en-US" sz="850" dirty="0"/>
          </a:p>
        </p:txBody>
      </p:sp>
      <p:sp>
        <p:nvSpPr>
          <p:cNvPr id="134" name="Text 132"/>
          <p:cNvSpPr/>
          <p:nvPr/>
        </p:nvSpPr>
        <p:spPr>
          <a:xfrm>
            <a:off x="6446520" y="5138928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6583680" y="513892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carousel/static content — Reels-only misses saves</a:t>
            </a:r>
            <a:endParaRPr lang="en-US" sz="750" dirty="0"/>
          </a:p>
        </p:txBody>
      </p:sp>
      <p:sp>
        <p:nvSpPr>
          <p:cNvPr id="136" name="Text 134"/>
          <p:cNvSpPr/>
          <p:nvPr/>
        </p:nvSpPr>
        <p:spPr>
          <a:xfrm>
            <a:off x="6446520" y="5340096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37" name="Text 135"/>
          <p:cNvSpPr/>
          <p:nvPr/>
        </p:nvSpPr>
        <p:spPr>
          <a:xfrm>
            <a:off x="6583680" y="534009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voice on @astrosaadhan kills trust</a:t>
            </a:r>
            <a:endParaRPr lang="en-US" sz="750" dirty="0"/>
          </a:p>
        </p:txBody>
      </p:sp>
      <p:sp>
        <p:nvSpPr>
          <p:cNvPr id="138" name="Text 136"/>
          <p:cNvSpPr/>
          <p:nvPr/>
        </p:nvSpPr>
        <p:spPr>
          <a:xfrm>
            <a:off x="6446520" y="55412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39" name="Text 137"/>
          <p:cNvSpPr/>
          <p:nvPr/>
        </p:nvSpPr>
        <p:spPr>
          <a:xfrm>
            <a:off x="6583680" y="554126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unseeded — @drishtiastro 0 followers despite 17 posts</a:t>
            </a:r>
            <a:endParaRPr lang="en-US" sz="750" dirty="0"/>
          </a:p>
        </p:txBody>
      </p:sp>
      <p:sp>
        <p:nvSpPr>
          <p:cNvPr id="140" name="Text 138"/>
          <p:cNvSpPr/>
          <p:nvPr/>
        </p:nvSpPr>
        <p:spPr>
          <a:xfrm>
            <a:off x="6446520" y="57424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41" name="Text 139"/>
          <p:cNvSpPr/>
          <p:nvPr/>
        </p:nvSpPr>
        <p:spPr>
          <a:xfrm>
            <a:off x="6583680" y="574243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cross-promotion from verified @saathsetu to other 3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6446520" y="59893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 (BUYER-SIDE)</a:t>
            </a:r>
            <a:endParaRPr lang="en-US" sz="850" dirty="0"/>
          </a:p>
        </p:txBody>
      </p:sp>
      <p:sp>
        <p:nvSpPr>
          <p:cNvPr id="143" name="Text 141"/>
          <p:cNvSpPr/>
          <p:nvPr/>
        </p:nvSpPr>
        <p:spPr>
          <a:xfrm>
            <a:off x="6446520" y="619963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Bio not optimised for elder · no Hindi headers on landing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AUDIT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ENGAGEMENT METRICS + REVERSE-ENGINEERED VIRAL FORMULA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5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11567160" cy="237744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271016"/>
            <a:ext cx="11494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271016"/>
            <a:ext cx="11494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FIRST-PARTY INSTAGRAM SCRAPE  ·  4 HANDLES × 14 METRICS  ·  MAY 2026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11480" y="1709928"/>
            <a:ext cx="128016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0" name="Text 68"/>
          <p:cNvSpPr/>
          <p:nvPr/>
        </p:nvSpPr>
        <p:spPr>
          <a:xfrm>
            <a:off x="411480" y="1709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1691640" y="1709928"/>
            <a:ext cx="54864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2" name="Text 70"/>
          <p:cNvSpPr/>
          <p:nvPr/>
        </p:nvSpPr>
        <p:spPr>
          <a:xfrm>
            <a:off x="1691640" y="170992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2240280" y="1709928"/>
            <a:ext cx="68580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4" name="Text 72"/>
          <p:cNvSpPr/>
          <p:nvPr/>
        </p:nvSpPr>
        <p:spPr>
          <a:xfrm>
            <a:off x="2240280" y="17099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2926080" y="1709928"/>
            <a:ext cx="50292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6" name="Text 74"/>
          <p:cNvSpPr/>
          <p:nvPr/>
        </p:nvSpPr>
        <p:spPr>
          <a:xfrm>
            <a:off x="2926080" y="170992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3429000" y="1709928"/>
            <a:ext cx="77724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8" name="Text 76"/>
          <p:cNvSpPr/>
          <p:nvPr/>
        </p:nvSpPr>
        <p:spPr>
          <a:xfrm>
            <a:off x="3429000" y="17099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LIKES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4206240" y="1709928"/>
            <a:ext cx="77724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0" name="Text 78"/>
          <p:cNvSpPr/>
          <p:nvPr/>
        </p:nvSpPr>
        <p:spPr>
          <a:xfrm>
            <a:off x="4206240" y="17099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VIEWS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4983480" y="1709928"/>
            <a:ext cx="82296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2" name="Text 80"/>
          <p:cNvSpPr/>
          <p:nvPr/>
        </p:nvSpPr>
        <p:spPr>
          <a:xfrm>
            <a:off x="4983480" y="170992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VIEWS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5806440" y="1709928"/>
            <a:ext cx="77724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4" name="Text 82"/>
          <p:cNvSpPr/>
          <p:nvPr/>
        </p:nvSpPr>
        <p:spPr>
          <a:xfrm>
            <a:off x="5806440" y="17099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6583680" y="1709928"/>
            <a:ext cx="77724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6" name="Text 84"/>
          <p:cNvSpPr/>
          <p:nvPr/>
        </p:nvSpPr>
        <p:spPr>
          <a:xfrm>
            <a:off x="6583680" y="17099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×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7360920" y="1709928"/>
            <a:ext cx="77724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8" name="Text 86"/>
          <p:cNvSpPr/>
          <p:nvPr/>
        </p:nvSpPr>
        <p:spPr>
          <a:xfrm>
            <a:off x="7360920" y="17099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%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8138160" y="1709928"/>
            <a:ext cx="77724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0" name="Text 88"/>
          <p:cNvSpPr/>
          <p:nvPr/>
        </p:nvSpPr>
        <p:spPr>
          <a:xfrm>
            <a:off x="8138160" y="17099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8915400" y="1709928"/>
            <a:ext cx="77724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2" name="Text 90"/>
          <p:cNvSpPr/>
          <p:nvPr/>
        </p:nvSpPr>
        <p:spPr>
          <a:xfrm>
            <a:off x="8915400" y="17099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92640" y="1709928"/>
            <a:ext cx="68580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4" name="Text 92"/>
          <p:cNvSpPr/>
          <p:nvPr/>
        </p:nvSpPr>
        <p:spPr>
          <a:xfrm>
            <a:off x="9692640" y="17099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%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10378440" y="1709928"/>
            <a:ext cx="77724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6" name="Text 94"/>
          <p:cNvSpPr/>
          <p:nvPr/>
        </p:nvSpPr>
        <p:spPr>
          <a:xfrm>
            <a:off x="10378440" y="17099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GAP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411480" y="2039112"/>
            <a:ext cx="128016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11480" y="20391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@saathsetu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1691640" y="2039112"/>
            <a:ext cx="548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691640" y="203911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2240280" y="2039112"/>
            <a:ext cx="6858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40280" y="203911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2926080" y="2039112"/>
            <a:ext cx="5029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926080" y="20391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3429000" y="2039112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429000" y="203911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302.7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4206240" y="2039112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206240" y="203911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1,591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4983480" y="2039112"/>
            <a:ext cx="82296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983480" y="203911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8,518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5806440" y="2039112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806440" y="203911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6583680" y="2039112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583680" y="203911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207.7×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7360920" y="2039112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360920" y="203911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79.6%</a:t>
            </a:r>
            <a:endParaRPr lang="en-US" sz="750" dirty="0"/>
          </a:p>
        </p:txBody>
      </p:sp>
      <p:sp>
        <p:nvSpPr>
          <p:cNvPr id="117" name="Shape 115"/>
          <p:cNvSpPr/>
          <p:nvPr/>
        </p:nvSpPr>
        <p:spPr>
          <a:xfrm>
            <a:off x="8138160" y="2039112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138160" y="203911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8915400" y="2039112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915400" y="203911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9692640" y="2039112"/>
            <a:ext cx="6858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692640" y="203911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10378440" y="2039112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10378440" y="203911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1.98d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411480" y="2368296"/>
            <a:ext cx="128016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1480" y="236829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@rashitattva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1691640" y="2368296"/>
            <a:ext cx="5486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691640" y="236829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2240280" y="2368296"/>
            <a:ext cx="68580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2240280" y="23682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2926080" y="2368296"/>
            <a:ext cx="50292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2926080" y="236829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sp>
        <p:nvSpPr>
          <p:cNvPr id="133" name="Shape 131"/>
          <p:cNvSpPr/>
          <p:nvPr/>
        </p:nvSpPr>
        <p:spPr>
          <a:xfrm>
            <a:off x="3429000" y="2368296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3429000" y="23682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750" dirty="0"/>
          </a:p>
        </p:txBody>
      </p:sp>
      <p:sp>
        <p:nvSpPr>
          <p:cNvPr id="135" name="Shape 133"/>
          <p:cNvSpPr/>
          <p:nvPr/>
        </p:nvSpPr>
        <p:spPr>
          <a:xfrm>
            <a:off x="4206240" y="2368296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206240" y="23682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750" dirty="0"/>
          </a:p>
        </p:txBody>
      </p:sp>
      <p:sp>
        <p:nvSpPr>
          <p:cNvPr id="137" name="Shape 135"/>
          <p:cNvSpPr/>
          <p:nvPr/>
        </p:nvSpPr>
        <p:spPr>
          <a:xfrm>
            <a:off x="4983480" y="2368296"/>
            <a:ext cx="82296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83480" y="236829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615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5806440" y="2368296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806440" y="23682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750" dirty="0"/>
          </a:p>
        </p:txBody>
      </p:sp>
      <p:sp>
        <p:nvSpPr>
          <p:cNvPr id="141" name="Shape 139"/>
          <p:cNvSpPr/>
          <p:nvPr/>
        </p:nvSpPr>
        <p:spPr>
          <a:xfrm>
            <a:off x="6583680" y="2368296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583680" y="23682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136.4×</a:t>
            </a:r>
            <a:endParaRPr lang="en-US" sz="750" dirty="0"/>
          </a:p>
        </p:txBody>
      </p:sp>
      <p:sp>
        <p:nvSpPr>
          <p:cNvPr id="143" name="Shape 141"/>
          <p:cNvSpPr/>
          <p:nvPr/>
        </p:nvSpPr>
        <p:spPr>
          <a:xfrm>
            <a:off x="7360920" y="2368296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7360920" y="23682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18.1%</a:t>
            </a:r>
            <a:endParaRPr lang="en-US" sz="750" dirty="0"/>
          </a:p>
        </p:txBody>
      </p:sp>
      <p:sp>
        <p:nvSpPr>
          <p:cNvPr id="145" name="Shape 143"/>
          <p:cNvSpPr/>
          <p:nvPr/>
        </p:nvSpPr>
        <p:spPr>
          <a:xfrm>
            <a:off x="8138160" y="2368296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8138160" y="23682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750" dirty="0"/>
          </a:p>
        </p:txBody>
      </p:sp>
      <p:sp>
        <p:nvSpPr>
          <p:cNvPr id="147" name="Shape 145"/>
          <p:cNvSpPr/>
          <p:nvPr/>
        </p:nvSpPr>
        <p:spPr>
          <a:xfrm>
            <a:off x="8915400" y="2368296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915400" y="23682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9692640" y="2368296"/>
            <a:ext cx="68580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9692640" y="23682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750" dirty="0"/>
          </a:p>
        </p:txBody>
      </p:sp>
      <p:sp>
        <p:nvSpPr>
          <p:cNvPr id="151" name="Shape 149"/>
          <p:cNvSpPr/>
          <p:nvPr/>
        </p:nvSpPr>
        <p:spPr>
          <a:xfrm>
            <a:off x="10378440" y="2368296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0378440" y="23682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1.81d</a:t>
            </a: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411480" y="2697480"/>
            <a:ext cx="128016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11480" y="26974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@astrosaadhan</a:t>
            </a: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1691640" y="2697480"/>
            <a:ext cx="548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1691640" y="2697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750" dirty="0"/>
          </a:p>
        </p:txBody>
      </p:sp>
      <p:sp>
        <p:nvSpPr>
          <p:cNvPr id="157" name="Shape 155"/>
          <p:cNvSpPr/>
          <p:nvPr/>
        </p:nvSpPr>
        <p:spPr>
          <a:xfrm>
            <a:off x="2240280" y="2697480"/>
            <a:ext cx="6858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2240280" y="26974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2926080" y="2697480"/>
            <a:ext cx="5029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2926080" y="269748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3429000" y="2697480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3429000" y="26974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50" dirty="0"/>
          </a:p>
        </p:txBody>
      </p:sp>
      <p:sp>
        <p:nvSpPr>
          <p:cNvPr id="163" name="Shape 161"/>
          <p:cNvSpPr/>
          <p:nvPr/>
        </p:nvSpPr>
        <p:spPr>
          <a:xfrm>
            <a:off x="4206240" y="2697480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4206240" y="26974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4983480" y="2697480"/>
            <a:ext cx="82296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983480" y="269748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5806440" y="2697480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5806440" y="26974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750" dirty="0"/>
          </a:p>
        </p:txBody>
      </p:sp>
      <p:sp>
        <p:nvSpPr>
          <p:cNvPr id="169" name="Shape 167"/>
          <p:cNvSpPr/>
          <p:nvPr/>
        </p:nvSpPr>
        <p:spPr>
          <a:xfrm>
            <a:off x="6583680" y="2697480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6583680" y="26974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11.1×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7360920" y="2697480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7360920" y="26974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1.6%</a:t>
            </a:r>
            <a:endParaRPr lang="en-US" sz="750" dirty="0"/>
          </a:p>
        </p:txBody>
      </p:sp>
      <p:sp>
        <p:nvSpPr>
          <p:cNvPr id="173" name="Shape 171"/>
          <p:cNvSpPr/>
          <p:nvPr/>
        </p:nvSpPr>
        <p:spPr>
          <a:xfrm>
            <a:off x="8138160" y="2697480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8138160" y="26974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750" dirty="0"/>
          </a:p>
        </p:txBody>
      </p:sp>
      <p:sp>
        <p:nvSpPr>
          <p:cNvPr id="175" name="Shape 173"/>
          <p:cNvSpPr/>
          <p:nvPr/>
        </p:nvSpPr>
        <p:spPr>
          <a:xfrm>
            <a:off x="8915400" y="2697480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915400" y="26974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750" dirty="0"/>
          </a:p>
        </p:txBody>
      </p:sp>
      <p:sp>
        <p:nvSpPr>
          <p:cNvPr id="177" name="Shape 175"/>
          <p:cNvSpPr/>
          <p:nvPr/>
        </p:nvSpPr>
        <p:spPr>
          <a:xfrm>
            <a:off x="9692640" y="2697480"/>
            <a:ext cx="6858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9692640" y="26974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50" dirty="0"/>
          </a:p>
        </p:txBody>
      </p:sp>
      <p:sp>
        <p:nvSpPr>
          <p:cNvPr id="179" name="Shape 177"/>
          <p:cNvSpPr/>
          <p:nvPr/>
        </p:nvSpPr>
        <p:spPr>
          <a:xfrm>
            <a:off x="10378440" y="2697480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10378440" y="26974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1.36d</a:t>
            </a:r>
            <a:endParaRPr lang="en-US" sz="750" dirty="0"/>
          </a:p>
        </p:txBody>
      </p:sp>
      <p:sp>
        <p:nvSpPr>
          <p:cNvPr id="181" name="Shape 179"/>
          <p:cNvSpPr/>
          <p:nvPr/>
        </p:nvSpPr>
        <p:spPr>
          <a:xfrm>
            <a:off x="411480" y="3026664"/>
            <a:ext cx="128016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411480" y="302666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</a:t>
            </a:r>
            <a:endParaRPr lang="en-US" sz="750" dirty="0"/>
          </a:p>
        </p:txBody>
      </p:sp>
      <p:sp>
        <p:nvSpPr>
          <p:cNvPr id="183" name="Shape 181"/>
          <p:cNvSpPr/>
          <p:nvPr/>
        </p:nvSpPr>
        <p:spPr>
          <a:xfrm>
            <a:off x="1691640" y="3026664"/>
            <a:ext cx="5486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691640" y="302666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</a:t>
            </a:r>
            <a:endParaRPr lang="en-US" sz="750" dirty="0"/>
          </a:p>
        </p:txBody>
      </p:sp>
      <p:sp>
        <p:nvSpPr>
          <p:cNvPr id="185" name="Shape 183"/>
          <p:cNvSpPr/>
          <p:nvPr/>
        </p:nvSpPr>
        <p:spPr>
          <a:xfrm>
            <a:off x="2240280" y="3026664"/>
            <a:ext cx="68580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2240280" y="302666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50" dirty="0"/>
          </a:p>
        </p:txBody>
      </p:sp>
      <p:sp>
        <p:nvSpPr>
          <p:cNvPr id="187" name="Shape 185"/>
          <p:cNvSpPr/>
          <p:nvPr/>
        </p:nvSpPr>
        <p:spPr>
          <a:xfrm>
            <a:off x="2926080" y="3026664"/>
            <a:ext cx="50292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2926080" y="302666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189" name="Shape 187"/>
          <p:cNvSpPr/>
          <p:nvPr/>
        </p:nvSpPr>
        <p:spPr>
          <a:xfrm>
            <a:off x="3429000" y="3026664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3429000" y="302666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750" dirty="0"/>
          </a:p>
        </p:txBody>
      </p:sp>
      <p:sp>
        <p:nvSpPr>
          <p:cNvPr id="191" name="Shape 189"/>
          <p:cNvSpPr/>
          <p:nvPr/>
        </p:nvSpPr>
        <p:spPr>
          <a:xfrm>
            <a:off x="4206240" y="3026664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4206240" y="302666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sp>
        <p:nvSpPr>
          <p:cNvPr id="193" name="Shape 191"/>
          <p:cNvSpPr/>
          <p:nvPr/>
        </p:nvSpPr>
        <p:spPr>
          <a:xfrm>
            <a:off x="4983480" y="3026664"/>
            <a:ext cx="82296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4983480" y="30266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750" dirty="0"/>
          </a:p>
        </p:txBody>
      </p:sp>
      <p:sp>
        <p:nvSpPr>
          <p:cNvPr id="195" name="Shape 193"/>
          <p:cNvSpPr/>
          <p:nvPr/>
        </p:nvSpPr>
        <p:spPr>
          <a:xfrm>
            <a:off x="5806440" y="3026664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5806440" y="302666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sp>
        <p:nvSpPr>
          <p:cNvPr id="197" name="Shape 195"/>
          <p:cNvSpPr/>
          <p:nvPr/>
        </p:nvSpPr>
        <p:spPr>
          <a:xfrm>
            <a:off x="6583680" y="3026664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6583680" y="302666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2.3×</a:t>
            </a:r>
            <a:endParaRPr lang="en-US" sz="750" dirty="0"/>
          </a:p>
        </p:txBody>
      </p:sp>
      <p:sp>
        <p:nvSpPr>
          <p:cNvPr id="199" name="Shape 197"/>
          <p:cNvSpPr/>
          <p:nvPr/>
        </p:nvSpPr>
        <p:spPr>
          <a:xfrm>
            <a:off x="7360920" y="3026664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7360920" y="302666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13.2%</a:t>
            </a:r>
            <a:endParaRPr lang="en-US" sz="750" dirty="0"/>
          </a:p>
        </p:txBody>
      </p:sp>
      <p:sp>
        <p:nvSpPr>
          <p:cNvPr id="201" name="Shape 199"/>
          <p:cNvSpPr/>
          <p:nvPr/>
        </p:nvSpPr>
        <p:spPr>
          <a:xfrm>
            <a:off x="8138160" y="3026664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8138160" y="302666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750" dirty="0"/>
          </a:p>
        </p:txBody>
      </p:sp>
      <p:sp>
        <p:nvSpPr>
          <p:cNvPr id="203" name="Shape 201"/>
          <p:cNvSpPr/>
          <p:nvPr/>
        </p:nvSpPr>
        <p:spPr>
          <a:xfrm>
            <a:off x="8915400" y="3026664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8915400" y="302666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750" dirty="0"/>
          </a:p>
        </p:txBody>
      </p:sp>
      <p:sp>
        <p:nvSpPr>
          <p:cNvPr id="205" name="Shape 203"/>
          <p:cNvSpPr/>
          <p:nvPr/>
        </p:nvSpPr>
        <p:spPr>
          <a:xfrm>
            <a:off x="9692640" y="3026664"/>
            <a:ext cx="68580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9692640" y="302666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750" dirty="0"/>
          </a:p>
        </p:txBody>
      </p:sp>
      <p:sp>
        <p:nvSpPr>
          <p:cNvPr id="207" name="Shape 205"/>
          <p:cNvSpPr/>
          <p:nvPr/>
        </p:nvSpPr>
        <p:spPr>
          <a:xfrm>
            <a:off x="10378440" y="3026664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10378440" y="302666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1.46d</a:t>
            </a:r>
            <a:endParaRPr lang="en-US" sz="750" dirty="0"/>
          </a:p>
        </p:txBody>
      </p:sp>
      <p:sp>
        <p:nvSpPr>
          <p:cNvPr id="209" name="Text 207"/>
          <p:cNvSpPr/>
          <p:nvPr/>
        </p:nvSpPr>
        <p:spPr>
          <a:xfrm>
            <a:off x="411480" y="3355848"/>
            <a:ext cx="1152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scrape · viral × = max ÷ median · engagement % = (likes + comments) ÷ followers</a:t>
            </a:r>
            <a:endParaRPr lang="en-US" sz="700" dirty="0"/>
          </a:p>
        </p:txBody>
      </p:sp>
      <p:sp>
        <p:nvSpPr>
          <p:cNvPr id="210" name="Shape 208"/>
          <p:cNvSpPr/>
          <p:nvPr/>
        </p:nvSpPr>
        <p:spPr>
          <a:xfrm>
            <a:off x="320040" y="3749040"/>
            <a:ext cx="384048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211" name="Shape 209"/>
          <p:cNvSpPr/>
          <p:nvPr/>
        </p:nvSpPr>
        <p:spPr>
          <a:xfrm>
            <a:off x="356616" y="3785616"/>
            <a:ext cx="37673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12" name="Text 210"/>
          <p:cNvSpPr/>
          <p:nvPr/>
        </p:nvSpPr>
        <p:spPr>
          <a:xfrm>
            <a:off x="356616" y="3785616"/>
            <a:ext cx="3767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FORMULA</a:t>
            </a:r>
            <a:endParaRPr lang="en-US" sz="1100" dirty="0"/>
          </a:p>
        </p:txBody>
      </p:sp>
      <p:sp>
        <p:nvSpPr>
          <p:cNvPr id="213" name="Text 211"/>
          <p:cNvSpPr/>
          <p:nvPr/>
        </p:nvSpPr>
        <p:spPr>
          <a:xfrm>
            <a:off x="457200" y="4206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@saathsetu's 8,518-view Reel:</a:t>
            </a:r>
            <a:endParaRPr lang="en-US" sz="900" dirty="0"/>
          </a:p>
        </p:txBody>
      </p:sp>
      <p:sp>
        <p:nvSpPr>
          <p:cNvPr id="214" name="Shape 212"/>
          <p:cNvSpPr/>
          <p:nvPr/>
        </p:nvSpPr>
        <p:spPr>
          <a:xfrm>
            <a:off x="457200" y="4498848"/>
            <a:ext cx="35661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548640" y="459028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"Kya aapke partner ka janam 6, 15 ya 24 ko hua hai? 🌹 Kya aapko pata hai Venus inhe possessive bana raha hai? Calm dikhenge, insecure hain…"</a:t>
            </a:r>
            <a:endParaRPr lang="en-US" sz="800" dirty="0"/>
          </a:p>
        </p:txBody>
      </p:sp>
      <p:sp>
        <p:nvSpPr>
          <p:cNvPr id="216" name="Text 214"/>
          <p:cNvSpPr/>
          <p:nvPr/>
        </p:nvSpPr>
        <p:spPr>
          <a:xfrm>
            <a:off x="457200" y="54864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INGREDIENTS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457200" y="576072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750" dirty="0"/>
          </a:p>
        </p:txBody>
      </p:sp>
      <p:sp>
        <p:nvSpPr>
          <p:cNvPr id="218" name="Text 216"/>
          <p:cNvSpPr/>
          <p:nvPr/>
        </p:nvSpPr>
        <p:spPr>
          <a:xfrm>
            <a:off x="731520" y="5760720"/>
            <a:ext cx="3291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Partner-birthdate hook</a:t>
            </a:r>
            <a:endParaRPr lang="en-US" sz="750" dirty="0"/>
          </a:p>
        </p:txBody>
      </p:sp>
      <p:sp>
        <p:nvSpPr>
          <p:cNvPr id="219" name="Text 217"/>
          <p:cNvSpPr/>
          <p:nvPr/>
        </p:nvSpPr>
        <p:spPr>
          <a:xfrm>
            <a:off x="457200" y="589788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750" dirty="0"/>
          </a:p>
        </p:txBody>
      </p:sp>
      <p:sp>
        <p:nvSpPr>
          <p:cNvPr id="220" name="Text 218"/>
          <p:cNvSpPr/>
          <p:nvPr/>
        </p:nvSpPr>
        <p:spPr>
          <a:xfrm>
            <a:off x="731520" y="5897880"/>
            <a:ext cx="3291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Roman-Hindi</a:t>
            </a:r>
            <a:endParaRPr lang="en-US" sz="750" dirty="0"/>
          </a:p>
        </p:txBody>
      </p:sp>
      <p:sp>
        <p:nvSpPr>
          <p:cNvPr id="221" name="Text 219"/>
          <p:cNvSpPr/>
          <p:nvPr/>
        </p:nvSpPr>
        <p:spPr>
          <a:xfrm>
            <a:off x="457200" y="603504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750" dirty="0"/>
          </a:p>
        </p:txBody>
      </p:sp>
      <p:sp>
        <p:nvSpPr>
          <p:cNvPr id="222" name="Text 220"/>
          <p:cNvSpPr/>
          <p:nvPr/>
        </p:nvSpPr>
        <p:spPr>
          <a:xfrm>
            <a:off x="731520" y="6035040"/>
            <a:ext cx="3291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Mulank focus + Venus/love angle</a:t>
            </a:r>
            <a:endParaRPr lang="en-US" sz="750" dirty="0"/>
          </a:p>
        </p:txBody>
      </p:sp>
      <p:sp>
        <p:nvSpPr>
          <p:cNvPr id="223" name="Text 221"/>
          <p:cNvSpPr/>
          <p:nvPr/>
        </p:nvSpPr>
        <p:spPr>
          <a:xfrm>
            <a:off x="457200" y="61722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750" dirty="0"/>
          </a:p>
        </p:txBody>
      </p:sp>
      <p:sp>
        <p:nvSpPr>
          <p:cNvPr id="224" name="Text 222"/>
          <p:cNvSpPr/>
          <p:nvPr/>
        </p:nvSpPr>
        <p:spPr>
          <a:xfrm>
            <a:off x="731520" y="6172200"/>
            <a:ext cx="3291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badge → algo priority</a:t>
            </a:r>
            <a:endParaRPr lang="en-US" sz="750" dirty="0"/>
          </a:p>
        </p:txBody>
      </p:sp>
      <p:sp>
        <p:nvSpPr>
          <p:cNvPr id="225" name="Text 223"/>
          <p:cNvSpPr/>
          <p:nvPr/>
        </p:nvSpPr>
        <p:spPr>
          <a:xfrm>
            <a:off x="457200" y="630936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750" dirty="0"/>
          </a:p>
        </p:txBody>
      </p:sp>
      <p:sp>
        <p:nvSpPr>
          <p:cNvPr id="226" name="Text 224"/>
          <p:cNvSpPr/>
          <p:nvPr/>
        </p:nvSpPr>
        <p:spPr>
          <a:xfrm>
            <a:off x="731520" y="6309360"/>
            <a:ext cx="3291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Emoji rhythm (🌹✨)</a:t>
            </a:r>
            <a:endParaRPr lang="en-US" sz="750" dirty="0"/>
          </a:p>
        </p:txBody>
      </p:sp>
      <p:sp>
        <p:nvSpPr>
          <p:cNvPr id="227" name="Shape 225"/>
          <p:cNvSpPr/>
          <p:nvPr/>
        </p:nvSpPr>
        <p:spPr>
          <a:xfrm>
            <a:off x="4297680" y="3749040"/>
            <a:ext cx="379476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228" name="Shape 226"/>
          <p:cNvSpPr/>
          <p:nvPr/>
        </p:nvSpPr>
        <p:spPr>
          <a:xfrm>
            <a:off x="4334256" y="3785616"/>
            <a:ext cx="37216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29" name="Text 227"/>
          <p:cNvSpPr/>
          <p:nvPr/>
        </p:nvSpPr>
        <p:spPr>
          <a:xfrm>
            <a:off x="4334256" y="3785616"/>
            <a:ext cx="3721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&amp; HASHTAG PERFORMANCE</a:t>
            </a:r>
            <a:endParaRPr lang="en-US" sz="1100" dirty="0"/>
          </a:p>
        </p:txBody>
      </p:sp>
      <p:sp>
        <p:nvSpPr>
          <p:cNvPr id="230" name="Text 228"/>
          <p:cNvSpPr/>
          <p:nvPr/>
        </p:nvSpPr>
        <p:spPr>
          <a:xfrm>
            <a:off x="4434840" y="42062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TOP-HASHTAG OVERLAP</a:t>
            </a:r>
            <a:endParaRPr lang="en-US" sz="850" dirty="0"/>
          </a:p>
        </p:txBody>
      </p:sp>
      <p:sp>
        <p:nvSpPr>
          <p:cNvPr id="231" name="Shape 229"/>
          <p:cNvSpPr/>
          <p:nvPr/>
        </p:nvSpPr>
        <p:spPr>
          <a:xfrm>
            <a:off x="4434840" y="4498848"/>
            <a:ext cx="352044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4526280" y="44988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#VedicAstrology</a:t>
            </a:r>
            <a:endParaRPr lang="en-US" sz="800" dirty="0"/>
          </a:p>
        </p:txBody>
      </p:sp>
      <p:sp>
        <p:nvSpPr>
          <p:cNvPr id="233" name="Text 231"/>
          <p:cNvSpPr/>
          <p:nvPr/>
        </p:nvSpPr>
        <p:spPr>
          <a:xfrm>
            <a:off x="6355080" y="449884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 (spam risk)</a:t>
            </a:r>
            <a:endParaRPr lang="en-US" sz="750" dirty="0"/>
          </a:p>
        </p:txBody>
      </p:sp>
      <p:sp>
        <p:nvSpPr>
          <p:cNvPr id="234" name="Shape 232"/>
          <p:cNvSpPr/>
          <p:nvPr/>
        </p:nvSpPr>
        <p:spPr>
          <a:xfrm>
            <a:off x="4434840" y="4718304"/>
            <a:ext cx="3520440" cy="201168"/>
          </a:xfrm>
          <a:prstGeom prst="rect">
            <a:avLst/>
          </a:prstGeom>
          <a:solidFill>
            <a:srgbClr val="FFDFE3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35" name="Text 233"/>
          <p:cNvSpPr/>
          <p:nvPr/>
        </p:nvSpPr>
        <p:spPr>
          <a:xfrm>
            <a:off x="4526280" y="4718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#Numerology</a:t>
            </a:r>
            <a:endParaRPr lang="en-US" sz="800" dirty="0"/>
          </a:p>
        </p:txBody>
      </p:sp>
      <p:sp>
        <p:nvSpPr>
          <p:cNvPr id="236" name="Text 234"/>
          <p:cNvSpPr/>
          <p:nvPr/>
        </p:nvSpPr>
        <p:spPr>
          <a:xfrm>
            <a:off x="6355080" y="471830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 (spam risk)</a:t>
            </a:r>
            <a:endParaRPr lang="en-US" sz="750" dirty="0"/>
          </a:p>
        </p:txBody>
      </p:sp>
      <p:sp>
        <p:nvSpPr>
          <p:cNvPr id="237" name="Shape 235"/>
          <p:cNvSpPr/>
          <p:nvPr/>
        </p:nvSpPr>
        <p:spPr>
          <a:xfrm>
            <a:off x="4434840" y="4937760"/>
            <a:ext cx="352044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4526280" y="4937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#Mulank + planet</a:t>
            </a:r>
            <a:endParaRPr lang="en-US" sz="800" dirty="0"/>
          </a:p>
        </p:txBody>
      </p:sp>
      <p:sp>
        <p:nvSpPr>
          <p:cNvPr id="239" name="Text 237"/>
          <p:cNvSpPr/>
          <p:nvPr/>
        </p:nvSpPr>
        <p:spPr>
          <a:xfrm>
            <a:off x="6355080" y="49377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performer</a:t>
            </a:r>
            <a:endParaRPr lang="en-US" sz="750" dirty="0"/>
          </a:p>
        </p:txBody>
      </p:sp>
      <p:sp>
        <p:nvSpPr>
          <p:cNvPr id="240" name="Shape 238"/>
          <p:cNvSpPr/>
          <p:nvPr/>
        </p:nvSpPr>
        <p:spPr>
          <a:xfrm>
            <a:off x="4434840" y="5157216"/>
            <a:ext cx="3520440" cy="201168"/>
          </a:xfrm>
          <a:prstGeom prst="rect">
            <a:avLst/>
          </a:prstGeom>
          <a:solidFill>
            <a:srgbClr val="FFDFE3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4526280" y="515721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#MarathiAstrology</a:t>
            </a:r>
            <a:endParaRPr lang="en-US" sz="800" dirty="0"/>
          </a:p>
        </p:txBody>
      </p:sp>
      <p:sp>
        <p:nvSpPr>
          <p:cNvPr id="242" name="Text 240"/>
          <p:cNvSpPr/>
          <p:nvPr/>
        </p:nvSpPr>
        <p:spPr>
          <a:xfrm>
            <a:off x="6355080" y="515721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@drishtiastro — UPSIDE</a:t>
            </a:r>
            <a:endParaRPr lang="en-US" sz="750" dirty="0"/>
          </a:p>
        </p:txBody>
      </p:sp>
      <p:sp>
        <p:nvSpPr>
          <p:cNvPr id="243" name="Text 241"/>
          <p:cNvSpPr/>
          <p:nvPr/>
        </p:nvSpPr>
        <p:spPr>
          <a:xfrm>
            <a:off x="4434840" y="54406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PATTERNS IN POSTS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4434840" y="5715000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janam-date hook</a:t>
            </a:r>
            <a:endParaRPr lang="en-US" sz="750" dirty="0"/>
          </a:p>
        </p:txBody>
      </p:sp>
      <p:sp>
        <p:nvSpPr>
          <p:cNvPr id="245" name="Text 243"/>
          <p:cNvSpPr/>
          <p:nvPr/>
        </p:nvSpPr>
        <p:spPr>
          <a:xfrm>
            <a:off x="6355080" y="5715000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750" dirty="0"/>
          </a:p>
        </p:txBody>
      </p:sp>
      <p:sp>
        <p:nvSpPr>
          <p:cNvPr id="246" name="Text 244"/>
          <p:cNvSpPr/>
          <p:nvPr/>
        </p:nvSpPr>
        <p:spPr>
          <a:xfrm>
            <a:off x="4434840" y="5843016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mulank hook</a:t>
            </a:r>
            <a:endParaRPr lang="en-US" sz="750" dirty="0"/>
          </a:p>
        </p:txBody>
      </p:sp>
      <p:sp>
        <p:nvSpPr>
          <p:cNvPr id="247" name="Text 245"/>
          <p:cNvSpPr/>
          <p:nvPr/>
        </p:nvSpPr>
        <p:spPr>
          <a:xfrm>
            <a:off x="6355080" y="5843016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750" dirty="0"/>
          </a:p>
        </p:txBody>
      </p:sp>
      <p:sp>
        <p:nvSpPr>
          <p:cNvPr id="248" name="Text 246"/>
          <p:cNvSpPr/>
          <p:nvPr/>
        </p:nvSpPr>
        <p:spPr>
          <a:xfrm>
            <a:off x="4434840" y="597103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partner-love hook</a:t>
            </a:r>
            <a:endParaRPr lang="en-US" sz="750" dirty="0"/>
          </a:p>
        </p:txBody>
      </p:sp>
      <p:sp>
        <p:nvSpPr>
          <p:cNvPr id="249" name="Text 247"/>
          <p:cNvSpPr/>
          <p:nvPr/>
        </p:nvSpPr>
        <p:spPr>
          <a:xfrm>
            <a:off x="6355080" y="5971032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750" dirty="0"/>
          </a:p>
        </p:txBody>
      </p:sp>
      <p:sp>
        <p:nvSpPr>
          <p:cNvPr id="250" name="Text 248"/>
          <p:cNvSpPr/>
          <p:nvPr/>
        </p:nvSpPr>
        <p:spPr>
          <a:xfrm>
            <a:off x="4434840" y="6099048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✨ emoji hook</a:t>
            </a:r>
            <a:endParaRPr lang="en-US" sz="750" dirty="0"/>
          </a:p>
        </p:txBody>
      </p:sp>
      <p:sp>
        <p:nvSpPr>
          <p:cNvPr id="251" name="Text 249"/>
          <p:cNvSpPr/>
          <p:nvPr/>
        </p:nvSpPr>
        <p:spPr>
          <a:xfrm>
            <a:off x="6355080" y="6099048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750" dirty="0"/>
          </a:p>
        </p:txBody>
      </p:sp>
      <p:sp>
        <p:nvSpPr>
          <p:cNvPr id="252" name="Text 250"/>
          <p:cNvSpPr/>
          <p:nvPr/>
        </p:nvSpPr>
        <p:spPr>
          <a:xfrm>
            <a:off x="4434840" y="622706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fire 🔥 emoji</a:t>
            </a:r>
            <a:endParaRPr lang="en-US" sz="750" dirty="0"/>
          </a:p>
        </p:txBody>
      </p:sp>
      <p:sp>
        <p:nvSpPr>
          <p:cNvPr id="253" name="Text 251"/>
          <p:cNvSpPr/>
          <p:nvPr/>
        </p:nvSpPr>
        <p:spPr>
          <a:xfrm>
            <a:off x="6355080" y="6227064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750" dirty="0"/>
          </a:p>
        </p:txBody>
      </p:sp>
      <p:sp>
        <p:nvSpPr>
          <p:cNvPr id="254" name="Shape 252"/>
          <p:cNvSpPr/>
          <p:nvPr/>
        </p:nvSpPr>
        <p:spPr>
          <a:xfrm>
            <a:off x="8229600" y="3749040"/>
            <a:ext cx="365760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255" name="Shape 253"/>
          <p:cNvSpPr/>
          <p:nvPr/>
        </p:nvSpPr>
        <p:spPr>
          <a:xfrm>
            <a:off x="8266176" y="3785616"/>
            <a:ext cx="358444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56" name="Text 254"/>
          <p:cNvSpPr/>
          <p:nvPr/>
        </p:nvSpPr>
        <p:spPr>
          <a:xfrm>
            <a:off x="8266176" y="378561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NOT WORKING</a:t>
            </a:r>
            <a:endParaRPr lang="en-US" sz="1100" dirty="0"/>
          </a:p>
        </p:txBody>
      </p:sp>
      <p:sp>
        <p:nvSpPr>
          <p:cNvPr id="257" name="Shape 255"/>
          <p:cNvSpPr/>
          <p:nvPr/>
        </p:nvSpPr>
        <p:spPr>
          <a:xfrm>
            <a:off x="8366760" y="4261104"/>
            <a:ext cx="73152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58" name="Text 256"/>
          <p:cNvSpPr/>
          <p:nvPr/>
        </p:nvSpPr>
        <p:spPr>
          <a:xfrm>
            <a:off x="8503920" y="42062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@astrosaadhan bio admits AI</a:t>
            </a:r>
            <a:endParaRPr lang="en-US" sz="850" dirty="0"/>
          </a:p>
        </p:txBody>
      </p:sp>
      <p:sp>
        <p:nvSpPr>
          <p:cNvPr id="259" name="Text 257"/>
          <p:cNvSpPr/>
          <p:nvPr/>
        </p:nvSpPr>
        <p:spPr>
          <a:xfrm>
            <a:off x="8503920" y="4389120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'Created by AI' kills elder trust</a:t>
            </a:r>
            <a:endParaRPr lang="en-US" sz="750" dirty="0"/>
          </a:p>
        </p:txBody>
      </p:sp>
      <p:sp>
        <p:nvSpPr>
          <p:cNvPr id="260" name="Shape 258"/>
          <p:cNvSpPr/>
          <p:nvPr/>
        </p:nvSpPr>
        <p:spPr>
          <a:xfrm>
            <a:off x="8366760" y="4690872"/>
            <a:ext cx="73152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61" name="Text 259"/>
          <p:cNvSpPr/>
          <p:nvPr/>
        </p:nvSpPr>
        <p:spPr>
          <a:xfrm>
            <a:off x="8503920" y="4636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 Marathi solo</a:t>
            </a:r>
            <a:endParaRPr lang="en-US" sz="850" dirty="0"/>
          </a:p>
        </p:txBody>
      </p:sp>
      <p:sp>
        <p:nvSpPr>
          <p:cNvPr id="262" name="Text 260"/>
          <p:cNvSpPr/>
          <p:nvPr/>
        </p:nvSpPr>
        <p:spPr>
          <a:xfrm>
            <a:off x="8503920" y="4818888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followers but untapped market. No cross-promo</a:t>
            </a:r>
            <a:endParaRPr lang="en-US" sz="750" dirty="0"/>
          </a:p>
        </p:txBody>
      </p:sp>
      <p:sp>
        <p:nvSpPr>
          <p:cNvPr id="263" name="Shape 261"/>
          <p:cNvSpPr/>
          <p:nvPr/>
        </p:nvSpPr>
        <p:spPr>
          <a:xfrm>
            <a:off x="8366760" y="5120640"/>
            <a:ext cx="73152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64" name="Text 262"/>
          <p:cNvSpPr/>
          <p:nvPr/>
        </p:nvSpPr>
        <p:spPr>
          <a:xfrm>
            <a:off x="8503920" y="5065776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are &lt; 20 days old</a:t>
            </a:r>
            <a:endParaRPr lang="en-US" sz="850" dirty="0"/>
          </a:p>
        </p:txBody>
      </p:sp>
      <p:sp>
        <p:nvSpPr>
          <p:cNvPr id="265" name="Text 263"/>
          <p:cNvSpPr/>
          <p:nvPr/>
        </p:nvSpPr>
        <p:spPr>
          <a:xfrm>
            <a:off x="8503920" y="5248656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span 11-18 days. Algo signal weak</a:t>
            </a:r>
            <a:endParaRPr lang="en-US" sz="750" dirty="0"/>
          </a:p>
        </p:txBody>
      </p:sp>
      <p:sp>
        <p:nvSpPr>
          <p:cNvPr id="266" name="Shape 264"/>
          <p:cNvSpPr/>
          <p:nvPr/>
        </p:nvSpPr>
        <p:spPr>
          <a:xfrm>
            <a:off x="8366760" y="5550408"/>
            <a:ext cx="73152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67" name="Text 265"/>
          <p:cNvSpPr/>
          <p:nvPr/>
        </p:nvSpPr>
        <p:spPr>
          <a:xfrm>
            <a:off x="8503920" y="549554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Reels on @saathsetu</a:t>
            </a:r>
            <a:endParaRPr lang="en-US" sz="850" dirty="0"/>
          </a:p>
        </p:txBody>
      </p:sp>
      <p:sp>
        <p:nvSpPr>
          <p:cNvPr id="268" name="Text 266"/>
          <p:cNvSpPr/>
          <p:nvPr/>
        </p:nvSpPr>
        <p:spPr>
          <a:xfrm>
            <a:off x="8503920" y="5678424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carousel = no save anchor</a:t>
            </a:r>
            <a:endParaRPr lang="en-US" sz="750" dirty="0"/>
          </a:p>
        </p:txBody>
      </p:sp>
      <p:sp>
        <p:nvSpPr>
          <p:cNvPr id="269" name="Shape 267"/>
          <p:cNvSpPr/>
          <p:nvPr/>
        </p:nvSpPr>
        <p:spPr>
          <a:xfrm>
            <a:off x="8366760" y="5980176"/>
            <a:ext cx="73152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70" name="Text 268"/>
          <p:cNvSpPr/>
          <p:nvPr/>
        </p:nvSpPr>
        <p:spPr>
          <a:xfrm>
            <a:off x="8503920" y="592531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% misleading</a:t>
            </a:r>
            <a:endParaRPr lang="en-US" sz="850" dirty="0"/>
          </a:p>
        </p:txBody>
      </p:sp>
      <p:sp>
        <p:nvSpPr>
          <p:cNvPr id="271" name="Text 269"/>
          <p:cNvSpPr/>
          <p:nvPr/>
        </p:nvSpPr>
        <p:spPr>
          <a:xfrm>
            <a:off x="8503920" y="6108192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@rashitattva '18%' on 1 follower = noise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COMPETITOR DATA + ANSOFF · BCG · PORTER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6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11567160" cy="219456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271016"/>
            <a:ext cx="11494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271016"/>
            <a:ext cx="11494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COMPETITOR DATA  ·  UPSTOX · TRACXN · TECHCRUNCH · MARKNTEL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57200" y="1691640"/>
            <a:ext cx="128016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0" name="Text 68"/>
          <p:cNvSpPr/>
          <p:nvPr/>
        </p:nvSpPr>
        <p:spPr>
          <a:xfrm>
            <a:off x="457200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1737360" y="1691640"/>
            <a:ext cx="141732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2" name="Text 70"/>
          <p:cNvSpPr/>
          <p:nvPr/>
        </p:nvSpPr>
        <p:spPr>
          <a:xfrm>
            <a:off x="1737360" y="16916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3154680" y="1691640"/>
            <a:ext cx="169164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4" name="Text 72"/>
          <p:cNvSpPr/>
          <p:nvPr/>
        </p:nvSpPr>
        <p:spPr>
          <a:xfrm>
            <a:off x="3154680" y="16916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846320" y="1691640"/>
            <a:ext cx="187452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6" name="Text 74"/>
          <p:cNvSpPr/>
          <p:nvPr/>
        </p:nvSpPr>
        <p:spPr>
          <a:xfrm>
            <a:off x="4846320" y="16916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6720840" y="1691640"/>
            <a:ext cx="118872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8" name="Text 76"/>
          <p:cNvSpPr/>
          <p:nvPr/>
        </p:nvSpPr>
        <p:spPr>
          <a:xfrm>
            <a:off x="672084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COHORT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7909560" y="1691640"/>
            <a:ext cx="123444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0" name="Text 78"/>
          <p:cNvSpPr/>
          <p:nvPr/>
        </p:nvSpPr>
        <p:spPr>
          <a:xfrm>
            <a:off x="7909560" y="16916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9144000" y="1691640"/>
            <a:ext cx="269748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2" name="Text 80"/>
          <p:cNvSpPr/>
          <p:nvPr/>
        </p:nvSpPr>
        <p:spPr>
          <a:xfrm>
            <a:off x="9144000" y="16916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 vs THEM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457200" y="2057400"/>
            <a:ext cx="128016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7200" y="20574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AstroTalk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1737360" y="2057400"/>
            <a:ext cx="141732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737360" y="20574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+ Live consult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3154680" y="2057400"/>
            <a:ext cx="169164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154680" y="205740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30M+ downloads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4846320" y="2057400"/>
            <a:ext cx="187452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846320" y="205740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₹840 cr ARR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6720840" y="2057400"/>
            <a:ext cx="118872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720840" y="205740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25-44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7909560" y="2057400"/>
            <a:ext cx="123444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909560" y="20574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(human)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9144000" y="2057400"/>
            <a:ext cx="269748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9144000" y="20574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cheaper Reel-funnel ₹199 SKU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457200" y="2258568"/>
            <a:ext cx="128016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57200" y="225856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AstroSage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1737360" y="2258568"/>
            <a:ext cx="141732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737360" y="225856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Kundli + App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3154680" y="2258568"/>
            <a:ext cx="16916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154680" y="225856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10M+ installs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4846320" y="2258568"/>
            <a:ext cx="187452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846320" y="225856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 cr FY24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6720840" y="2258568"/>
            <a:ext cx="118872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720840" y="22585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35-65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7909560" y="2258568"/>
            <a:ext cx="12344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909560" y="225856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launching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9144000" y="2258568"/>
            <a:ext cx="269748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144000" y="225856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UI + WA-native delivery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457200" y="2459736"/>
            <a:ext cx="128016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57200" y="245973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Astroyogi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1737360" y="2459736"/>
            <a:ext cx="141732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737360" y="245973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+ Telco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3154680" y="2459736"/>
            <a:ext cx="169164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154680" y="245973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survey '23</a:t>
            </a:r>
            <a:endParaRPr lang="en-US" sz="750" dirty="0"/>
          </a:p>
        </p:txBody>
      </p:sp>
      <p:sp>
        <p:nvSpPr>
          <p:cNvPr id="117" name="Shape 115"/>
          <p:cNvSpPr/>
          <p:nvPr/>
        </p:nvSpPr>
        <p:spPr>
          <a:xfrm>
            <a:off x="4846320" y="2459736"/>
            <a:ext cx="187452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846320" y="245973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6720840" y="2459736"/>
            <a:ext cx="118872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720840" y="24597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25-35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7909560" y="2459736"/>
            <a:ext cx="123444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909560" y="245973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9144000" y="2459736"/>
            <a:ext cx="269748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9144000" y="245973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Hindi-belt + Marathi micro-niche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457200" y="2660904"/>
            <a:ext cx="128016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57200" y="26609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InstaAstro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1737360" y="2660904"/>
            <a:ext cx="141732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737360" y="266090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3154680" y="2660904"/>
            <a:ext cx="16916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154680" y="266090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VC-funded series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4846320" y="2660904"/>
            <a:ext cx="187452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846320" y="266090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~₹30-50 cr est</a:t>
            </a:r>
            <a:endParaRPr lang="en-US" sz="750" dirty="0"/>
          </a:p>
        </p:txBody>
      </p:sp>
      <p:sp>
        <p:nvSpPr>
          <p:cNvPr id="133" name="Shape 131"/>
          <p:cNvSpPr/>
          <p:nvPr/>
        </p:nvSpPr>
        <p:spPr>
          <a:xfrm>
            <a:off x="6720840" y="2660904"/>
            <a:ext cx="118872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6720840" y="26609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25-40</a:t>
            </a:r>
            <a:endParaRPr lang="en-US" sz="750" dirty="0"/>
          </a:p>
        </p:txBody>
      </p:sp>
      <p:sp>
        <p:nvSpPr>
          <p:cNvPr id="135" name="Shape 133"/>
          <p:cNvSpPr/>
          <p:nvPr/>
        </p:nvSpPr>
        <p:spPr>
          <a:xfrm>
            <a:off x="7909560" y="2660904"/>
            <a:ext cx="12344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7909560" y="26609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50" dirty="0"/>
          </a:p>
        </p:txBody>
      </p:sp>
      <p:sp>
        <p:nvSpPr>
          <p:cNvPr id="137" name="Shape 135"/>
          <p:cNvSpPr/>
          <p:nvPr/>
        </p:nvSpPr>
        <p:spPr>
          <a:xfrm>
            <a:off x="9144000" y="2660904"/>
            <a:ext cx="269748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144000" y="266090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CAC via organic IG hook content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457200" y="2862072"/>
            <a:ext cx="128016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57200" y="28620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AppsForBharat</a:t>
            </a:r>
            <a:endParaRPr lang="en-US" sz="750" dirty="0"/>
          </a:p>
        </p:txBody>
      </p:sp>
      <p:sp>
        <p:nvSpPr>
          <p:cNvPr id="141" name="Shape 139"/>
          <p:cNvSpPr/>
          <p:nvPr/>
        </p:nvSpPr>
        <p:spPr>
          <a:xfrm>
            <a:off x="1737360" y="2862072"/>
            <a:ext cx="141732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1737360" y="28620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SriMandir</a:t>
            </a:r>
            <a:endParaRPr lang="en-US" sz="750" dirty="0"/>
          </a:p>
        </p:txBody>
      </p:sp>
      <p:sp>
        <p:nvSpPr>
          <p:cNvPr id="143" name="Shape 141"/>
          <p:cNvSpPr/>
          <p:nvPr/>
        </p:nvSpPr>
        <p:spPr>
          <a:xfrm>
            <a:off x="3154680" y="2862072"/>
            <a:ext cx="169164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3154680" y="28620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5M+ downloads</a:t>
            </a:r>
            <a:endParaRPr lang="en-US" sz="750" dirty="0"/>
          </a:p>
        </p:txBody>
      </p:sp>
      <p:sp>
        <p:nvSpPr>
          <p:cNvPr id="145" name="Shape 143"/>
          <p:cNvSpPr/>
          <p:nvPr/>
        </p:nvSpPr>
        <p:spPr>
          <a:xfrm>
            <a:off x="4846320" y="2862072"/>
            <a:ext cx="187452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846320" y="286207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$40M raised 2024</a:t>
            </a:r>
            <a:endParaRPr lang="en-US" sz="750" dirty="0"/>
          </a:p>
        </p:txBody>
      </p:sp>
      <p:sp>
        <p:nvSpPr>
          <p:cNvPr id="147" name="Shape 145"/>
          <p:cNvSpPr/>
          <p:nvPr/>
        </p:nvSpPr>
        <p:spPr>
          <a:xfrm>
            <a:off x="6720840" y="2862072"/>
            <a:ext cx="118872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6720840" y="28620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35-65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7909560" y="2862072"/>
            <a:ext cx="123444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7909560" y="286207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50" dirty="0"/>
          </a:p>
        </p:txBody>
      </p:sp>
      <p:sp>
        <p:nvSpPr>
          <p:cNvPr id="151" name="Shape 149"/>
          <p:cNvSpPr/>
          <p:nvPr/>
        </p:nvSpPr>
        <p:spPr>
          <a:xfrm>
            <a:off x="9144000" y="2862072"/>
            <a:ext cx="2697480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9144000" y="286207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Astro-only focus + price under ₹500</a:t>
            </a: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457200" y="3063240"/>
            <a:ext cx="1280160" cy="201168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57200" y="30632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PORTFOLIO</a:t>
            </a: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1737360" y="3063240"/>
            <a:ext cx="1417320" cy="201168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1737360" y="30632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Reels + ₹199 PDF</a:t>
            </a:r>
            <a:endParaRPr lang="en-US" sz="750" dirty="0"/>
          </a:p>
        </p:txBody>
      </p:sp>
      <p:sp>
        <p:nvSpPr>
          <p:cNvPr id="157" name="Shape 155"/>
          <p:cNvSpPr/>
          <p:nvPr/>
        </p:nvSpPr>
        <p:spPr>
          <a:xfrm>
            <a:off x="3154680" y="3063240"/>
            <a:ext cx="1691640" cy="201168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3154680" y="30632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 followers</a:t>
            </a: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4846320" y="3063240"/>
            <a:ext cx="1874520" cy="201168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846320" y="306324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₹199 × N kundli/day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6720840" y="3063240"/>
            <a:ext cx="1188720" cy="201168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6720840" y="306324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25-55</a:t>
            </a:r>
            <a:endParaRPr lang="en-US" sz="750" dirty="0"/>
          </a:p>
        </p:txBody>
      </p:sp>
      <p:sp>
        <p:nvSpPr>
          <p:cNvPr id="163" name="Shape 161"/>
          <p:cNvSpPr/>
          <p:nvPr/>
        </p:nvSpPr>
        <p:spPr>
          <a:xfrm>
            <a:off x="7909560" y="3063240"/>
            <a:ext cx="1234440" cy="201168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7909560" y="306324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voice+edit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9144000" y="3063240"/>
            <a:ext cx="2697480" cy="201168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9144000" y="306324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AI-native, multi-lang, IG-organic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320040" y="3566160"/>
            <a:ext cx="3840480" cy="29260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68" name="Shape 166"/>
          <p:cNvSpPr/>
          <p:nvPr/>
        </p:nvSpPr>
        <p:spPr>
          <a:xfrm>
            <a:off x="356616" y="3602736"/>
            <a:ext cx="37673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69" name="Text 167"/>
          <p:cNvSpPr/>
          <p:nvPr/>
        </p:nvSpPr>
        <p:spPr>
          <a:xfrm>
            <a:off x="356616" y="3602736"/>
            <a:ext cx="3767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ANSOFF MATRIX  ·  WHERE THE PLAYS LIVE</a:t>
            </a:r>
            <a:endParaRPr lang="en-US" sz="1100" dirty="0"/>
          </a:p>
        </p:txBody>
      </p:sp>
      <p:sp>
        <p:nvSpPr>
          <p:cNvPr id="170" name="Shape 168"/>
          <p:cNvSpPr/>
          <p:nvPr/>
        </p:nvSpPr>
        <p:spPr>
          <a:xfrm>
            <a:off x="457200" y="4023360"/>
            <a:ext cx="1783080" cy="1051560"/>
          </a:xfrm>
          <a:prstGeom prst="rect">
            <a:avLst/>
          </a:prstGeom>
          <a:solidFill>
            <a:srgbClr val="FFDFE3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240280" y="4023360"/>
            <a:ext cx="1783080" cy="1051560"/>
          </a:xfrm>
          <a:prstGeom prst="rect">
            <a:avLst/>
          </a:prstGeom>
          <a:solidFill>
            <a:srgbClr val="D63D58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457200" y="5074920"/>
            <a:ext cx="1783080" cy="1051560"/>
          </a:xfrm>
          <a:prstGeom prst="rect">
            <a:avLst/>
          </a:prstGeom>
          <a:solidFill>
            <a:srgbClr val="FECCD3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240280" y="5074920"/>
            <a:ext cx="1783080" cy="1051560"/>
          </a:xfrm>
          <a:prstGeom prst="rect">
            <a:avLst/>
          </a:prstGeom>
          <a:solidFill>
            <a:srgbClr val="FBE0E3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530352" y="406908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Penetration</a:t>
            </a:r>
            <a:endParaRPr lang="en-US" sz="750" dirty="0"/>
          </a:p>
        </p:txBody>
      </p:sp>
      <p:sp>
        <p:nvSpPr>
          <p:cNvPr id="175" name="Text 173"/>
          <p:cNvSpPr/>
          <p:nvPr/>
        </p:nvSpPr>
        <p:spPr>
          <a:xfrm>
            <a:off x="530352" y="4297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₹199 to current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pool · retargeting,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UPI, EMI options</a:t>
            </a:r>
            <a:endParaRPr lang="en-US" sz="700" dirty="0"/>
          </a:p>
        </p:txBody>
      </p:sp>
      <p:sp>
        <p:nvSpPr>
          <p:cNvPr id="176" name="Text 174"/>
          <p:cNvSpPr/>
          <p:nvPr/>
        </p:nvSpPr>
        <p:spPr>
          <a:xfrm>
            <a:off x="2313432" y="406908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PRODUCT DEV ★</a:t>
            </a:r>
            <a:endParaRPr lang="en-US" sz="750" dirty="0"/>
          </a:p>
        </p:txBody>
      </p:sp>
      <p:sp>
        <p:nvSpPr>
          <p:cNvPr id="177" name="Text 175"/>
          <p:cNvSpPr/>
          <p:nvPr/>
        </p:nvSpPr>
        <p:spPr>
          <a:xfrm>
            <a:off x="2313432" y="429768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panchang ₹49</a:t>
            </a:r>
            <a:endParaRPr lang="en-US" sz="700" dirty="0"/>
          </a:p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₹499 (live)</a:t>
            </a:r>
            <a:endParaRPr lang="en-US" sz="700" dirty="0"/>
          </a:p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₹1,499</a:t>
            </a:r>
            <a:endParaRPr lang="en-US" sz="700" dirty="0"/>
          </a:p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Baby-name ₹999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530352" y="51206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DEV</a:t>
            </a:r>
            <a:endParaRPr lang="en-US" sz="750" dirty="0"/>
          </a:p>
        </p:txBody>
      </p:sp>
      <p:sp>
        <p:nvSpPr>
          <p:cNvPr id="179" name="Text 177"/>
          <p:cNvSpPr/>
          <p:nvPr/>
        </p:nvSpPr>
        <p:spPr>
          <a:xfrm>
            <a:off x="530352" y="5349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@drishtiastro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USD pricing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society B2B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Matrimonial API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2313432" y="51206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Diversification</a:t>
            </a:r>
            <a:endParaRPr lang="en-US" sz="750" dirty="0"/>
          </a:p>
        </p:txBody>
      </p:sp>
      <p:sp>
        <p:nvSpPr>
          <p:cNvPr id="181" name="Text 179"/>
          <p:cNvSpPr/>
          <p:nvPr/>
        </p:nvSpPr>
        <p:spPr>
          <a:xfrm>
            <a:off x="2313432" y="5349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Gemstone e-com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Vedic calendar product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astrology</a:t>
            </a:r>
            <a:endParaRPr lang="en-US" sz="700" dirty="0"/>
          </a:p>
        </p:txBody>
      </p:sp>
      <p:sp>
        <p:nvSpPr>
          <p:cNvPr id="182" name="Text 180"/>
          <p:cNvSpPr/>
          <p:nvPr/>
        </p:nvSpPr>
        <p:spPr>
          <a:xfrm>
            <a:off x="457200" y="61722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existing market         new market →</a:t>
            </a:r>
            <a:endParaRPr lang="en-US" sz="700" dirty="0"/>
          </a:p>
        </p:txBody>
      </p:sp>
      <p:sp>
        <p:nvSpPr>
          <p:cNvPr id="183" name="Shape 181"/>
          <p:cNvSpPr/>
          <p:nvPr/>
        </p:nvSpPr>
        <p:spPr>
          <a:xfrm>
            <a:off x="4297680" y="3566160"/>
            <a:ext cx="3794760" cy="29260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4334256" y="3602736"/>
            <a:ext cx="37216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85" name="Text 183"/>
          <p:cNvSpPr/>
          <p:nvPr/>
        </p:nvSpPr>
        <p:spPr>
          <a:xfrm>
            <a:off x="4334256" y="3602736"/>
            <a:ext cx="3721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BCG MATRIX  ·  PORTFOLIO HANDLES</a:t>
            </a:r>
            <a:endParaRPr lang="en-US" sz="1100" dirty="0"/>
          </a:p>
        </p:txBody>
      </p:sp>
      <p:sp>
        <p:nvSpPr>
          <p:cNvPr id="186" name="Shape 184"/>
          <p:cNvSpPr/>
          <p:nvPr/>
        </p:nvSpPr>
        <p:spPr>
          <a:xfrm>
            <a:off x="4434840" y="4023360"/>
            <a:ext cx="1760220" cy="1051560"/>
          </a:xfrm>
          <a:prstGeom prst="rect">
            <a:avLst/>
          </a:prstGeom>
          <a:solidFill>
            <a:srgbClr val="D63D58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6195060" y="4023360"/>
            <a:ext cx="1760220" cy="1051560"/>
          </a:xfrm>
          <a:prstGeom prst="rect">
            <a:avLst/>
          </a:prstGeom>
          <a:solidFill>
            <a:srgbClr val="FFDFE3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4434840" y="5074920"/>
            <a:ext cx="1760220" cy="1051560"/>
          </a:xfrm>
          <a:prstGeom prst="rect">
            <a:avLst/>
          </a:prstGeom>
          <a:solidFill>
            <a:srgbClr val="FECCD3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6195060" y="5074920"/>
            <a:ext cx="1760220" cy="1051560"/>
          </a:xfrm>
          <a:prstGeom prst="rect">
            <a:avLst/>
          </a:prstGeom>
          <a:solidFill>
            <a:srgbClr val="FBE0E3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4507992" y="4069080"/>
            <a:ext cx="16230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★</a:t>
            </a:r>
            <a:endParaRPr lang="en-US" sz="800" dirty="0"/>
          </a:p>
        </p:txBody>
      </p:sp>
      <p:sp>
        <p:nvSpPr>
          <p:cNvPr id="191" name="Text 189"/>
          <p:cNvSpPr/>
          <p:nvPr/>
        </p:nvSpPr>
        <p:spPr>
          <a:xfrm>
            <a:off x="6268212" y="4069080"/>
            <a:ext cx="16230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MARK</a:t>
            </a:r>
            <a:endParaRPr lang="en-US" sz="800" dirty="0"/>
          </a:p>
        </p:txBody>
      </p:sp>
      <p:sp>
        <p:nvSpPr>
          <p:cNvPr id="192" name="Text 190"/>
          <p:cNvSpPr/>
          <p:nvPr/>
        </p:nvSpPr>
        <p:spPr>
          <a:xfrm>
            <a:off x="4507992" y="5120640"/>
            <a:ext cx="16230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COW $</a:t>
            </a:r>
            <a:endParaRPr lang="en-US" sz="800" dirty="0"/>
          </a:p>
        </p:txBody>
      </p:sp>
      <p:sp>
        <p:nvSpPr>
          <p:cNvPr id="193" name="Text 191"/>
          <p:cNvSpPr/>
          <p:nvPr/>
        </p:nvSpPr>
        <p:spPr>
          <a:xfrm>
            <a:off x="6268212" y="5120640"/>
            <a:ext cx="16230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</a:t>
            </a:r>
            <a:endParaRPr lang="en-US" sz="800" dirty="0"/>
          </a:p>
        </p:txBody>
      </p:sp>
      <p:sp>
        <p:nvSpPr>
          <p:cNvPr id="194" name="Shape 192"/>
          <p:cNvSpPr/>
          <p:nvPr/>
        </p:nvSpPr>
        <p:spPr>
          <a:xfrm>
            <a:off x="5074920" y="4526280"/>
            <a:ext cx="502920" cy="5029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6304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07492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saath</a:t>
            </a:r>
            <a:endParaRPr lang="en-US" sz="600" dirty="0"/>
          </a:p>
        </p:txBody>
      </p:sp>
      <p:sp>
        <p:nvSpPr>
          <p:cNvPr id="196" name="Shape 194"/>
          <p:cNvSpPr/>
          <p:nvPr/>
        </p:nvSpPr>
        <p:spPr>
          <a:xfrm>
            <a:off x="6423660" y="4526280"/>
            <a:ext cx="411480" cy="411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6304F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642366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rashi</a:t>
            </a:r>
            <a:endParaRPr lang="en-US" sz="550" dirty="0"/>
          </a:p>
        </p:txBody>
      </p:sp>
      <p:sp>
        <p:nvSpPr>
          <p:cNvPr id="198" name="Shape 196"/>
          <p:cNvSpPr/>
          <p:nvPr/>
        </p:nvSpPr>
        <p:spPr>
          <a:xfrm>
            <a:off x="7155180" y="4526280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6304F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715518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drish</a:t>
            </a:r>
            <a:endParaRPr lang="en-US" sz="600" dirty="0"/>
          </a:p>
        </p:txBody>
      </p:sp>
      <p:sp>
        <p:nvSpPr>
          <p:cNvPr id="200" name="Shape 198"/>
          <p:cNvSpPr/>
          <p:nvPr/>
        </p:nvSpPr>
        <p:spPr>
          <a:xfrm>
            <a:off x="6835140" y="5577840"/>
            <a:ext cx="365760" cy="3657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E8084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6835140" y="5577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</a:t>
            </a:r>
            <a:endParaRPr lang="en-US" sz="550" dirty="0"/>
          </a:p>
        </p:txBody>
      </p:sp>
      <p:sp>
        <p:nvSpPr>
          <p:cNvPr id="202" name="Text 200"/>
          <p:cNvSpPr/>
          <p:nvPr/>
        </p:nvSpPr>
        <p:spPr>
          <a:xfrm>
            <a:off x="4434840" y="6172200"/>
            <a:ext cx="3520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portfolio share →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8229600" y="3566160"/>
            <a:ext cx="3657600" cy="29260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204" name="Shape 202"/>
          <p:cNvSpPr/>
          <p:nvPr/>
        </p:nvSpPr>
        <p:spPr>
          <a:xfrm>
            <a:off x="8266176" y="3602736"/>
            <a:ext cx="358444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05" name="Text 203"/>
          <p:cNvSpPr/>
          <p:nvPr/>
        </p:nvSpPr>
        <p:spPr>
          <a:xfrm>
            <a:off x="8266176" y="360273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5 FORCES</a:t>
            </a:r>
            <a:endParaRPr lang="en-US" sz="1100" dirty="0"/>
          </a:p>
        </p:txBody>
      </p:sp>
      <p:sp>
        <p:nvSpPr>
          <p:cNvPr id="206" name="Shape 204"/>
          <p:cNvSpPr/>
          <p:nvPr/>
        </p:nvSpPr>
        <p:spPr>
          <a:xfrm>
            <a:off x="8366760" y="4023360"/>
            <a:ext cx="3383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366760" y="4023360"/>
            <a:ext cx="640080" cy="43891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08" name="Text 206"/>
          <p:cNvSpPr/>
          <p:nvPr/>
        </p:nvSpPr>
        <p:spPr>
          <a:xfrm>
            <a:off x="8366760" y="402336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209" name="Text 207"/>
          <p:cNvSpPr/>
          <p:nvPr/>
        </p:nvSpPr>
        <p:spPr>
          <a:xfrm>
            <a:off x="9070848" y="405993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new entrants</a:t>
            </a:r>
            <a:endParaRPr lang="en-US" sz="850" dirty="0"/>
          </a:p>
        </p:txBody>
      </p:sp>
      <p:sp>
        <p:nvSpPr>
          <p:cNvPr id="210" name="Text 208"/>
          <p:cNvSpPr/>
          <p:nvPr/>
        </p:nvSpPr>
        <p:spPr>
          <a:xfrm>
            <a:off x="9070848" y="425196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900+ religious tech startups (Tracxn)</a:t>
            </a:r>
            <a:endParaRPr lang="en-US" sz="700" dirty="0"/>
          </a:p>
        </p:txBody>
      </p:sp>
      <p:sp>
        <p:nvSpPr>
          <p:cNvPr id="211" name="Shape 209"/>
          <p:cNvSpPr/>
          <p:nvPr/>
        </p:nvSpPr>
        <p:spPr>
          <a:xfrm>
            <a:off x="8366760" y="4498848"/>
            <a:ext cx="3383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8366760" y="4498848"/>
            <a:ext cx="640080" cy="43891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213" name="Text 211"/>
          <p:cNvSpPr/>
          <p:nvPr/>
        </p:nvSpPr>
        <p:spPr>
          <a:xfrm>
            <a:off x="8366760" y="4498848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800" dirty="0"/>
          </a:p>
        </p:txBody>
      </p:sp>
      <p:sp>
        <p:nvSpPr>
          <p:cNvPr id="214" name="Text 212"/>
          <p:cNvSpPr/>
          <p:nvPr/>
        </p:nvSpPr>
        <p:spPr>
          <a:xfrm>
            <a:off x="9070848" y="453542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bargaining power</a:t>
            </a:r>
            <a:endParaRPr lang="en-US" sz="850" dirty="0"/>
          </a:p>
        </p:txBody>
      </p:sp>
      <p:sp>
        <p:nvSpPr>
          <p:cNvPr id="215" name="Text 213"/>
          <p:cNvSpPr/>
          <p:nvPr/>
        </p:nvSpPr>
        <p:spPr>
          <a:xfrm>
            <a:off x="9070848" y="4727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Plentiful free kundli alternatives</a:t>
            </a:r>
            <a:endParaRPr lang="en-US" sz="700" dirty="0"/>
          </a:p>
        </p:txBody>
      </p:sp>
      <p:sp>
        <p:nvSpPr>
          <p:cNvPr id="216" name="Shape 214"/>
          <p:cNvSpPr/>
          <p:nvPr/>
        </p:nvSpPr>
        <p:spPr>
          <a:xfrm>
            <a:off x="8366760" y="4974336"/>
            <a:ext cx="3383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366760" y="4974336"/>
            <a:ext cx="640080" cy="438912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218" name="Text 216"/>
          <p:cNvSpPr/>
          <p:nvPr/>
        </p:nvSpPr>
        <p:spPr>
          <a:xfrm>
            <a:off x="8366760" y="4974336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00" dirty="0"/>
          </a:p>
        </p:txBody>
      </p:sp>
      <p:sp>
        <p:nvSpPr>
          <p:cNvPr id="219" name="Text 217"/>
          <p:cNvSpPr/>
          <p:nvPr/>
        </p:nvSpPr>
        <p:spPr>
          <a:xfrm>
            <a:off x="9070848" y="501091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power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070848" y="520293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replaces astrologer dependency</a:t>
            </a:r>
            <a:endParaRPr lang="en-US" sz="700" dirty="0"/>
          </a:p>
        </p:txBody>
      </p:sp>
      <p:sp>
        <p:nvSpPr>
          <p:cNvPr id="221" name="Shape 219"/>
          <p:cNvSpPr/>
          <p:nvPr/>
        </p:nvSpPr>
        <p:spPr>
          <a:xfrm>
            <a:off x="8366760" y="5449824"/>
            <a:ext cx="3383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8366760" y="5449824"/>
            <a:ext cx="640080" cy="43891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23" name="Text 221"/>
          <p:cNvSpPr/>
          <p:nvPr/>
        </p:nvSpPr>
        <p:spPr>
          <a:xfrm>
            <a:off x="8366760" y="5449824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9070848" y="54864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substitutes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9070848" y="567842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YouTube astrologers</a:t>
            </a:r>
            <a:endParaRPr lang="en-US" sz="700" dirty="0"/>
          </a:p>
        </p:txBody>
      </p:sp>
      <p:sp>
        <p:nvSpPr>
          <p:cNvPr id="226" name="Shape 224"/>
          <p:cNvSpPr/>
          <p:nvPr/>
        </p:nvSpPr>
        <p:spPr>
          <a:xfrm>
            <a:off x="8366760" y="5925312"/>
            <a:ext cx="3383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8366760" y="5925312"/>
            <a:ext cx="640080" cy="43891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28" name="Text 226"/>
          <p:cNvSpPr/>
          <p:nvPr/>
        </p:nvSpPr>
        <p:spPr>
          <a:xfrm>
            <a:off x="8366760" y="5925312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229" name="Text 227"/>
          <p:cNvSpPr/>
          <p:nvPr/>
        </p:nvSpPr>
        <p:spPr>
          <a:xfrm>
            <a:off x="9070848" y="596188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rivalry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9070848" y="615391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AstroTalk ~80% share consolidation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LEVERS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PLAY × HOW TO WIN — A 5-PILLAR GROWTH ARCHITECTURE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7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5897880" cy="265176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271016"/>
            <a:ext cx="58247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271016"/>
            <a:ext cx="5824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PLAY  ·  3 BEACHHEADS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57200" y="1691640"/>
            <a:ext cx="56235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57200" y="1691640"/>
            <a:ext cx="1051560" cy="68580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1" name="Text 69"/>
          <p:cNvSpPr/>
          <p:nvPr/>
        </p:nvSpPr>
        <p:spPr>
          <a:xfrm>
            <a:off x="457200" y="172821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457200" y="18928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#1</a:t>
            </a:r>
            <a:endParaRPr lang="en-US" sz="2200" dirty="0"/>
          </a:p>
        </p:txBody>
      </p:sp>
      <p:sp>
        <p:nvSpPr>
          <p:cNvPr id="73" name="Text 71"/>
          <p:cNvSpPr/>
          <p:nvPr/>
        </p:nvSpPr>
        <p:spPr>
          <a:xfrm>
            <a:off x="1600200" y="1737360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Hindi-belt partner-birthdate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600200" y="1947672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@saathsetu viral formula across @rashitattva + @astrosaadhan. UP-Bihar-MP-Delhi cohort 25-45.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1600200" y="2148840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SKU: ₹199 → ₹499 kundli + chat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57200" y="2441448"/>
            <a:ext cx="56235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57200" y="2441448"/>
            <a:ext cx="1051560" cy="68580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8" name="Text 76"/>
          <p:cNvSpPr/>
          <p:nvPr/>
        </p:nvSpPr>
        <p:spPr>
          <a:xfrm>
            <a:off x="457200" y="247802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457200" y="264261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#2</a:t>
            </a:r>
            <a:endParaRPr lang="en-US" sz="2200" dirty="0"/>
          </a:p>
        </p:txBody>
      </p:sp>
      <p:sp>
        <p:nvSpPr>
          <p:cNvPr id="80" name="Text 78"/>
          <p:cNvSpPr/>
          <p:nvPr/>
        </p:nvSpPr>
        <p:spPr>
          <a:xfrm>
            <a:off x="1600200" y="2487168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micro-niche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1600200" y="2697480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@drishtiastro: virgin Marathi astro market. No major incumbent. Mumbai-Pune-Nashik-Nagpur.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1600200" y="2898648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SKU: ₹199 Marathi PDF + ₹49 WA sub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457200" y="3191256"/>
            <a:ext cx="56235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57200" y="3191256"/>
            <a:ext cx="1051560" cy="68580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5" name="Text 83"/>
          <p:cNvSpPr/>
          <p:nvPr/>
        </p:nvSpPr>
        <p:spPr>
          <a:xfrm>
            <a:off x="457200" y="32278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</a:t>
            </a:r>
            <a:endParaRPr lang="en-US" sz="650" dirty="0"/>
          </a:p>
        </p:txBody>
      </p:sp>
      <p:sp>
        <p:nvSpPr>
          <p:cNvPr id="86" name="Text 84"/>
          <p:cNvSpPr/>
          <p:nvPr/>
        </p:nvSpPr>
        <p:spPr>
          <a:xfrm>
            <a:off x="457200" y="339242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</a:t>
            </a:r>
            <a:endParaRPr lang="en-US" sz="2200" dirty="0"/>
          </a:p>
        </p:txBody>
      </p:sp>
      <p:sp>
        <p:nvSpPr>
          <p:cNvPr id="87" name="Text 85"/>
          <p:cNvSpPr/>
          <p:nvPr/>
        </p:nvSpPr>
        <p:spPr>
          <a:xfrm>
            <a:off x="1600200" y="3236976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NRI Hindi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1600200" y="3447288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+ UAE + UK Hindi 30-55. Higher AOV. Long-form YT + WA delivery.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1600200" y="3648456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SKU: $15 USD kundli + live ₹2,499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6309360" y="1234440"/>
            <a:ext cx="5577840" cy="265176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>
            <a:off x="6345936" y="1271016"/>
            <a:ext cx="550468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2" name="Text 90"/>
          <p:cNvSpPr/>
          <p:nvPr/>
        </p:nvSpPr>
        <p:spPr>
          <a:xfrm>
            <a:off x="6345936" y="1271016"/>
            <a:ext cx="5504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WIN  ·  5 STRATEGIC PILLARS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6446520" y="1755648"/>
            <a:ext cx="384048" cy="38404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94" name="Text 92"/>
          <p:cNvSpPr/>
          <p:nvPr/>
        </p:nvSpPr>
        <p:spPr>
          <a:xfrm>
            <a:off x="644652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5" name="Text 93"/>
          <p:cNvSpPr/>
          <p:nvPr/>
        </p:nvSpPr>
        <p:spPr>
          <a:xfrm>
            <a:off x="6949440" y="17739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ENGINE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6949440" y="195681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partner-birthdate hook across 3 handles. Daily Reel cadence + carousels.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6446520" y="2176272"/>
            <a:ext cx="384048" cy="38404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98" name="Text 96"/>
          <p:cNvSpPr/>
          <p:nvPr/>
        </p:nvSpPr>
        <p:spPr>
          <a:xfrm>
            <a:off x="644652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9" name="Text 97"/>
          <p:cNvSpPr/>
          <p:nvPr/>
        </p:nvSpPr>
        <p:spPr>
          <a:xfrm>
            <a:off x="6949440" y="21945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STACK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49440" y="237744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verified on all 4. Remove AI disclosure. Hindi pandit voice.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446520" y="2596896"/>
            <a:ext cx="384048" cy="38404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02" name="Text 100"/>
          <p:cNvSpPr/>
          <p:nvPr/>
        </p:nvSpPr>
        <p:spPr>
          <a:xfrm>
            <a:off x="644652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03" name="Text 101"/>
          <p:cNvSpPr/>
          <p:nvPr/>
        </p:nvSpPr>
        <p:spPr>
          <a:xfrm>
            <a:off x="6949440" y="261518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MOAT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6949440" y="27980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YouTube + IVR + Temple QR. No single-platform risk.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446520" y="3017520"/>
            <a:ext cx="384048" cy="38404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06" name="Text 104"/>
          <p:cNvSpPr/>
          <p:nvPr/>
        </p:nvSpPr>
        <p:spPr>
          <a:xfrm>
            <a:off x="6446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07" name="Text 105"/>
          <p:cNvSpPr/>
          <p:nvPr/>
        </p:nvSpPr>
        <p:spPr>
          <a:xfrm>
            <a:off x="6949440" y="3035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LADDER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6949440" y="32186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 sub → ₹199 PDF → ₹499 chat → ₹999 baby-name → ₹1,499 → ₹2,499 live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6446520" y="3438144"/>
            <a:ext cx="384048" cy="38404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10" name="Text 108"/>
          <p:cNvSpPr/>
          <p:nvPr/>
        </p:nvSpPr>
        <p:spPr>
          <a:xfrm>
            <a:off x="6446520" y="3438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11" name="Text 109"/>
          <p:cNvSpPr/>
          <p:nvPr/>
        </p:nvSpPr>
        <p:spPr>
          <a:xfrm>
            <a:off x="6949440" y="34564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DISCIPLINE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949440" y="363931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rebuild. WA checkout. UPI + EMI. Retargeting pixel.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320040" y="4023360"/>
            <a:ext cx="11567160" cy="25146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>
            <a:off x="356616" y="4059936"/>
            <a:ext cx="11494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15" name="Text 113"/>
          <p:cNvSpPr/>
          <p:nvPr/>
        </p:nvSpPr>
        <p:spPr>
          <a:xfrm>
            <a:off x="356616" y="4059936"/>
            <a:ext cx="11494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CHOICES CASCADE (ROGER MARTIN · PLAYING TO WIN)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457200" y="4480560"/>
            <a:ext cx="22402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457200" y="4480560"/>
            <a:ext cx="224028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18" name="Text 116"/>
          <p:cNvSpPr/>
          <p:nvPr/>
        </p:nvSpPr>
        <p:spPr>
          <a:xfrm>
            <a:off x="457200" y="4480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119" name="Text 117"/>
          <p:cNvSpPr/>
          <p:nvPr/>
        </p:nvSpPr>
        <p:spPr>
          <a:xfrm>
            <a:off x="914400" y="4480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ASPIRATION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548640" y="484632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India's #1 AI-native multi-language astrology brand for Hindi-Hinglish-Marathi belt within 18 months. Crack 25K followers per page + ₹50L+ MRR.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2788920" y="4480560"/>
            <a:ext cx="22402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788920" y="4480560"/>
            <a:ext cx="224028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3" name="Text 121"/>
          <p:cNvSpPr/>
          <p:nvPr/>
        </p:nvSpPr>
        <p:spPr>
          <a:xfrm>
            <a:off x="2788920" y="4480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124" name="Text 122"/>
          <p:cNvSpPr/>
          <p:nvPr/>
        </p:nvSpPr>
        <p:spPr>
          <a:xfrm>
            <a:off x="3246120" y="4480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PLAY</a:t>
            </a:r>
            <a:endParaRPr lang="en-US" sz="850" dirty="0"/>
          </a:p>
        </p:txBody>
      </p:sp>
      <p:sp>
        <p:nvSpPr>
          <p:cNvPr id="125" name="Text 123"/>
          <p:cNvSpPr/>
          <p:nvPr/>
        </p:nvSpPr>
        <p:spPr>
          <a:xfrm>
            <a:off x="2880360" y="484632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Hindi-belt 25-55 primary | Marathi sub-niche secondary | NRI diaspora tertiary. AVOID urban English-Gen-Z and live-consult marketplace.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5120640" y="4480560"/>
            <a:ext cx="22402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120640" y="4480560"/>
            <a:ext cx="224028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8" name="Text 126"/>
          <p:cNvSpPr/>
          <p:nvPr/>
        </p:nvSpPr>
        <p:spPr>
          <a:xfrm>
            <a:off x="5120640" y="4480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129" name="Text 127"/>
          <p:cNvSpPr/>
          <p:nvPr/>
        </p:nvSpPr>
        <p:spPr>
          <a:xfrm>
            <a:off x="5577840" y="4480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WIN</a:t>
            </a:r>
            <a:endParaRPr lang="en-US" sz="850" dirty="0"/>
          </a:p>
        </p:txBody>
      </p:sp>
      <p:sp>
        <p:nvSpPr>
          <p:cNvPr id="130" name="Text 128"/>
          <p:cNvSpPr/>
          <p:nvPr/>
        </p:nvSpPr>
        <p:spPr>
          <a:xfrm>
            <a:off x="5212080" y="484632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hook engine × AI cost base × cross-handle promo × WhatsApp checkout × Hindi-pandit voice. 8× cheaper than AstroTalk.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7452360" y="4480560"/>
            <a:ext cx="22402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452360" y="4480560"/>
            <a:ext cx="224028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33" name="Text 131"/>
          <p:cNvSpPr/>
          <p:nvPr/>
        </p:nvSpPr>
        <p:spPr>
          <a:xfrm>
            <a:off x="7452360" y="4480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134" name="Text 132"/>
          <p:cNvSpPr/>
          <p:nvPr/>
        </p:nvSpPr>
        <p:spPr>
          <a:xfrm>
            <a:off x="7909560" y="4480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850" dirty="0"/>
          </a:p>
        </p:txBody>
      </p:sp>
      <p:sp>
        <p:nvSpPr>
          <p:cNvPr id="135" name="Text 133"/>
          <p:cNvSpPr/>
          <p:nvPr/>
        </p:nvSpPr>
        <p:spPr>
          <a:xfrm>
            <a:off x="7543800" y="484632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Reel factory (GPT+ElevenLabs+Canva) | WA Business API | Razorpay UPI/EMI | Microsoft Clarity (already installed) | Vedic copywriter.</a:t>
            </a:r>
            <a:endParaRPr lang="en-US" sz="750" dirty="0"/>
          </a:p>
        </p:txBody>
      </p:sp>
      <p:sp>
        <p:nvSpPr>
          <p:cNvPr id="136" name="Shape 134"/>
          <p:cNvSpPr/>
          <p:nvPr/>
        </p:nvSpPr>
        <p:spPr>
          <a:xfrm>
            <a:off x="9784080" y="4480560"/>
            <a:ext cx="22402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784080" y="4480560"/>
            <a:ext cx="224028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38" name="Text 136"/>
          <p:cNvSpPr/>
          <p:nvPr/>
        </p:nvSpPr>
        <p:spPr>
          <a:xfrm>
            <a:off x="9784080" y="4480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139" name="Text 137"/>
          <p:cNvSpPr/>
          <p:nvPr/>
        </p:nvSpPr>
        <p:spPr>
          <a:xfrm>
            <a:off x="10241280" y="4480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MGMT SYSTEMS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9875520" y="484632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NSM review | content pod (3 people) | CRO sprint cadence | WA drip A/B | UTM + Meta pixel tracking | monthly retro.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SURE-SHOT STRATEGIES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PLAYS · SPECIFIC MECHANICS · TIME-BOUND · OUTCOME-DRIVEN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8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20040" y="1188720"/>
            <a:ext cx="1156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ten plays are designed to compound. Deep mechanics for top three are on slides 9, 10, 11.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65760" y="1508760"/>
            <a:ext cx="2240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65760" y="1508760"/>
            <a:ext cx="2240280" cy="38404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9" name="Text 67"/>
          <p:cNvSpPr/>
          <p:nvPr/>
        </p:nvSpPr>
        <p:spPr>
          <a:xfrm>
            <a:off x="365760" y="15087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457200" y="19659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PARTNER-BIRTHDATE FRANCHISE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457200" y="24688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× 9 hook matrix = 81 unique Reels. Proven (8.5K-view Reel).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457200" y="3200400"/>
            <a:ext cx="7772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57200" y="320040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1-12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457200" y="3456432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10× views per handle by Week 8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2697480" y="1508760"/>
            <a:ext cx="2240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97480" y="1508760"/>
            <a:ext cx="2240280" cy="38404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7" name="Text 75"/>
          <p:cNvSpPr/>
          <p:nvPr/>
        </p:nvSpPr>
        <p:spPr>
          <a:xfrm>
            <a:off x="2697480" y="15087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78" name="Text 76"/>
          <p:cNvSpPr/>
          <p:nvPr/>
        </p:nvSpPr>
        <p:spPr>
          <a:xfrm>
            <a:off x="2788920" y="19659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HALO TRANSFER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2788920" y="24688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Story shoutout from @saathsetu to dormant handles.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2788920" y="3200400"/>
            <a:ext cx="7772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788920" y="320040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1-30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788920" y="3456432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200-500 follower transfer per shoutout (~5-10% of 1.6K views)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5029200" y="1508760"/>
            <a:ext cx="2240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029200" y="1508760"/>
            <a:ext cx="2240280" cy="38404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5" name="Text 83"/>
          <p:cNvSpPr/>
          <p:nvPr/>
        </p:nvSpPr>
        <p:spPr>
          <a:xfrm>
            <a:off x="5029200" y="15087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86" name="Text 84"/>
          <p:cNvSpPr/>
          <p:nvPr/>
        </p:nvSpPr>
        <p:spPr>
          <a:xfrm>
            <a:off x="5120640" y="19659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MONOPOLY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5120640" y="24688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 pivots fully to Devanagari Marathi. M-P-N geo-target.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5120640" y="3200400"/>
            <a:ext cx="7772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120640" y="320040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1-6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5120640" y="3456432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First-mover in Marathi astro (no major competitor)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7360920" y="1508760"/>
            <a:ext cx="2240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508760"/>
            <a:ext cx="2240280" cy="38404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3" name="Text 91"/>
          <p:cNvSpPr/>
          <p:nvPr/>
        </p:nvSpPr>
        <p:spPr>
          <a:xfrm>
            <a:off x="7360920" y="15087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7452360" y="19659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PANDIT QR-CARD ARMY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7452360" y="24688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pandits get personalised QR cards. Their network = our acquisition.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7452360" y="3200400"/>
            <a:ext cx="7772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7452360" y="320040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2-12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7452360" y="3456432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₹30/order × 1,000 orders = ₹3L/mo by Month 3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9692640" y="1508760"/>
            <a:ext cx="2240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692640" y="1508760"/>
            <a:ext cx="2240280" cy="384048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01" name="Text 99"/>
          <p:cNvSpPr/>
          <p:nvPr/>
        </p:nvSpPr>
        <p:spPr>
          <a:xfrm>
            <a:off x="9692640" y="15087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102" name="Text 100"/>
          <p:cNvSpPr/>
          <p:nvPr/>
        </p:nvSpPr>
        <p:spPr>
          <a:xfrm>
            <a:off x="9784080" y="19659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WEDDING-SEASON LAGNA RUSH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9784080" y="24688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Nov-Feb wedding-season ₹499 'parent's compatibility check' SKU.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9784080" y="3200400"/>
            <a:ext cx="7772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9784080" y="320040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Nov-Feb</a:t>
            </a:r>
            <a:endParaRPr lang="en-US" sz="700" dirty="0"/>
          </a:p>
        </p:txBody>
      </p:sp>
      <p:sp>
        <p:nvSpPr>
          <p:cNvPr id="106" name="Text 104"/>
          <p:cNvSpPr/>
          <p:nvPr/>
        </p:nvSpPr>
        <p:spPr>
          <a:xfrm>
            <a:off x="9784080" y="3456432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Captures highest-AOV moment in Indian astro buying</a:t>
            </a:r>
            <a:endParaRPr lang="en-US" sz="700" dirty="0"/>
          </a:p>
        </p:txBody>
      </p:sp>
      <p:sp>
        <p:nvSpPr>
          <p:cNvPr id="107" name="Shape 105"/>
          <p:cNvSpPr/>
          <p:nvPr/>
        </p:nvSpPr>
        <p:spPr>
          <a:xfrm>
            <a:off x="365760" y="4050792"/>
            <a:ext cx="2240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65760" y="4050792"/>
            <a:ext cx="2240280" cy="384048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09" name="Text 107"/>
          <p:cNvSpPr/>
          <p:nvPr/>
        </p:nvSpPr>
        <p:spPr>
          <a:xfrm>
            <a:off x="365760" y="40507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457200" y="450799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BABY-NAME KUNDLI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457200" y="501091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₹999 PDF with 11 nakshatra-aligned name suggestions for new parents.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457200" y="5742432"/>
            <a:ext cx="7772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7200" y="574243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 launch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57200" y="5998464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Low-competition keyword, high SEO intent</a:t>
            </a:r>
            <a:endParaRPr lang="en-US" sz="700" dirty="0"/>
          </a:p>
        </p:txBody>
      </p:sp>
      <p:sp>
        <p:nvSpPr>
          <p:cNvPr id="115" name="Shape 113"/>
          <p:cNvSpPr/>
          <p:nvPr/>
        </p:nvSpPr>
        <p:spPr>
          <a:xfrm>
            <a:off x="2697480" y="4050792"/>
            <a:ext cx="2240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697480" y="4050792"/>
            <a:ext cx="2240280" cy="384048"/>
          </a:xfrm>
          <a:prstGeom prst="rect">
            <a:avLst/>
          </a:prstGeom>
          <a:solidFill>
            <a:srgbClr val="6B3FA0"/>
          </a:solidFill>
          <a:ln/>
        </p:spPr>
      </p:sp>
      <p:sp>
        <p:nvSpPr>
          <p:cNvPr id="117" name="Text 115"/>
          <p:cNvSpPr/>
          <p:nvPr/>
        </p:nvSpPr>
        <p:spPr>
          <a:xfrm>
            <a:off x="2697480" y="40507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2788920" y="450799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SOCIETY ANNUAL B2B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2788920" y="501091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₹50K/yr contracts with apartment RWAs in Pune/Mumbai.</a:t>
            </a:r>
            <a:endParaRPr lang="en-US" sz="750" dirty="0"/>
          </a:p>
        </p:txBody>
      </p:sp>
      <p:sp>
        <p:nvSpPr>
          <p:cNvPr id="120" name="Shape 118"/>
          <p:cNvSpPr/>
          <p:nvPr/>
        </p:nvSpPr>
        <p:spPr>
          <a:xfrm>
            <a:off x="2788920" y="5742432"/>
            <a:ext cx="7772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2788920" y="574243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6-12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2788920" y="5998464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 societies = ₹2.5L recurring + 5,000 captive users</a:t>
            </a:r>
            <a:endParaRPr lang="en-US" sz="700" dirty="0"/>
          </a:p>
        </p:txBody>
      </p:sp>
      <p:sp>
        <p:nvSpPr>
          <p:cNvPr id="123" name="Shape 121"/>
          <p:cNvSpPr/>
          <p:nvPr/>
        </p:nvSpPr>
        <p:spPr>
          <a:xfrm>
            <a:off x="5029200" y="4050792"/>
            <a:ext cx="2240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029200" y="4050792"/>
            <a:ext cx="2240280" cy="384048"/>
          </a:xfrm>
          <a:prstGeom prst="rect">
            <a:avLst/>
          </a:prstGeom>
          <a:solidFill>
            <a:srgbClr val="0D7372"/>
          </a:solidFill>
          <a:ln/>
        </p:spPr>
      </p:sp>
      <p:sp>
        <p:nvSpPr>
          <p:cNvPr id="125" name="Text 123"/>
          <p:cNvSpPr/>
          <p:nvPr/>
        </p:nvSpPr>
        <p:spPr>
          <a:xfrm>
            <a:off x="5029200" y="40507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126" name="Text 124"/>
          <p:cNvSpPr/>
          <p:nvPr/>
        </p:nvSpPr>
        <p:spPr>
          <a:xfrm>
            <a:off x="5120640" y="450799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D7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 PRE-BOOKING ENGINE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5120640" y="501091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6-week-ahead WA pooja booking. Diwali, Navratri, Akshay Tritiya.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5120640" y="5742432"/>
            <a:ext cx="7772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120640" y="574243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festival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5120640" y="5998464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₹2,100 AOV × 100 = ₹2L/festival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7360920" y="4050792"/>
            <a:ext cx="2240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360920" y="4050792"/>
            <a:ext cx="2240280" cy="384048"/>
          </a:xfrm>
          <a:prstGeom prst="rect">
            <a:avLst/>
          </a:prstGeom>
          <a:solidFill>
            <a:srgbClr val="0D7372"/>
          </a:solidFill>
          <a:ln/>
        </p:spPr>
      </p:sp>
      <p:sp>
        <p:nvSpPr>
          <p:cNvPr id="133" name="Text 131"/>
          <p:cNvSpPr/>
          <p:nvPr/>
        </p:nvSpPr>
        <p:spPr>
          <a:xfrm>
            <a:off x="7360920" y="40507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300" dirty="0"/>
          </a:p>
        </p:txBody>
      </p:sp>
      <p:sp>
        <p:nvSpPr>
          <p:cNvPr id="134" name="Text 132"/>
          <p:cNvSpPr/>
          <p:nvPr/>
        </p:nvSpPr>
        <p:spPr>
          <a:xfrm>
            <a:off x="7452360" y="450799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D7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SUNDAY 8PM SHOW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7452360" y="501091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'Saptahik Rashifal' live on IG + YT. Sponsor-ready inventory.</a:t>
            </a:r>
            <a:endParaRPr lang="en-US" sz="750" dirty="0"/>
          </a:p>
        </p:txBody>
      </p:sp>
      <p:sp>
        <p:nvSpPr>
          <p:cNvPr id="136" name="Shape 134"/>
          <p:cNvSpPr/>
          <p:nvPr/>
        </p:nvSpPr>
        <p:spPr>
          <a:xfrm>
            <a:off x="7452360" y="5742432"/>
            <a:ext cx="7772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452360" y="574243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 onwards</a:t>
            </a:r>
            <a:endParaRPr lang="en-US" sz="700" dirty="0"/>
          </a:p>
        </p:txBody>
      </p:sp>
      <p:sp>
        <p:nvSpPr>
          <p:cNvPr id="138" name="Text 136"/>
          <p:cNvSpPr/>
          <p:nvPr/>
        </p:nvSpPr>
        <p:spPr>
          <a:xfrm>
            <a:off x="7452360" y="5998464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Build appointment viewership = retention moat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9692640" y="4050792"/>
            <a:ext cx="2240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692640" y="4050792"/>
            <a:ext cx="2240280" cy="384048"/>
          </a:xfrm>
          <a:prstGeom prst="rect">
            <a:avLst/>
          </a:prstGeom>
          <a:solidFill>
            <a:srgbClr val="6B3FA0"/>
          </a:solidFill>
          <a:ln/>
        </p:spPr>
      </p:sp>
      <p:sp>
        <p:nvSpPr>
          <p:cNvPr id="141" name="Text 139"/>
          <p:cNvSpPr/>
          <p:nvPr/>
        </p:nvSpPr>
        <p:spPr>
          <a:xfrm>
            <a:off x="9692640" y="40507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300" dirty="0"/>
          </a:p>
        </p:txBody>
      </p:sp>
      <p:sp>
        <p:nvSpPr>
          <p:cNvPr id="142" name="Text 140"/>
          <p:cNvSpPr/>
          <p:nvPr/>
        </p:nvSpPr>
        <p:spPr>
          <a:xfrm>
            <a:off x="9784080" y="450799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DOLLAR PRICING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9784080" y="501091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 USD kundli for USA/UK/UAE Hindi 35-55. 3× the rupee AOV.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9784080" y="5742432"/>
            <a:ext cx="777240" cy="201168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784080" y="574243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8-12</a:t>
            </a:r>
            <a:endParaRPr lang="en-US" sz="700" dirty="0"/>
          </a:p>
        </p:txBody>
      </p:sp>
      <p:sp>
        <p:nvSpPr>
          <p:cNvPr id="146" name="Text 144"/>
          <p:cNvSpPr/>
          <p:nvPr/>
        </p:nvSpPr>
        <p:spPr>
          <a:xfrm>
            <a:off x="9784080" y="5998464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Diaspora cohort = highest LTV in category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01  ·  PARTNER-BIRTHDATE FRANCHISE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TEMPLATIZE @SAATHSETU'S 8.5K-VIEW FORMULA INTO AN 81-HOOK SYSTEM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9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589788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271016"/>
            <a:ext cx="58247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271016"/>
            <a:ext cx="5824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 × 9 HOOK MATRIX  ·  81 UNIQUE REELS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1691640"/>
            <a:ext cx="562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Mulank 1-9 (your audience) × Mulank 1-9 (their partner) × emotion = 81 unique permutations of the same proven hook. Then layer planet (Venus/Mars/Saturn) for 243 variants.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457200" y="23317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MATRIX: YOUR MULANK (rows) × PARTNER MULANK (cols)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1097280" y="2606040"/>
            <a:ext cx="374904" cy="128016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2" name="Shape 70"/>
          <p:cNvSpPr/>
          <p:nvPr/>
        </p:nvSpPr>
        <p:spPr>
          <a:xfrm>
            <a:off x="1508760" y="2606040"/>
            <a:ext cx="374904" cy="128016"/>
          </a:xfrm>
          <a:prstGeom prst="rect">
            <a:avLst/>
          </a:prstGeom>
          <a:solidFill>
            <a:srgbClr val="9E3D58"/>
          </a:solidFill>
          <a:ln/>
        </p:spPr>
      </p:sp>
      <p:sp>
        <p:nvSpPr>
          <p:cNvPr id="73" name="Shape 71"/>
          <p:cNvSpPr/>
          <p:nvPr/>
        </p:nvSpPr>
        <p:spPr>
          <a:xfrm>
            <a:off x="1920240" y="2606040"/>
            <a:ext cx="374904" cy="128016"/>
          </a:xfrm>
          <a:prstGeom prst="rect">
            <a:avLst/>
          </a:prstGeom>
          <a:solidFill>
            <a:srgbClr val="CB3D58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1720" y="2606040"/>
            <a:ext cx="374904" cy="128016"/>
          </a:xfrm>
          <a:prstGeom prst="rect">
            <a:avLst/>
          </a:prstGeom>
          <a:solidFill>
            <a:srgbClr val="933D58"/>
          </a:solidFill>
          <a:ln/>
        </p:spPr>
      </p:sp>
      <p:sp>
        <p:nvSpPr>
          <p:cNvPr id="75" name="Shape 73"/>
          <p:cNvSpPr/>
          <p:nvPr/>
        </p:nvSpPr>
        <p:spPr>
          <a:xfrm>
            <a:off x="2743200" y="2606040"/>
            <a:ext cx="374904" cy="128016"/>
          </a:xfrm>
          <a:prstGeom prst="rect">
            <a:avLst/>
          </a:prstGeom>
          <a:solidFill>
            <a:srgbClr val="C03D58"/>
          </a:solidFill>
          <a:ln/>
        </p:spPr>
      </p:sp>
      <p:sp>
        <p:nvSpPr>
          <p:cNvPr id="76" name="Shape 74"/>
          <p:cNvSpPr/>
          <p:nvPr/>
        </p:nvSpPr>
        <p:spPr>
          <a:xfrm>
            <a:off x="3154680" y="2606040"/>
            <a:ext cx="374904" cy="128016"/>
          </a:xfrm>
          <a:prstGeom prst="rect">
            <a:avLst/>
          </a:prstGeom>
          <a:solidFill>
            <a:srgbClr val="883D58"/>
          </a:solidFill>
          <a:ln/>
        </p:spPr>
      </p:sp>
      <p:sp>
        <p:nvSpPr>
          <p:cNvPr id="77" name="Shape 75"/>
          <p:cNvSpPr/>
          <p:nvPr/>
        </p:nvSpPr>
        <p:spPr>
          <a:xfrm>
            <a:off x="3566160" y="2606040"/>
            <a:ext cx="374904" cy="128016"/>
          </a:xfrm>
          <a:prstGeom prst="rect">
            <a:avLst/>
          </a:prstGeom>
          <a:solidFill>
            <a:srgbClr val="B53D58"/>
          </a:solidFill>
          <a:ln/>
        </p:spPr>
      </p:sp>
      <p:sp>
        <p:nvSpPr>
          <p:cNvPr id="78" name="Shape 76"/>
          <p:cNvSpPr/>
          <p:nvPr/>
        </p:nvSpPr>
        <p:spPr>
          <a:xfrm>
            <a:off x="3977640" y="2606040"/>
            <a:ext cx="374904" cy="128016"/>
          </a:xfrm>
          <a:prstGeom prst="rect">
            <a:avLst/>
          </a:prstGeom>
          <a:solidFill>
            <a:srgbClr val="7D3D58"/>
          </a:solidFill>
          <a:ln/>
        </p:spPr>
      </p:sp>
      <p:sp>
        <p:nvSpPr>
          <p:cNvPr id="79" name="Shape 77"/>
          <p:cNvSpPr/>
          <p:nvPr/>
        </p:nvSpPr>
        <p:spPr>
          <a:xfrm>
            <a:off x="4389120" y="2606040"/>
            <a:ext cx="374904" cy="128016"/>
          </a:xfrm>
          <a:prstGeom prst="rect">
            <a:avLst/>
          </a:prstGeom>
          <a:solidFill>
            <a:srgbClr val="AA3D58"/>
          </a:solidFill>
          <a:ln/>
        </p:spPr>
      </p:sp>
      <p:sp>
        <p:nvSpPr>
          <p:cNvPr id="80" name="Shape 78"/>
          <p:cNvSpPr/>
          <p:nvPr/>
        </p:nvSpPr>
        <p:spPr>
          <a:xfrm>
            <a:off x="1097280" y="2752344"/>
            <a:ext cx="374904" cy="128016"/>
          </a:xfrm>
          <a:prstGeom prst="rect">
            <a:avLst/>
          </a:prstGeom>
          <a:solidFill>
            <a:srgbClr val="B53D58"/>
          </a:solidFill>
          <a:ln/>
        </p:spPr>
      </p:sp>
      <p:sp>
        <p:nvSpPr>
          <p:cNvPr id="81" name="Shape 79"/>
          <p:cNvSpPr/>
          <p:nvPr/>
        </p:nvSpPr>
        <p:spPr>
          <a:xfrm>
            <a:off x="1508760" y="2752344"/>
            <a:ext cx="374904" cy="128016"/>
          </a:xfrm>
          <a:prstGeom prst="rect">
            <a:avLst/>
          </a:prstGeom>
          <a:solidFill>
            <a:srgbClr val="7D3D58"/>
          </a:solidFill>
          <a:ln/>
        </p:spPr>
      </p:sp>
      <p:sp>
        <p:nvSpPr>
          <p:cNvPr id="82" name="Shape 80"/>
          <p:cNvSpPr/>
          <p:nvPr/>
        </p:nvSpPr>
        <p:spPr>
          <a:xfrm>
            <a:off x="1920240" y="2752344"/>
            <a:ext cx="374904" cy="128016"/>
          </a:xfrm>
          <a:prstGeom prst="rect">
            <a:avLst/>
          </a:prstGeom>
          <a:solidFill>
            <a:srgbClr val="AA3D58"/>
          </a:solidFill>
          <a:ln/>
        </p:spPr>
      </p:sp>
      <p:sp>
        <p:nvSpPr>
          <p:cNvPr id="83" name="Shape 81"/>
          <p:cNvSpPr/>
          <p:nvPr/>
        </p:nvSpPr>
        <p:spPr>
          <a:xfrm>
            <a:off x="2331720" y="2752344"/>
            <a:ext cx="374904" cy="128016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4" name="Shape 82"/>
          <p:cNvSpPr/>
          <p:nvPr/>
        </p:nvSpPr>
        <p:spPr>
          <a:xfrm>
            <a:off x="2743200" y="2752344"/>
            <a:ext cx="374904" cy="128016"/>
          </a:xfrm>
          <a:prstGeom prst="rect">
            <a:avLst/>
          </a:prstGeom>
          <a:solidFill>
            <a:srgbClr val="9E3D58"/>
          </a:solidFill>
          <a:ln/>
        </p:spPr>
      </p:sp>
      <p:sp>
        <p:nvSpPr>
          <p:cNvPr id="85" name="Shape 83"/>
          <p:cNvSpPr/>
          <p:nvPr/>
        </p:nvSpPr>
        <p:spPr>
          <a:xfrm>
            <a:off x="3154680" y="2752344"/>
            <a:ext cx="374904" cy="128016"/>
          </a:xfrm>
          <a:prstGeom prst="rect">
            <a:avLst/>
          </a:prstGeom>
          <a:solidFill>
            <a:srgbClr val="CB3D58"/>
          </a:solidFill>
          <a:ln/>
        </p:spPr>
      </p:sp>
      <p:sp>
        <p:nvSpPr>
          <p:cNvPr id="86" name="Shape 84"/>
          <p:cNvSpPr/>
          <p:nvPr/>
        </p:nvSpPr>
        <p:spPr>
          <a:xfrm>
            <a:off x="3566160" y="2752344"/>
            <a:ext cx="374904" cy="128016"/>
          </a:xfrm>
          <a:prstGeom prst="rect">
            <a:avLst/>
          </a:prstGeom>
          <a:solidFill>
            <a:srgbClr val="933D58"/>
          </a:solidFill>
          <a:ln/>
        </p:spPr>
      </p:sp>
      <p:sp>
        <p:nvSpPr>
          <p:cNvPr id="87" name="Shape 85"/>
          <p:cNvSpPr/>
          <p:nvPr/>
        </p:nvSpPr>
        <p:spPr>
          <a:xfrm>
            <a:off x="3977640" y="2752344"/>
            <a:ext cx="374904" cy="128016"/>
          </a:xfrm>
          <a:prstGeom prst="rect">
            <a:avLst/>
          </a:prstGeom>
          <a:solidFill>
            <a:srgbClr val="C03D58"/>
          </a:solidFill>
          <a:ln/>
        </p:spPr>
      </p:sp>
      <p:sp>
        <p:nvSpPr>
          <p:cNvPr id="88" name="Shape 86"/>
          <p:cNvSpPr/>
          <p:nvPr/>
        </p:nvSpPr>
        <p:spPr>
          <a:xfrm>
            <a:off x="4389120" y="2752344"/>
            <a:ext cx="374904" cy="128016"/>
          </a:xfrm>
          <a:prstGeom prst="rect">
            <a:avLst/>
          </a:prstGeom>
          <a:solidFill>
            <a:srgbClr val="883D58"/>
          </a:solidFill>
          <a:ln/>
        </p:spPr>
      </p:sp>
      <p:sp>
        <p:nvSpPr>
          <p:cNvPr id="89" name="Shape 87"/>
          <p:cNvSpPr/>
          <p:nvPr/>
        </p:nvSpPr>
        <p:spPr>
          <a:xfrm>
            <a:off x="1097280" y="2898648"/>
            <a:ext cx="374904" cy="128016"/>
          </a:xfrm>
          <a:prstGeom prst="rect">
            <a:avLst/>
          </a:prstGeom>
          <a:solidFill>
            <a:srgbClr val="933D58"/>
          </a:solidFill>
          <a:ln/>
        </p:spPr>
      </p:sp>
      <p:sp>
        <p:nvSpPr>
          <p:cNvPr id="90" name="Shape 88"/>
          <p:cNvSpPr/>
          <p:nvPr/>
        </p:nvSpPr>
        <p:spPr>
          <a:xfrm>
            <a:off x="1508760" y="2898648"/>
            <a:ext cx="374904" cy="128016"/>
          </a:xfrm>
          <a:prstGeom prst="rect">
            <a:avLst/>
          </a:prstGeom>
          <a:solidFill>
            <a:srgbClr val="C03D58"/>
          </a:solidFill>
          <a:ln/>
        </p:spPr>
      </p:sp>
      <p:sp>
        <p:nvSpPr>
          <p:cNvPr id="91" name="Shape 89"/>
          <p:cNvSpPr/>
          <p:nvPr/>
        </p:nvSpPr>
        <p:spPr>
          <a:xfrm>
            <a:off x="1920240" y="2898648"/>
            <a:ext cx="374904" cy="128016"/>
          </a:xfrm>
          <a:prstGeom prst="rect">
            <a:avLst/>
          </a:prstGeom>
          <a:solidFill>
            <a:srgbClr val="883D58"/>
          </a:solidFill>
          <a:ln/>
        </p:spPr>
      </p:sp>
      <p:sp>
        <p:nvSpPr>
          <p:cNvPr id="92" name="Shape 90"/>
          <p:cNvSpPr/>
          <p:nvPr/>
        </p:nvSpPr>
        <p:spPr>
          <a:xfrm>
            <a:off x="2331720" y="2898648"/>
            <a:ext cx="374904" cy="128016"/>
          </a:xfrm>
          <a:prstGeom prst="rect">
            <a:avLst/>
          </a:prstGeom>
          <a:solidFill>
            <a:srgbClr val="B53D58"/>
          </a:solidFill>
          <a:ln/>
        </p:spPr>
      </p:sp>
      <p:sp>
        <p:nvSpPr>
          <p:cNvPr id="93" name="Shape 91"/>
          <p:cNvSpPr/>
          <p:nvPr/>
        </p:nvSpPr>
        <p:spPr>
          <a:xfrm>
            <a:off x="2743200" y="2898648"/>
            <a:ext cx="374904" cy="128016"/>
          </a:xfrm>
          <a:prstGeom prst="rect">
            <a:avLst/>
          </a:prstGeom>
          <a:solidFill>
            <a:srgbClr val="7D3D58"/>
          </a:solidFill>
          <a:ln/>
        </p:spPr>
      </p:sp>
      <p:sp>
        <p:nvSpPr>
          <p:cNvPr id="94" name="Shape 92"/>
          <p:cNvSpPr/>
          <p:nvPr/>
        </p:nvSpPr>
        <p:spPr>
          <a:xfrm>
            <a:off x="3154680" y="2898648"/>
            <a:ext cx="374904" cy="128016"/>
          </a:xfrm>
          <a:prstGeom prst="rect">
            <a:avLst/>
          </a:prstGeom>
          <a:solidFill>
            <a:srgbClr val="AA3D58"/>
          </a:solidFill>
          <a:ln/>
        </p:spPr>
      </p:sp>
      <p:sp>
        <p:nvSpPr>
          <p:cNvPr id="95" name="Shape 93"/>
          <p:cNvSpPr/>
          <p:nvPr/>
        </p:nvSpPr>
        <p:spPr>
          <a:xfrm>
            <a:off x="3566160" y="2898648"/>
            <a:ext cx="374904" cy="128016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6" name="Shape 94"/>
          <p:cNvSpPr/>
          <p:nvPr/>
        </p:nvSpPr>
        <p:spPr>
          <a:xfrm>
            <a:off x="3977640" y="2898648"/>
            <a:ext cx="374904" cy="128016"/>
          </a:xfrm>
          <a:prstGeom prst="rect">
            <a:avLst/>
          </a:prstGeom>
          <a:solidFill>
            <a:srgbClr val="9E3D58"/>
          </a:solidFill>
          <a:ln/>
        </p:spPr>
      </p:sp>
      <p:sp>
        <p:nvSpPr>
          <p:cNvPr id="97" name="Shape 95"/>
          <p:cNvSpPr/>
          <p:nvPr/>
        </p:nvSpPr>
        <p:spPr>
          <a:xfrm>
            <a:off x="4389120" y="2898648"/>
            <a:ext cx="374904" cy="128016"/>
          </a:xfrm>
          <a:prstGeom prst="rect">
            <a:avLst/>
          </a:prstGeom>
          <a:solidFill>
            <a:srgbClr val="CB3D58"/>
          </a:solidFill>
          <a:ln/>
        </p:spPr>
      </p:sp>
      <p:sp>
        <p:nvSpPr>
          <p:cNvPr id="98" name="Shape 96"/>
          <p:cNvSpPr/>
          <p:nvPr/>
        </p:nvSpPr>
        <p:spPr>
          <a:xfrm>
            <a:off x="1097280" y="3044952"/>
            <a:ext cx="374904" cy="128016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9" name="Shape 97"/>
          <p:cNvSpPr/>
          <p:nvPr/>
        </p:nvSpPr>
        <p:spPr>
          <a:xfrm>
            <a:off x="1508760" y="3044952"/>
            <a:ext cx="374904" cy="128016"/>
          </a:xfrm>
          <a:prstGeom prst="rect">
            <a:avLst/>
          </a:prstGeom>
          <a:solidFill>
            <a:srgbClr val="9E3D58"/>
          </a:solidFill>
          <a:ln/>
        </p:spPr>
      </p:sp>
      <p:sp>
        <p:nvSpPr>
          <p:cNvPr id="100" name="Shape 98"/>
          <p:cNvSpPr/>
          <p:nvPr/>
        </p:nvSpPr>
        <p:spPr>
          <a:xfrm>
            <a:off x="1920240" y="3044952"/>
            <a:ext cx="374904" cy="128016"/>
          </a:xfrm>
          <a:prstGeom prst="rect">
            <a:avLst/>
          </a:prstGeom>
          <a:solidFill>
            <a:srgbClr val="CB3D58"/>
          </a:solidFill>
          <a:ln/>
        </p:spPr>
      </p:sp>
      <p:sp>
        <p:nvSpPr>
          <p:cNvPr id="101" name="Shape 99"/>
          <p:cNvSpPr/>
          <p:nvPr/>
        </p:nvSpPr>
        <p:spPr>
          <a:xfrm>
            <a:off x="2331720" y="3044952"/>
            <a:ext cx="374904" cy="128016"/>
          </a:xfrm>
          <a:prstGeom prst="rect">
            <a:avLst/>
          </a:prstGeom>
          <a:solidFill>
            <a:srgbClr val="933D58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743200" y="3044952"/>
            <a:ext cx="374904" cy="128016"/>
          </a:xfrm>
          <a:prstGeom prst="rect">
            <a:avLst/>
          </a:prstGeom>
          <a:solidFill>
            <a:srgbClr val="C03D5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154680" y="3044952"/>
            <a:ext cx="374904" cy="128016"/>
          </a:xfrm>
          <a:prstGeom prst="rect">
            <a:avLst/>
          </a:prstGeom>
          <a:solidFill>
            <a:srgbClr val="883D58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566160" y="3044952"/>
            <a:ext cx="374904" cy="128016"/>
          </a:xfrm>
          <a:prstGeom prst="rect">
            <a:avLst/>
          </a:prstGeom>
          <a:solidFill>
            <a:srgbClr val="B53D58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977640" y="3044952"/>
            <a:ext cx="374904" cy="128016"/>
          </a:xfrm>
          <a:prstGeom prst="rect">
            <a:avLst/>
          </a:prstGeom>
          <a:solidFill>
            <a:srgbClr val="7D3D5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389120" y="3044952"/>
            <a:ext cx="374904" cy="128016"/>
          </a:xfrm>
          <a:prstGeom prst="rect">
            <a:avLst/>
          </a:prstGeom>
          <a:solidFill>
            <a:srgbClr val="AA3D58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97280" y="3191256"/>
            <a:ext cx="374904" cy="128016"/>
          </a:xfrm>
          <a:prstGeom prst="rect">
            <a:avLst/>
          </a:prstGeom>
          <a:solidFill>
            <a:srgbClr val="B53D58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508760" y="3191256"/>
            <a:ext cx="374904" cy="128016"/>
          </a:xfrm>
          <a:prstGeom prst="rect">
            <a:avLst/>
          </a:prstGeom>
          <a:solidFill>
            <a:srgbClr val="7D3D5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920240" y="3191256"/>
            <a:ext cx="374904" cy="128016"/>
          </a:xfrm>
          <a:prstGeom prst="rect">
            <a:avLst/>
          </a:prstGeom>
          <a:solidFill>
            <a:srgbClr val="AA3D58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331720" y="3191256"/>
            <a:ext cx="374904" cy="128016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743200" y="3191256"/>
            <a:ext cx="374904" cy="128016"/>
          </a:xfrm>
          <a:prstGeom prst="rect">
            <a:avLst/>
          </a:prstGeom>
          <a:solidFill>
            <a:srgbClr val="9E3D58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154680" y="3191256"/>
            <a:ext cx="374904" cy="128016"/>
          </a:xfrm>
          <a:prstGeom prst="rect">
            <a:avLst/>
          </a:prstGeom>
          <a:solidFill>
            <a:srgbClr val="CB3D58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566160" y="3191256"/>
            <a:ext cx="374904" cy="128016"/>
          </a:xfrm>
          <a:prstGeom prst="rect">
            <a:avLst/>
          </a:prstGeom>
          <a:solidFill>
            <a:srgbClr val="933D58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977640" y="3191256"/>
            <a:ext cx="374904" cy="128016"/>
          </a:xfrm>
          <a:prstGeom prst="rect">
            <a:avLst/>
          </a:prstGeom>
          <a:solidFill>
            <a:srgbClr val="C03D58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389120" y="3191256"/>
            <a:ext cx="374904" cy="128016"/>
          </a:xfrm>
          <a:prstGeom prst="rect">
            <a:avLst/>
          </a:prstGeom>
          <a:solidFill>
            <a:srgbClr val="883D5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1097280" y="3337560"/>
            <a:ext cx="374904" cy="128016"/>
          </a:xfrm>
          <a:prstGeom prst="rect">
            <a:avLst/>
          </a:prstGeom>
          <a:solidFill>
            <a:srgbClr val="933D58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508760" y="3337560"/>
            <a:ext cx="374904" cy="128016"/>
          </a:xfrm>
          <a:prstGeom prst="rect">
            <a:avLst/>
          </a:prstGeom>
          <a:solidFill>
            <a:srgbClr val="C03D5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1920240" y="3337560"/>
            <a:ext cx="374904" cy="128016"/>
          </a:xfrm>
          <a:prstGeom prst="rect">
            <a:avLst/>
          </a:prstGeom>
          <a:solidFill>
            <a:srgbClr val="883D5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331720" y="3337560"/>
            <a:ext cx="374904" cy="128016"/>
          </a:xfrm>
          <a:prstGeom prst="rect">
            <a:avLst/>
          </a:prstGeom>
          <a:solidFill>
            <a:srgbClr val="B53D58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43200" y="3337560"/>
            <a:ext cx="374904" cy="128016"/>
          </a:xfrm>
          <a:prstGeom prst="rect">
            <a:avLst/>
          </a:prstGeom>
          <a:solidFill>
            <a:srgbClr val="7D3D58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54680" y="3337560"/>
            <a:ext cx="374904" cy="128016"/>
          </a:xfrm>
          <a:prstGeom prst="rect">
            <a:avLst/>
          </a:prstGeom>
          <a:solidFill>
            <a:srgbClr val="AA3D58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566160" y="3337560"/>
            <a:ext cx="374904" cy="128016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77640" y="3337560"/>
            <a:ext cx="374904" cy="128016"/>
          </a:xfrm>
          <a:prstGeom prst="rect">
            <a:avLst/>
          </a:prstGeom>
          <a:solidFill>
            <a:srgbClr val="9E3D58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389120" y="3337560"/>
            <a:ext cx="374904" cy="128016"/>
          </a:xfrm>
          <a:prstGeom prst="rect">
            <a:avLst/>
          </a:prstGeom>
          <a:solidFill>
            <a:srgbClr val="CB3D58"/>
          </a:solidFill>
          <a:ln/>
        </p:spPr>
      </p:sp>
      <p:sp>
        <p:nvSpPr>
          <p:cNvPr id="125" name="Shape 123"/>
          <p:cNvSpPr/>
          <p:nvPr/>
        </p:nvSpPr>
        <p:spPr>
          <a:xfrm>
            <a:off x="1097280" y="3483864"/>
            <a:ext cx="374904" cy="128016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508760" y="3483864"/>
            <a:ext cx="374904" cy="128016"/>
          </a:xfrm>
          <a:prstGeom prst="rect">
            <a:avLst/>
          </a:prstGeom>
          <a:solidFill>
            <a:srgbClr val="9E3D58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920240" y="3483864"/>
            <a:ext cx="374904" cy="128016"/>
          </a:xfrm>
          <a:prstGeom prst="rect">
            <a:avLst/>
          </a:prstGeom>
          <a:solidFill>
            <a:srgbClr val="CB3D58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331720" y="3483864"/>
            <a:ext cx="374904" cy="128016"/>
          </a:xfrm>
          <a:prstGeom prst="rect">
            <a:avLst/>
          </a:prstGeom>
          <a:solidFill>
            <a:srgbClr val="933D58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743200" y="3483864"/>
            <a:ext cx="374904" cy="128016"/>
          </a:xfrm>
          <a:prstGeom prst="rect">
            <a:avLst/>
          </a:prstGeom>
          <a:solidFill>
            <a:srgbClr val="C03D58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154680" y="3483864"/>
            <a:ext cx="374904" cy="128016"/>
          </a:xfrm>
          <a:prstGeom prst="rect">
            <a:avLst/>
          </a:prstGeom>
          <a:solidFill>
            <a:srgbClr val="883D58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566160" y="3483864"/>
            <a:ext cx="374904" cy="128016"/>
          </a:xfrm>
          <a:prstGeom prst="rect">
            <a:avLst/>
          </a:prstGeom>
          <a:solidFill>
            <a:srgbClr val="B53D58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977640" y="3483864"/>
            <a:ext cx="374904" cy="128016"/>
          </a:xfrm>
          <a:prstGeom prst="rect">
            <a:avLst/>
          </a:prstGeom>
          <a:solidFill>
            <a:srgbClr val="7D3D58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389120" y="3483864"/>
            <a:ext cx="374904" cy="128016"/>
          </a:xfrm>
          <a:prstGeom prst="rect">
            <a:avLst/>
          </a:prstGeom>
          <a:solidFill>
            <a:srgbClr val="AA3D58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097280" y="3630168"/>
            <a:ext cx="374904" cy="128016"/>
          </a:xfrm>
          <a:prstGeom prst="rect">
            <a:avLst/>
          </a:prstGeom>
          <a:solidFill>
            <a:srgbClr val="B53D58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508760" y="3630168"/>
            <a:ext cx="374904" cy="128016"/>
          </a:xfrm>
          <a:prstGeom prst="rect">
            <a:avLst/>
          </a:prstGeom>
          <a:solidFill>
            <a:srgbClr val="7D3D58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920240" y="3630168"/>
            <a:ext cx="374904" cy="128016"/>
          </a:xfrm>
          <a:prstGeom prst="rect">
            <a:avLst/>
          </a:prstGeom>
          <a:solidFill>
            <a:srgbClr val="AA3D58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331720" y="3630168"/>
            <a:ext cx="374904" cy="128016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743200" y="3630168"/>
            <a:ext cx="374904" cy="128016"/>
          </a:xfrm>
          <a:prstGeom prst="rect">
            <a:avLst/>
          </a:prstGeom>
          <a:solidFill>
            <a:srgbClr val="9E3D58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154680" y="3630168"/>
            <a:ext cx="374904" cy="128016"/>
          </a:xfrm>
          <a:prstGeom prst="rect">
            <a:avLst/>
          </a:prstGeom>
          <a:solidFill>
            <a:srgbClr val="CB3D58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566160" y="3630168"/>
            <a:ext cx="374904" cy="128016"/>
          </a:xfrm>
          <a:prstGeom prst="rect">
            <a:avLst/>
          </a:prstGeom>
          <a:solidFill>
            <a:srgbClr val="933D58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977640" y="3630168"/>
            <a:ext cx="374904" cy="128016"/>
          </a:xfrm>
          <a:prstGeom prst="rect">
            <a:avLst/>
          </a:prstGeom>
          <a:solidFill>
            <a:srgbClr val="C03D58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389120" y="3630168"/>
            <a:ext cx="374904" cy="128016"/>
          </a:xfrm>
          <a:prstGeom prst="rect">
            <a:avLst/>
          </a:prstGeom>
          <a:solidFill>
            <a:srgbClr val="883D5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1097280" y="3776472"/>
            <a:ext cx="374904" cy="128016"/>
          </a:xfrm>
          <a:prstGeom prst="rect">
            <a:avLst/>
          </a:prstGeom>
          <a:solidFill>
            <a:srgbClr val="933D58"/>
          </a:solidFill>
          <a:ln/>
        </p:spPr>
      </p:sp>
      <p:sp>
        <p:nvSpPr>
          <p:cNvPr id="144" name="Shape 142"/>
          <p:cNvSpPr/>
          <p:nvPr/>
        </p:nvSpPr>
        <p:spPr>
          <a:xfrm>
            <a:off x="1508760" y="3776472"/>
            <a:ext cx="374904" cy="128016"/>
          </a:xfrm>
          <a:prstGeom prst="rect">
            <a:avLst/>
          </a:prstGeom>
          <a:solidFill>
            <a:srgbClr val="C03D58"/>
          </a:solidFill>
          <a:ln/>
        </p:spPr>
      </p:sp>
      <p:sp>
        <p:nvSpPr>
          <p:cNvPr id="145" name="Shape 143"/>
          <p:cNvSpPr/>
          <p:nvPr/>
        </p:nvSpPr>
        <p:spPr>
          <a:xfrm>
            <a:off x="1920240" y="3776472"/>
            <a:ext cx="374904" cy="128016"/>
          </a:xfrm>
          <a:prstGeom prst="rect">
            <a:avLst/>
          </a:prstGeom>
          <a:solidFill>
            <a:srgbClr val="883D58"/>
          </a:solidFill>
          <a:ln/>
        </p:spPr>
      </p:sp>
      <p:sp>
        <p:nvSpPr>
          <p:cNvPr id="146" name="Shape 144"/>
          <p:cNvSpPr/>
          <p:nvPr/>
        </p:nvSpPr>
        <p:spPr>
          <a:xfrm>
            <a:off x="2331720" y="3776472"/>
            <a:ext cx="374904" cy="128016"/>
          </a:xfrm>
          <a:prstGeom prst="rect">
            <a:avLst/>
          </a:prstGeom>
          <a:solidFill>
            <a:srgbClr val="B53D58"/>
          </a:solidFill>
          <a:ln/>
        </p:spPr>
      </p:sp>
      <p:sp>
        <p:nvSpPr>
          <p:cNvPr id="147" name="Shape 145"/>
          <p:cNvSpPr/>
          <p:nvPr/>
        </p:nvSpPr>
        <p:spPr>
          <a:xfrm>
            <a:off x="2743200" y="3776472"/>
            <a:ext cx="374904" cy="128016"/>
          </a:xfrm>
          <a:prstGeom prst="rect">
            <a:avLst/>
          </a:prstGeom>
          <a:solidFill>
            <a:srgbClr val="7D3D58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154680" y="3776472"/>
            <a:ext cx="374904" cy="128016"/>
          </a:xfrm>
          <a:prstGeom prst="rect">
            <a:avLst/>
          </a:prstGeom>
          <a:solidFill>
            <a:srgbClr val="AA3D58"/>
          </a:solidFill>
          <a:ln/>
        </p:spPr>
      </p:sp>
      <p:sp>
        <p:nvSpPr>
          <p:cNvPr id="149" name="Shape 147"/>
          <p:cNvSpPr/>
          <p:nvPr/>
        </p:nvSpPr>
        <p:spPr>
          <a:xfrm>
            <a:off x="3566160" y="3776472"/>
            <a:ext cx="374904" cy="128016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3977640" y="3776472"/>
            <a:ext cx="374904" cy="128016"/>
          </a:xfrm>
          <a:prstGeom prst="rect">
            <a:avLst/>
          </a:prstGeom>
          <a:solidFill>
            <a:srgbClr val="9E3D58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389120" y="3776472"/>
            <a:ext cx="374904" cy="128016"/>
          </a:xfrm>
          <a:prstGeom prst="rect">
            <a:avLst/>
          </a:prstGeom>
          <a:solidFill>
            <a:srgbClr val="CB3D58"/>
          </a:solidFill>
          <a:ln/>
        </p:spPr>
      </p:sp>
      <p:sp>
        <p:nvSpPr>
          <p:cNvPr id="152" name="Text 150"/>
          <p:cNvSpPr/>
          <p:nvPr/>
        </p:nvSpPr>
        <p:spPr>
          <a:xfrm>
            <a:off x="457200" y="2606040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00" dirty="0"/>
          </a:p>
        </p:txBody>
      </p:sp>
      <p:sp>
        <p:nvSpPr>
          <p:cNvPr id="153" name="Text 151"/>
          <p:cNvSpPr/>
          <p:nvPr/>
        </p:nvSpPr>
        <p:spPr>
          <a:xfrm>
            <a:off x="1097280" y="396849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154" name="Text 152"/>
          <p:cNvSpPr/>
          <p:nvPr/>
        </p:nvSpPr>
        <p:spPr>
          <a:xfrm>
            <a:off x="1508760" y="396849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155" name="Text 153"/>
          <p:cNvSpPr/>
          <p:nvPr/>
        </p:nvSpPr>
        <p:spPr>
          <a:xfrm>
            <a:off x="1920240" y="396849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156" name="Text 154"/>
          <p:cNvSpPr/>
          <p:nvPr/>
        </p:nvSpPr>
        <p:spPr>
          <a:xfrm>
            <a:off x="2331720" y="396849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157" name="Text 155"/>
          <p:cNvSpPr/>
          <p:nvPr/>
        </p:nvSpPr>
        <p:spPr>
          <a:xfrm>
            <a:off x="2743200" y="396849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158" name="Text 156"/>
          <p:cNvSpPr/>
          <p:nvPr/>
        </p:nvSpPr>
        <p:spPr>
          <a:xfrm>
            <a:off x="3154680" y="396849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159" name="Text 157"/>
          <p:cNvSpPr/>
          <p:nvPr/>
        </p:nvSpPr>
        <p:spPr>
          <a:xfrm>
            <a:off x="3566160" y="396849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160" name="Text 158"/>
          <p:cNvSpPr/>
          <p:nvPr/>
        </p:nvSpPr>
        <p:spPr>
          <a:xfrm>
            <a:off x="3977640" y="396849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161" name="Text 159"/>
          <p:cNvSpPr/>
          <p:nvPr/>
        </p:nvSpPr>
        <p:spPr>
          <a:xfrm>
            <a:off x="4389120" y="396849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00" dirty="0"/>
          </a:p>
        </p:txBody>
      </p:sp>
      <p:sp>
        <p:nvSpPr>
          <p:cNvPr id="162" name="Shape 160"/>
          <p:cNvSpPr/>
          <p:nvPr/>
        </p:nvSpPr>
        <p:spPr>
          <a:xfrm>
            <a:off x="6309360" y="1234440"/>
            <a:ext cx="557784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63" name="Shape 161"/>
          <p:cNvSpPr/>
          <p:nvPr/>
        </p:nvSpPr>
        <p:spPr>
          <a:xfrm>
            <a:off x="6345936" y="1271016"/>
            <a:ext cx="550468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64" name="Text 162"/>
          <p:cNvSpPr/>
          <p:nvPr/>
        </p:nvSpPr>
        <p:spPr>
          <a:xfrm>
            <a:off x="6345936" y="1271016"/>
            <a:ext cx="5504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HOOKS  ·  5 OF 81</a:t>
            </a:r>
            <a:endParaRPr lang="en-US" sz="1100" dirty="0"/>
          </a:p>
        </p:txBody>
      </p:sp>
      <p:sp>
        <p:nvSpPr>
          <p:cNvPr id="165" name="Shape 163"/>
          <p:cNvSpPr/>
          <p:nvPr/>
        </p:nvSpPr>
        <p:spPr>
          <a:xfrm>
            <a:off x="6446520" y="1755648"/>
            <a:ext cx="53492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6537960" y="179222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1️⃣ Mulank 1 × Mulank 9 partner → "Mars vs Mars ki battle hai…"</a:t>
            </a:r>
            <a:endParaRPr lang="en-US" sz="800" dirty="0"/>
          </a:p>
        </p:txBody>
      </p:sp>
      <p:sp>
        <p:nvSpPr>
          <p:cNvPr id="167" name="Shape 165"/>
          <p:cNvSpPr/>
          <p:nvPr/>
        </p:nvSpPr>
        <p:spPr>
          <a:xfrm>
            <a:off x="6446520" y="2167128"/>
            <a:ext cx="53492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6537960" y="220370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2️⃣ Mulank 3 × Mulank 6 partner → "Jupiter + Venus = best emotional combo"</a:t>
            </a:r>
            <a:endParaRPr lang="en-US" sz="800" dirty="0"/>
          </a:p>
        </p:txBody>
      </p:sp>
      <p:sp>
        <p:nvSpPr>
          <p:cNvPr id="169" name="Shape 167"/>
          <p:cNvSpPr/>
          <p:nvPr/>
        </p:nvSpPr>
        <p:spPr>
          <a:xfrm>
            <a:off x="6446520" y="2578608"/>
            <a:ext cx="53492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6537960" y="261518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3️⃣ Mulank 5 × Mulank 7 partner → "Mercury + Neptune — intellectual but grounded nahi"</a:t>
            </a:r>
            <a:endParaRPr lang="en-US" sz="800" dirty="0"/>
          </a:p>
        </p:txBody>
      </p:sp>
      <p:sp>
        <p:nvSpPr>
          <p:cNvPr id="171" name="Shape 169"/>
          <p:cNvSpPr/>
          <p:nvPr/>
        </p:nvSpPr>
        <p:spPr>
          <a:xfrm>
            <a:off x="6446520" y="2990088"/>
            <a:ext cx="53492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6537960" y="302666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4️⃣ Mulank 2 × Mulank 8 partner → "Moon vs Saturn — emotional vs disciplined"</a:t>
            </a:r>
            <a:endParaRPr lang="en-US" sz="800" dirty="0"/>
          </a:p>
        </p:txBody>
      </p:sp>
      <p:sp>
        <p:nvSpPr>
          <p:cNvPr id="173" name="Shape 171"/>
          <p:cNvSpPr/>
          <p:nvPr/>
        </p:nvSpPr>
        <p:spPr>
          <a:xfrm>
            <a:off x="6446520" y="3401568"/>
            <a:ext cx="53492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6537960" y="343814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5️⃣ Mulank 4 × Mulank 4 partner → "Same Rahu energy — chaos in love, never bored"</a:t>
            </a:r>
            <a:endParaRPr lang="en-US" sz="800" dirty="0"/>
          </a:p>
        </p:txBody>
      </p:sp>
      <p:sp>
        <p:nvSpPr>
          <p:cNvPr id="175" name="Shape 173"/>
          <p:cNvSpPr/>
          <p:nvPr/>
        </p:nvSpPr>
        <p:spPr>
          <a:xfrm>
            <a:off x="320040" y="4114800"/>
            <a:ext cx="11567160" cy="24688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356616" y="4151376"/>
            <a:ext cx="11494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77" name="Text 175"/>
          <p:cNvSpPr/>
          <p:nvPr/>
        </p:nvSpPr>
        <p:spPr>
          <a:xfrm>
            <a:off x="356616" y="4151376"/>
            <a:ext cx="11494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CALENDAR  ·  12 WEEKS</a:t>
            </a:r>
            <a:endParaRPr lang="en-US" sz="1100" dirty="0"/>
          </a:p>
        </p:txBody>
      </p:sp>
      <p:sp>
        <p:nvSpPr>
          <p:cNvPr id="178" name="Shape 176"/>
          <p:cNvSpPr/>
          <p:nvPr/>
        </p:nvSpPr>
        <p:spPr>
          <a:xfrm>
            <a:off x="457200" y="4526280"/>
            <a:ext cx="182880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457200" y="4526280"/>
            <a:ext cx="1828800" cy="3200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80" name="Text 178"/>
          <p:cNvSpPr/>
          <p:nvPr/>
        </p:nvSpPr>
        <p:spPr>
          <a:xfrm>
            <a:off x="45720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W1-2</a:t>
            </a:r>
            <a:endParaRPr lang="en-US" sz="1000" dirty="0"/>
          </a:p>
        </p:txBody>
      </p:sp>
      <p:sp>
        <p:nvSpPr>
          <p:cNvPr id="181" name="Text 179"/>
          <p:cNvSpPr/>
          <p:nvPr/>
        </p:nvSpPr>
        <p:spPr>
          <a:xfrm>
            <a:off x="457200" y="4937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Reels</a:t>
            </a:r>
            <a:endParaRPr lang="en-US" sz="1200" dirty="0"/>
          </a:p>
        </p:txBody>
      </p:sp>
      <p:sp>
        <p:nvSpPr>
          <p:cNvPr id="182" name="Text 180"/>
          <p:cNvSpPr/>
          <p:nvPr/>
        </p:nvSpPr>
        <p:spPr>
          <a:xfrm>
            <a:off x="548640" y="53035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Mulank 1-3 × all 9 partners. @saathsetu first.</a:t>
            </a:r>
            <a:endParaRPr lang="en-US" sz="750" dirty="0"/>
          </a:p>
        </p:txBody>
      </p:sp>
      <p:sp>
        <p:nvSpPr>
          <p:cNvPr id="183" name="Shape 181"/>
          <p:cNvSpPr/>
          <p:nvPr/>
        </p:nvSpPr>
        <p:spPr>
          <a:xfrm>
            <a:off x="2377440" y="4526280"/>
            <a:ext cx="182880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377440" y="4526280"/>
            <a:ext cx="1828800" cy="3200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85" name="Text 183"/>
          <p:cNvSpPr/>
          <p:nvPr/>
        </p:nvSpPr>
        <p:spPr>
          <a:xfrm>
            <a:off x="237744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W3-4</a:t>
            </a:r>
            <a:endParaRPr lang="en-US" sz="1000" dirty="0"/>
          </a:p>
        </p:txBody>
      </p:sp>
      <p:sp>
        <p:nvSpPr>
          <p:cNvPr id="186" name="Text 184"/>
          <p:cNvSpPr/>
          <p:nvPr/>
        </p:nvSpPr>
        <p:spPr>
          <a:xfrm>
            <a:off x="2377440" y="4937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Reels</a:t>
            </a:r>
            <a:endParaRPr lang="en-US" sz="1200" dirty="0"/>
          </a:p>
        </p:txBody>
      </p:sp>
      <p:sp>
        <p:nvSpPr>
          <p:cNvPr id="187" name="Text 185"/>
          <p:cNvSpPr/>
          <p:nvPr/>
        </p:nvSpPr>
        <p:spPr>
          <a:xfrm>
            <a:off x="2468880" y="53035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Mulank 4-6 × all 9 partners. Push to @rashitattva.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4297680" y="4526280"/>
            <a:ext cx="182880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4297680" y="4526280"/>
            <a:ext cx="1828800" cy="3200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90" name="Text 188"/>
          <p:cNvSpPr/>
          <p:nvPr/>
        </p:nvSpPr>
        <p:spPr>
          <a:xfrm>
            <a:off x="429768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W5-6</a:t>
            </a:r>
            <a:endParaRPr lang="en-US" sz="1000" dirty="0"/>
          </a:p>
        </p:txBody>
      </p:sp>
      <p:sp>
        <p:nvSpPr>
          <p:cNvPr id="191" name="Text 189"/>
          <p:cNvSpPr/>
          <p:nvPr/>
        </p:nvSpPr>
        <p:spPr>
          <a:xfrm>
            <a:off x="4297680" y="4937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Reels</a:t>
            </a:r>
            <a:endParaRPr lang="en-US" sz="1200" dirty="0"/>
          </a:p>
        </p:txBody>
      </p:sp>
      <p:sp>
        <p:nvSpPr>
          <p:cNvPr id="192" name="Text 190"/>
          <p:cNvSpPr/>
          <p:nvPr/>
        </p:nvSpPr>
        <p:spPr>
          <a:xfrm>
            <a:off x="4389120" y="53035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Mulank 7-9 × all 9 partners. Push to @astrosaadhan.</a:t>
            </a:r>
            <a:endParaRPr lang="en-US" sz="750" dirty="0"/>
          </a:p>
        </p:txBody>
      </p:sp>
      <p:sp>
        <p:nvSpPr>
          <p:cNvPr id="193" name="Shape 191"/>
          <p:cNvSpPr/>
          <p:nvPr/>
        </p:nvSpPr>
        <p:spPr>
          <a:xfrm>
            <a:off x="6217920" y="4526280"/>
            <a:ext cx="182880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217920" y="4526280"/>
            <a:ext cx="1828800" cy="3200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95" name="Text 193"/>
          <p:cNvSpPr/>
          <p:nvPr/>
        </p:nvSpPr>
        <p:spPr>
          <a:xfrm>
            <a:off x="621792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W7-8</a:t>
            </a:r>
            <a:endParaRPr lang="en-US" sz="1000" dirty="0"/>
          </a:p>
        </p:txBody>
      </p:sp>
      <p:sp>
        <p:nvSpPr>
          <p:cNvPr id="196" name="Text 194"/>
          <p:cNvSpPr/>
          <p:nvPr/>
        </p:nvSpPr>
        <p:spPr>
          <a:xfrm>
            <a:off x="6217920" y="4937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Reels</a:t>
            </a:r>
            <a:endParaRPr lang="en-US" sz="1200" dirty="0"/>
          </a:p>
        </p:txBody>
      </p:sp>
      <p:sp>
        <p:nvSpPr>
          <p:cNvPr id="197" name="Text 195"/>
          <p:cNvSpPr/>
          <p:nvPr/>
        </p:nvSpPr>
        <p:spPr>
          <a:xfrm>
            <a:off x="6309360" y="53035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Venus/Mars/Saturn × top 4 combinations.</a:t>
            </a:r>
            <a:endParaRPr lang="en-US" sz="750" dirty="0"/>
          </a:p>
        </p:txBody>
      </p:sp>
      <p:sp>
        <p:nvSpPr>
          <p:cNvPr id="198" name="Shape 196"/>
          <p:cNvSpPr/>
          <p:nvPr/>
        </p:nvSpPr>
        <p:spPr>
          <a:xfrm>
            <a:off x="8138160" y="4526280"/>
            <a:ext cx="182880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8138160" y="4526280"/>
            <a:ext cx="1828800" cy="3200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00" name="Text 198"/>
          <p:cNvSpPr/>
          <p:nvPr/>
        </p:nvSpPr>
        <p:spPr>
          <a:xfrm>
            <a:off x="813816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W9-10</a:t>
            </a:r>
            <a:endParaRPr lang="en-US" sz="1000" dirty="0"/>
          </a:p>
        </p:txBody>
      </p:sp>
      <p:sp>
        <p:nvSpPr>
          <p:cNvPr id="201" name="Text 199"/>
          <p:cNvSpPr/>
          <p:nvPr/>
        </p:nvSpPr>
        <p:spPr>
          <a:xfrm>
            <a:off x="8138160" y="4937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Reels</a:t>
            </a:r>
            <a:endParaRPr lang="en-US" sz="1200" dirty="0"/>
          </a:p>
        </p:txBody>
      </p:sp>
      <p:sp>
        <p:nvSpPr>
          <p:cNvPr id="202" name="Text 200"/>
          <p:cNvSpPr/>
          <p:nvPr/>
        </p:nvSpPr>
        <p:spPr>
          <a:xfrm>
            <a:off x="8229600" y="53035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Bilingual: Marathi versions on @drishtiastro.</a:t>
            </a:r>
            <a:endParaRPr lang="en-US" sz="750" dirty="0"/>
          </a:p>
        </p:txBody>
      </p:sp>
      <p:sp>
        <p:nvSpPr>
          <p:cNvPr id="203" name="Shape 201"/>
          <p:cNvSpPr/>
          <p:nvPr/>
        </p:nvSpPr>
        <p:spPr>
          <a:xfrm>
            <a:off x="10058400" y="4526280"/>
            <a:ext cx="182880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10058400" y="4526280"/>
            <a:ext cx="1828800" cy="3200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05" name="Text 203"/>
          <p:cNvSpPr/>
          <p:nvPr/>
        </p:nvSpPr>
        <p:spPr>
          <a:xfrm>
            <a:off x="1005840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W11-12</a:t>
            </a:r>
            <a:endParaRPr lang="en-US" sz="1000" dirty="0"/>
          </a:p>
        </p:txBody>
      </p:sp>
      <p:sp>
        <p:nvSpPr>
          <p:cNvPr id="206" name="Text 204"/>
          <p:cNvSpPr/>
          <p:nvPr/>
        </p:nvSpPr>
        <p:spPr>
          <a:xfrm>
            <a:off x="10058400" y="4937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Reels</a:t>
            </a:r>
            <a:endParaRPr lang="en-US" sz="1200" dirty="0"/>
          </a:p>
        </p:txBody>
      </p:sp>
      <p:sp>
        <p:nvSpPr>
          <p:cNvPr id="207" name="Text 205"/>
          <p:cNvSpPr/>
          <p:nvPr/>
        </p:nvSpPr>
        <p:spPr>
          <a:xfrm>
            <a:off x="10149840" y="53035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share-cards. Couples + family share.</a:t>
            </a:r>
            <a:endParaRPr lang="en-US" sz="750" dirty="0"/>
          </a:p>
        </p:txBody>
      </p:sp>
      <p:sp>
        <p:nvSpPr>
          <p:cNvPr id="208" name="Text 206"/>
          <p:cNvSpPr/>
          <p:nvPr/>
        </p:nvSpPr>
        <p:spPr>
          <a:xfrm>
            <a:off x="457200" y="6446520"/>
            <a:ext cx="11430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72 Reels × 4 handles cross-posted = 288 deliverables. Cost ~₹15/Reel API. Expected: 5-8K avg views by W12.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02  ·  PANDIT + TEMPLE OFFLINE MOAT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 COMPETITOR HAS BUILT — REGIONAL TRUST TRANSFER VIA PHYSICAL NETWORK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5897880" cy="283464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271016"/>
            <a:ext cx="58247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271016"/>
            <a:ext cx="5824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PANDIT QR-CARD PROGRAM  ·  STEP-BY-STEP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57200" y="1746504"/>
            <a:ext cx="320040" cy="32004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70" name="Text 68"/>
          <p:cNvSpPr/>
          <p:nvPr/>
        </p:nvSpPr>
        <p:spPr>
          <a:xfrm>
            <a:off x="457200" y="17465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868680" y="170992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200 pandits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68680" y="189280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Pune, Mumbai, Nashik, Nagpur, Lucknow, Delhi. Source via WA Hindi pandit groups + temple priests.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457200" y="2112264"/>
            <a:ext cx="320040" cy="32004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74" name="Text 72"/>
          <p:cNvSpPr/>
          <p:nvPr/>
        </p:nvSpPr>
        <p:spPr>
          <a:xfrm>
            <a:off x="457200" y="211226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868680" y="207568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QR card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68680" y="22585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1,000 cards per pandit. UNIQUE QR linking to free WA kundli + pandit's referral code.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457200" y="2478024"/>
            <a:ext cx="320040" cy="32004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78" name="Text 76"/>
          <p:cNvSpPr/>
          <p:nvPr/>
        </p:nvSpPr>
        <p:spPr>
          <a:xfrm>
            <a:off x="457200" y="24780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868680" y="244144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via 30-min video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868680" y="262432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video shows pandit how to share. WA broadcast tips. Earning dashboard demo.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457200" y="2843784"/>
            <a:ext cx="320040" cy="32004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82" name="Text 80"/>
          <p:cNvSpPr/>
          <p:nvPr/>
        </p:nvSpPr>
        <p:spPr>
          <a:xfrm>
            <a:off x="457200" y="284378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868680" y="280720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commission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868680" y="299008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per ₹199 paid order. ₹150 per ₹999 baby-name. Payout via UPI within 24hrs.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57200" y="3209544"/>
            <a:ext cx="320040" cy="32004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86" name="Text 84"/>
          <p:cNvSpPr/>
          <p:nvPr/>
        </p:nvSpPr>
        <p:spPr>
          <a:xfrm>
            <a:off x="457200" y="320954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868680" y="317296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leaderboard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868680" y="335584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pandits get ₹5,000 bonus + recognition on @saathsetu. Creates competition.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57200" y="3575304"/>
            <a:ext cx="320040" cy="32004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90" name="Text 88"/>
          <p:cNvSpPr/>
          <p:nvPr/>
        </p:nvSpPr>
        <p:spPr>
          <a:xfrm>
            <a:off x="457200" y="35753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868680" y="353872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effect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868680" y="372160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pandit's network = 200-500 trusted Hindi-belt buyers. Total reach: 40,000-100,000.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6309360" y="1234440"/>
            <a:ext cx="5577840" cy="283464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>
            <a:off x="6345936" y="1271016"/>
            <a:ext cx="550468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5" name="Text 93"/>
          <p:cNvSpPr/>
          <p:nvPr/>
        </p:nvSpPr>
        <p:spPr>
          <a:xfrm>
            <a:off x="6345936" y="1271016"/>
            <a:ext cx="5504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TEMPLE QR PILOT  ·  EXPECTED FUNNEL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6446520" y="169164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temple priests partnered. QR stickers placed at puja-sankalp counters. Each scan = free WA kundli, opt-in mandatory.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6446520" y="2194560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FUNNEL (30-temple pilot, 90 days)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6446520" y="2514600"/>
            <a:ext cx="53492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25146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 traffic at 30 temples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9601200" y="25146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~3,000/day total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446520" y="2761488"/>
            <a:ext cx="5349240" cy="219456"/>
          </a:xfrm>
          <a:prstGeom prst="rect">
            <a:avLst/>
          </a:prstGeom>
          <a:solidFill>
            <a:srgbClr val="FFDFE3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37960" y="276148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scans @ 5%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9601200" y="27614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150/day = 13,500/quarter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446520" y="3008376"/>
            <a:ext cx="53492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37960" y="300837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opt-in @ 60%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9601200" y="300837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8,100/quarter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6446520" y="3255264"/>
            <a:ext cx="5349240" cy="219456"/>
          </a:xfrm>
          <a:prstGeom prst="rect">
            <a:avLst/>
          </a:prstGeom>
          <a:solidFill>
            <a:srgbClr val="FFDFE3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537960" y="32552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₹199 purchase @ 8% CR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9601200" y="325526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648/quarter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6446520" y="3502152"/>
            <a:ext cx="53492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537960" y="350215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revenue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9601200" y="350215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₹1.29L per quarter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446520" y="3749040"/>
            <a:ext cx="5349240" cy="219456"/>
          </a:xfrm>
          <a:prstGeom prst="rect">
            <a:avLst/>
          </a:prstGeom>
          <a:solidFill>
            <a:srgbClr val="FFDFE3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537960" y="3749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₹30 commission to pandit</a:t>
            </a:r>
            <a:endParaRPr lang="en-US" sz="750" dirty="0"/>
          </a:p>
        </p:txBody>
      </p:sp>
      <p:sp>
        <p:nvSpPr>
          <p:cNvPr id="115" name="Text 113"/>
          <p:cNvSpPr/>
          <p:nvPr/>
        </p:nvSpPr>
        <p:spPr>
          <a:xfrm>
            <a:off x="9601200" y="37490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₹1.10L (margin 85%)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320040" y="4160520"/>
            <a:ext cx="11567160" cy="24688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>
            <a:off x="356616" y="4197096"/>
            <a:ext cx="11494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18" name="Text 116"/>
          <p:cNvSpPr/>
          <p:nvPr/>
        </p:nvSpPr>
        <p:spPr>
          <a:xfrm>
            <a:off x="356616" y="4197096"/>
            <a:ext cx="11494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 CALENDAR  ·  WHEN TO STRIKE  ·  PRE-BOOKING PIPELINE</a:t>
            </a:r>
            <a:endParaRPr lang="en-US" sz="1100" dirty="0"/>
          </a:p>
        </p:txBody>
      </p:sp>
      <p:sp>
        <p:nvSpPr>
          <p:cNvPr id="119" name="Shape 117"/>
          <p:cNvSpPr/>
          <p:nvPr/>
        </p:nvSpPr>
        <p:spPr>
          <a:xfrm>
            <a:off x="457200" y="4617720"/>
            <a:ext cx="18288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57200" y="4617720"/>
            <a:ext cx="1828800" cy="36576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21" name="Text 119"/>
          <p:cNvSpPr/>
          <p:nvPr/>
        </p:nvSpPr>
        <p:spPr>
          <a:xfrm>
            <a:off x="457200" y="4617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Akshay Tritiya</a:t>
            </a:r>
            <a:endParaRPr lang="en-US" sz="850" dirty="0"/>
          </a:p>
        </p:txBody>
      </p:sp>
      <p:sp>
        <p:nvSpPr>
          <p:cNvPr id="122" name="Text 120"/>
          <p:cNvSpPr/>
          <p:nvPr/>
        </p:nvSpPr>
        <p:spPr>
          <a:xfrm>
            <a:off x="530352" y="5029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WHEN: Apr-May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530352" y="523036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PREBOOK: 6 wks pre</a:t>
            </a:r>
            <a:endParaRPr lang="en-US" sz="700" dirty="0"/>
          </a:p>
        </p:txBody>
      </p:sp>
      <p:sp>
        <p:nvSpPr>
          <p:cNvPr id="124" name="Text 122"/>
          <p:cNvSpPr/>
          <p:nvPr/>
        </p:nvSpPr>
        <p:spPr>
          <a:xfrm>
            <a:off x="530352" y="54406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SKU: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muhurat ₹499</a:t>
            </a:r>
            <a:endParaRPr lang="en-US" sz="750" dirty="0"/>
          </a:p>
        </p:txBody>
      </p:sp>
      <p:sp>
        <p:nvSpPr>
          <p:cNvPr id="125" name="Text 123"/>
          <p:cNvSpPr/>
          <p:nvPr/>
        </p:nvSpPr>
        <p:spPr>
          <a:xfrm>
            <a:off x="530352" y="5989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~₹3,000 avg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2377440" y="4617720"/>
            <a:ext cx="18288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377440" y="4617720"/>
            <a:ext cx="1828800" cy="36576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28" name="Text 126"/>
          <p:cNvSpPr/>
          <p:nvPr/>
        </p:nvSpPr>
        <p:spPr>
          <a:xfrm>
            <a:off x="2377440" y="4617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Guru Purnima</a:t>
            </a:r>
            <a:endParaRPr lang="en-US" sz="850" dirty="0"/>
          </a:p>
        </p:txBody>
      </p:sp>
      <p:sp>
        <p:nvSpPr>
          <p:cNvPr id="129" name="Text 127"/>
          <p:cNvSpPr/>
          <p:nvPr/>
        </p:nvSpPr>
        <p:spPr>
          <a:xfrm>
            <a:off x="2450592" y="5029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WHEN: July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450592" y="523036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PREBOOK: 4 wks pre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450592" y="54406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SKU: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 report ₹999</a:t>
            </a:r>
            <a:endParaRPr lang="en-US" sz="750" dirty="0"/>
          </a:p>
        </p:txBody>
      </p:sp>
      <p:sp>
        <p:nvSpPr>
          <p:cNvPr id="132" name="Text 130"/>
          <p:cNvSpPr/>
          <p:nvPr/>
        </p:nvSpPr>
        <p:spPr>
          <a:xfrm>
            <a:off x="2450592" y="5989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~₹1,500 avg</a:t>
            </a:r>
            <a:endParaRPr lang="en-US" sz="800" dirty="0"/>
          </a:p>
        </p:txBody>
      </p:sp>
      <p:sp>
        <p:nvSpPr>
          <p:cNvPr id="133" name="Shape 131"/>
          <p:cNvSpPr/>
          <p:nvPr/>
        </p:nvSpPr>
        <p:spPr>
          <a:xfrm>
            <a:off x="4297680" y="4617720"/>
            <a:ext cx="18288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297680" y="4617720"/>
            <a:ext cx="1828800" cy="36576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35" name="Text 133"/>
          <p:cNvSpPr/>
          <p:nvPr/>
        </p:nvSpPr>
        <p:spPr>
          <a:xfrm>
            <a:off x="4297680" y="4617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Navratri</a:t>
            </a:r>
            <a:endParaRPr lang="en-US" sz="850" dirty="0"/>
          </a:p>
        </p:txBody>
      </p:sp>
      <p:sp>
        <p:nvSpPr>
          <p:cNvPr id="136" name="Text 134"/>
          <p:cNvSpPr/>
          <p:nvPr/>
        </p:nvSpPr>
        <p:spPr>
          <a:xfrm>
            <a:off x="4370832" y="5029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WHEN: Sep-Oct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4370832" y="523036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PREBOOK: 8 wks pre</a:t>
            </a:r>
            <a:endParaRPr lang="en-US" sz="700" dirty="0"/>
          </a:p>
        </p:txBody>
      </p:sp>
      <p:sp>
        <p:nvSpPr>
          <p:cNvPr id="138" name="Text 136"/>
          <p:cNvSpPr/>
          <p:nvPr/>
        </p:nvSpPr>
        <p:spPr>
          <a:xfrm>
            <a:off x="4370832" y="54406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SKU: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 pooja ₹2,100</a:t>
            </a:r>
            <a:endParaRPr lang="en-US" sz="750" dirty="0"/>
          </a:p>
        </p:txBody>
      </p:sp>
      <p:sp>
        <p:nvSpPr>
          <p:cNvPr id="139" name="Text 137"/>
          <p:cNvSpPr/>
          <p:nvPr/>
        </p:nvSpPr>
        <p:spPr>
          <a:xfrm>
            <a:off x="4370832" y="5989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~₹2,500 avg</a:t>
            </a:r>
            <a:endParaRPr lang="en-US" sz="800" dirty="0"/>
          </a:p>
        </p:txBody>
      </p:sp>
      <p:sp>
        <p:nvSpPr>
          <p:cNvPr id="140" name="Shape 138"/>
          <p:cNvSpPr/>
          <p:nvPr/>
        </p:nvSpPr>
        <p:spPr>
          <a:xfrm>
            <a:off x="6217920" y="4617720"/>
            <a:ext cx="18288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217920" y="4617720"/>
            <a:ext cx="1828800" cy="36576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42" name="Text 140"/>
          <p:cNvSpPr/>
          <p:nvPr/>
        </p:nvSpPr>
        <p:spPr>
          <a:xfrm>
            <a:off x="6217920" y="4617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Diwali</a:t>
            </a:r>
            <a:endParaRPr lang="en-US" sz="850" dirty="0"/>
          </a:p>
        </p:txBody>
      </p:sp>
      <p:sp>
        <p:nvSpPr>
          <p:cNvPr id="143" name="Text 141"/>
          <p:cNvSpPr/>
          <p:nvPr/>
        </p:nvSpPr>
        <p:spPr>
          <a:xfrm>
            <a:off x="6291072" y="5029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WHEN: Oct-Nov</a:t>
            </a:r>
            <a:endParaRPr lang="en-US" sz="700" dirty="0"/>
          </a:p>
        </p:txBody>
      </p:sp>
      <p:sp>
        <p:nvSpPr>
          <p:cNvPr id="144" name="Text 142"/>
          <p:cNvSpPr/>
          <p:nvPr/>
        </p:nvSpPr>
        <p:spPr>
          <a:xfrm>
            <a:off x="6291072" y="523036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PREBOOK: 8 wks pre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6291072" y="54406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SKU: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kundli ₹1,499</a:t>
            </a:r>
            <a:endParaRPr lang="en-US" sz="750" dirty="0"/>
          </a:p>
        </p:txBody>
      </p:sp>
      <p:sp>
        <p:nvSpPr>
          <p:cNvPr id="146" name="Text 144"/>
          <p:cNvSpPr/>
          <p:nvPr/>
        </p:nvSpPr>
        <p:spPr>
          <a:xfrm>
            <a:off x="6291072" y="5989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~₹1,800 avg</a:t>
            </a:r>
            <a:endParaRPr lang="en-US" sz="800" dirty="0"/>
          </a:p>
        </p:txBody>
      </p:sp>
      <p:sp>
        <p:nvSpPr>
          <p:cNvPr id="147" name="Shape 145"/>
          <p:cNvSpPr/>
          <p:nvPr/>
        </p:nvSpPr>
        <p:spPr>
          <a:xfrm>
            <a:off x="8138160" y="4617720"/>
            <a:ext cx="18288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138160" y="4617720"/>
            <a:ext cx="1828800" cy="36576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49" name="Text 147"/>
          <p:cNvSpPr/>
          <p:nvPr/>
        </p:nvSpPr>
        <p:spPr>
          <a:xfrm>
            <a:off x="8138160" y="4617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Makar Sankranti</a:t>
            </a:r>
            <a:endParaRPr lang="en-US" sz="850" dirty="0"/>
          </a:p>
        </p:txBody>
      </p:sp>
      <p:sp>
        <p:nvSpPr>
          <p:cNvPr id="150" name="Text 148"/>
          <p:cNvSpPr/>
          <p:nvPr/>
        </p:nvSpPr>
        <p:spPr>
          <a:xfrm>
            <a:off x="8211312" y="5029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WHEN: Jan</a:t>
            </a:r>
            <a:endParaRPr lang="en-US" sz="700" dirty="0"/>
          </a:p>
        </p:txBody>
      </p:sp>
      <p:sp>
        <p:nvSpPr>
          <p:cNvPr id="151" name="Text 149"/>
          <p:cNvSpPr/>
          <p:nvPr/>
        </p:nvSpPr>
        <p:spPr>
          <a:xfrm>
            <a:off x="8211312" y="523036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PREBOOK: 6 wks pre</a:t>
            </a:r>
            <a:endParaRPr lang="en-US" sz="700" dirty="0"/>
          </a:p>
        </p:txBody>
      </p:sp>
      <p:sp>
        <p:nvSpPr>
          <p:cNvPr id="152" name="Text 150"/>
          <p:cNvSpPr/>
          <p:nvPr/>
        </p:nvSpPr>
        <p:spPr>
          <a:xfrm>
            <a:off x="8211312" y="54406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SKU: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year kundli ₹999</a:t>
            </a:r>
            <a:endParaRPr lang="en-US" sz="750" dirty="0"/>
          </a:p>
        </p:txBody>
      </p:sp>
      <p:sp>
        <p:nvSpPr>
          <p:cNvPr id="153" name="Text 151"/>
          <p:cNvSpPr/>
          <p:nvPr/>
        </p:nvSpPr>
        <p:spPr>
          <a:xfrm>
            <a:off x="8211312" y="5989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~₹1,200 avg</a:t>
            </a:r>
            <a:endParaRPr lang="en-US" sz="800" dirty="0"/>
          </a:p>
        </p:txBody>
      </p:sp>
      <p:sp>
        <p:nvSpPr>
          <p:cNvPr id="154" name="Shape 152"/>
          <p:cNvSpPr/>
          <p:nvPr/>
        </p:nvSpPr>
        <p:spPr>
          <a:xfrm>
            <a:off x="10058400" y="4617720"/>
            <a:ext cx="18288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10058400" y="4617720"/>
            <a:ext cx="1828800" cy="36576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56" name="Text 154"/>
          <p:cNvSpPr/>
          <p:nvPr/>
        </p:nvSpPr>
        <p:spPr>
          <a:xfrm>
            <a:off x="10058400" y="4617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 → Wedding</a:t>
            </a:r>
            <a:endParaRPr lang="en-US" sz="850" dirty="0"/>
          </a:p>
        </p:txBody>
      </p:sp>
      <p:sp>
        <p:nvSpPr>
          <p:cNvPr id="157" name="Text 155"/>
          <p:cNvSpPr/>
          <p:nvPr/>
        </p:nvSpPr>
        <p:spPr>
          <a:xfrm>
            <a:off x="10131552" y="5029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WHEN: Mar-Jun</a:t>
            </a:r>
            <a:endParaRPr lang="en-US" sz="700" dirty="0"/>
          </a:p>
        </p:txBody>
      </p:sp>
      <p:sp>
        <p:nvSpPr>
          <p:cNvPr id="158" name="Text 156"/>
          <p:cNvSpPr/>
          <p:nvPr/>
        </p:nvSpPr>
        <p:spPr>
          <a:xfrm>
            <a:off x="10131552" y="523036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PREBOOK: Ongoing</a:t>
            </a:r>
            <a:endParaRPr lang="en-US" sz="700" dirty="0"/>
          </a:p>
        </p:txBody>
      </p:sp>
      <p:sp>
        <p:nvSpPr>
          <p:cNvPr id="159" name="Text 157"/>
          <p:cNvSpPr/>
          <p:nvPr/>
        </p:nvSpPr>
        <p:spPr>
          <a:xfrm>
            <a:off x="10131552" y="54406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SKU: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 muhurat ₹499 + match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10131552" y="5989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~₹2,000 avg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03  ·  B2B + PREMIUM PLAYS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NEW REVENUE STREAMS THAT DON'T DEPEND ON INSTAGRAM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57150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20040" y="1234440"/>
            <a:ext cx="5715000" cy="38404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411480" y="1234440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SOCIETY ANNUAL CONTRACTS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411480" y="1691640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11480" y="18745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₹50K/year contract with apartment RWAs. All residents get free monthly panchang + 1 free kundli/year/family.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411480" y="225856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411480" y="244144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Pune-Mumbai-Hyderabad-Bangalore Tier-1 RWAs (50,000+ societies in India)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411480" y="271576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(YEAR 1)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411480" y="289864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societies in Y1 = ₹5L recurring. Plus 5K-10K captive users for upsell.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411480" y="317296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 ·  WHY IT WORKS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411480" y="335584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6: Pitch deck. Wk 8: First 3 demos. Wk 10: First signed. Wk 12: 5 signed.  ·  Bulk B2B avoids per-customer CAC. Residents pre-vetted as middle/upper-middle — highest WTP cohort.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6126480" y="1234440"/>
            <a:ext cx="57150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126480" y="1234440"/>
            <a:ext cx="5715000" cy="38404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9" name="Text 77"/>
          <p:cNvSpPr/>
          <p:nvPr/>
        </p:nvSpPr>
        <p:spPr>
          <a:xfrm>
            <a:off x="6217920" y="1234440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MATRIMONIAL API PARTNERSHIPS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6217920" y="1691640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6217920" y="18745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'Compatibility Check' API. License to Shaadi.com, Jeevansaathi, Bharat Matrimony. Per-call ₹5-15.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217920" y="225856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217920" y="244144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matrimonial sites (50M+ Indian users combined)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6217920" y="271576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(YEAR 1)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6217920" y="289864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 API calls/mo at ₹10 = ₹1cr/mo. Even 10% capture = ₹10L/mo.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6217920" y="317296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 ·  WHY IT WORKS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6217920" y="335584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4: Build API spec. Wk 6: Pitch 3 platforms. Wk 10: Pilot live. Wk 14: Volume ramp.  ·  Matrimonial sites need feature differentiation. Compatibility check is most-searched post-shortlist query.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320040" y="3931920"/>
            <a:ext cx="57150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20040" y="3931920"/>
            <a:ext cx="5715000" cy="384048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90" name="Text 88"/>
          <p:cNvSpPr/>
          <p:nvPr/>
        </p:nvSpPr>
        <p:spPr>
          <a:xfrm>
            <a:off x="411480" y="3931920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 MUHURAT B2B (₹499)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411480" y="4389120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411480" y="457200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sell to wedding planners + matrimonial agencies. White-labeled report. ₹499 per couple's muhurat.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411480" y="495604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411480" y="513892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 planners (3,000+ active in India), priest/pandit referral network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411480" y="541324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(YEAR 1)</a:t>
            </a:r>
            <a:endParaRPr lang="en-US" sz="700" dirty="0"/>
          </a:p>
        </p:txBody>
      </p:sp>
      <p:sp>
        <p:nvSpPr>
          <p:cNvPr id="96" name="Text 94"/>
          <p:cNvSpPr/>
          <p:nvPr/>
        </p:nvSpPr>
        <p:spPr>
          <a:xfrm>
            <a:off x="411480" y="559612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partner agencies × 20 couples/mo × ₹499 = ₹50K/mo MRR + repeat order seasons.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411480" y="587044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 ·  WHY IT WORKS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411480" y="605332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4: SLA-driven delivery (24-hr muhurat). Wk 6: First 5 planner outreach. Nov-Feb peak.  ·  Highest-AOV moment in Indian astrology — 80% of Hindu weddings still consult astrologer for muhurat.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6126480" y="3931920"/>
            <a:ext cx="57150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126480" y="3931920"/>
            <a:ext cx="5715000" cy="384048"/>
          </a:xfrm>
          <a:prstGeom prst="rect">
            <a:avLst/>
          </a:prstGeom>
          <a:solidFill>
            <a:srgbClr val="6B3FA0"/>
          </a:solidFill>
          <a:ln/>
        </p:spPr>
      </p:sp>
      <p:sp>
        <p:nvSpPr>
          <p:cNvPr id="101" name="Text 99"/>
          <p:cNvSpPr/>
          <p:nvPr/>
        </p:nvSpPr>
        <p:spPr>
          <a:xfrm>
            <a:off x="6217920" y="3931920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DIASPORA · DOLLAR PRICING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6217920" y="4389120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6217920" y="457200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kundli, USD pricing ($15-25). UTC timezone handling. PayPal + Stripe. WA delivery.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6217920" y="495604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6217920" y="513892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Hindi-speaking 35-55 NRIs in USA (4M+), UK (1.5M+), UAE (3M+)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6217920" y="541324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(YEAR 1)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6217920" y="559612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orders/mo at $15 ≈ ₹1.25L/mo. NRI LTV is 5× domestic (higher disposable income).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6217920" y="587044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 ·  WHY IT WORKS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6217920" y="605332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8: PayPal + Stripe set up. Wk 9: Hindi NRI WA groups outreach. Wk 12: First 50 orders.  ·  Diaspora has highest emotional pull for astrology + 5× higher purchasing power. AstroTalk barely serves.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ENGINE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PIPELINE + 70/20/10 PILLAR FRAMEWORK + CADENCE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11567160" cy="260604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271016"/>
            <a:ext cx="11494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271016"/>
            <a:ext cx="11494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3-PILLAR CONTENT FRAMEWORK  ·  70/20/10 RULE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57200" y="1691640"/>
            <a:ext cx="37490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57200" y="1691640"/>
            <a:ext cx="374904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1" name="Text 69"/>
          <p:cNvSpPr/>
          <p:nvPr/>
        </p:nvSpPr>
        <p:spPr>
          <a:xfrm>
            <a:off x="45720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TRUST &amp; RITUAL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594360" y="2148840"/>
            <a:ext cx="109728" cy="109728"/>
          </a:xfrm>
          <a:prstGeom prst="ellipse">
            <a:avLst/>
          </a:prstGeom>
          <a:solidFill>
            <a:srgbClr val="A6304F"/>
          </a:solidFill>
          <a:ln/>
        </p:spPr>
      </p:sp>
      <p:sp>
        <p:nvSpPr>
          <p:cNvPr id="73" name="Text 71"/>
          <p:cNvSpPr/>
          <p:nvPr/>
        </p:nvSpPr>
        <p:spPr>
          <a:xfrm>
            <a:off x="749808" y="2103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rashifal in Hindi/Marathi (5 AM auto-post)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594360" y="2423160"/>
            <a:ext cx="109728" cy="109728"/>
          </a:xfrm>
          <a:prstGeom prst="ellipse">
            <a:avLst/>
          </a:prstGeom>
          <a:solidFill>
            <a:srgbClr val="A6304F"/>
          </a:solidFill>
          <a:ln/>
        </p:spPr>
      </p:sp>
      <p:sp>
        <p:nvSpPr>
          <p:cNvPr id="75" name="Text 73"/>
          <p:cNvSpPr/>
          <p:nvPr/>
        </p:nvSpPr>
        <p:spPr>
          <a:xfrm>
            <a:off x="749808" y="2377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Aaj ka panchang + rahu kaal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594360" y="2697480"/>
            <a:ext cx="109728" cy="109728"/>
          </a:xfrm>
          <a:prstGeom prst="ellipse">
            <a:avLst/>
          </a:prstGeom>
          <a:solidFill>
            <a:srgbClr val="A6304F"/>
          </a:solidFill>
          <a:ln/>
        </p:spPr>
      </p:sp>
      <p:sp>
        <p:nvSpPr>
          <p:cNvPr id="77" name="Text 75"/>
          <p:cNvSpPr/>
          <p:nvPr/>
        </p:nvSpPr>
        <p:spPr>
          <a:xfrm>
            <a:off x="749808" y="2651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 muhurat (Navratri, Akshay Tritiya...)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594360" y="2971800"/>
            <a:ext cx="109728" cy="109728"/>
          </a:xfrm>
          <a:prstGeom prst="ellipse">
            <a:avLst/>
          </a:prstGeom>
          <a:solidFill>
            <a:srgbClr val="A6304F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2926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Sanskrit shloka + 1-line Hindi meaning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548640" y="3246120"/>
            <a:ext cx="3566160" cy="50292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40080" y="32918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CONVERTS: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40080" y="34564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habit. High save rate. Hindi-belt 35-65 buyer.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4297680" y="1691640"/>
            <a:ext cx="37490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297680" y="1691640"/>
            <a:ext cx="3749040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5" name="Text 83"/>
          <p:cNvSpPr/>
          <p:nvPr/>
        </p:nvSpPr>
        <p:spPr>
          <a:xfrm>
            <a:off x="429768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IDENTITY &amp; VIRAL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4434840" y="2148840"/>
            <a:ext cx="109728" cy="10972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87" name="Text 85"/>
          <p:cNvSpPr/>
          <p:nvPr/>
        </p:nvSpPr>
        <p:spPr>
          <a:xfrm>
            <a:off x="4590288" y="2103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Partner-birthdate hook (our 8.5K-view formula)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434840" y="2423160"/>
            <a:ext cx="109728" cy="10972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89" name="Text 87"/>
          <p:cNvSpPr/>
          <p:nvPr/>
        </p:nvSpPr>
        <p:spPr>
          <a:xfrm>
            <a:off x="4590288" y="2377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Mulank × planet × emotion combos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434840" y="2697480"/>
            <a:ext cx="109728" cy="10972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91" name="Text 89"/>
          <p:cNvSpPr/>
          <p:nvPr/>
        </p:nvSpPr>
        <p:spPr>
          <a:xfrm>
            <a:off x="4590288" y="2651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Aap Mulank 5 ho toh yeh problem aati hai...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434840" y="2971800"/>
            <a:ext cx="109728" cy="10972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93" name="Text 91"/>
          <p:cNvSpPr/>
          <p:nvPr/>
        </p:nvSpPr>
        <p:spPr>
          <a:xfrm>
            <a:off x="4590288" y="2926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share-cards (2 dates → match %)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389120" y="3246120"/>
            <a:ext cx="3566160" cy="50292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480560" y="32918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CONVERTS: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4480560" y="34564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Explore-page fuel. 18-34 followers + family share.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8138160" y="1691640"/>
            <a:ext cx="37490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138160" y="1691640"/>
            <a:ext cx="3749040" cy="36576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99" name="Text 97"/>
          <p:cNvSpPr/>
          <p:nvPr/>
        </p:nvSpPr>
        <p:spPr>
          <a:xfrm>
            <a:off x="813816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EDUCATION &amp; AUTHORITY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8275320" y="2148840"/>
            <a:ext cx="109728" cy="109728"/>
          </a:xfrm>
          <a:prstGeom prst="ellipse">
            <a:avLst/>
          </a:prstGeom>
          <a:solidFill>
            <a:srgbClr val="C77E17"/>
          </a:solidFill>
          <a:ln/>
        </p:spPr>
      </p:sp>
      <p:sp>
        <p:nvSpPr>
          <p:cNvPr id="101" name="Text 99"/>
          <p:cNvSpPr/>
          <p:nvPr/>
        </p:nvSpPr>
        <p:spPr>
          <a:xfrm>
            <a:off x="8430768" y="2103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Saturn vakri kya hota hai? explainer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8275320" y="2423160"/>
            <a:ext cx="109728" cy="109728"/>
          </a:xfrm>
          <a:prstGeom prst="ellipse">
            <a:avLst/>
          </a:prstGeom>
          <a:solidFill>
            <a:srgbClr val="C77E17"/>
          </a:solidFill>
          <a:ln/>
        </p:spPr>
      </p:sp>
      <p:sp>
        <p:nvSpPr>
          <p:cNvPr id="103" name="Text 101"/>
          <p:cNvSpPr/>
          <p:nvPr/>
        </p:nvSpPr>
        <p:spPr>
          <a:xfrm>
            <a:off x="8430768" y="2377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 chart reading tutorial (carousel)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8275320" y="2697480"/>
            <a:ext cx="109728" cy="109728"/>
          </a:xfrm>
          <a:prstGeom prst="ellipse">
            <a:avLst/>
          </a:prstGeom>
          <a:solidFill>
            <a:srgbClr val="C77E17"/>
          </a:solidFill>
          <a:ln/>
        </p:spPr>
      </p:sp>
      <p:sp>
        <p:nvSpPr>
          <p:cNvPr id="105" name="Text 103"/>
          <p:cNvSpPr/>
          <p:nvPr/>
        </p:nvSpPr>
        <p:spPr>
          <a:xfrm>
            <a:off x="8430768" y="2651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myths debunked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8275320" y="2971800"/>
            <a:ext cx="109728" cy="109728"/>
          </a:xfrm>
          <a:prstGeom prst="ellipse">
            <a:avLst/>
          </a:prstGeom>
          <a:solidFill>
            <a:srgbClr val="C77E17"/>
          </a:solidFill>
          <a:ln/>
        </p:spPr>
      </p:sp>
      <p:sp>
        <p:nvSpPr>
          <p:cNvPr id="107" name="Text 105"/>
          <p:cNvSpPr/>
          <p:nvPr/>
        </p:nvSpPr>
        <p:spPr>
          <a:xfrm>
            <a:off x="8430768" y="2926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trust Vedic over Western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8229600" y="3246120"/>
            <a:ext cx="3566160" cy="50292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321040" y="32918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CONVERTS: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8321040" y="34564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brand. Drives shares to family WA groups.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320040" y="3977640"/>
            <a:ext cx="5897880" cy="25146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356616" y="4014216"/>
            <a:ext cx="58247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13" name="Text 111"/>
          <p:cNvSpPr/>
          <p:nvPr/>
        </p:nvSpPr>
        <p:spPr>
          <a:xfrm>
            <a:off x="356616" y="4014216"/>
            <a:ext cx="5824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24-HOUR POSTING CADENCE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457200" y="4434840"/>
            <a:ext cx="1005840" cy="25603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15" name="Text 113"/>
          <p:cNvSpPr/>
          <p:nvPr/>
        </p:nvSpPr>
        <p:spPr>
          <a:xfrm>
            <a:off x="457200" y="44348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05:00 AM</a:t>
            </a:r>
            <a:endParaRPr lang="en-US" sz="900" dirty="0"/>
          </a:p>
        </p:txBody>
      </p:sp>
      <p:sp>
        <p:nvSpPr>
          <p:cNvPr id="116" name="Text 114"/>
          <p:cNvSpPr/>
          <p:nvPr/>
        </p:nvSpPr>
        <p:spPr>
          <a:xfrm>
            <a:off x="1554480" y="44531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Panchang carousel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4069080" y="445312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457200" y="4727448"/>
            <a:ext cx="1005840" cy="25603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19" name="Text 117"/>
          <p:cNvSpPr/>
          <p:nvPr/>
        </p:nvSpPr>
        <p:spPr>
          <a:xfrm>
            <a:off x="457200" y="47274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07:30 AM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1554480" y="474573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rashifal Reel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069080" y="47457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saath + drishti</a:t>
            </a: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457200" y="5020056"/>
            <a:ext cx="1005840" cy="256032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3" name="Text 121"/>
          <p:cNvSpPr/>
          <p:nvPr/>
        </p:nvSpPr>
        <p:spPr>
          <a:xfrm>
            <a:off x="457200" y="50200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12:30 PM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1554480" y="503834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hook Reel #1</a:t>
            </a:r>
            <a:endParaRPr lang="en-US" sz="850" dirty="0"/>
          </a:p>
        </p:txBody>
      </p:sp>
      <p:sp>
        <p:nvSpPr>
          <p:cNvPr id="125" name="Text 123"/>
          <p:cNvSpPr/>
          <p:nvPr/>
        </p:nvSpPr>
        <p:spPr>
          <a:xfrm>
            <a:off x="4069080" y="503834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rashitattva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457200" y="5312664"/>
            <a:ext cx="1005840" cy="25603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27" name="Text 125"/>
          <p:cNvSpPr/>
          <p:nvPr/>
        </p:nvSpPr>
        <p:spPr>
          <a:xfrm>
            <a:off x="457200" y="531266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04:00 PM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1554480" y="53309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compat Reel</a:t>
            </a:r>
            <a:endParaRPr lang="en-US" sz="850" dirty="0"/>
          </a:p>
        </p:txBody>
      </p:sp>
      <p:sp>
        <p:nvSpPr>
          <p:cNvPr id="129" name="Text 127"/>
          <p:cNvSpPr/>
          <p:nvPr/>
        </p:nvSpPr>
        <p:spPr>
          <a:xfrm>
            <a:off x="4069080" y="53309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</a:t>
            </a:r>
            <a:endParaRPr lang="en-US" sz="750" dirty="0"/>
          </a:p>
        </p:txBody>
      </p:sp>
      <p:sp>
        <p:nvSpPr>
          <p:cNvPr id="130" name="Shape 128"/>
          <p:cNvSpPr/>
          <p:nvPr/>
        </p:nvSpPr>
        <p:spPr>
          <a:xfrm>
            <a:off x="457200" y="5605272"/>
            <a:ext cx="1005840" cy="25603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6052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07:00 PM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554480" y="562356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Trending audio Reel</a:t>
            </a:r>
            <a:endParaRPr lang="en-US" sz="850" dirty="0"/>
          </a:p>
        </p:txBody>
      </p:sp>
      <p:sp>
        <p:nvSpPr>
          <p:cNvPr id="133" name="Text 131"/>
          <p:cNvSpPr/>
          <p:nvPr/>
        </p:nvSpPr>
        <p:spPr>
          <a:xfrm>
            <a:off x="4069080" y="562356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saath + astro</a:t>
            </a:r>
            <a:endParaRPr lang="en-US" sz="750" dirty="0"/>
          </a:p>
        </p:txBody>
      </p:sp>
      <p:sp>
        <p:nvSpPr>
          <p:cNvPr id="134" name="Shape 132"/>
          <p:cNvSpPr/>
          <p:nvPr/>
        </p:nvSpPr>
        <p:spPr>
          <a:xfrm>
            <a:off x="457200" y="5897880"/>
            <a:ext cx="1005840" cy="256032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35" name="Text 133"/>
          <p:cNvSpPr/>
          <p:nvPr/>
        </p:nvSpPr>
        <p:spPr>
          <a:xfrm>
            <a:off x="457200" y="58978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 PM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1554480" y="591616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carousel</a:t>
            </a:r>
            <a:endParaRPr lang="en-US" sz="850" dirty="0"/>
          </a:p>
        </p:txBody>
      </p:sp>
      <p:sp>
        <p:nvSpPr>
          <p:cNvPr id="137" name="Text 135"/>
          <p:cNvSpPr/>
          <p:nvPr/>
        </p:nvSpPr>
        <p:spPr>
          <a:xfrm>
            <a:off x="4069080" y="59161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drishtiastro</a:t>
            </a:r>
            <a:endParaRPr lang="en-US" sz="750" dirty="0"/>
          </a:p>
        </p:txBody>
      </p:sp>
      <p:sp>
        <p:nvSpPr>
          <p:cNvPr id="138" name="Text 136"/>
          <p:cNvSpPr/>
          <p:nvPr/>
        </p:nvSpPr>
        <p:spPr>
          <a:xfrm>
            <a:off x="457200" y="6263640"/>
            <a:ext cx="5715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~22 Reels + 8 carousels weekly · auto-scheduled via Buffer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6309360" y="3977640"/>
            <a:ext cx="5577840" cy="25146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40" name="Shape 138"/>
          <p:cNvSpPr/>
          <p:nvPr/>
        </p:nvSpPr>
        <p:spPr>
          <a:xfrm>
            <a:off x="6345936" y="4014216"/>
            <a:ext cx="550468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41" name="Text 139"/>
          <p:cNvSpPr/>
          <p:nvPr/>
        </p:nvSpPr>
        <p:spPr>
          <a:xfrm>
            <a:off x="6345936" y="4014216"/>
            <a:ext cx="5504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CONTENT FACTORY  ·  6-STEP PIPELINE</a:t>
            </a:r>
            <a:endParaRPr lang="en-US" sz="1100" dirty="0"/>
          </a:p>
        </p:txBody>
      </p:sp>
      <p:sp>
        <p:nvSpPr>
          <p:cNvPr id="142" name="Shape 140"/>
          <p:cNvSpPr/>
          <p:nvPr/>
        </p:nvSpPr>
        <p:spPr>
          <a:xfrm>
            <a:off x="6446520" y="4434840"/>
            <a:ext cx="53492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46520" y="4434840"/>
            <a:ext cx="457200" cy="27432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44" name="Text 142"/>
          <p:cNvSpPr/>
          <p:nvPr/>
        </p:nvSpPr>
        <p:spPr>
          <a:xfrm>
            <a:off x="6446520" y="4434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00" dirty="0"/>
          </a:p>
        </p:txBody>
      </p:sp>
      <p:sp>
        <p:nvSpPr>
          <p:cNvPr id="145" name="Text 143"/>
          <p:cNvSpPr/>
          <p:nvPr/>
        </p:nvSpPr>
        <p:spPr>
          <a:xfrm>
            <a:off x="699516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800" dirty="0"/>
          </a:p>
        </p:txBody>
      </p:sp>
      <p:sp>
        <p:nvSpPr>
          <p:cNvPr id="146" name="Text 144"/>
          <p:cNvSpPr/>
          <p:nvPr/>
        </p:nvSpPr>
        <p:spPr>
          <a:xfrm>
            <a:off x="7863840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</a:t>
            </a:r>
            <a:endParaRPr lang="en-US" sz="750" dirty="0"/>
          </a:p>
        </p:txBody>
      </p:sp>
      <p:sp>
        <p:nvSpPr>
          <p:cNvPr id="147" name="Text 145"/>
          <p:cNvSpPr/>
          <p:nvPr/>
        </p:nvSpPr>
        <p:spPr>
          <a:xfrm>
            <a:off x="9189720" y="4471416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Roman-Hindi hooks/day from Mulank × planet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6446520" y="4745736"/>
            <a:ext cx="53492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446520" y="4745736"/>
            <a:ext cx="457200" cy="27432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50" name="Text 148"/>
          <p:cNvSpPr/>
          <p:nvPr/>
        </p:nvSpPr>
        <p:spPr>
          <a:xfrm>
            <a:off x="6446520" y="47457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00" dirty="0"/>
          </a:p>
        </p:txBody>
      </p:sp>
      <p:sp>
        <p:nvSpPr>
          <p:cNvPr id="151" name="Text 149"/>
          <p:cNvSpPr/>
          <p:nvPr/>
        </p:nvSpPr>
        <p:spPr>
          <a:xfrm>
            <a:off x="6995160" y="47823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800" dirty="0"/>
          </a:p>
        </p:txBody>
      </p:sp>
      <p:sp>
        <p:nvSpPr>
          <p:cNvPr id="152" name="Text 150"/>
          <p:cNvSpPr/>
          <p:nvPr/>
        </p:nvSpPr>
        <p:spPr>
          <a:xfrm>
            <a:off x="7863840" y="47823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750" dirty="0"/>
          </a:p>
        </p:txBody>
      </p:sp>
      <p:sp>
        <p:nvSpPr>
          <p:cNvPr id="153" name="Text 151"/>
          <p:cNvSpPr/>
          <p:nvPr/>
        </p:nvSpPr>
        <p:spPr>
          <a:xfrm>
            <a:off x="9189720" y="478231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voice (NOT marked AI). 3 personas.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446520" y="5056632"/>
            <a:ext cx="53492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6446520" y="5056632"/>
            <a:ext cx="457200" cy="27432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56" name="Text 154"/>
          <p:cNvSpPr/>
          <p:nvPr/>
        </p:nvSpPr>
        <p:spPr>
          <a:xfrm>
            <a:off x="6446520" y="5056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00" dirty="0"/>
          </a:p>
        </p:txBody>
      </p:sp>
      <p:sp>
        <p:nvSpPr>
          <p:cNvPr id="157" name="Text 155"/>
          <p:cNvSpPr/>
          <p:nvPr/>
        </p:nvSpPr>
        <p:spPr>
          <a:xfrm>
            <a:off x="6995160" y="509320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endParaRPr lang="en-US" sz="800" dirty="0"/>
          </a:p>
        </p:txBody>
      </p:sp>
      <p:sp>
        <p:nvSpPr>
          <p:cNvPr id="158" name="Text 156"/>
          <p:cNvSpPr/>
          <p:nvPr/>
        </p:nvSpPr>
        <p:spPr>
          <a:xfrm>
            <a:off x="7863840" y="50932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 + HeyGen</a:t>
            </a:r>
            <a:endParaRPr lang="en-US" sz="750" dirty="0"/>
          </a:p>
        </p:txBody>
      </p:sp>
      <p:sp>
        <p:nvSpPr>
          <p:cNvPr id="159" name="Text 157"/>
          <p:cNvSpPr/>
          <p:nvPr/>
        </p:nvSpPr>
        <p:spPr>
          <a:xfrm>
            <a:off x="9189720" y="509320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Reel template (text + B-roll)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6446520" y="5367528"/>
            <a:ext cx="53492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446520" y="5367528"/>
            <a:ext cx="457200" cy="27432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62" name="Text 160"/>
          <p:cNvSpPr/>
          <p:nvPr/>
        </p:nvSpPr>
        <p:spPr>
          <a:xfrm>
            <a:off x="6446520" y="5367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900" dirty="0"/>
          </a:p>
        </p:txBody>
      </p:sp>
      <p:sp>
        <p:nvSpPr>
          <p:cNvPr id="163" name="Text 161"/>
          <p:cNvSpPr/>
          <p:nvPr/>
        </p:nvSpPr>
        <p:spPr>
          <a:xfrm>
            <a:off x="6995160" y="540410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</a:t>
            </a:r>
            <a:endParaRPr lang="en-US" sz="800" dirty="0"/>
          </a:p>
        </p:txBody>
      </p:sp>
      <p:sp>
        <p:nvSpPr>
          <p:cNvPr id="164" name="Text 162"/>
          <p:cNvSpPr/>
          <p:nvPr/>
        </p:nvSpPr>
        <p:spPr>
          <a:xfrm>
            <a:off x="7863840" y="54041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Suno + IG</a:t>
            </a:r>
            <a:endParaRPr lang="en-US" sz="750" dirty="0"/>
          </a:p>
        </p:txBody>
      </p:sp>
      <p:sp>
        <p:nvSpPr>
          <p:cNvPr id="165" name="Text 163"/>
          <p:cNvSpPr/>
          <p:nvPr/>
        </p:nvSpPr>
        <p:spPr>
          <a:xfrm>
            <a:off x="9189720" y="540410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Trending audio synced to hook (first 1.2s)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6446520" y="5678424"/>
            <a:ext cx="53492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446520" y="5678424"/>
            <a:ext cx="457200" cy="27432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68" name="Text 166"/>
          <p:cNvSpPr/>
          <p:nvPr/>
        </p:nvSpPr>
        <p:spPr>
          <a:xfrm>
            <a:off x="6446520" y="56784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900" dirty="0"/>
          </a:p>
        </p:txBody>
      </p:sp>
      <p:sp>
        <p:nvSpPr>
          <p:cNvPr id="169" name="Text 167"/>
          <p:cNvSpPr/>
          <p:nvPr/>
        </p:nvSpPr>
        <p:spPr>
          <a:xfrm>
            <a:off x="6995160" y="57150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800" dirty="0"/>
          </a:p>
        </p:txBody>
      </p:sp>
      <p:sp>
        <p:nvSpPr>
          <p:cNvPr id="170" name="Text 168"/>
          <p:cNvSpPr/>
          <p:nvPr/>
        </p:nvSpPr>
        <p:spPr>
          <a:xfrm>
            <a:off x="7863840" y="57150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CapCut API</a:t>
            </a:r>
            <a:endParaRPr lang="en-US" sz="750" dirty="0"/>
          </a:p>
        </p:txBody>
      </p:sp>
      <p:sp>
        <p:nvSpPr>
          <p:cNvPr id="171" name="Text 169"/>
          <p:cNvSpPr/>
          <p:nvPr/>
        </p:nvSpPr>
        <p:spPr>
          <a:xfrm>
            <a:off x="9189720" y="571500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Captions + watermark + auto-export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6446520" y="5989320"/>
            <a:ext cx="53492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446520" y="5989320"/>
            <a:ext cx="457200" cy="27432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74" name="Text 172"/>
          <p:cNvSpPr/>
          <p:nvPr/>
        </p:nvSpPr>
        <p:spPr>
          <a:xfrm>
            <a:off x="6446520" y="5989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900" dirty="0"/>
          </a:p>
        </p:txBody>
      </p:sp>
      <p:sp>
        <p:nvSpPr>
          <p:cNvPr id="175" name="Text 173"/>
          <p:cNvSpPr/>
          <p:nvPr/>
        </p:nvSpPr>
        <p:spPr>
          <a:xfrm>
            <a:off x="6995160" y="6025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800" dirty="0"/>
          </a:p>
        </p:txBody>
      </p:sp>
      <p:sp>
        <p:nvSpPr>
          <p:cNvPr id="176" name="Text 174"/>
          <p:cNvSpPr/>
          <p:nvPr/>
        </p:nvSpPr>
        <p:spPr>
          <a:xfrm>
            <a:off x="7863840" y="602589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</a:t>
            </a:r>
            <a:endParaRPr lang="en-US" sz="750" dirty="0"/>
          </a:p>
        </p:txBody>
      </p:sp>
      <p:sp>
        <p:nvSpPr>
          <p:cNvPr id="177" name="Text 175"/>
          <p:cNvSpPr/>
          <p:nvPr/>
        </p:nvSpPr>
        <p:spPr>
          <a:xfrm>
            <a:off x="9189720" y="6025896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Optimal-slot post per handle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6400800" y="6263640"/>
            <a:ext cx="5440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~₹12/Reel · 22 Reels × 30 days = ₹7,920/mo for ~10M views target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MONETIZATION LADDER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₹49 PANCHANG SUB TO ₹2,499 LIVE CONSULT — 6 TIERS + 8 ALT STREAMS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11567160" cy="24688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271016"/>
            <a:ext cx="11494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271016"/>
            <a:ext cx="11494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LADDER  ·  6 TIERS  ·  AOV GROWS WITH BUYER TENURE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57200" y="1755648"/>
            <a:ext cx="1828800" cy="1828800"/>
          </a:xfrm>
          <a:prstGeom prst="rect">
            <a:avLst/>
          </a:prstGeom>
          <a:solidFill>
            <a:srgbClr val="FBE0E3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57200" y="1755648"/>
            <a:ext cx="1828800" cy="4114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1" name="Text 69"/>
          <p:cNvSpPr/>
          <p:nvPr/>
        </p:nvSpPr>
        <p:spPr>
          <a:xfrm>
            <a:off x="457200" y="17556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457200" y="2240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A1F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</a:t>
            </a:r>
            <a:endParaRPr lang="en-US" sz="1900" dirty="0"/>
          </a:p>
        </p:txBody>
      </p:sp>
      <p:sp>
        <p:nvSpPr>
          <p:cNvPr id="73" name="Text 71"/>
          <p:cNvSpPr/>
          <p:nvPr/>
        </p:nvSpPr>
        <p:spPr>
          <a:xfrm>
            <a:off x="530352" y="2788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Mini-kundli + 1 daily WA push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530352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Lead magnet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2350008" y="1755648"/>
            <a:ext cx="1828800" cy="1828800"/>
          </a:xfrm>
          <a:prstGeom prst="rect">
            <a:avLst/>
          </a:prstGeom>
          <a:solidFill>
            <a:srgbClr val="FFDFE3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350008" y="1755648"/>
            <a:ext cx="1828800" cy="4114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7" name="Text 75"/>
          <p:cNvSpPr/>
          <p:nvPr/>
        </p:nvSpPr>
        <p:spPr>
          <a:xfrm>
            <a:off x="2350008" y="17556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PANCHANG SUB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2350008" y="2240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A1F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₹49/mo</a:t>
            </a:r>
            <a:endParaRPr lang="en-US" sz="1900" dirty="0"/>
          </a:p>
        </p:txBody>
      </p:sp>
      <p:sp>
        <p:nvSpPr>
          <p:cNvPr id="79" name="Text 77"/>
          <p:cNvSpPr/>
          <p:nvPr/>
        </p:nvSpPr>
        <p:spPr>
          <a:xfrm>
            <a:off x="2423160" y="2788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panchang + tithi (WA)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242316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Habit + upsell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4242816" y="1755648"/>
            <a:ext cx="1828800" cy="1828800"/>
          </a:xfrm>
          <a:prstGeom prst="rect">
            <a:avLst/>
          </a:prstGeom>
          <a:solidFill>
            <a:srgbClr val="D63D58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242816" y="1755648"/>
            <a:ext cx="18288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Text 81"/>
          <p:cNvSpPr/>
          <p:nvPr/>
        </p:nvSpPr>
        <p:spPr>
          <a:xfrm>
            <a:off x="4242816" y="17556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KUNDLI PDF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4242816" y="2240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₹199</a:t>
            </a:r>
            <a:endParaRPr lang="en-US" sz="1900" dirty="0"/>
          </a:p>
        </p:txBody>
      </p:sp>
      <p:sp>
        <p:nvSpPr>
          <p:cNvPr id="85" name="Text 83"/>
          <p:cNvSpPr/>
          <p:nvPr/>
        </p:nvSpPr>
        <p:spPr>
          <a:xfrm>
            <a:off x="4315968" y="2788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11-page Vedic PDF (live SKU)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4315968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Already live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135624" y="1755648"/>
            <a:ext cx="1828800" cy="1828800"/>
          </a:xfrm>
          <a:prstGeom prst="rect">
            <a:avLst/>
          </a:prstGeom>
          <a:solidFill>
            <a:srgbClr val="A6304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135624" y="1755648"/>
            <a:ext cx="18288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/>
          <p:nvPr/>
        </p:nvSpPr>
        <p:spPr>
          <a:xfrm>
            <a:off x="6135624" y="17556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+ CHAT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6135624" y="2240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₹499</a:t>
            </a:r>
            <a:endParaRPr lang="en-US" sz="1900" dirty="0"/>
          </a:p>
        </p:txBody>
      </p:sp>
      <p:sp>
        <p:nvSpPr>
          <p:cNvPr id="91" name="Text 89"/>
          <p:cNvSpPr/>
          <p:nvPr/>
        </p:nvSpPr>
        <p:spPr>
          <a:xfrm>
            <a:off x="6208776" y="2788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+ 15-min astrologer chat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208776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Live on astrorajni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8028432" y="1755648"/>
            <a:ext cx="1828800" cy="1828800"/>
          </a:xfrm>
          <a:prstGeom prst="rect">
            <a:avLst/>
          </a:prstGeom>
          <a:solidFill>
            <a:srgbClr val="C77E17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028432" y="1755648"/>
            <a:ext cx="18288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Text 93"/>
          <p:cNvSpPr/>
          <p:nvPr/>
        </p:nvSpPr>
        <p:spPr>
          <a:xfrm>
            <a:off x="8028432" y="17556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 NAME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8028432" y="2240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₹999</a:t>
            </a:r>
            <a:endParaRPr lang="en-US" sz="1900" dirty="0"/>
          </a:p>
        </p:txBody>
      </p:sp>
      <p:sp>
        <p:nvSpPr>
          <p:cNvPr id="97" name="Text 95"/>
          <p:cNvSpPr/>
          <p:nvPr/>
        </p:nvSpPr>
        <p:spPr>
          <a:xfrm>
            <a:off x="8101584" y="2788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nakshatra-aligned names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8101584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NEW unmet need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9921240" y="1755648"/>
            <a:ext cx="1828800" cy="1828800"/>
          </a:xfrm>
          <a:prstGeom prst="rect">
            <a:avLst/>
          </a:prstGeom>
          <a:solidFill>
            <a:srgbClr val="A6304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921240" y="1755648"/>
            <a:ext cx="18288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Text 99"/>
          <p:cNvSpPr/>
          <p:nvPr/>
        </p:nvSpPr>
        <p:spPr>
          <a:xfrm>
            <a:off x="9921240" y="17556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</a:t>
            </a:r>
            <a:endParaRPr lang="en-US" sz="900" dirty="0"/>
          </a:p>
        </p:txBody>
      </p:sp>
      <p:sp>
        <p:nvSpPr>
          <p:cNvPr id="102" name="Text 100"/>
          <p:cNvSpPr/>
          <p:nvPr/>
        </p:nvSpPr>
        <p:spPr>
          <a:xfrm>
            <a:off x="9921240" y="2240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₹1,499</a:t>
            </a:r>
            <a:endParaRPr lang="en-US" sz="1900" dirty="0"/>
          </a:p>
        </p:txBody>
      </p:sp>
      <p:sp>
        <p:nvSpPr>
          <p:cNvPr id="103" name="Text 101"/>
          <p:cNvSpPr/>
          <p:nvPr/>
        </p:nvSpPr>
        <p:spPr>
          <a:xfrm>
            <a:off x="9994392" y="2788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40-page + remedy + AI consult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9994392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Mid-funnel hero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20040" y="3840480"/>
            <a:ext cx="640080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>
            <a:off x="356616" y="3877056"/>
            <a:ext cx="632764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07" name="Text 105"/>
          <p:cNvSpPr/>
          <p:nvPr/>
        </p:nvSpPr>
        <p:spPr>
          <a:xfrm>
            <a:off x="356616" y="3877056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ALTERNATIVE REVENUE STREAMS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457200" y="4297680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30352" y="4297680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1800" dirty="0"/>
          </a:p>
        </p:txBody>
      </p:sp>
      <p:sp>
        <p:nvSpPr>
          <p:cNvPr id="110" name="Text 108"/>
          <p:cNvSpPr/>
          <p:nvPr/>
        </p:nvSpPr>
        <p:spPr>
          <a:xfrm>
            <a:off x="960120" y="431596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Panchang Subscription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960120" y="455371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₹49/mo recurring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3566160" y="4297680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639312" y="4297680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💎</a:t>
            </a:r>
            <a:endParaRPr lang="en-US" sz="1800" dirty="0"/>
          </a:p>
        </p:txBody>
      </p:sp>
      <p:sp>
        <p:nvSpPr>
          <p:cNvPr id="114" name="Text 112"/>
          <p:cNvSpPr/>
          <p:nvPr/>
        </p:nvSpPr>
        <p:spPr>
          <a:xfrm>
            <a:off x="4069080" y="431596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Gemstone E-commerce</a:t>
            </a:r>
            <a:endParaRPr lang="en-US" sz="900" dirty="0"/>
          </a:p>
        </p:txBody>
      </p:sp>
      <p:sp>
        <p:nvSpPr>
          <p:cNvPr id="115" name="Text 113"/>
          <p:cNvSpPr/>
          <p:nvPr/>
        </p:nvSpPr>
        <p:spPr>
          <a:xfrm>
            <a:off x="4069080" y="455371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15-25% margin (dropship)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457200" y="4837176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30352" y="4837176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800" dirty="0"/>
          </a:p>
        </p:txBody>
      </p:sp>
      <p:sp>
        <p:nvSpPr>
          <p:cNvPr id="118" name="Text 116"/>
          <p:cNvSpPr/>
          <p:nvPr/>
        </p:nvSpPr>
        <p:spPr>
          <a:xfrm>
            <a:off x="960120" y="485546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Numerology Course</a:t>
            </a:r>
            <a:endParaRPr lang="en-US" sz="900" dirty="0"/>
          </a:p>
        </p:txBody>
      </p:sp>
      <p:sp>
        <p:nvSpPr>
          <p:cNvPr id="119" name="Text 117"/>
          <p:cNvSpPr/>
          <p:nvPr/>
        </p:nvSpPr>
        <p:spPr>
          <a:xfrm>
            <a:off x="960120" y="5093208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₹1,999 self-paced WA</a:t>
            </a:r>
            <a:endParaRPr lang="en-US" sz="750" dirty="0"/>
          </a:p>
        </p:txBody>
      </p:sp>
      <p:sp>
        <p:nvSpPr>
          <p:cNvPr id="120" name="Shape 118"/>
          <p:cNvSpPr/>
          <p:nvPr/>
        </p:nvSpPr>
        <p:spPr>
          <a:xfrm>
            <a:off x="3566160" y="4837176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639312" y="4837176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</a:t>
            </a:r>
            <a:endParaRPr lang="en-US" sz="1800" dirty="0"/>
          </a:p>
        </p:txBody>
      </p:sp>
      <p:sp>
        <p:nvSpPr>
          <p:cNvPr id="122" name="Text 120"/>
          <p:cNvSpPr/>
          <p:nvPr/>
        </p:nvSpPr>
        <p:spPr>
          <a:xfrm>
            <a:off x="4069080" y="485546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Horoscope License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4069080" y="5093208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₹15K-₹50K/mo per outlet</a:t>
            </a:r>
            <a:endParaRPr lang="en-US" sz="750" dirty="0"/>
          </a:p>
        </p:txBody>
      </p:sp>
      <p:sp>
        <p:nvSpPr>
          <p:cNvPr id="124" name="Shape 122"/>
          <p:cNvSpPr/>
          <p:nvPr/>
        </p:nvSpPr>
        <p:spPr>
          <a:xfrm>
            <a:off x="457200" y="5376672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30352" y="5376672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🎪</a:t>
            </a:r>
            <a:endParaRPr lang="en-US" sz="1800" dirty="0"/>
          </a:p>
        </p:txBody>
      </p:sp>
      <p:sp>
        <p:nvSpPr>
          <p:cNvPr id="126" name="Text 124"/>
          <p:cNvSpPr/>
          <p:nvPr/>
        </p:nvSpPr>
        <p:spPr>
          <a:xfrm>
            <a:off x="960120" y="5394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 Pooja Booking</a:t>
            </a:r>
            <a:endParaRPr lang="en-US" sz="900" dirty="0"/>
          </a:p>
        </p:txBody>
      </p:sp>
      <p:sp>
        <p:nvSpPr>
          <p:cNvPr id="127" name="Text 125"/>
          <p:cNvSpPr/>
          <p:nvPr/>
        </p:nvSpPr>
        <p:spPr>
          <a:xfrm>
            <a:off x="960120" y="5632704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commission, ₹2,100 AOV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3566160" y="5376672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3639312" y="5376672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en-US" sz="1800" dirty="0"/>
          </a:p>
        </p:txBody>
      </p:sp>
      <p:sp>
        <p:nvSpPr>
          <p:cNvPr id="130" name="Text 128"/>
          <p:cNvSpPr/>
          <p:nvPr/>
        </p:nvSpPr>
        <p:spPr>
          <a:xfrm>
            <a:off x="4069080" y="5394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Astrologer Marketplace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4069080" y="5632704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platform fee</a:t>
            </a:r>
            <a:endParaRPr lang="en-US" sz="750" dirty="0"/>
          </a:p>
        </p:txBody>
      </p:sp>
      <p:sp>
        <p:nvSpPr>
          <p:cNvPr id="132" name="Shape 130"/>
          <p:cNvSpPr/>
          <p:nvPr/>
        </p:nvSpPr>
        <p:spPr>
          <a:xfrm>
            <a:off x="457200" y="5916168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30352" y="5916168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🎁</a:t>
            </a:r>
            <a:endParaRPr lang="en-US" sz="1800" dirty="0"/>
          </a:p>
        </p:txBody>
      </p:sp>
      <p:sp>
        <p:nvSpPr>
          <p:cNvPr id="134" name="Text 132"/>
          <p:cNvSpPr/>
          <p:nvPr/>
        </p:nvSpPr>
        <p:spPr>
          <a:xfrm>
            <a:off x="960120" y="5934456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Gift Kits (Diwali)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960120" y="61722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₹799-₹2,499 AOV</a:t>
            </a:r>
            <a:endParaRPr lang="en-US" sz="750" dirty="0"/>
          </a:p>
        </p:txBody>
      </p:sp>
      <p:sp>
        <p:nvSpPr>
          <p:cNvPr id="136" name="Shape 134"/>
          <p:cNvSpPr/>
          <p:nvPr/>
        </p:nvSpPr>
        <p:spPr>
          <a:xfrm>
            <a:off x="3566160" y="5916168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639312" y="5916168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📺</a:t>
            </a:r>
            <a:endParaRPr lang="en-US" sz="1800" dirty="0"/>
          </a:p>
        </p:txBody>
      </p:sp>
      <p:sp>
        <p:nvSpPr>
          <p:cNvPr id="138" name="Text 136"/>
          <p:cNvSpPr/>
          <p:nvPr/>
        </p:nvSpPr>
        <p:spPr>
          <a:xfrm>
            <a:off x="4069080" y="5934456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+ Brand Sponsor</a:t>
            </a:r>
            <a:endParaRPr lang="en-US" sz="900" dirty="0"/>
          </a:p>
        </p:txBody>
      </p:sp>
      <p:sp>
        <p:nvSpPr>
          <p:cNvPr id="139" name="Text 137"/>
          <p:cNvSpPr/>
          <p:nvPr/>
        </p:nvSpPr>
        <p:spPr>
          <a:xfrm>
            <a:off x="4069080" y="61722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Adsense + ₹50K-₹2L/video</a:t>
            </a:r>
            <a:endParaRPr lang="en-US" sz="750" dirty="0"/>
          </a:p>
        </p:txBody>
      </p:sp>
      <p:sp>
        <p:nvSpPr>
          <p:cNvPr id="140" name="Shape 138"/>
          <p:cNvSpPr/>
          <p:nvPr/>
        </p:nvSpPr>
        <p:spPr>
          <a:xfrm>
            <a:off x="6812280" y="3840480"/>
            <a:ext cx="507492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>
            <a:off x="6848856" y="3877056"/>
            <a:ext cx="500176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42" name="Text 140"/>
          <p:cNvSpPr/>
          <p:nvPr/>
        </p:nvSpPr>
        <p:spPr>
          <a:xfrm>
            <a:off x="6848856" y="3877056"/>
            <a:ext cx="5001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REVENUE MIX (MONTH 12)</a:t>
            </a:r>
            <a:endParaRPr lang="en-US" sz="1100" dirty="0"/>
          </a:p>
        </p:txBody>
      </p:sp>
      <p:graphicFrame>
        <p:nvGraphicFramePr>
          <p:cNvPr id="143" name="Chart 0" descr=""/>
          <p:cNvGraphicFramePr/>
          <p:nvPr/>
        </p:nvGraphicFramePr>
        <p:xfrm>
          <a:off x="6903720" y="4297680"/>
          <a:ext cx="4892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CRO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AUDIT OF ASTROKALPANA + ASTRORAJNI WITH SPECIFIC FIXES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5852160" cy="52120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271016"/>
            <a:ext cx="5779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271016"/>
            <a:ext cx="5779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WORKING TODAY  ·  KEEP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169164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my own audit of both pages today: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7200" y="2084832"/>
            <a:ext cx="164592" cy="365760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71" name="Text 69"/>
          <p:cNvSpPr/>
          <p:nvPr/>
        </p:nvSpPr>
        <p:spPr>
          <a:xfrm>
            <a:off x="457200" y="2084832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685800" y="2048256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'52,459+ reports delivered' counter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685800" y="2249424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social-proof anchor. Verify monthly. Keep.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457200" y="2688336"/>
            <a:ext cx="164592" cy="365760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2688336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685800" y="2651760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Clarity already installed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685800" y="2852928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data ready (tag w69jl4saay live). Use it.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457200" y="3291840"/>
            <a:ext cx="164592" cy="365760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79" name="Text 77"/>
          <p:cNvSpPr/>
          <p:nvPr/>
        </p:nvSpPr>
        <p:spPr>
          <a:xfrm>
            <a:off x="457200" y="32918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685800" y="325526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pricing (₹199 + ₹499) on astrorajni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685800" y="3456432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+ chat add-on gives upsell path. Consider 3rd tier.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457200" y="3895344"/>
            <a:ext cx="164592" cy="365760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83" name="Text 81"/>
          <p:cNvSpPr/>
          <p:nvPr/>
        </p:nvSpPr>
        <p:spPr>
          <a:xfrm>
            <a:off x="457200" y="3895344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685800" y="3858768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24-72hr WhatsApp delivery promise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685800" y="4059936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SLA — sets expectation. Critical for trust.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457200" y="4498848"/>
            <a:ext cx="164592" cy="365760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87" name="Text 85"/>
          <p:cNvSpPr/>
          <p:nvPr/>
        </p:nvSpPr>
        <p:spPr>
          <a:xfrm>
            <a:off x="457200" y="4498848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685800" y="4462272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Tailwind tech stack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685800" y="4663440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mobile load. India astro buyer = 95% mobile.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57200" y="5102352"/>
            <a:ext cx="164592" cy="365760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91" name="Text 89"/>
          <p:cNvSpPr/>
          <p:nvPr/>
        </p:nvSpPr>
        <p:spPr>
          <a:xfrm>
            <a:off x="457200" y="5102352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685800" y="5065776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copy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685800" y="5266944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natively for Hindi belt. Matches IG content.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57200" y="5705856"/>
            <a:ext cx="164592" cy="365760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95" name="Text 93"/>
          <p:cNvSpPr/>
          <p:nvPr/>
        </p:nvSpPr>
        <p:spPr>
          <a:xfrm>
            <a:off x="457200" y="5705856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685800" y="5669280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Astrologer name + photo (Kalpana Dubey)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685800" y="5870448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signal: real human face. Replicate on astrorajni.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6263640" y="1234440"/>
            <a:ext cx="5623560" cy="52120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>
            <a:off x="6300216" y="1271016"/>
            <a:ext cx="55504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00" name="Text 98"/>
          <p:cNvSpPr/>
          <p:nvPr/>
        </p:nvSpPr>
        <p:spPr>
          <a:xfrm>
            <a:off x="6300216" y="1271016"/>
            <a:ext cx="5550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IN PRIORITY ORDER  ·  P0 / P1 / P2</a:t>
            </a:r>
            <a:endParaRPr lang="en-US" sz="1100" dirty="0"/>
          </a:p>
        </p:txBody>
      </p:sp>
      <p:sp>
        <p:nvSpPr>
          <p:cNvPr id="101" name="Shape 99"/>
          <p:cNvSpPr/>
          <p:nvPr/>
        </p:nvSpPr>
        <p:spPr>
          <a:xfrm>
            <a:off x="6400800" y="1837944"/>
            <a:ext cx="320040" cy="27432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02" name="Text 100"/>
          <p:cNvSpPr/>
          <p:nvPr/>
        </p:nvSpPr>
        <p:spPr>
          <a:xfrm>
            <a:off x="6400800" y="183794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6812280" y="180136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timer + scarcity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6812280" y="19842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'Today only 23 orders left at ₹199'. Resets daily. JS-driven.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6400800" y="2340864"/>
            <a:ext cx="320040" cy="27432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06" name="Text 104"/>
          <p:cNvSpPr/>
          <p:nvPr/>
        </p:nvSpPr>
        <p:spPr>
          <a:xfrm>
            <a:off x="6400800" y="23408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6812280" y="230428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video testimonials above fold</a:t>
            </a:r>
            <a:endParaRPr lang="en-US" sz="900" dirty="0"/>
          </a:p>
        </p:txBody>
      </p:sp>
      <p:sp>
        <p:nvSpPr>
          <p:cNvPr id="108" name="Text 106"/>
          <p:cNvSpPr/>
          <p:nvPr/>
        </p:nvSpPr>
        <p:spPr>
          <a:xfrm>
            <a:off x="6812280" y="24871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30-sec WA-style. Real customers. ₹500 voucher per testimonial.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6400800" y="2843784"/>
            <a:ext cx="320040" cy="27432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10" name="Text 108"/>
          <p:cNvSpPr/>
          <p:nvPr/>
        </p:nvSpPr>
        <p:spPr>
          <a:xfrm>
            <a:off x="6400800" y="284378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6812280" y="28072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Money-back guarantee badge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6812280" y="2990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'100% Refund if you don't love it'. Removes biggest objection.</a:t>
            </a:r>
            <a:endParaRPr lang="en-US" sz="700" dirty="0"/>
          </a:p>
        </p:txBody>
      </p:sp>
      <p:sp>
        <p:nvSpPr>
          <p:cNvPr id="113" name="Shape 111"/>
          <p:cNvSpPr/>
          <p:nvPr/>
        </p:nvSpPr>
        <p:spPr>
          <a:xfrm>
            <a:off x="6400800" y="3346704"/>
            <a:ext cx="320040" cy="27432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14" name="Text 112"/>
          <p:cNvSpPr/>
          <p:nvPr/>
        </p:nvSpPr>
        <p:spPr>
          <a:xfrm>
            <a:off x="6400800" y="334670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900" dirty="0"/>
          </a:p>
        </p:txBody>
      </p:sp>
      <p:sp>
        <p:nvSpPr>
          <p:cNvPr id="115" name="Text 113"/>
          <p:cNvSpPr/>
          <p:nvPr/>
        </p:nvSpPr>
        <p:spPr>
          <a:xfrm>
            <a:off x="6812280" y="33101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'Order via DM' CTA</a:t>
            </a:r>
            <a:endParaRPr lang="en-US" sz="900" dirty="0"/>
          </a:p>
        </p:txBody>
      </p:sp>
      <p:sp>
        <p:nvSpPr>
          <p:cNvPr id="116" name="Text 114"/>
          <p:cNvSpPr/>
          <p:nvPr/>
        </p:nvSpPr>
        <p:spPr>
          <a:xfrm>
            <a:off x="6812280" y="34930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Form-shy users skip checkout. WA order = 30-40% lift Tier 2/3.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6400800" y="3849624"/>
            <a:ext cx="320040" cy="27432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18" name="Text 116"/>
          <p:cNvSpPr/>
          <p:nvPr/>
        </p:nvSpPr>
        <p:spPr>
          <a:xfrm>
            <a:off x="6400800" y="384962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00" dirty="0"/>
          </a:p>
        </p:txBody>
      </p:sp>
      <p:sp>
        <p:nvSpPr>
          <p:cNvPr id="119" name="Text 117"/>
          <p:cNvSpPr/>
          <p:nvPr/>
        </p:nvSpPr>
        <p:spPr>
          <a:xfrm>
            <a:off x="6812280" y="381304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mini-kundli lead magnet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6812280" y="39959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paid CTA. Capture email + WA. Drip to paid.</a:t>
            </a:r>
            <a:endParaRPr lang="en-US" sz="700" dirty="0"/>
          </a:p>
        </p:txBody>
      </p:sp>
      <p:sp>
        <p:nvSpPr>
          <p:cNvPr id="121" name="Shape 119"/>
          <p:cNvSpPr/>
          <p:nvPr/>
        </p:nvSpPr>
        <p:spPr>
          <a:xfrm>
            <a:off x="6400800" y="4352544"/>
            <a:ext cx="320040" cy="27432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22" name="Text 120"/>
          <p:cNvSpPr/>
          <p:nvPr/>
        </p:nvSpPr>
        <p:spPr>
          <a:xfrm>
            <a:off x="6400800" y="435254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6812280" y="431596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Single-step mobile form (3-step)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6812280" y="44988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 → Time → Pay. Reduces form drop-off 40%.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6400800" y="4855464"/>
            <a:ext cx="320040" cy="27432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26" name="Text 124"/>
          <p:cNvSpPr/>
          <p:nvPr/>
        </p:nvSpPr>
        <p:spPr>
          <a:xfrm>
            <a:off x="6400800" y="48554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00" dirty="0"/>
          </a:p>
        </p:txBody>
      </p:sp>
      <p:sp>
        <p:nvSpPr>
          <p:cNvPr id="127" name="Text 125"/>
          <p:cNvSpPr/>
          <p:nvPr/>
        </p:nvSpPr>
        <p:spPr>
          <a:xfrm>
            <a:off x="6812280" y="481888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Intent + Simpl BNPL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6812280" y="50017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primary. Simpl BNPL for ₹499+. +25-35% Tier 2/3 CR.</a:t>
            </a:r>
            <a:endParaRPr lang="en-US" sz="700" dirty="0"/>
          </a:p>
        </p:txBody>
      </p:sp>
      <p:sp>
        <p:nvSpPr>
          <p:cNvPr id="129" name="Shape 127"/>
          <p:cNvSpPr/>
          <p:nvPr/>
        </p:nvSpPr>
        <p:spPr>
          <a:xfrm>
            <a:off x="6400800" y="5358384"/>
            <a:ext cx="320040" cy="274320"/>
          </a:xfrm>
          <a:prstGeom prst="rect">
            <a:avLst/>
          </a:prstGeom>
          <a:solidFill>
            <a:srgbClr val="0D7372"/>
          </a:solidFill>
          <a:ln/>
        </p:spPr>
      </p:sp>
      <p:sp>
        <p:nvSpPr>
          <p:cNvPr id="130" name="Text 128"/>
          <p:cNvSpPr/>
          <p:nvPr/>
        </p:nvSpPr>
        <p:spPr>
          <a:xfrm>
            <a:off x="6400800" y="535838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6812280" y="53218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Pixel + Google Tag setup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6812280" y="55046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no retargeting. Recover 60-70% lost visitors.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6400800" y="5861304"/>
            <a:ext cx="320040" cy="274320"/>
          </a:xfrm>
          <a:prstGeom prst="rect">
            <a:avLst/>
          </a:prstGeom>
          <a:solidFill>
            <a:srgbClr val="0D7372"/>
          </a:solidFill>
          <a:ln/>
        </p:spPr>
      </p:sp>
      <p:sp>
        <p:nvSpPr>
          <p:cNvPr id="134" name="Text 132"/>
          <p:cNvSpPr/>
          <p:nvPr/>
        </p:nvSpPr>
        <p:spPr>
          <a:xfrm>
            <a:off x="6400800" y="586130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6812280" y="58247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5-star rating widget (Google reviews)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6812280" y="6007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'4.7 ★ from 1,847 reviews'. Pull from GMB.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GROWTH 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 + REVENUE + FUNNEL TRAJECTORY (M1 → M12)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585216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271016"/>
            <a:ext cx="5779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271016"/>
            <a:ext cx="5779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 GROWTH PROJECTION  ·  ALL 4 HANDLES</a:t>
            </a:r>
            <a:endParaRPr lang="en-US" sz="1100" dirty="0"/>
          </a:p>
        </p:txBody>
      </p:sp>
      <p:graphicFrame>
        <p:nvGraphicFramePr>
          <p:cNvPr id="69" name="Chart 0" descr=""/>
          <p:cNvGraphicFramePr/>
          <p:nvPr/>
        </p:nvGraphicFramePr>
        <p:xfrm>
          <a:off x="457200" y="1691640"/>
          <a:ext cx="55778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0" name="Shape 67"/>
          <p:cNvSpPr/>
          <p:nvPr/>
        </p:nvSpPr>
        <p:spPr>
          <a:xfrm>
            <a:off x="6263640" y="1234440"/>
            <a:ext cx="562356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71" name="Shape 68"/>
          <p:cNvSpPr/>
          <p:nvPr/>
        </p:nvSpPr>
        <p:spPr>
          <a:xfrm>
            <a:off x="6300216" y="1271016"/>
            <a:ext cx="55504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2" name="Text 69"/>
          <p:cNvSpPr/>
          <p:nvPr/>
        </p:nvSpPr>
        <p:spPr>
          <a:xfrm>
            <a:off x="6300216" y="1271016"/>
            <a:ext cx="5550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TARGETS  ·  MONTH 6 STATE</a:t>
            </a:r>
            <a:endParaRPr lang="en-US" sz="1100" dirty="0"/>
          </a:p>
        </p:txBody>
      </p:sp>
      <p:graphicFrame>
        <p:nvGraphicFramePr>
          <p:cNvPr id="73" name="Chart 1" descr=""/>
          <p:cNvGraphicFramePr/>
          <p:nvPr/>
        </p:nvGraphicFramePr>
        <p:xfrm>
          <a:off x="6400800" y="1691640"/>
          <a:ext cx="53492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4" name="Shape 70"/>
          <p:cNvSpPr/>
          <p:nvPr/>
        </p:nvSpPr>
        <p:spPr>
          <a:xfrm>
            <a:off x="320040" y="4114800"/>
            <a:ext cx="11567160" cy="24688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75" name="Shape 71"/>
          <p:cNvSpPr/>
          <p:nvPr/>
        </p:nvSpPr>
        <p:spPr>
          <a:xfrm>
            <a:off x="356616" y="4151376"/>
            <a:ext cx="11494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6" name="Text 72"/>
          <p:cNvSpPr/>
          <p:nvPr/>
        </p:nvSpPr>
        <p:spPr>
          <a:xfrm>
            <a:off x="356616" y="4151376"/>
            <a:ext cx="11494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REVENUE BUILD (₹ LAKHS)  ·  6 STREAMS STACKED</a:t>
            </a:r>
            <a:endParaRPr lang="en-US" sz="1100" dirty="0"/>
          </a:p>
        </p:txBody>
      </p:sp>
      <p:graphicFrame>
        <p:nvGraphicFramePr>
          <p:cNvPr id="77" name="Chart 2" descr=""/>
          <p:cNvGraphicFramePr/>
          <p:nvPr/>
        </p:nvGraphicFramePr>
        <p:xfrm>
          <a:off x="457200" y="4572000"/>
          <a:ext cx="1129284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WEEK-BY-WEEK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12-WEEK DETAILED EXECUTION PLAN — WHAT HAPPENS WHEN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20040" y="1161288"/>
            <a:ext cx="11567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week is a sprint with concrete deliverables, owner type, and KPI to hit before moving on.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65760" y="1417320"/>
            <a:ext cx="1856232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65760" y="1417320"/>
            <a:ext cx="1856232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9" name="Text 67"/>
          <p:cNvSpPr/>
          <p:nvPr/>
        </p:nvSpPr>
        <p:spPr>
          <a:xfrm>
            <a:off x="411480" y="1417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868680" y="14173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57200" y="1920240"/>
            <a:ext cx="54864" cy="54864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18745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@saathsetu Story shoutouts (Day 1)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457200" y="2377440"/>
            <a:ext cx="54864" cy="54864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4" name="Text 72"/>
          <p:cNvSpPr/>
          <p:nvPr/>
        </p:nvSpPr>
        <p:spPr>
          <a:xfrm>
            <a:off x="548640" y="23317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AI Reel factory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457200" y="2834640"/>
            <a:ext cx="54864" cy="54864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6" name="Text 74"/>
          <p:cNvSpPr/>
          <p:nvPr/>
        </p:nvSpPr>
        <p:spPr>
          <a:xfrm>
            <a:off x="548640" y="27889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1-7: Mulank 1-3 hooks live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411480" y="3474720"/>
            <a:ext cx="1783080" cy="310896"/>
          </a:xfrm>
          <a:prstGeom prst="rect">
            <a:avLst/>
          </a:prstGeom>
          <a:solidFill>
            <a:srgbClr val="D63D58">
              <a:alpha val="20000"/>
            </a:srgbClr>
          </a:solidFill>
          <a:ln/>
        </p:spPr>
      </p:sp>
      <p:sp>
        <p:nvSpPr>
          <p:cNvPr id="78" name="Text 76"/>
          <p:cNvSpPr/>
          <p:nvPr/>
        </p:nvSpPr>
        <p:spPr>
          <a:xfrm>
            <a:off x="438912" y="34930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100 followers / handle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2313432" y="1417320"/>
            <a:ext cx="1856232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13432" y="1417320"/>
            <a:ext cx="1856232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1" name="Text 79"/>
          <p:cNvSpPr/>
          <p:nvPr/>
        </p:nvSpPr>
        <p:spPr>
          <a:xfrm>
            <a:off x="2359152" y="1417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W2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16352" y="14173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04872" y="1920240"/>
            <a:ext cx="54864" cy="54864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4" name="Text 82"/>
          <p:cNvSpPr/>
          <p:nvPr/>
        </p:nvSpPr>
        <p:spPr>
          <a:xfrm>
            <a:off x="2496312" y="18745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Mulank 4-6 hooks across @rashitattva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2404872" y="2377440"/>
            <a:ext cx="54864" cy="54864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6" name="Text 84"/>
          <p:cNvSpPr/>
          <p:nvPr/>
        </p:nvSpPr>
        <p:spPr>
          <a:xfrm>
            <a:off x="2496312" y="23317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Save-bait carousels (1/day per handle)</a:t>
            </a:r>
            <a:endParaRPr lang="en-US" sz="650" dirty="0"/>
          </a:p>
        </p:txBody>
      </p:sp>
      <p:sp>
        <p:nvSpPr>
          <p:cNvPr id="87" name="Shape 85"/>
          <p:cNvSpPr/>
          <p:nvPr/>
        </p:nvSpPr>
        <p:spPr>
          <a:xfrm>
            <a:off x="2404872" y="2834640"/>
            <a:ext cx="54864" cy="54864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8" name="Text 86"/>
          <p:cNvSpPr/>
          <p:nvPr/>
        </p:nvSpPr>
        <p:spPr>
          <a:xfrm>
            <a:off x="2496312" y="27889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pod (30 real accounts)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2359152" y="3474720"/>
            <a:ext cx="1783080" cy="310896"/>
          </a:xfrm>
          <a:prstGeom prst="rect">
            <a:avLst/>
          </a:prstGeom>
          <a:solidFill>
            <a:srgbClr val="D63D58">
              <a:alpha val="20000"/>
            </a:srgbClr>
          </a:solidFill>
          <a:ln/>
        </p:spPr>
      </p:sp>
      <p:sp>
        <p:nvSpPr>
          <p:cNvPr id="90" name="Text 88"/>
          <p:cNvSpPr/>
          <p:nvPr/>
        </p:nvSpPr>
        <p:spPr>
          <a:xfrm>
            <a:off x="2386584" y="34930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300 followers / handle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4261104" y="1417320"/>
            <a:ext cx="1856232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261104" y="1417320"/>
            <a:ext cx="1856232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3" name="Text 91"/>
          <p:cNvSpPr/>
          <p:nvPr/>
        </p:nvSpPr>
        <p:spPr>
          <a:xfrm>
            <a:off x="4306824" y="1417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W3</a:t>
            </a:r>
            <a:endParaRPr lang="en-US" sz="1100" dirty="0"/>
          </a:p>
        </p:txBody>
      </p:sp>
      <p:sp>
        <p:nvSpPr>
          <p:cNvPr id="94" name="Text 92"/>
          <p:cNvSpPr/>
          <p:nvPr/>
        </p:nvSpPr>
        <p:spPr>
          <a:xfrm>
            <a:off x="4764024" y="14173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4352544" y="1920240"/>
            <a:ext cx="54864" cy="54864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6" name="Text 94"/>
          <p:cNvSpPr/>
          <p:nvPr/>
        </p:nvSpPr>
        <p:spPr>
          <a:xfrm>
            <a:off x="4443984" y="18745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 full pivot to Devanagari Marathi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4352544" y="2377440"/>
            <a:ext cx="54864" cy="54864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8" name="Text 96"/>
          <p:cNvSpPr/>
          <p:nvPr/>
        </p:nvSpPr>
        <p:spPr>
          <a:xfrm>
            <a:off x="4443984" y="23317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vs Marathi A/B test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4352544" y="2834640"/>
            <a:ext cx="54864" cy="54864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00" name="Text 98"/>
          <p:cNvSpPr/>
          <p:nvPr/>
        </p:nvSpPr>
        <p:spPr>
          <a:xfrm>
            <a:off x="4443984" y="27889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AI disclosure from @astrosaadhan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4306824" y="3474720"/>
            <a:ext cx="1783080" cy="310896"/>
          </a:xfrm>
          <a:prstGeom prst="rect">
            <a:avLst/>
          </a:prstGeom>
          <a:solidFill>
            <a:srgbClr val="D63D58">
              <a:alpha val="20000"/>
            </a:srgbClr>
          </a:solidFill>
          <a:ln/>
        </p:spPr>
      </p:sp>
      <p:sp>
        <p:nvSpPr>
          <p:cNvPr id="102" name="Text 100"/>
          <p:cNvSpPr/>
          <p:nvPr/>
        </p:nvSpPr>
        <p:spPr>
          <a:xfrm>
            <a:off x="4334256" y="34930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500-1K followers / handle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6208776" y="1417320"/>
            <a:ext cx="1856232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208776" y="1417320"/>
            <a:ext cx="1856232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05" name="Text 103"/>
          <p:cNvSpPr/>
          <p:nvPr/>
        </p:nvSpPr>
        <p:spPr>
          <a:xfrm>
            <a:off x="6254496" y="1417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W4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6711696" y="14173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 ON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6300216" y="1920240"/>
            <a:ext cx="54864" cy="5486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08" name="Text 106"/>
          <p:cNvSpPr/>
          <p:nvPr/>
        </p:nvSpPr>
        <p:spPr>
          <a:xfrm>
            <a:off x="6391656" y="18745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WA panchang ₹49 subscription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6300216" y="2377440"/>
            <a:ext cx="54864" cy="5486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10" name="Text 108"/>
          <p:cNvSpPr/>
          <p:nvPr/>
        </p:nvSpPr>
        <p:spPr>
          <a:xfrm>
            <a:off x="6391656" y="23317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landing fixes live</a:t>
            </a:r>
            <a:endParaRPr lang="en-US" sz="650" dirty="0"/>
          </a:p>
        </p:txBody>
      </p:sp>
      <p:sp>
        <p:nvSpPr>
          <p:cNvPr id="111" name="Shape 109"/>
          <p:cNvSpPr/>
          <p:nvPr/>
        </p:nvSpPr>
        <p:spPr>
          <a:xfrm>
            <a:off x="6300216" y="2834640"/>
            <a:ext cx="54864" cy="5486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12" name="Text 110"/>
          <p:cNvSpPr/>
          <p:nvPr/>
        </p:nvSpPr>
        <p:spPr>
          <a:xfrm>
            <a:off x="6391656" y="27889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₹999 baby-name SKU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6254496" y="3474720"/>
            <a:ext cx="1783080" cy="310896"/>
          </a:xfrm>
          <a:prstGeom prst="rect">
            <a:avLst/>
          </a:prstGeom>
          <a:solidFill>
            <a:srgbClr val="A6304F">
              <a:alpha val="20000"/>
            </a:srgbClr>
          </a:solidFill>
          <a:ln/>
        </p:spPr>
      </p:sp>
      <p:sp>
        <p:nvSpPr>
          <p:cNvPr id="114" name="Text 112"/>
          <p:cNvSpPr/>
          <p:nvPr/>
        </p:nvSpPr>
        <p:spPr>
          <a:xfrm>
            <a:off x="6281928" y="34930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1K subs · 25 orders/day</a:t>
            </a:r>
            <a:endParaRPr lang="en-US" sz="700" dirty="0"/>
          </a:p>
        </p:txBody>
      </p:sp>
      <p:sp>
        <p:nvSpPr>
          <p:cNvPr id="115" name="Shape 113"/>
          <p:cNvSpPr/>
          <p:nvPr/>
        </p:nvSpPr>
        <p:spPr>
          <a:xfrm>
            <a:off x="8156448" y="1417320"/>
            <a:ext cx="1856232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8156448" y="1417320"/>
            <a:ext cx="1856232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17" name="Text 115"/>
          <p:cNvSpPr/>
          <p:nvPr/>
        </p:nvSpPr>
        <p:spPr>
          <a:xfrm>
            <a:off x="8202168" y="1417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W5</a:t>
            </a:r>
            <a:endParaRPr lang="en-US" sz="1100" dirty="0"/>
          </a:p>
        </p:txBody>
      </p:sp>
      <p:sp>
        <p:nvSpPr>
          <p:cNvPr id="118" name="Text 116"/>
          <p:cNvSpPr/>
          <p:nvPr/>
        </p:nvSpPr>
        <p:spPr>
          <a:xfrm>
            <a:off x="8659368" y="14173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LAUNCH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8247888" y="1920240"/>
            <a:ext cx="54864" cy="5486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0" name="Text 118"/>
          <p:cNvSpPr/>
          <p:nvPr/>
        </p:nvSpPr>
        <p:spPr>
          <a:xfrm>
            <a:off x="8339328" y="18745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30 pandit onboarding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8247888" y="2377440"/>
            <a:ext cx="54864" cy="5486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2" name="Text 120"/>
          <p:cNvSpPr/>
          <p:nvPr/>
        </p:nvSpPr>
        <p:spPr>
          <a:xfrm>
            <a:off x="8339328" y="23317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Temple QR stickers in 10 sites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8247888" y="2834640"/>
            <a:ext cx="54864" cy="5486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4" name="Text 122"/>
          <p:cNvSpPr/>
          <p:nvPr/>
        </p:nvSpPr>
        <p:spPr>
          <a:xfrm>
            <a:off x="8339328" y="27889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NABARD vendor letter sent</a:t>
            </a:r>
            <a:endParaRPr lang="en-US" sz="650" dirty="0"/>
          </a:p>
        </p:txBody>
      </p:sp>
      <p:sp>
        <p:nvSpPr>
          <p:cNvPr id="125" name="Shape 123"/>
          <p:cNvSpPr/>
          <p:nvPr/>
        </p:nvSpPr>
        <p:spPr>
          <a:xfrm>
            <a:off x="8202168" y="3474720"/>
            <a:ext cx="1783080" cy="310896"/>
          </a:xfrm>
          <a:prstGeom prst="rect">
            <a:avLst/>
          </a:prstGeom>
          <a:solidFill>
            <a:srgbClr val="A6304F">
              <a:alpha val="20000"/>
            </a:srgbClr>
          </a:solidFill>
          <a:ln/>
        </p:spPr>
      </p:sp>
      <p:sp>
        <p:nvSpPr>
          <p:cNvPr id="126" name="Text 124"/>
          <p:cNvSpPr/>
          <p:nvPr/>
        </p:nvSpPr>
        <p:spPr>
          <a:xfrm>
            <a:off x="8229600" y="34930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200 QR scans · 5 pandits live</a:t>
            </a:r>
            <a:endParaRPr lang="en-US" sz="700" dirty="0"/>
          </a:p>
        </p:txBody>
      </p:sp>
      <p:sp>
        <p:nvSpPr>
          <p:cNvPr id="127" name="Shape 125"/>
          <p:cNvSpPr/>
          <p:nvPr/>
        </p:nvSpPr>
        <p:spPr>
          <a:xfrm>
            <a:off x="10104120" y="1417320"/>
            <a:ext cx="1856232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104120" y="1417320"/>
            <a:ext cx="1856232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9" name="Text 127"/>
          <p:cNvSpPr/>
          <p:nvPr/>
        </p:nvSpPr>
        <p:spPr>
          <a:xfrm>
            <a:off x="10149840" y="1417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W6</a:t>
            </a:r>
            <a:endParaRPr lang="en-US" sz="1100" dirty="0"/>
          </a:p>
        </p:txBody>
      </p:sp>
      <p:sp>
        <p:nvSpPr>
          <p:cNvPr id="130" name="Text 128"/>
          <p:cNvSpPr/>
          <p:nvPr/>
        </p:nvSpPr>
        <p:spPr>
          <a:xfrm>
            <a:off x="10607040" y="14173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PARTNERSHIPS</a:t>
            </a:r>
            <a:endParaRPr lang="en-US" sz="800" dirty="0"/>
          </a:p>
        </p:txBody>
      </p:sp>
      <p:sp>
        <p:nvSpPr>
          <p:cNvPr id="131" name="Shape 129"/>
          <p:cNvSpPr/>
          <p:nvPr/>
        </p:nvSpPr>
        <p:spPr>
          <a:xfrm>
            <a:off x="10195560" y="1920240"/>
            <a:ext cx="54864" cy="5486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32" name="Text 130"/>
          <p:cNvSpPr/>
          <p:nvPr/>
        </p:nvSpPr>
        <p:spPr>
          <a:xfrm>
            <a:off x="10287000" y="18745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 housing society demos</a:t>
            </a:r>
            <a:endParaRPr lang="en-US" sz="650" dirty="0"/>
          </a:p>
        </p:txBody>
      </p:sp>
      <p:sp>
        <p:nvSpPr>
          <p:cNvPr id="133" name="Shape 131"/>
          <p:cNvSpPr/>
          <p:nvPr/>
        </p:nvSpPr>
        <p:spPr>
          <a:xfrm>
            <a:off x="10195560" y="2377440"/>
            <a:ext cx="54864" cy="5486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34" name="Text 132"/>
          <p:cNvSpPr/>
          <p:nvPr/>
        </p:nvSpPr>
        <p:spPr>
          <a:xfrm>
            <a:off x="10287000" y="23317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Matrimonial API spec + pitch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10195560" y="2834640"/>
            <a:ext cx="54864" cy="5486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36" name="Text 134"/>
          <p:cNvSpPr/>
          <p:nvPr/>
        </p:nvSpPr>
        <p:spPr>
          <a:xfrm>
            <a:off x="10287000" y="27889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 planner outreach (5 demos)</a:t>
            </a:r>
            <a:endParaRPr lang="en-US" sz="650" dirty="0"/>
          </a:p>
        </p:txBody>
      </p:sp>
      <p:sp>
        <p:nvSpPr>
          <p:cNvPr id="137" name="Shape 135"/>
          <p:cNvSpPr/>
          <p:nvPr/>
        </p:nvSpPr>
        <p:spPr>
          <a:xfrm>
            <a:off x="10149840" y="3474720"/>
            <a:ext cx="1783080" cy="310896"/>
          </a:xfrm>
          <a:prstGeom prst="rect">
            <a:avLst/>
          </a:prstGeom>
          <a:solidFill>
            <a:srgbClr val="A6304F">
              <a:alpha val="20000"/>
            </a:srgbClr>
          </a:solidFill>
          <a:ln/>
        </p:spPr>
      </p:sp>
      <p:sp>
        <p:nvSpPr>
          <p:cNvPr id="138" name="Text 136"/>
          <p:cNvSpPr/>
          <p:nvPr/>
        </p:nvSpPr>
        <p:spPr>
          <a:xfrm>
            <a:off x="10177272" y="34930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First 3 B2B convos started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365760" y="3959352"/>
            <a:ext cx="1856232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365760" y="3959352"/>
            <a:ext cx="1856232" cy="36576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41" name="Text 139"/>
          <p:cNvSpPr/>
          <p:nvPr/>
        </p:nvSpPr>
        <p:spPr>
          <a:xfrm>
            <a:off x="411480" y="39593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W7</a:t>
            </a:r>
            <a:endParaRPr lang="en-US" sz="1100" dirty="0"/>
          </a:p>
        </p:txBody>
      </p:sp>
      <p:sp>
        <p:nvSpPr>
          <p:cNvPr id="142" name="Text 140"/>
          <p:cNvSpPr/>
          <p:nvPr/>
        </p:nvSpPr>
        <p:spPr>
          <a:xfrm>
            <a:off x="868680" y="39593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+ SCALE</a:t>
            </a:r>
            <a:endParaRPr lang="en-US" sz="800" dirty="0"/>
          </a:p>
        </p:txBody>
      </p:sp>
      <p:sp>
        <p:nvSpPr>
          <p:cNvPr id="143" name="Shape 141"/>
          <p:cNvSpPr/>
          <p:nvPr/>
        </p:nvSpPr>
        <p:spPr>
          <a:xfrm>
            <a:off x="457200" y="4462272"/>
            <a:ext cx="54864" cy="54864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44" name="Text 142"/>
          <p:cNvSpPr/>
          <p:nvPr/>
        </p:nvSpPr>
        <p:spPr>
          <a:xfrm>
            <a:off x="548640" y="44165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2 video testimonials filmed</a:t>
            </a:r>
            <a:endParaRPr lang="en-US" sz="650" dirty="0"/>
          </a:p>
        </p:txBody>
      </p:sp>
      <p:sp>
        <p:nvSpPr>
          <p:cNvPr id="145" name="Shape 143"/>
          <p:cNvSpPr/>
          <p:nvPr/>
        </p:nvSpPr>
        <p:spPr>
          <a:xfrm>
            <a:off x="457200" y="4919472"/>
            <a:ext cx="54864" cy="54864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46" name="Text 144"/>
          <p:cNvSpPr/>
          <p:nvPr/>
        </p:nvSpPr>
        <p:spPr>
          <a:xfrm>
            <a:off x="548640" y="48737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@saathsetu Story flywheel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457200" y="5376672"/>
            <a:ext cx="54864" cy="54864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48" name="Text 146"/>
          <p:cNvSpPr/>
          <p:nvPr/>
        </p:nvSpPr>
        <p:spPr>
          <a:xfrm>
            <a:off x="548640" y="53309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 prebooking (Navratri)</a:t>
            </a:r>
            <a:endParaRPr lang="en-US" sz="650" dirty="0"/>
          </a:p>
        </p:txBody>
      </p:sp>
      <p:sp>
        <p:nvSpPr>
          <p:cNvPr id="149" name="Shape 147"/>
          <p:cNvSpPr/>
          <p:nvPr/>
        </p:nvSpPr>
        <p:spPr>
          <a:xfrm>
            <a:off x="411480" y="6016752"/>
            <a:ext cx="1783080" cy="310896"/>
          </a:xfrm>
          <a:prstGeom prst="rect">
            <a:avLst/>
          </a:prstGeom>
          <a:solidFill>
            <a:srgbClr val="C77E17">
              <a:alpha val="20000"/>
            </a:srgbClr>
          </a:solidFill>
          <a:ln/>
        </p:spPr>
      </p:sp>
      <p:sp>
        <p:nvSpPr>
          <p:cNvPr id="150" name="Text 148"/>
          <p:cNvSpPr/>
          <p:nvPr/>
        </p:nvSpPr>
        <p:spPr>
          <a:xfrm>
            <a:off x="438912" y="6035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5K total followers · ₹50K MRR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2313432" y="3959352"/>
            <a:ext cx="1856232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313432" y="3959352"/>
            <a:ext cx="1856232" cy="36576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53" name="Text 151"/>
          <p:cNvSpPr/>
          <p:nvPr/>
        </p:nvSpPr>
        <p:spPr>
          <a:xfrm>
            <a:off x="2359152" y="39593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W8</a:t>
            </a:r>
            <a:endParaRPr lang="en-US" sz="1100" dirty="0"/>
          </a:p>
        </p:txBody>
      </p:sp>
      <p:sp>
        <p:nvSpPr>
          <p:cNvPr id="154" name="Text 152"/>
          <p:cNvSpPr/>
          <p:nvPr/>
        </p:nvSpPr>
        <p:spPr>
          <a:xfrm>
            <a:off x="2816352" y="39593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DEEP</a:t>
            </a:r>
            <a:endParaRPr lang="en-US" sz="800" dirty="0"/>
          </a:p>
        </p:txBody>
      </p:sp>
      <p:sp>
        <p:nvSpPr>
          <p:cNvPr id="155" name="Shape 153"/>
          <p:cNvSpPr/>
          <p:nvPr/>
        </p:nvSpPr>
        <p:spPr>
          <a:xfrm>
            <a:off x="2404872" y="4462272"/>
            <a:ext cx="54864" cy="54864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56" name="Text 154"/>
          <p:cNvSpPr/>
          <p:nvPr/>
        </p:nvSpPr>
        <p:spPr>
          <a:xfrm>
            <a:off x="2496312" y="44165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landing fixes (lead magnet + 3-step + UPI)</a:t>
            </a:r>
            <a:endParaRPr lang="en-US" sz="650" dirty="0"/>
          </a:p>
        </p:txBody>
      </p:sp>
      <p:sp>
        <p:nvSpPr>
          <p:cNvPr id="157" name="Shape 155"/>
          <p:cNvSpPr/>
          <p:nvPr/>
        </p:nvSpPr>
        <p:spPr>
          <a:xfrm>
            <a:off x="2404872" y="4919472"/>
            <a:ext cx="54864" cy="54864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58" name="Text 156"/>
          <p:cNvSpPr/>
          <p:nvPr/>
        </p:nvSpPr>
        <p:spPr>
          <a:xfrm>
            <a:off x="2496312" y="48737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Pixel + retargeting</a:t>
            </a:r>
            <a:endParaRPr lang="en-US" sz="650" dirty="0"/>
          </a:p>
        </p:txBody>
      </p:sp>
      <p:sp>
        <p:nvSpPr>
          <p:cNvPr id="159" name="Shape 157"/>
          <p:cNvSpPr/>
          <p:nvPr/>
        </p:nvSpPr>
        <p:spPr>
          <a:xfrm>
            <a:off x="2404872" y="5376672"/>
            <a:ext cx="54864" cy="54864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60" name="Text 158"/>
          <p:cNvSpPr/>
          <p:nvPr/>
        </p:nvSpPr>
        <p:spPr>
          <a:xfrm>
            <a:off x="2496312" y="53309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USD pricing + PayPal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2359152" y="6016752"/>
            <a:ext cx="1783080" cy="310896"/>
          </a:xfrm>
          <a:prstGeom prst="rect">
            <a:avLst/>
          </a:prstGeom>
          <a:solidFill>
            <a:srgbClr val="C77E17">
              <a:alpha val="20000"/>
            </a:srgbClr>
          </a:solidFill>
          <a:ln/>
        </p:spPr>
      </p:sp>
      <p:sp>
        <p:nvSpPr>
          <p:cNvPr id="162" name="Text 160"/>
          <p:cNvSpPr/>
          <p:nvPr/>
        </p:nvSpPr>
        <p:spPr>
          <a:xfrm>
            <a:off x="2386584" y="6035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CR 5% · CAC down 30%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4261104" y="3959352"/>
            <a:ext cx="1856232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4261104" y="3959352"/>
            <a:ext cx="1856232" cy="36576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65" name="Text 163"/>
          <p:cNvSpPr/>
          <p:nvPr/>
        </p:nvSpPr>
        <p:spPr>
          <a:xfrm>
            <a:off x="4306824" y="39593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W9</a:t>
            </a:r>
            <a:endParaRPr lang="en-US" sz="1100" dirty="0"/>
          </a:p>
        </p:txBody>
      </p:sp>
      <p:sp>
        <p:nvSpPr>
          <p:cNvPr id="166" name="Text 164"/>
          <p:cNvSpPr/>
          <p:nvPr/>
        </p:nvSpPr>
        <p:spPr>
          <a:xfrm>
            <a:off x="4764024" y="39593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SHOW</a:t>
            </a:r>
            <a:endParaRPr lang="en-US" sz="800" dirty="0"/>
          </a:p>
        </p:txBody>
      </p:sp>
      <p:sp>
        <p:nvSpPr>
          <p:cNvPr id="167" name="Shape 165"/>
          <p:cNvSpPr/>
          <p:nvPr/>
        </p:nvSpPr>
        <p:spPr>
          <a:xfrm>
            <a:off x="4352544" y="4462272"/>
            <a:ext cx="54864" cy="54864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68" name="Text 166"/>
          <p:cNvSpPr/>
          <p:nvPr/>
        </p:nvSpPr>
        <p:spPr>
          <a:xfrm>
            <a:off x="4443984" y="44165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Sunday 8 PM 'Saptahik Rashifal'</a:t>
            </a:r>
            <a:endParaRPr lang="en-US" sz="650" dirty="0"/>
          </a:p>
        </p:txBody>
      </p:sp>
      <p:sp>
        <p:nvSpPr>
          <p:cNvPr id="169" name="Shape 167"/>
          <p:cNvSpPr/>
          <p:nvPr/>
        </p:nvSpPr>
        <p:spPr>
          <a:xfrm>
            <a:off x="4352544" y="4919472"/>
            <a:ext cx="54864" cy="54864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70" name="Text 168"/>
          <p:cNvSpPr/>
          <p:nvPr/>
        </p:nvSpPr>
        <p:spPr>
          <a:xfrm>
            <a:off x="4443984" y="48737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₹1,499 SKU launches</a:t>
            </a:r>
            <a:endParaRPr lang="en-US" sz="650" dirty="0"/>
          </a:p>
        </p:txBody>
      </p:sp>
      <p:sp>
        <p:nvSpPr>
          <p:cNvPr id="171" name="Shape 169"/>
          <p:cNvSpPr/>
          <p:nvPr/>
        </p:nvSpPr>
        <p:spPr>
          <a:xfrm>
            <a:off x="4352544" y="5376672"/>
            <a:ext cx="54864" cy="54864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72" name="Text 170"/>
          <p:cNvSpPr/>
          <p:nvPr/>
        </p:nvSpPr>
        <p:spPr>
          <a:xfrm>
            <a:off x="4443984" y="53309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housing society contract</a:t>
            </a:r>
            <a:endParaRPr lang="en-US" sz="650" dirty="0"/>
          </a:p>
        </p:txBody>
      </p:sp>
      <p:sp>
        <p:nvSpPr>
          <p:cNvPr id="173" name="Shape 171"/>
          <p:cNvSpPr/>
          <p:nvPr/>
        </p:nvSpPr>
        <p:spPr>
          <a:xfrm>
            <a:off x="4306824" y="6016752"/>
            <a:ext cx="1783080" cy="310896"/>
          </a:xfrm>
          <a:prstGeom prst="rect">
            <a:avLst/>
          </a:prstGeom>
          <a:solidFill>
            <a:srgbClr val="C77E17">
              <a:alpha val="20000"/>
            </a:srgbClr>
          </a:solidFill>
          <a:ln/>
        </p:spPr>
      </p:sp>
      <p:sp>
        <p:nvSpPr>
          <p:cNvPr id="174" name="Text 172"/>
          <p:cNvSpPr/>
          <p:nvPr/>
        </p:nvSpPr>
        <p:spPr>
          <a:xfrm>
            <a:off x="4334256" y="6035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1K live viewers · ₹2L MRR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6208776" y="3959352"/>
            <a:ext cx="1856232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6208776" y="3959352"/>
            <a:ext cx="1856232" cy="365760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177" name="Text 175"/>
          <p:cNvSpPr/>
          <p:nvPr/>
        </p:nvSpPr>
        <p:spPr>
          <a:xfrm>
            <a:off x="6254496" y="39593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W10</a:t>
            </a:r>
            <a:endParaRPr lang="en-US" sz="1100" dirty="0"/>
          </a:p>
        </p:txBody>
      </p:sp>
      <p:sp>
        <p:nvSpPr>
          <p:cNvPr id="178" name="Text 176"/>
          <p:cNvSpPr/>
          <p:nvPr/>
        </p:nvSpPr>
        <p:spPr>
          <a:xfrm>
            <a:off x="6711696" y="39593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</a:t>
            </a:r>
            <a:endParaRPr lang="en-US" sz="800" dirty="0"/>
          </a:p>
        </p:txBody>
      </p:sp>
      <p:sp>
        <p:nvSpPr>
          <p:cNvPr id="179" name="Shape 177"/>
          <p:cNvSpPr/>
          <p:nvPr/>
        </p:nvSpPr>
        <p:spPr>
          <a:xfrm>
            <a:off x="6300216" y="4462272"/>
            <a:ext cx="54864" cy="54864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180" name="Text 178"/>
          <p:cNvSpPr/>
          <p:nvPr/>
        </p:nvSpPr>
        <p:spPr>
          <a:xfrm>
            <a:off x="6391656" y="44165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pandit cohort 2 (50 more)</a:t>
            </a:r>
            <a:endParaRPr lang="en-US" sz="650" dirty="0"/>
          </a:p>
        </p:txBody>
      </p:sp>
      <p:sp>
        <p:nvSpPr>
          <p:cNvPr id="181" name="Shape 179"/>
          <p:cNvSpPr/>
          <p:nvPr/>
        </p:nvSpPr>
        <p:spPr>
          <a:xfrm>
            <a:off x="6300216" y="4919472"/>
            <a:ext cx="54864" cy="54864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182" name="Text 180"/>
          <p:cNvSpPr/>
          <p:nvPr/>
        </p:nvSpPr>
        <p:spPr>
          <a:xfrm>
            <a:off x="6391656" y="48737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Matrimonial API pilot live</a:t>
            </a:r>
            <a:endParaRPr lang="en-US" sz="650" dirty="0"/>
          </a:p>
        </p:txBody>
      </p:sp>
      <p:sp>
        <p:nvSpPr>
          <p:cNvPr id="183" name="Shape 181"/>
          <p:cNvSpPr/>
          <p:nvPr/>
        </p:nvSpPr>
        <p:spPr>
          <a:xfrm>
            <a:off x="6300216" y="5376672"/>
            <a:ext cx="54864" cy="54864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184" name="Text 182"/>
          <p:cNvSpPr/>
          <p:nvPr/>
        </p:nvSpPr>
        <p:spPr>
          <a:xfrm>
            <a:off x="6391656" y="53309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Diwali WA sequence built</a:t>
            </a:r>
            <a:endParaRPr lang="en-US" sz="650" dirty="0"/>
          </a:p>
        </p:txBody>
      </p:sp>
      <p:sp>
        <p:nvSpPr>
          <p:cNvPr id="185" name="Shape 183"/>
          <p:cNvSpPr/>
          <p:nvPr/>
        </p:nvSpPr>
        <p:spPr>
          <a:xfrm>
            <a:off x="6254496" y="6016752"/>
            <a:ext cx="1783080" cy="310896"/>
          </a:xfrm>
          <a:prstGeom prst="rect">
            <a:avLst/>
          </a:prstGeom>
          <a:solidFill>
            <a:srgbClr val="1F7A4A">
              <a:alpha val="20000"/>
            </a:srgbClr>
          </a:solidFill>
          <a:ln/>
        </p:spPr>
      </p:sp>
      <p:sp>
        <p:nvSpPr>
          <p:cNvPr id="186" name="Text 184"/>
          <p:cNvSpPr/>
          <p:nvPr/>
        </p:nvSpPr>
        <p:spPr>
          <a:xfrm>
            <a:off x="6281928" y="6035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20K total followers</a:t>
            </a:r>
            <a:endParaRPr lang="en-US" sz="700" dirty="0"/>
          </a:p>
        </p:txBody>
      </p:sp>
      <p:sp>
        <p:nvSpPr>
          <p:cNvPr id="187" name="Shape 185"/>
          <p:cNvSpPr/>
          <p:nvPr/>
        </p:nvSpPr>
        <p:spPr>
          <a:xfrm>
            <a:off x="8156448" y="3959352"/>
            <a:ext cx="1856232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8156448" y="3959352"/>
            <a:ext cx="1856232" cy="365760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189" name="Text 187"/>
          <p:cNvSpPr/>
          <p:nvPr/>
        </p:nvSpPr>
        <p:spPr>
          <a:xfrm>
            <a:off x="8202168" y="39593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W11</a:t>
            </a:r>
            <a:endParaRPr lang="en-US" sz="1100" dirty="0"/>
          </a:p>
        </p:txBody>
      </p:sp>
      <p:sp>
        <p:nvSpPr>
          <p:cNvPr id="190" name="Text 188"/>
          <p:cNvSpPr/>
          <p:nvPr/>
        </p:nvSpPr>
        <p:spPr>
          <a:xfrm>
            <a:off x="8659368" y="39593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 PEAK</a:t>
            </a:r>
            <a:endParaRPr lang="en-US" sz="800" dirty="0"/>
          </a:p>
        </p:txBody>
      </p:sp>
      <p:sp>
        <p:nvSpPr>
          <p:cNvPr id="191" name="Shape 189"/>
          <p:cNvSpPr/>
          <p:nvPr/>
        </p:nvSpPr>
        <p:spPr>
          <a:xfrm>
            <a:off x="8247888" y="4462272"/>
            <a:ext cx="54864" cy="54864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192" name="Text 190"/>
          <p:cNvSpPr/>
          <p:nvPr/>
        </p:nvSpPr>
        <p:spPr>
          <a:xfrm>
            <a:off x="8339328" y="44165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Diwali pre-booking campaign (₹1,499)</a:t>
            </a:r>
            <a:endParaRPr lang="en-US" sz="650" dirty="0"/>
          </a:p>
        </p:txBody>
      </p:sp>
      <p:sp>
        <p:nvSpPr>
          <p:cNvPr id="193" name="Shape 191"/>
          <p:cNvSpPr/>
          <p:nvPr/>
        </p:nvSpPr>
        <p:spPr>
          <a:xfrm>
            <a:off x="8247888" y="4919472"/>
            <a:ext cx="54864" cy="54864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194" name="Text 192"/>
          <p:cNvSpPr/>
          <p:nvPr/>
        </p:nvSpPr>
        <p:spPr>
          <a:xfrm>
            <a:off x="8339328" y="48737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B2B syndication contract</a:t>
            </a:r>
            <a:endParaRPr lang="en-US" sz="650" dirty="0"/>
          </a:p>
        </p:txBody>
      </p:sp>
      <p:sp>
        <p:nvSpPr>
          <p:cNvPr id="195" name="Shape 193"/>
          <p:cNvSpPr/>
          <p:nvPr/>
        </p:nvSpPr>
        <p:spPr>
          <a:xfrm>
            <a:off x="8247888" y="5376672"/>
            <a:ext cx="54864" cy="54864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196" name="Text 194"/>
          <p:cNvSpPr/>
          <p:nvPr/>
        </p:nvSpPr>
        <p:spPr>
          <a:xfrm>
            <a:off x="8339328" y="53309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Gemstone affiliate launch</a:t>
            </a:r>
            <a:endParaRPr lang="en-US" sz="650" dirty="0"/>
          </a:p>
        </p:txBody>
      </p:sp>
      <p:sp>
        <p:nvSpPr>
          <p:cNvPr id="197" name="Shape 195"/>
          <p:cNvSpPr/>
          <p:nvPr/>
        </p:nvSpPr>
        <p:spPr>
          <a:xfrm>
            <a:off x="8202168" y="6016752"/>
            <a:ext cx="1783080" cy="310896"/>
          </a:xfrm>
          <a:prstGeom prst="rect">
            <a:avLst/>
          </a:prstGeom>
          <a:solidFill>
            <a:srgbClr val="1F7A4A">
              <a:alpha val="20000"/>
            </a:srgbClr>
          </a:solidFill>
          <a:ln/>
        </p:spPr>
      </p:sp>
      <p:sp>
        <p:nvSpPr>
          <p:cNvPr id="198" name="Text 196"/>
          <p:cNvSpPr/>
          <p:nvPr/>
        </p:nvSpPr>
        <p:spPr>
          <a:xfrm>
            <a:off x="8229600" y="6035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₹6-8L MRR</a:t>
            </a:r>
            <a:endParaRPr lang="en-US" sz="700" dirty="0"/>
          </a:p>
        </p:txBody>
      </p:sp>
      <p:sp>
        <p:nvSpPr>
          <p:cNvPr id="199" name="Shape 197"/>
          <p:cNvSpPr/>
          <p:nvPr/>
        </p:nvSpPr>
        <p:spPr>
          <a:xfrm>
            <a:off x="10104120" y="3959352"/>
            <a:ext cx="1856232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10104120" y="3959352"/>
            <a:ext cx="1856232" cy="365760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201" name="Text 199"/>
          <p:cNvSpPr/>
          <p:nvPr/>
        </p:nvSpPr>
        <p:spPr>
          <a:xfrm>
            <a:off x="10149840" y="39593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W12</a:t>
            </a:r>
            <a:endParaRPr lang="en-US" sz="1100" dirty="0"/>
          </a:p>
        </p:txBody>
      </p:sp>
      <p:sp>
        <p:nvSpPr>
          <p:cNvPr id="202" name="Text 200"/>
          <p:cNvSpPr/>
          <p:nvPr/>
        </p:nvSpPr>
        <p:spPr>
          <a:xfrm>
            <a:off x="10607040" y="39593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800" dirty="0"/>
          </a:p>
        </p:txBody>
      </p:sp>
      <p:sp>
        <p:nvSpPr>
          <p:cNvPr id="203" name="Shape 201"/>
          <p:cNvSpPr/>
          <p:nvPr/>
        </p:nvSpPr>
        <p:spPr>
          <a:xfrm>
            <a:off x="10195560" y="4462272"/>
            <a:ext cx="54864" cy="54864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204" name="Text 202"/>
          <p:cNvSpPr/>
          <p:nvPr/>
        </p:nvSpPr>
        <p:spPr>
          <a:xfrm>
            <a:off x="10287000" y="44165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pandit avatar voice (no AI disclosure)</a:t>
            </a:r>
            <a:endParaRPr lang="en-US" sz="650" dirty="0"/>
          </a:p>
        </p:txBody>
      </p:sp>
      <p:sp>
        <p:nvSpPr>
          <p:cNvPr id="205" name="Shape 203"/>
          <p:cNvSpPr/>
          <p:nvPr/>
        </p:nvSpPr>
        <p:spPr>
          <a:xfrm>
            <a:off x="10195560" y="4919472"/>
            <a:ext cx="54864" cy="54864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206" name="Text 204"/>
          <p:cNvSpPr/>
          <p:nvPr/>
        </p:nvSpPr>
        <p:spPr>
          <a:xfrm>
            <a:off x="10287000" y="48737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landing fixes (face + reviews)</a:t>
            </a:r>
            <a:endParaRPr lang="en-US" sz="650" dirty="0"/>
          </a:p>
        </p:txBody>
      </p:sp>
      <p:sp>
        <p:nvSpPr>
          <p:cNvPr id="207" name="Shape 205"/>
          <p:cNvSpPr/>
          <p:nvPr/>
        </p:nvSpPr>
        <p:spPr>
          <a:xfrm>
            <a:off x="10195560" y="5376672"/>
            <a:ext cx="54864" cy="54864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208" name="Text 206"/>
          <p:cNvSpPr/>
          <p:nvPr/>
        </p:nvSpPr>
        <p:spPr>
          <a:xfrm>
            <a:off x="10287000" y="53309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Wedding-season Lagna pre-launch</a:t>
            </a:r>
            <a:endParaRPr lang="en-US" sz="650" dirty="0"/>
          </a:p>
        </p:txBody>
      </p:sp>
      <p:sp>
        <p:nvSpPr>
          <p:cNvPr id="209" name="Shape 207"/>
          <p:cNvSpPr/>
          <p:nvPr/>
        </p:nvSpPr>
        <p:spPr>
          <a:xfrm>
            <a:off x="10149840" y="6016752"/>
            <a:ext cx="1783080" cy="310896"/>
          </a:xfrm>
          <a:prstGeom prst="rect">
            <a:avLst/>
          </a:prstGeom>
          <a:solidFill>
            <a:srgbClr val="1F7A4A">
              <a:alpha val="20000"/>
            </a:srgbClr>
          </a:solidFill>
          <a:ln/>
        </p:spPr>
      </p:sp>
      <p:sp>
        <p:nvSpPr>
          <p:cNvPr id="210" name="Text 208"/>
          <p:cNvSpPr/>
          <p:nvPr/>
        </p:nvSpPr>
        <p:spPr>
          <a:xfrm>
            <a:off x="10177272" y="6035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30K followers · ₹10L MRR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SCOREBOARD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20040" y="676656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TRACK · WHAT GOOD LOOKS LIKE · WHEN WE PIVOT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8" name="Shape 6"/>
          <p:cNvSpPr/>
          <p:nvPr/>
        </p:nvSpPr>
        <p:spPr>
          <a:xfrm>
            <a:off x="11247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1" name="Shape 9"/>
          <p:cNvSpPr/>
          <p:nvPr/>
        </p:nvSpPr>
        <p:spPr>
          <a:xfrm>
            <a:off x="17282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3" name="Shape 11"/>
          <p:cNvSpPr/>
          <p:nvPr/>
        </p:nvSpPr>
        <p:spPr>
          <a:xfrm>
            <a:off x="21305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5" name="Shape 13"/>
          <p:cNvSpPr/>
          <p:nvPr/>
        </p:nvSpPr>
        <p:spPr>
          <a:xfrm>
            <a:off x="25328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40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52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8" name="Shape 16"/>
          <p:cNvSpPr/>
          <p:nvPr/>
        </p:nvSpPr>
        <p:spPr>
          <a:xfrm>
            <a:off x="31363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75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0" name="Shape 18"/>
          <p:cNvSpPr/>
          <p:nvPr/>
        </p:nvSpPr>
        <p:spPr>
          <a:xfrm>
            <a:off x="35387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1" name="Shape 19"/>
          <p:cNvSpPr/>
          <p:nvPr/>
        </p:nvSpPr>
        <p:spPr>
          <a:xfrm>
            <a:off x="37398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10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445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457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7" name="Shape 25"/>
          <p:cNvSpPr/>
          <p:nvPr/>
        </p:nvSpPr>
        <p:spPr>
          <a:xfrm>
            <a:off x="49469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480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0" name="Shape 28"/>
          <p:cNvSpPr/>
          <p:nvPr/>
        </p:nvSpPr>
        <p:spPr>
          <a:xfrm>
            <a:off x="55504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515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2" name="Shape 30"/>
          <p:cNvSpPr/>
          <p:nvPr/>
        </p:nvSpPr>
        <p:spPr>
          <a:xfrm>
            <a:off x="59527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3" name="Shape 31"/>
          <p:cNvSpPr/>
          <p:nvPr/>
        </p:nvSpPr>
        <p:spPr>
          <a:xfrm>
            <a:off x="61539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62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574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7" name="Shape 35"/>
          <p:cNvSpPr/>
          <p:nvPr/>
        </p:nvSpPr>
        <p:spPr>
          <a:xfrm>
            <a:off x="69585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8" name="Shape 36"/>
          <p:cNvSpPr/>
          <p:nvPr/>
        </p:nvSpPr>
        <p:spPr>
          <a:xfrm>
            <a:off x="71597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092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0" name="Shape 38"/>
          <p:cNvSpPr/>
          <p:nvPr/>
        </p:nvSpPr>
        <p:spPr>
          <a:xfrm>
            <a:off x="756208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3" name="Shape 41"/>
          <p:cNvSpPr/>
          <p:nvPr/>
        </p:nvSpPr>
        <p:spPr>
          <a:xfrm>
            <a:off x="816559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4" name="Shape 42"/>
          <p:cNvSpPr/>
          <p:nvPr/>
        </p:nvSpPr>
        <p:spPr>
          <a:xfrm>
            <a:off x="836676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6792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7" name="Shape 45"/>
          <p:cNvSpPr/>
          <p:nvPr/>
        </p:nvSpPr>
        <p:spPr>
          <a:xfrm>
            <a:off x="897026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49" name="Shape 47"/>
          <p:cNvSpPr/>
          <p:nvPr/>
        </p:nvSpPr>
        <p:spPr>
          <a:xfrm>
            <a:off x="937260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0" name="Shape 48"/>
          <p:cNvSpPr/>
          <p:nvPr/>
        </p:nvSpPr>
        <p:spPr>
          <a:xfrm>
            <a:off x="957376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1" name="Shape 49"/>
          <p:cNvSpPr/>
          <p:nvPr/>
        </p:nvSpPr>
        <p:spPr>
          <a:xfrm>
            <a:off x="977493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2" name="Shape 50"/>
          <p:cNvSpPr/>
          <p:nvPr/>
        </p:nvSpPr>
        <p:spPr>
          <a:xfrm>
            <a:off x="997610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7727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7844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7960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78077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7" name="Shape 55"/>
          <p:cNvSpPr/>
          <p:nvPr/>
        </p:nvSpPr>
        <p:spPr>
          <a:xfrm>
            <a:off x="1098194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18311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84280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585448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786616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987784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3" name="Shape 61"/>
          <p:cNvSpPr/>
          <p:nvPr/>
        </p:nvSpPr>
        <p:spPr>
          <a:xfrm>
            <a:off x="12188952" y="1033272"/>
            <a:ext cx="109728" cy="22860"/>
          </a:xfrm>
          <a:prstGeom prst="rect">
            <a:avLst/>
          </a:prstGeom>
          <a:solidFill>
            <a:srgbClr val="FAB0B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17 / 18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v3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34440"/>
            <a:ext cx="7680960" cy="52120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271016"/>
            <a:ext cx="76078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271016"/>
            <a:ext cx="7607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KPI TABLE  ·  M0 → M12 TRAJECTORY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57200" y="1737360"/>
            <a:ext cx="274320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0" name="Text 68"/>
          <p:cNvSpPr/>
          <p:nvPr/>
        </p:nvSpPr>
        <p:spPr>
          <a:xfrm>
            <a:off x="457200" y="1737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3200400" y="1737360"/>
            <a:ext cx="91440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2" name="Text 70"/>
          <p:cNvSpPr/>
          <p:nvPr/>
        </p:nvSpPr>
        <p:spPr>
          <a:xfrm>
            <a:off x="3200400" y="1737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(NOW)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114800" y="1737360"/>
            <a:ext cx="91440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4" name="Text 72"/>
          <p:cNvSpPr/>
          <p:nvPr/>
        </p:nvSpPr>
        <p:spPr>
          <a:xfrm>
            <a:off x="4114800" y="1737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5029200" y="1737360"/>
            <a:ext cx="91440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6" name="Text 74"/>
          <p:cNvSpPr/>
          <p:nvPr/>
        </p:nvSpPr>
        <p:spPr>
          <a:xfrm>
            <a:off x="5029200" y="1737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943600" y="1737360"/>
            <a:ext cx="100584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8" name="Text 76"/>
          <p:cNvSpPr/>
          <p:nvPr/>
        </p:nvSpPr>
        <p:spPr>
          <a:xfrm>
            <a:off x="594360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6949440" y="1737360"/>
            <a:ext cx="109728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0" name="Text 78"/>
          <p:cNvSpPr/>
          <p:nvPr/>
        </p:nvSpPr>
        <p:spPr>
          <a:xfrm>
            <a:off x="6949440" y="1737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457200" y="2057400"/>
            <a:ext cx="27432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7200" y="2057400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followers (all 4)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3200400" y="2057400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200400" y="2057400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114800" y="2057400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114800" y="2057400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5029200" y="2057400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29200" y="2057400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8K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5943600" y="2057400"/>
            <a:ext cx="100584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943600" y="2057400"/>
            <a:ext cx="1005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40K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6949440" y="2057400"/>
            <a:ext cx="109728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949440" y="2057400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100K+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57200" y="2432304"/>
            <a:ext cx="27432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57200" y="2432304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Reel views (portfolio)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3200400" y="2432304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200400" y="2432304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114800" y="2432304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114800" y="2432304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8K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5029200" y="2432304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029200" y="2432304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943600" y="2432304"/>
            <a:ext cx="100584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943600" y="2432304"/>
            <a:ext cx="1005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150K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49440" y="2432304"/>
            <a:ext cx="109728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949440" y="2432304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500K+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57200" y="2807208"/>
            <a:ext cx="27432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57200" y="2807208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save rate per post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3200400" y="2807208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200400" y="2807208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4114800" y="2807208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114800" y="2807208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029200" y="2807208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029200" y="2807208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943600" y="2807208"/>
            <a:ext cx="100584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943600" y="2807208"/>
            <a:ext cx="1005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949440" y="2807208"/>
            <a:ext cx="109728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6949440" y="2807208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15%+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457200" y="3182112"/>
            <a:ext cx="27432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57200" y="3182112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opt-in base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3200400" y="3182112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3200400" y="3182112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4114800" y="3182112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4114800" y="3182112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5029200" y="3182112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5029200" y="3182112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2K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5943600" y="3182112"/>
            <a:ext cx="100584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943600" y="3182112"/>
            <a:ext cx="1005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6949440" y="3182112"/>
            <a:ext cx="109728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949440" y="318211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40K+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457200" y="3557016"/>
            <a:ext cx="27432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57200" y="3557016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₹199 orders / day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3200400" y="3557016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3200400" y="3557016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114800" y="3557016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114800" y="3557016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5029200" y="3557016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5029200" y="3557016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5943600" y="3557016"/>
            <a:ext cx="100584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5943600" y="3557016"/>
            <a:ext cx="1005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850" dirty="0"/>
          </a:p>
        </p:txBody>
      </p:sp>
      <p:sp>
        <p:nvSpPr>
          <p:cNvPr id="139" name="Shape 137"/>
          <p:cNvSpPr/>
          <p:nvPr/>
        </p:nvSpPr>
        <p:spPr>
          <a:xfrm>
            <a:off x="6949440" y="3557016"/>
            <a:ext cx="109728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949440" y="3557016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457200" y="3931920"/>
            <a:ext cx="27432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57200" y="3931920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Value (AOV)</a:t>
            </a:r>
            <a:endParaRPr lang="en-US" sz="850" dirty="0"/>
          </a:p>
        </p:txBody>
      </p:sp>
      <p:sp>
        <p:nvSpPr>
          <p:cNvPr id="143" name="Shape 141"/>
          <p:cNvSpPr/>
          <p:nvPr/>
        </p:nvSpPr>
        <p:spPr>
          <a:xfrm>
            <a:off x="3200400" y="3931920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3200400" y="3931920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₹199</a:t>
            </a:r>
            <a:endParaRPr lang="en-US" sz="850" dirty="0"/>
          </a:p>
        </p:txBody>
      </p:sp>
      <p:sp>
        <p:nvSpPr>
          <p:cNvPr id="145" name="Shape 143"/>
          <p:cNvSpPr/>
          <p:nvPr/>
        </p:nvSpPr>
        <p:spPr>
          <a:xfrm>
            <a:off x="4114800" y="3931920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114800" y="3931920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₹199</a:t>
            </a:r>
            <a:endParaRPr lang="en-US" sz="850" dirty="0"/>
          </a:p>
        </p:txBody>
      </p:sp>
      <p:sp>
        <p:nvSpPr>
          <p:cNvPr id="147" name="Shape 145"/>
          <p:cNvSpPr/>
          <p:nvPr/>
        </p:nvSpPr>
        <p:spPr>
          <a:xfrm>
            <a:off x="5029200" y="3931920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029200" y="3931920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₹245</a:t>
            </a:r>
            <a:endParaRPr lang="en-US" sz="850" dirty="0"/>
          </a:p>
        </p:txBody>
      </p:sp>
      <p:sp>
        <p:nvSpPr>
          <p:cNvPr id="149" name="Shape 147"/>
          <p:cNvSpPr/>
          <p:nvPr/>
        </p:nvSpPr>
        <p:spPr>
          <a:xfrm>
            <a:off x="5943600" y="3931920"/>
            <a:ext cx="100584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943600" y="3931920"/>
            <a:ext cx="1005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₹320</a:t>
            </a:r>
            <a:endParaRPr lang="en-US" sz="850" dirty="0"/>
          </a:p>
        </p:txBody>
      </p:sp>
      <p:sp>
        <p:nvSpPr>
          <p:cNvPr id="151" name="Shape 149"/>
          <p:cNvSpPr/>
          <p:nvPr/>
        </p:nvSpPr>
        <p:spPr>
          <a:xfrm>
            <a:off x="6949440" y="3931920"/>
            <a:ext cx="109728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949440" y="3931920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₹420</a:t>
            </a:r>
            <a:endParaRPr lang="en-US" sz="850" dirty="0"/>
          </a:p>
        </p:txBody>
      </p:sp>
      <p:sp>
        <p:nvSpPr>
          <p:cNvPr id="153" name="Shape 151"/>
          <p:cNvSpPr/>
          <p:nvPr/>
        </p:nvSpPr>
        <p:spPr>
          <a:xfrm>
            <a:off x="457200" y="4306824"/>
            <a:ext cx="27432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57200" y="4306824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CAC</a:t>
            </a:r>
            <a:endParaRPr lang="en-US" sz="850" dirty="0"/>
          </a:p>
        </p:txBody>
      </p:sp>
      <p:sp>
        <p:nvSpPr>
          <p:cNvPr id="155" name="Shape 153"/>
          <p:cNvSpPr/>
          <p:nvPr/>
        </p:nvSpPr>
        <p:spPr>
          <a:xfrm>
            <a:off x="3200400" y="4306824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3200400" y="4306824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850" dirty="0"/>
          </a:p>
        </p:txBody>
      </p:sp>
      <p:sp>
        <p:nvSpPr>
          <p:cNvPr id="157" name="Shape 155"/>
          <p:cNvSpPr/>
          <p:nvPr/>
        </p:nvSpPr>
        <p:spPr>
          <a:xfrm>
            <a:off x="4114800" y="4306824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4114800" y="4306824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₹150</a:t>
            </a:r>
            <a:endParaRPr lang="en-US" sz="850" dirty="0"/>
          </a:p>
        </p:txBody>
      </p:sp>
      <p:sp>
        <p:nvSpPr>
          <p:cNvPr id="159" name="Shape 157"/>
          <p:cNvSpPr/>
          <p:nvPr/>
        </p:nvSpPr>
        <p:spPr>
          <a:xfrm>
            <a:off x="5029200" y="4306824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5029200" y="4306824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₹85</a:t>
            </a:r>
            <a:endParaRPr lang="en-US" sz="850" dirty="0"/>
          </a:p>
        </p:txBody>
      </p:sp>
      <p:sp>
        <p:nvSpPr>
          <p:cNvPr id="161" name="Shape 159"/>
          <p:cNvSpPr/>
          <p:nvPr/>
        </p:nvSpPr>
        <p:spPr>
          <a:xfrm>
            <a:off x="5943600" y="4306824"/>
            <a:ext cx="100584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5943600" y="4306824"/>
            <a:ext cx="1005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</a:t>
            </a:r>
            <a:endParaRPr lang="en-US" sz="850" dirty="0"/>
          </a:p>
        </p:txBody>
      </p:sp>
      <p:sp>
        <p:nvSpPr>
          <p:cNvPr id="163" name="Shape 161"/>
          <p:cNvSpPr/>
          <p:nvPr/>
        </p:nvSpPr>
        <p:spPr>
          <a:xfrm>
            <a:off x="6949440" y="4306824"/>
            <a:ext cx="109728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6949440" y="4306824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</a:t>
            </a:r>
            <a:endParaRPr lang="en-US" sz="850" dirty="0"/>
          </a:p>
        </p:txBody>
      </p:sp>
      <p:sp>
        <p:nvSpPr>
          <p:cNvPr id="165" name="Shape 163"/>
          <p:cNvSpPr/>
          <p:nvPr/>
        </p:nvSpPr>
        <p:spPr>
          <a:xfrm>
            <a:off x="457200" y="4681728"/>
            <a:ext cx="27432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57200" y="4681728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: CAC ratio</a:t>
            </a:r>
            <a:endParaRPr lang="en-US" sz="850" dirty="0"/>
          </a:p>
        </p:txBody>
      </p:sp>
      <p:sp>
        <p:nvSpPr>
          <p:cNvPr id="167" name="Shape 165"/>
          <p:cNvSpPr/>
          <p:nvPr/>
        </p:nvSpPr>
        <p:spPr>
          <a:xfrm>
            <a:off x="3200400" y="4681728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3200400" y="4681728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850" dirty="0"/>
          </a:p>
        </p:txBody>
      </p:sp>
      <p:sp>
        <p:nvSpPr>
          <p:cNvPr id="169" name="Shape 167"/>
          <p:cNvSpPr/>
          <p:nvPr/>
        </p:nvSpPr>
        <p:spPr>
          <a:xfrm>
            <a:off x="4114800" y="4681728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114800" y="4681728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</a:t>
            </a:r>
            <a:endParaRPr lang="en-US" sz="850" dirty="0"/>
          </a:p>
        </p:txBody>
      </p:sp>
      <p:sp>
        <p:nvSpPr>
          <p:cNvPr id="171" name="Shape 169"/>
          <p:cNvSpPr/>
          <p:nvPr/>
        </p:nvSpPr>
        <p:spPr>
          <a:xfrm>
            <a:off x="5029200" y="4681728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5029200" y="4681728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5943600" y="4681728"/>
            <a:ext cx="100584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5943600" y="4681728"/>
            <a:ext cx="1005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15×</a:t>
            </a:r>
            <a:endParaRPr lang="en-US" sz="850" dirty="0"/>
          </a:p>
        </p:txBody>
      </p:sp>
      <p:sp>
        <p:nvSpPr>
          <p:cNvPr id="175" name="Shape 173"/>
          <p:cNvSpPr/>
          <p:nvPr/>
        </p:nvSpPr>
        <p:spPr>
          <a:xfrm>
            <a:off x="6949440" y="4681728"/>
            <a:ext cx="109728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6949440" y="4681728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30×+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457200" y="5056632"/>
            <a:ext cx="27432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457200" y="5056632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(₹ lakhs)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200400" y="5056632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200400" y="5056632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</a:t>
            </a:r>
            <a:endParaRPr lang="en-US" sz="850" dirty="0"/>
          </a:p>
        </p:txBody>
      </p:sp>
      <p:sp>
        <p:nvSpPr>
          <p:cNvPr id="181" name="Shape 179"/>
          <p:cNvSpPr/>
          <p:nvPr/>
        </p:nvSpPr>
        <p:spPr>
          <a:xfrm>
            <a:off x="4114800" y="5056632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4114800" y="5056632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029200" y="5056632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5029200" y="5056632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943600" y="5056632"/>
            <a:ext cx="100584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5943600" y="5056632"/>
            <a:ext cx="1005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6949440" y="5056632"/>
            <a:ext cx="109728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6949440" y="505663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₹65+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457200" y="5431536"/>
            <a:ext cx="27432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457200" y="5431536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3200400" y="5431536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3200400" y="5431536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850" dirty="0"/>
          </a:p>
        </p:txBody>
      </p:sp>
      <p:sp>
        <p:nvSpPr>
          <p:cNvPr id="193" name="Shape 191"/>
          <p:cNvSpPr/>
          <p:nvPr/>
        </p:nvSpPr>
        <p:spPr>
          <a:xfrm>
            <a:off x="4114800" y="5431536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4114800" y="5431536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5029200" y="5431536"/>
            <a:ext cx="91440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5029200" y="5431536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5943600" y="5431536"/>
            <a:ext cx="100584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5943600" y="5431536"/>
            <a:ext cx="1005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850" dirty="0"/>
          </a:p>
        </p:txBody>
      </p:sp>
      <p:sp>
        <p:nvSpPr>
          <p:cNvPr id="199" name="Shape 197"/>
          <p:cNvSpPr/>
          <p:nvPr/>
        </p:nvSpPr>
        <p:spPr>
          <a:xfrm>
            <a:off x="6949440" y="5431536"/>
            <a:ext cx="1097280" cy="37490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6949440" y="5431536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457200" y="5806440"/>
            <a:ext cx="27432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457200" y="5806440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(women cohort)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3200400" y="5806440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3200400" y="5806440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850" dirty="0"/>
          </a:p>
        </p:txBody>
      </p:sp>
      <p:sp>
        <p:nvSpPr>
          <p:cNvPr id="205" name="Shape 203"/>
          <p:cNvSpPr/>
          <p:nvPr/>
        </p:nvSpPr>
        <p:spPr>
          <a:xfrm>
            <a:off x="4114800" y="5806440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4114800" y="5806440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&gt;40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5029200" y="5806440"/>
            <a:ext cx="91440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5029200" y="5806440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&gt;55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5943600" y="5806440"/>
            <a:ext cx="100584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5943600" y="5806440"/>
            <a:ext cx="1005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&gt;65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6949440" y="5806440"/>
            <a:ext cx="1097280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6949440" y="5806440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&gt;75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8092440" y="1234440"/>
            <a:ext cx="3794760" cy="52120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214" name="Shape 212"/>
          <p:cNvSpPr/>
          <p:nvPr/>
        </p:nvSpPr>
        <p:spPr>
          <a:xfrm>
            <a:off x="8129016" y="1271016"/>
            <a:ext cx="37216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15" name="Text 213"/>
          <p:cNvSpPr/>
          <p:nvPr/>
        </p:nvSpPr>
        <p:spPr>
          <a:xfrm>
            <a:off x="8129016" y="1271016"/>
            <a:ext cx="3721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  ·  TOP 5 + MITIGATION</a:t>
            </a:r>
            <a:endParaRPr lang="en-US" sz="1100" dirty="0"/>
          </a:p>
        </p:txBody>
      </p:sp>
      <p:sp>
        <p:nvSpPr>
          <p:cNvPr id="216" name="Shape 214"/>
          <p:cNvSpPr/>
          <p:nvPr/>
        </p:nvSpPr>
        <p:spPr>
          <a:xfrm>
            <a:off x="8183880" y="1737360"/>
            <a:ext cx="36118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275320" y="1810512"/>
            <a:ext cx="502920" cy="16459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218" name="Text 216"/>
          <p:cNvSpPr/>
          <p:nvPr/>
        </p:nvSpPr>
        <p:spPr>
          <a:xfrm>
            <a:off x="8275320" y="181051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P-MED</a:t>
            </a:r>
            <a:endParaRPr lang="en-US" sz="700" dirty="0"/>
          </a:p>
        </p:txBody>
      </p:sp>
      <p:sp>
        <p:nvSpPr>
          <p:cNvPr id="219" name="Shape 217"/>
          <p:cNvSpPr/>
          <p:nvPr/>
        </p:nvSpPr>
        <p:spPr>
          <a:xfrm>
            <a:off x="8823960" y="1810512"/>
            <a:ext cx="502920" cy="16459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20" name="Text 218"/>
          <p:cNvSpPr/>
          <p:nvPr/>
        </p:nvSpPr>
        <p:spPr>
          <a:xfrm>
            <a:off x="8823960" y="181051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I-HIGH</a:t>
            </a:r>
            <a:endParaRPr lang="en-US" sz="700" dirty="0"/>
          </a:p>
        </p:txBody>
      </p:sp>
      <p:sp>
        <p:nvSpPr>
          <p:cNvPr id="221" name="Text 219"/>
          <p:cNvSpPr/>
          <p:nvPr/>
        </p:nvSpPr>
        <p:spPr>
          <a:xfrm>
            <a:off x="9418320" y="179222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algo change</a:t>
            </a:r>
            <a:endParaRPr lang="en-US" sz="850" dirty="0"/>
          </a:p>
        </p:txBody>
      </p:sp>
      <p:sp>
        <p:nvSpPr>
          <p:cNvPr id="222" name="Text 220"/>
          <p:cNvSpPr/>
          <p:nvPr/>
        </p:nvSpPr>
        <p:spPr>
          <a:xfrm>
            <a:off x="8275320" y="205740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Diversify to WA + YT + IVR before 60% IG dep</a:t>
            </a:r>
            <a:endParaRPr lang="en-US" sz="750" dirty="0"/>
          </a:p>
        </p:txBody>
      </p:sp>
      <p:sp>
        <p:nvSpPr>
          <p:cNvPr id="223" name="Shape 221"/>
          <p:cNvSpPr/>
          <p:nvPr/>
        </p:nvSpPr>
        <p:spPr>
          <a:xfrm>
            <a:off x="8183880" y="2697480"/>
            <a:ext cx="36118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275320" y="2770632"/>
            <a:ext cx="502920" cy="16459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225" name="Text 223"/>
          <p:cNvSpPr/>
          <p:nvPr/>
        </p:nvSpPr>
        <p:spPr>
          <a:xfrm>
            <a:off x="8275320" y="27706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P-MED</a:t>
            </a:r>
            <a:endParaRPr lang="en-US" sz="700" dirty="0"/>
          </a:p>
        </p:txBody>
      </p:sp>
      <p:sp>
        <p:nvSpPr>
          <p:cNvPr id="226" name="Shape 224"/>
          <p:cNvSpPr/>
          <p:nvPr/>
        </p:nvSpPr>
        <p:spPr>
          <a:xfrm>
            <a:off x="8823960" y="2770632"/>
            <a:ext cx="502920" cy="16459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27" name="Text 225"/>
          <p:cNvSpPr/>
          <p:nvPr/>
        </p:nvSpPr>
        <p:spPr>
          <a:xfrm>
            <a:off x="8823960" y="27706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I-HIGH</a:t>
            </a:r>
            <a:endParaRPr lang="en-US" sz="700" dirty="0"/>
          </a:p>
        </p:txBody>
      </p:sp>
      <p:sp>
        <p:nvSpPr>
          <p:cNvPr id="228" name="Text 226"/>
          <p:cNvSpPr/>
          <p:nvPr/>
        </p:nvSpPr>
        <p:spPr>
          <a:xfrm>
            <a:off x="9418320" y="275234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voice exposed</a:t>
            </a:r>
            <a:endParaRPr lang="en-US" sz="850" dirty="0"/>
          </a:p>
        </p:txBody>
      </p:sp>
      <p:sp>
        <p:nvSpPr>
          <p:cNvPr id="229" name="Text 227"/>
          <p:cNvSpPr/>
          <p:nvPr/>
        </p:nvSpPr>
        <p:spPr>
          <a:xfrm>
            <a:off x="8275320" y="30175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Remove disclosure · use Hindi pandit voice</a:t>
            </a:r>
            <a:endParaRPr lang="en-US" sz="750" dirty="0"/>
          </a:p>
        </p:txBody>
      </p:sp>
      <p:sp>
        <p:nvSpPr>
          <p:cNvPr id="230" name="Shape 228"/>
          <p:cNvSpPr/>
          <p:nvPr/>
        </p:nvSpPr>
        <p:spPr>
          <a:xfrm>
            <a:off x="8183880" y="3657600"/>
            <a:ext cx="36118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8275320" y="3730752"/>
            <a:ext cx="502920" cy="16459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32" name="Text 230"/>
          <p:cNvSpPr/>
          <p:nvPr/>
        </p:nvSpPr>
        <p:spPr>
          <a:xfrm>
            <a:off x="8275320" y="37307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P-HIGH</a:t>
            </a:r>
            <a:endParaRPr lang="en-US" sz="700" dirty="0"/>
          </a:p>
        </p:txBody>
      </p:sp>
      <p:sp>
        <p:nvSpPr>
          <p:cNvPr id="233" name="Shape 231"/>
          <p:cNvSpPr/>
          <p:nvPr/>
        </p:nvSpPr>
        <p:spPr>
          <a:xfrm>
            <a:off x="8823960" y="3730752"/>
            <a:ext cx="502920" cy="16459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234" name="Text 232"/>
          <p:cNvSpPr/>
          <p:nvPr/>
        </p:nvSpPr>
        <p:spPr>
          <a:xfrm>
            <a:off x="8823960" y="37307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I-MED</a:t>
            </a:r>
            <a:endParaRPr lang="en-US" sz="700" dirty="0"/>
          </a:p>
        </p:txBody>
      </p:sp>
      <p:sp>
        <p:nvSpPr>
          <p:cNvPr id="235" name="Text 233"/>
          <p:cNvSpPr/>
          <p:nvPr/>
        </p:nvSpPr>
        <p:spPr>
          <a:xfrm>
            <a:off x="9418320" y="371246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AstroTalk copy-cats</a:t>
            </a:r>
            <a:endParaRPr lang="en-US" sz="850" dirty="0"/>
          </a:p>
        </p:txBody>
      </p:sp>
      <p:sp>
        <p:nvSpPr>
          <p:cNvPr id="236" name="Text 234"/>
          <p:cNvSpPr/>
          <p:nvPr/>
        </p:nvSpPr>
        <p:spPr>
          <a:xfrm>
            <a:off x="8275320" y="397764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Speed of first-mover &gt; defensibility</a:t>
            </a:r>
            <a:endParaRPr lang="en-US" sz="750" dirty="0"/>
          </a:p>
        </p:txBody>
      </p:sp>
      <p:sp>
        <p:nvSpPr>
          <p:cNvPr id="237" name="Shape 235"/>
          <p:cNvSpPr/>
          <p:nvPr/>
        </p:nvSpPr>
        <p:spPr>
          <a:xfrm>
            <a:off x="8183880" y="4617720"/>
            <a:ext cx="36118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8275320" y="4690872"/>
            <a:ext cx="502920" cy="16459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239" name="Text 237"/>
          <p:cNvSpPr/>
          <p:nvPr/>
        </p:nvSpPr>
        <p:spPr>
          <a:xfrm>
            <a:off x="8275320" y="469087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P-MED</a:t>
            </a:r>
            <a:endParaRPr lang="en-US" sz="700" dirty="0"/>
          </a:p>
        </p:txBody>
      </p:sp>
      <p:sp>
        <p:nvSpPr>
          <p:cNvPr id="240" name="Shape 238"/>
          <p:cNvSpPr/>
          <p:nvPr/>
        </p:nvSpPr>
        <p:spPr>
          <a:xfrm>
            <a:off x="8823960" y="4690872"/>
            <a:ext cx="502920" cy="164592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241" name="Text 239"/>
          <p:cNvSpPr/>
          <p:nvPr/>
        </p:nvSpPr>
        <p:spPr>
          <a:xfrm>
            <a:off x="8823960" y="469087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I-LOW</a:t>
            </a:r>
            <a:endParaRPr lang="en-US" sz="700" dirty="0"/>
          </a:p>
        </p:txBody>
      </p:sp>
      <p:sp>
        <p:nvSpPr>
          <p:cNvPr id="242" name="Text 240"/>
          <p:cNvSpPr/>
          <p:nvPr/>
        </p:nvSpPr>
        <p:spPr>
          <a:xfrm>
            <a:off x="9418320" y="467258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Temple QR low CR</a:t>
            </a:r>
            <a:endParaRPr lang="en-US" sz="850" dirty="0"/>
          </a:p>
        </p:txBody>
      </p:sp>
      <p:sp>
        <p:nvSpPr>
          <p:cNvPr id="243" name="Text 241"/>
          <p:cNvSpPr/>
          <p:nvPr/>
        </p:nvSpPr>
        <p:spPr>
          <a:xfrm>
            <a:off x="8275320" y="49377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Pilot 30 sites · A/B test · 14-day pivot</a:t>
            </a:r>
            <a:endParaRPr lang="en-US" sz="750" dirty="0"/>
          </a:p>
        </p:txBody>
      </p:sp>
      <p:sp>
        <p:nvSpPr>
          <p:cNvPr id="244" name="Shape 242"/>
          <p:cNvSpPr/>
          <p:nvPr/>
        </p:nvSpPr>
        <p:spPr>
          <a:xfrm>
            <a:off x="8183880" y="5577840"/>
            <a:ext cx="36118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8275320" y="5650992"/>
            <a:ext cx="502920" cy="164592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246" name="Text 244"/>
          <p:cNvSpPr/>
          <p:nvPr/>
        </p:nvSpPr>
        <p:spPr>
          <a:xfrm>
            <a:off x="8275320" y="565099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P-LOW</a:t>
            </a:r>
            <a:endParaRPr lang="en-US" sz="700" dirty="0"/>
          </a:p>
        </p:txBody>
      </p:sp>
      <p:sp>
        <p:nvSpPr>
          <p:cNvPr id="247" name="Shape 245"/>
          <p:cNvSpPr/>
          <p:nvPr/>
        </p:nvSpPr>
        <p:spPr>
          <a:xfrm>
            <a:off x="8823960" y="5650992"/>
            <a:ext cx="502920" cy="16459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48" name="Text 246"/>
          <p:cNvSpPr/>
          <p:nvPr/>
        </p:nvSpPr>
        <p:spPr>
          <a:xfrm>
            <a:off x="8823960" y="565099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I-HIGH</a:t>
            </a:r>
            <a:endParaRPr lang="en-US" sz="700" dirty="0"/>
          </a:p>
        </p:txBody>
      </p:sp>
      <p:sp>
        <p:nvSpPr>
          <p:cNvPr id="249" name="Text 247"/>
          <p:cNvSpPr/>
          <p:nvPr/>
        </p:nvSpPr>
        <p:spPr>
          <a:xfrm>
            <a:off x="9418320" y="5632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(ASCI)</a:t>
            </a:r>
            <a:endParaRPr lang="en-US" sz="850" dirty="0"/>
          </a:p>
        </p:txBody>
      </p:sp>
      <p:sp>
        <p:nvSpPr>
          <p:cNvPr id="250" name="Text 248"/>
          <p:cNvSpPr/>
          <p:nvPr/>
        </p:nvSpPr>
        <p:spPr>
          <a:xfrm>
            <a:off x="8275320" y="589788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Add 'entertainment' disclaimer · legal review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63D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500" kern="0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IS CLEAR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0058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Execute First.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the Market.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FD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USD 1.79B astrology market by 2030 has no AI-native multi-language player owning the partner-birthdate viral hook. The window to claim that position is the next 90 days — before AstroTalk replicates the formula.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3-DECISION ASK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4572000"/>
            <a:ext cx="457200" cy="457200"/>
          </a:xfrm>
          <a:prstGeom prst="ellipse">
            <a:avLst/>
          </a:prstGeom>
          <a:solidFill>
            <a:srgbClr val="C77E1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459028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AI content factory budget (₹15-25K/mo opex × 3 mo)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508760" y="4818888"/>
            <a:ext cx="1463040" cy="18288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4818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108960" y="481888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FFD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300+ Reels by W12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5074920"/>
            <a:ext cx="457200" cy="457200"/>
          </a:xfrm>
          <a:prstGeom prst="ellipse">
            <a:avLst/>
          </a:prstGeom>
          <a:solidFill>
            <a:srgbClr val="C77E17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08760" y="50932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cross-promotion from @saathsetu to dormant handles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508760" y="5321808"/>
            <a:ext cx="1463040" cy="18288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8" name="Text 16"/>
          <p:cNvSpPr/>
          <p:nvPr/>
        </p:nvSpPr>
        <p:spPr>
          <a:xfrm>
            <a:off x="1508760" y="53218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Costless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108960" y="53218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FFD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1K followers across 3 dormant by W4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914400" y="5577840"/>
            <a:ext cx="457200" cy="457200"/>
          </a:xfrm>
          <a:prstGeom prst="ellipse">
            <a:avLst/>
          </a:prstGeom>
          <a:solidFill>
            <a:srgbClr val="C77E17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08760" y="559612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P0 landing page sprint (testimonials + scarcity + guarantee)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508760" y="5824728"/>
            <a:ext cx="1463040" cy="18288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24" name="Text 22"/>
          <p:cNvSpPr/>
          <p:nvPr/>
        </p:nvSpPr>
        <p:spPr>
          <a:xfrm>
            <a:off x="1508760" y="582472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2-week dev cycle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108960" y="582472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FFD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CVR doubles 2-3% → 6%+ by W4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4320" y="6400800"/>
            <a:ext cx="11643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D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MarkNtel Advisors · Upstox industry report · Tracxn · TechCrunch · Astroyogi 2023 survey · first-party Instagram scrape · live landing-page audit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2026-05-21T06:12:32Z</dcterms:created>
  <dcterms:modified xsi:type="dcterms:W3CDTF">2026-05-21T06:12:32Z</dcterms:modified>
</cp:coreProperties>
</file>