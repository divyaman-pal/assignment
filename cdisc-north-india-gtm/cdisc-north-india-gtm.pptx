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6245352" cy="685800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0"/>
            <a:ext cx="548640" cy="6858000"/>
          </a:xfrm>
          <a:prstGeom prst="rect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0" y="365760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79792" y="365760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644383" y="365760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08975" y="365760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73568" y="365760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38160" y="365760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02752" y="365760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67344" y="365760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0" y="530352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79792" y="530352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44383" y="530352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08975" y="530352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73568" y="530352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160" y="530352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2752" y="530352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67344" y="530352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0" y="694944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79792" y="694944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44383" y="694944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08975" y="694944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73568" y="694944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38160" y="694944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02752" y="694944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67344" y="694944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15200" y="859536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79792" y="859536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44383" y="859536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08975" y="859536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73568" y="859536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38160" y="859536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02752" y="859536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67344" y="859536"/>
            <a:ext cx="36576" cy="36576"/>
          </a:xfrm>
          <a:prstGeom prst="ellipse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91440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B71C1C"/>
                </a:solidFill>
                <a:latin typeface="Calibri"/>
              </a:rPr>
              <a:t>C-DISC TECHNOLOGIES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4D4D55"/>
                </a:solidFill>
                <a:latin typeface="Calibri"/>
              </a:rPr>
              <a:t>cdisctechnologies.com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219456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B71C1C"/>
                </a:solidFill>
                <a:latin typeface="Calibri"/>
              </a:rPr>
              <a:t>Grow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20040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1A1A1F"/>
                </a:solidFill>
                <a:latin typeface="Calibri"/>
              </a:rPr>
              <a:t>North.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572000"/>
            <a:ext cx="50292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D4D55"/>
                </a:solidFill>
                <a:latin typeface="Calibri"/>
              </a:rPr>
              <a:t>A practical go-to-market strategy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983480"/>
            <a:ext cx="50292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D4D55"/>
                </a:solidFill>
                <a:latin typeface="Calibri"/>
              </a:rPr>
              <a:t>for expanding from South to North India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760720"/>
            <a:ext cx="493776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85216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B71C1C"/>
                </a:solidFill>
                <a:latin typeface="Calibri"/>
              </a:rPr>
              <a:t>Strategy review · 11-slide deck + appendix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126480"/>
            <a:ext cx="45720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D4D55"/>
                </a:solidFill>
                <a:latin typeface="Calibri"/>
              </a:rPr>
              <a:t>Built around C-DISC's PEN Foundation and MNZE Homes,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D4D55"/>
                </a:solidFill>
                <a:latin typeface="Calibri"/>
              </a:rPr>
              <a:t>for the leadership team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1371600"/>
            <a:ext cx="5852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4F1"/>
                </a:solidFill>
                <a:latin typeface="Calibri"/>
              </a:rPr>
              <a:t>THE QUESTION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1828800"/>
            <a:ext cx="5852160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Why doesn't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North India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know us yet?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126480" y="4754880"/>
            <a:ext cx="5303520" cy="0"/>
          </a:xfrm>
          <a:prstGeom prst="line">
            <a:avLst/>
          </a:prstGeom>
          <a:ln w="9525">
            <a:solidFill>
              <a:srgbClr val="FFF4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126480" y="4846320"/>
            <a:ext cx="585216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FFF4F1"/>
                </a:solidFill>
                <a:latin typeface="Calibri"/>
              </a:rPr>
              <a:t>— and how do we change that?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486400"/>
            <a:ext cx="640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4F1"/>
                </a:solidFill>
                <a:latin typeface="Calibri"/>
              </a:rPr>
              <a:t>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5486400"/>
            <a:ext cx="2286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5486400"/>
            <a:ext cx="2926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FFF4F1"/>
                </a:solidFill>
                <a:latin typeface="Calibri"/>
              </a:rPr>
              <a:t>(top nav)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5779008"/>
            <a:ext cx="640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4F1"/>
                </a:solidFill>
                <a:latin typeface="Calibr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5779008"/>
            <a:ext cx="2286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consulting frameworks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52560" y="5779008"/>
            <a:ext cx="2926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FFF4F1"/>
                </a:solidFill>
                <a:latin typeface="Calibri"/>
              </a:rPr>
              <a:t>Ansoff · BCG · Porter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0" y="6071616"/>
            <a:ext cx="640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4F1"/>
                </a:solidFill>
                <a:latin typeface="Calibri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66560" y="6071616"/>
            <a:ext cx="2286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live GTM agent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6071616"/>
            <a:ext cx="2926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FFF4F1"/>
                </a:solidFill>
                <a:latin typeface="Calibri"/>
              </a:rPr>
              <a:t>(see Solution)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The Core Diagnosis : C-DISC has a strong product but a small geographic footprint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India's construction sector is at $640 bn (FY25, IBEF). C-DISC's PEN Foundation + MNZE Homes work — but North India, which is roughly 35% of national construction activity, has barely heard of us.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Market Opportunity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240280"/>
            <a:ext cx="1851660" cy="1051560"/>
          </a:xfrm>
          <a:prstGeom prst="roundRect">
            <a:avLst>
              <a:gd name="adj" fmla="val 1000"/>
            </a:avLst>
          </a:prstGeom>
          <a:solidFill>
            <a:srgbClr val="FFFDF9"/>
          </a:solidFill>
          <a:ln w="7620">
            <a:solidFill>
              <a:srgbClr val="F9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377440"/>
            <a:ext cx="16687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71C1C"/>
                </a:solidFill>
                <a:latin typeface="Calibri"/>
              </a:rPr>
              <a:t>$640 bn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743200"/>
            <a:ext cx="16687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India construction sector</a:t>
            </a:r>
          </a:p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FY25 (IBEF)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08860" y="2240280"/>
            <a:ext cx="1851660" cy="1051560"/>
          </a:xfrm>
          <a:prstGeom prst="roundRect">
            <a:avLst>
              <a:gd name="adj" fmla="val 1000"/>
            </a:avLst>
          </a:prstGeom>
          <a:solidFill>
            <a:srgbClr val="FFFDF9"/>
          </a:solidFill>
          <a:ln w="7620">
            <a:solidFill>
              <a:srgbClr val="F9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00300" y="2377440"/>
            <a:ext cx="16687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F7A4A"/>
                </a:solidFill>
                <a:latin typeface="Calibri"/>
              </a:rPr>
              <a:t>9.2%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0300" y="2743200"/>
            <a:ext cx="16687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CAGR (CRISIL FY25-29)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3337560"/>
            <a:ext cx="1851660" cy="1051560"/>
          </a:xfrm>
          <a:prstGeom prst="roundRect">
            <a:avLst>
              <a:gd name="adj" fmla="val 1000"/>
            </a:avLst>
          </a:prstGeom>
          <a:solidFill>
            <a:srgbClr val="FFFDF9"/>
          </a:solidFill>
          <a:ln w="7620">
            <a:solidFill>
              <a:srgbClr val="F9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16687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71C1C"/>
                </a:solidFill>
                <a:latin typeface="Calibri"/>
              </a:rPr>
              <a:t>~35%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840480"/>
            <a:ext cx="16687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North India share of</a:t>
            </a:r>
          </a:p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national construction activity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8860" y="3337560"/>
            <a:ext cx="1851660" cy="1051560"/>
          </a:xfrm>
          <a:prstGeom prst="roundRect">
            <a:avLst>
              <a:gd name="adj" fmla="val 1000"/>
            </a:avLst>
          </a:prstGeom>
          <a:solidFill>
            <a:srgbClr val="FFFDF9"/>
          </a:solidFill>
          <a:ln w="7620">
            <a:solidFill>
              <a:srgbClr val="F9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00300" y="3474720"/>
            <a:ext cx="16687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F7A4A"/>
                </a:solidFill>
                <a:latin typeface="Calibri"/>
              </a:rPr>
              <a:t>$1.6 bn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00300" y="3840480"/>
            <a:ext cx="16687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Indian pre-engineered</a:t>
            </a:r>
          </a:p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buildings market</a:t>
            </a:r>
          </a:p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(Mordor 2025)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526280"/>
            <a:ext cx="3749040" cy="1554480"/>
          </a:xfrm>
          <a:prstGeom prst="roundRect">
            <a:avLst>
              <a:gd name="adj" fmla="val 1000"/>
            </a:avLst>
          </a:prstGeom>
          <a:solidFill>
            <a:srgbClr val="FFFDF9"/>
          </a:solidFill>
          <a:ln w="7620">
            <a:solidFill>
              <a:srgbClr val="F9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599432"/>
            <a:ext cx="3566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B71C1C"/>
                </a:solidFill>
                <a:latin typeface="Calibri"/>
              </a:rPr>
              <a:t>KEY DEMAND ENGINES IN THE NORTH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92040"/>
            <a:ext cx="3566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•  Jewar Airport ₹10,050 cr Phase-1 (NIAL)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111496"/>
            <a:ext cx="3566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•  NICDC industrial corridor: 11 cities planned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330952"/>
            <a:ext cx="3566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•  PMAY-G housing target 2.95 cr houses (MoRD)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50408"/>
            <a:ext cx="3566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•  DMIC programme $90+ bn (DMIC official)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769864"/>
            <a:ext cx="3566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•  Punjab/Haryana agri-infra: NABARD-financed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The 5-Layer Problem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0" y="2240280"/>
            <a:ext cx="374904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89120" y="2404872"/>
            <a:ext cx="411480" cy="4114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2404872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233172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No physical presence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2040" y="2587752"/>
            <a:ext cx="306324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4D4D55"/>
                </a:solidFill>
                <a:latin typeface="Calibri"/>
              </a:rPr>
              <a:t>Closest C-DISC point is ~2,500 km away. Pre-engineered construction is high-touch — buyers want to see and meet.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80" y="3090672"/>
            <a:ext cx="374904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389120" y="3255264"/>
            <a:ext cx="411480" cy="4114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325526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2040" y="3182112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No driveable proof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3438144"/>
            <a:ext cx="306324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4D4D55"/>
                </a:solidFill>
                <a:latin typeface="Calibri"/>
              </a:rPr>
              <a:t>Zero reference projects in the North. Indian construction is heavily reference-driven.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0" y="3941064"/>
            <a:ext cx="374904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89120" y="4105656"/>
            <a:ext cx="411480" cy="4114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0" y="4105656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4032504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Certification incomplete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2040" y="4288536"/>
            <a:ext cx="306324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4D4D55"/>
                </a:solidFill>
                <a:latin typeface="Calibri"/>
              </a:rPr>
              <a:t>PEN Foundation is "under certification" (per website). Govt + institutional buyers wait until the stamp is on.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97680" y="4791456"/>
            <a:ext cx="374904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89120" y="4956048"/>
            <a:ext cx="411480" cy="4114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0" y="4956048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92040" y="4882896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Language mismatch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138928"/>
            <a:ext cx="306324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4D4D55"/>
                </a:solidFill>
                <a:latin typeface="Calibri"/>
              </a:rPr>
              <a:t>Sales kit, BoQ, contracts and WhatsApp all in English. North India does business in Hindi.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97680" y="5641848"/>
            <a:ext cx="374904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389120" y="5806440"/>
            <a:ext cx="411480" cy="4114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120" y="58064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5733288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Spec-fit unknown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2040" y="5989320"/>
            <a:ext cx="306324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4D4D55"/>
                </a:solidFill>
                <a:latin typeface="Calibri"/>
              </a:rPr>
              <a:t>PEN tested on Kerala ground. North has alluvial soil, foothill frost, seismic zone IV (NCR).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Strategic Thesis : Sequential Battles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83880" y="2240280"/>
            <a:ext cx="3749040" cy="10972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183880" y="2240280"/>
            <a:ext cx="73152" cy="109728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66760" y="2331720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F"/>
                </a:solidFill>
                <a:latin typeface="Calibri"/>
              </a:rPr>
              <a:t>1. Win presence first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2651760"/>
            <a:ext cx="347472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D4D55"/>
                </a:solidFill>
                <a:latin typeface="Calibri"/>
              </a:rPr>
              <a:t>Open one small operating hub in a chosen beachhead and hire a North-India P&amp;L owner.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183880" y="3383280"/>
            <a:ext cx="3749040" cy="10972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83880" y="3383280"/>
            <a:ext cx="73152" cy="109728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3474720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F"/>
                </a:solidFill>
                <a:latin typeface="Calibri"/>
              </a:rPr>
              <a:t>2. Win proof next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66760" y="3794760"/>
            <a:ext cx="347472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D4D55"/>
                </a:solidFill>
                <a:latin typeface="Calibri"/>
              </a:rPr>
              <a:t>Close the PEN certification and seed 2-3 lighthouse reference projects per beachhead.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183880" y="4526280"/>
            <a:ext cx="3749040" cy="10972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183880" y="4526280"/>
            <a:ext cx="73152" cy="109728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66760" y="4617720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F"/>
                </a:solidFill>
                <a:latin typeface="Calibri"/>
              </a:rPr>
              <a:t>3. Then win the channel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66760" y="4937760"/>
            <a:ext cx="347472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D4D55"/>
                </a:solidFill>
                <a:latin typeface="Calibri"/>
              </a:rPr>
              <a:t>Build the specifier network (architects, EPCs, dealers) once buyers have something to point at.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183880" y="5742432"/>
            <a:ext cx="3749040" cy="960120"/>
          </a:xfrm>
          <a:prstGeom prst="roundRect">
            <a:avLst>
              <a:gd name="adj" fmla="val 4000"/>
            </a:avLst>
          </a:prstGeom>
          <a:solidFill>
            <a:srgbClr val="FDECEC"/>
          </a:solidFill>
          <a:ln w="1016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83880" y="5833872"/>
            <a:ext cx="37490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B71C1C"/>
                </a:solidFill>
                <a:latin typeface="Calibri"/>
              </a:rPr>
              <a:t>CONSEQUENCE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75320" y="6126480"/>
            <a:ext cx="3566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1">
                <a:solidFill>
                  <a:srgbClr val="7F1212"/>
                </a:solidFill>
                <a:latin typeface="Calibri"/>
              </a:rPr>
              <a:t>Skip the sequence → expensive failure.</a:t>
            </a:r>
          </a:p>
          <a:p>
            <a:pPr algn="ctr">
              <a:lnSpc>
                <a:spcPct val="130000"/>
              </a:lnSpc>
            </a:pPr>
            <a:r>
              <a:rPr sz="1000" b="1" i="1">
                <a:solidFill>
                  <a:srgbClr val="7F1212"/>
                </a:solidFill>
                <a:latin typeface="Calibri"/>
              </a:rPr>
              <a:t>Follow it → compounding wins.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" y="6446520"/>
            <a:ext cx="11430000" cy="292608"/>
          </a:xfrm>
          <a:prstGeom prst="roundRect">
            <a:avLst>
              <a:gd name="adj" fmla="val 5000"/>
            </a:avLst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5760" y="6446520"/>
            <a:ext cx="114300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4F1"/>
                </a:solidFill>
                <a:latin typeface="Calibri"/>
              </a:rPr>
              <a:t>PRODUCT TRUST   →   FIRST REFERENCES   →   SPECIFIER NETWORK   →   REGIONAL REVENUE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The Opportunity : North India's construction is one of the most concentrated demand pulls in the country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Three demand blocks the C-DISC product fits — confirmed from public sources. Sizing each segment for C-DISC requires the company's own market study.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83080"/>
            <a:ext cx="3840480" cy="24688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1783080"/>
            <a:ext cx="3566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BLOCK A · YEIDA / NCR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1847088"/>
            <a:ext cx="1143000" cy="228600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1847088"/>
            <a:ext cx="1143000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PEN Foundation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" y="2368296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286000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Jewar Airport Phase 1 ₹10,050 cr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2679192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2596896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YEIDA 8 industrial sectors notified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" y="29900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2907792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Greater Noida warehousing belt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" y="3300984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218688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Vendor zone for Jewar (notified)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977640"/>
            <a:ext cx="3566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Source: NIAL, YEIDA notifications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1783080"/>
            <a:ext cx="3840480" cy="24688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1783080"/>
            <a:ext cx="3566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BLOCK B · Rural UP &amp; Punjab/Haryana agri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1847088"/>
            <a:ext cx="1143000" cy="228600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1847088"/>
            <a:ext cx="1143000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PEN Foundation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16552" y="2368296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44568" y="2286000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PMAY-G target 2.95 cr houses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16552" y="2679192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4568" y="2596896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Poultry industry centre of gravity in UP/Haryana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16552" y="29900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44568" y="2907792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NABARD financing for cold storage / godowns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16552" y="3300984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44568" y="3218688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Punjab dairy + cold-chain push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3977640"/>
            <a:ext cx="3566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Source: MoRD PMAY-G, NABARD reports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38160" y="1783080"/>
            <a:ext cx="3840480" cy="24688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20" y="1783080"/>
            <a:ext cx="3566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BLOCK C · Uttarakhand resort belt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98480" y="1847088"/>
            <a:ext cx="1143000" cy="228600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98480" y="1847088"/>
            <a:ext cx="1143000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MNZE Homes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02752" y="2368296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30768" y="2286000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Tourism rebound post-COVID — eco-resort permits up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02752" y="2679192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30768" y="2596896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Cottage clusters around Nainital / Mukteshwar / Jim Corbett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02752" y="29900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30768" y="2907792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Light footprint construction preferred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2752" y="3300984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30768" y="3218688"/>
            <a:ext cx="33832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F"/>
                </a:solidFill>
                <a:latin typeface="Calibri"/>
              </a:rPr>
              <a:t>MNZE's net-zero story is on-brand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3977640"/>
            <a:ext cx="3566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Source: Uttarakhand Tourism Dept.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5760" y="4389120"/>
            <a:ext cx="11430000" cy="1371600"/>
          </a:xfrm>
          <a:prstGeom prst="roundRect">
            <a:avLst>
              <a:gd name="adj" fmla="val 2000"/>
            </a:avLst>
          </a:prstGeom>
          <a:solidFill>
            <a:srgbClr val="FFF4F1"/>
          </a:solidFill>
          <a:ln w="9525">
            <a:solidFill>
              <a:srgbClr val="F9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80560"/>
            <a:ext cx="11155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B71C1C"/>
                </a:solidFill>
                <a:latin typeface="Calibri"/>
              </a:rPr>
              <a:t>C-DISC product-segment map (qualitative; sizing per segment = [TBD by C-DISC])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4800600"/>
            <a:ext cx="5623560" cy="868680"/>
          </a:xfrm>
          <a:prstGeom prst="roundRect">
            <a:avLst>
              <a:gd name="adj" fmla="val 3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800600"/>
            <a:ext cx="73152" cy="86868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4873752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B71C1C"/>
                </a:solidFill>
                <a:latin typeface="Calibri"/>
              </a:rPr>
              <a:t>PEN FOUNDATION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5120640"/>
            <a:ext cx="50292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D4D55"/>
                </a:solidFill>
                <a:latin typeface="Calibri"/>
              </a:rPr>
              <a:t>Industrial sheds  ·  Warehouses  ·  Cold storage  ·  Farm-shed foundations  ·  Compound walls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4800600"/>
            <a:ext cx="5623560" cy="868680"/>
          </a:xfrm>
          <a:prstGeom prst="roundRect">
            <a:avLst>
              <a:gd name="adj" fmla="val 3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4800600"/>
            <a:ext cx="73152" cy="86868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55080" y="4873752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B71C1C"/>
                </a:solidFill>
                <a:latin typeface="Calibri"/>
              </a:rPr>
              <a:t>MNZE HOMES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5080" y="5120640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D4D55"/>
                </a:solidFill>
                <a:latin typeface="Calibri"/>
              </a:rPr>
              <a:t>Resort cottage clusters  ·  PMAY-G modular housing  ·  Farm-stays  ·  Site offices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5897880"/>
            <a:ext cx="11430000" cy="548640"/>
          </a:xfrm>
          <a:prstGeom prst="roundRect">
            <a:avLst>
              <a:gd name="adj" fmla="val 2000"/>
            </a:avLst>
          </a:prstGeom>
          <a:solidFill>
            <a:srgbClr val="FDECEC"/>
          </a:solidFill>
          <a:ln w="762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943600"/>
            <a:ext cx="111556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KEY POINT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6126480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1">
                <a:solidFill>
                  <a:srgbClr val="1A1A1F"/>
                </a:solidFill>
                <a:latin typeface="Calibri"/>
              </a:rPr>
              <a:t>All segment volumes within the three blocks above remain [TBD by C-DISC]. Macro sizing is sourced from CRISIL/IBEF/NIAL/MoRD — see appendix.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Sources : IBEF Construction Sector report FY25  ·  CRISIL Construction Outlook  ·  Mordor Intelligence PEB India  ·  NIAL Jewar  ·  NICDC  ·  MoRD PMAY-G  ·  DMIC  ·  NABARD annual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Strategy frameworks : Ansoff puts us in "Market Development"  ·  BCG puts North in "Question Mark"  ·  Porter flags Buyers + Substitutes as the toughest forces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Three lenses, same conclusion — the constraint is presence and proof, not product.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Ansoff Matrix · What kind of growth?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286000"/>
            <a:ext cx="1737360" cy="1234440"/>
          </a:xfrm>
          <a:prstGeom prst="rect">
            <a:avLst/>
          </a:prstGeom>
          <a:solidFill>
            <a:srgbClr val="E3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2286000"/>
            <a:ext cx="1737360" cy="123444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1737360" cy="123444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0" y="3520440"/>
            <a:ext cx="1737360" cy="1234440"/>
          </a:xfrm>
          <a:prstGeom prst="rect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48640" y="3520440.0"/>
            <a:ext cx="3474720" cy="0.0"/>
          </a:xfrm>
          <a:prstGeom prst="line">
            <a:avLst/>
          </a:prstGeom>
          <a:ln w="15240">
            <a:solidFill>
              <a:srgbClr val="1A1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286000.0" y="2286000"/>
            <a:ext cx="0.0" cy="2468880"/>
          </a:xfrm>
          <a:prstGeom prst="line">
            <a:avLst/>
          </a:prstGeom>
          <a:ln w="15240">
            <a:solidFill>
              <a:srgbClr val="1A1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4360" y="2331720"/>
            <a:ext cx="17373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1F7A4A"/>
                </a:solidFill>
                <a:latin typeface="Calibri"/>
              </a:rPr>
              <a:t>Penetration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2331720"/>
            <a:ext cx="17373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7F1212"/>
                </a:solidFill>
                <a:latin typeface="Calibri"/>
              </a:rPr>
              <a:t>Product dev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56616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MARKET DEV ← WE ARE HERE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86200"/>
            <a:ext cx="173736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Same product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New 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3566160"/>
            <a:ext cx="17373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7F1212"/>
                </a:solidFill>
                <a:latin typeface="Calibri"/>
              </a:rPr>
              <a:t>Diversification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00600"/>
            <a:ext cx="34747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← existing markets       new 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" y="2286000"/>
            <a:ext cx="365760" cy="24688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↓new</a:t>
            </a:r>
          </a:p>
          <a:p>
            <a:pPr algn="ctr">
              <a:lnSpc>
                <a:spcPct val="13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↑exist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166360"/>
            <a:ext cx="3566160" cy="1371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25780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VERDICT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486400"/>
            <a:ext cx="338328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Market Development is the 2nd-riskiest growth move — but the riskiest part is the BUYER, not the product.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The playbook must lead with presence.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BCG · Where each market lives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34840" y="2286000"/>
            <a:ext cx="1737360" cy="1234440"/>
          </a:xfrm>
          <a:prstGeom prst="rect">
            <a:avLst/>
          </a:prstGeom>
          <a:solidFill>
            <a:srgbClr val="F5E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286000"/>
            <a:ext cx="1737360" cy="123444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34840" y="3520440"/>
            <a:ext cx="1737360" cy="1234440"/>
          </a:xfrm>
          <a:prstGeom prst="rect">
            <a:avLst/>
          </a:prstGeom>
          <a:solidFill>
            <a:srgbClr val="E3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2200" y="3520440"/>
            <a:ext cx="1737360" cy="123444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4434840" y="3520440.0"/>
            <a:ext cx="3474720" cy="0.0"/>
          </a:xfrm>
          <a:prstGeom prst="line">
            <a:avLst/>
          </a:prstGeom>
          <a:ln w="15240">
            <a:solidFill>
              <a:srgbClr val="1A1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72200.0" y="2286000"/>
            <a:ext cx="0.0" cy="2468880"/>
          </a:xfrm>
          <a:prstGeom prst="line">
            <a:avLst/>
          </a:prstGeom>
          <a:ln w="15240">
            <a:solidFill>
              <a:srgbClr val="1A1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480560" y="2331720"/>
            <a:ext cx="17373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89B2F"/>
                </a:solidFill>
                <a:latin typeface="Calibri"/>
              </a:rPr>
              <a:t>★ Stars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2331720"/>
            <a:ext cx="17373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B71C1C"/>
                </a:solidFill>
                <a:latin typeface="Calibri"/>
              </a:rPr>
              <a:t>? Question Marks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0" y="3566160"/>
            <a:ext cx="17373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1F7A4A"/>
                </a:solidFill>
                <a:latin typeface="Calibri"/>
              </a:rPr>
              <a:t>$ Cash Cows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3566160"/>
            <a:ext cx="17373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07F82"/>
                </a:solidFill>
                <a:latin typeface="Calibri"/>
              </a:rPr>
              <a:t>✕ Dogs</a:t>
            </a:r>
          </a:p>
        </p:txBody>
      </p:sp>
      <p:sp>
        <p:nvSpPr>
          <p:cNvPr id="50" name="Oval 49"/>
          <p:cNvSpPr/>
          <p:nvPr/>
        </p:nvSpPr>
        <p:spPr>
          <a:xfrm>
            <a:off x="6629400" y="2926080"/>
            <a:ext cx="457200" cy="45720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2926080"/>
            <a:ext cx="457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52" name="Oval 51"/>
          <p:cNvSpPr/>
          <p:nvPr/>
        </p:nvSpPr>
        <p:spPr>
          <a:xfrm>
            <a:off x="4892040" y="4069080"/>
            <a:ext cx="457200" cy="457200"/>
          </a:xfrm>
          <a:prstGeom prst="ellipse">
            <a:avLst/>
          </a:prstGeom>
          <a:solidFill>
            <a:srgbClr val="1F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92040" y="4069080"/>
            <a:ext cx="457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54" name="Oval 53"/>
          <p:cNvSpPr/>
          <p:nvPr/>
        </p:nvSpPr>
        <p:spPr>
          <a:xfrm>
            <a:off x="4892040" y="2926080"/>
            <a:ext cx="457200" cy="457200"/>
          </a:xfrm>
          <a:prstGeom prst="ellipse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92040" y="2926080"/>
            <a:ext cx="4572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★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5349240" y="3154680"/>
            <a:ext cx="1280160.0" cy="0"/>
          </a:xfrm>
          <a:prstGeom prst="line">
            <a:avLst/>
          </a:prstGeom>
          <a:ln w="19050">
            <a:solidFill>
              <a:srgbClr val="1A1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434840" y="4800600"/>
            <a:ext cx="34747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← low share         high 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286000"/>
            <a:ext cx="320040" cy="24688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↑hi</a:t>
            </a:r>
          </a:p>
          <a:p>
            <a:pPr algn="ctr">
              <a:lnSpc>
                <a:spcPct val="13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grwth</a:t>
            </a:r>
          </a:p>
          <a:p>
            <a:pPr algn="ctr">
              <a:lnSpc>
                <a:spcPct val="13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↓lo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89120" y="5166360"/>
            <a:ext cx="3566160" cy="1371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80560" y="525780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VERDICT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80560" y="5486400"/>
            <a:ext cx="338328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South India = Cash Cow funds the North push.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North India = Question Mark today — invest to make it a Star within 3 years.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No external capital required.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Porter's 5 Forces · North India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29600" y="2286000"/>
            <a:ext cx="3657600" cy="566928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2331720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F"/>
                </a:solidFill>
                <a:latin typeface="Calibri"/>
              </a:rPr>
              <a:t>Competitive rivalry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149840" y="2359152"/>
            <a:ext cx="502920" cy="201168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49840" y="2359152"/>
            <a:ext cx="50292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1040" y="2596896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Few national pre-engineered competitors. Local SMEs are small.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29600" y="2907792"/>
            <a:ext cx="3657600" cy="566928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21040" y="2953512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F"/>
                </a:solidFill>
                <a:latin typeface="Calibri"/>
              </a:rPr>
              <a:t>New entrants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49840" y="2980944"/>
            <a:ext cx="502920" cy="201168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49840" y="2980944"/>
            <a:ext cx="50292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21040" y="3218688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Some — but high capex to set up plants.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229600" y="3529584"/>
            <a:ext cx="3657600" cy="566928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21040" y="3575304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F"/>
                </a:solidFill>
                <a:latin typeface="Calibri"/>
              </a:rPr>
              <a:t>Suppliers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49840" y="3602736"/>
            <a:ext cx="502920" cy="201168"/>
          </a:xfrm>
          <a:prstGeom prst="rect">
            <a:avLst/>
          </a:prstGeom>
          <a:solidFill>
            <a:srgbClr val="1F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149840" y="3602736"/>
            <a:ext cx="50292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21040" y="3840480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Steel + cement are commodities; multiple sources.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9600" y="4151376"/>
            <a:ext cx="3657600" cy="566928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21040" y="4197096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F"/>
                </a:solidFill>
                <a:latin typeface="Calibri"/>
              </a:rPr>
              <a:t>Buyers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9840" y="4224528"/>
            <a:ext cx="502920" cy="201168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49840" y="4224528"/>
            <a:ext cx="50292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21040" y="4462272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Hard to find, hard to convince, hard to keep.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229600" y="4773168"/>
            <a:ext cx="3657600" cy="566928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21040" y="4818888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F"/>
                </a:solidFill>
                <a:latin typeface="Calibri"/>
              </a:rPr>
              <a:t>Substitutes (brick/RCC)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149840" y="4846320"/>
            <a:ext cx="502920" cy="201168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149840" y="4846320"/>
            <a:ext cx="50292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1040" y="5084064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D4D55"/>
                </a:solidFill>
                <a:latin typeface="Calibri"/>
              </a:rPr>
              <a:t>Brick mason is everywhere and cheap to hire.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229600" y="6400800"/>
            <a:ext cx="3657600" cy="292608"/>
          </a:xfrm>
          <a:prstGeom prst="roundRect">
            <a:avLst>
              <a:gd name="adj" fmla="val 2000"/>
            </a:avLst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0" y="6400800"/>
            <a:ext cx="36576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Our edge must be PROOF + SPEED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Where to play &amp; how to win : three beachheads, five strategic pillars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Beachheads picked by economic density, segment fit and travel feasibility. Pillars sequenced so each unlocks the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83080"/>
            <a:ext cx="576072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783080"/>
            <a:ext cx="57607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WHERE TO PLAY · 3 Beachheads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194560"/>
            <a:ext cx="5760720" cy="128016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2920" y="2560320"/>
            <a:ext cx="548640" cy="54864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56032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230428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F"/>
                </a:solidFill>
                <a:latin typeface="Calibri"/>
              </a:rPr>
              <a:t>NCR &amp; Greater Noida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2359152"/>
            <a:ext cx="1417320" cy="292608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359152"/>
            <a:ext cx="1417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PEN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697480"/>
            <a:ext cx="48463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D4D55"/>
                </a:solidFill>
                <a:latin typeface="Calibri"/>
              </a:rPr>
              <a:t>Warehouse + light-industrial developers · pre-engineered already accepted · highest demand density.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566160"/>
            <a:ext cx="5760720" cy="128016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2920" y="3931920"/>
            <a:ext cx="548640" cy="54864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93192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367588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F"/>
                </a:solidFill>
                <a:latin typeface="Calibri"/>
              </a:rPr>
              <a:t>Punjab + Haryana farm belt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3730752"/>
            <a:ext cx="1417320" cy="292608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730752"/>
            <a:ext cx="1417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PEN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069080"/>
            <a:ext cx="48463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D4D55"/>
                </a:solidFill>
                <a:latin typeface="Calibri"/>
              </a:rPr>
              <a:t>Mid-sized poultry, dairy and cold-storage owners · cost + speed pitch lands hardest.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937760"/>
            <a:ext cx="5760720" cy="128016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2920" y="5303520"/>
            <a:ext cx="548640" cy="54864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30352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504748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F"/>
                </a:solidFill>
                <a:latin typeface="Calibri"/>
              </a:rPr>
              <a:t>Uttarakhand resort corridor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102352"/>
            <a:ext cx="1417320" cy="292608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5102352"/>
            <a:ext cx="1417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MNZE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5440680"/>
            <a:ext cx="48463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D4D55"/>
                </a:solidFill>
                <a:latin typeface="Calibri"/>
              </a:rPr>
              <a:t>Resort &amp; farm-stay developers · short build season favours modular · sustainability story aligns.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1783080"/>
            <a:ext cx="553212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1783080"/>
            <a:ext cx="55321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HOW TO WIN · 5 Pillars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194560"/>
            <a:ext cx="553212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194560"/>
            <a:ext cx="640080" cy="77724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3640" y="2194560"/>
            <a:ext cx="64008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2304288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PRESENCE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2560320"/>
            <a:ext cx="4709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D4D55"/>
                </a:solidFill>
                <a:latin typeface="Calibri"/>
              </a:rPr>
              <a:t>Open stocking + service depot in beachhead. Hire North-India head.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3044952"/>
            <a:ext cx="553212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3044952"/>
            <a:ext cx="640080" cy="777240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3044952"/>
            <a:ext cx="64008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0" y="3154680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PROOF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3410712"/>
            <a:ext cx="4709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D4D55"/>
                </a:solidFill>
                <a:latin typeface="Calibri"/>
              </a:rPr>
              <a:t>Close PEN certification. Sign 3 lighthouse projects with photo + video.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63640" y="3895344"/>
            <a:ext cx="553212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263640" y="3895344"/>
            <a:ext cx="640080" cy="77724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63640" y="3895344"/>
            <a:ext cx="64008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0" y="4005072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CHANNEL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0" y="4261104"/>
            <a:ext cx="4709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D4D55"/>
                </a:solidFill>
                <a:latin typeface="Calibri"/>
              </a:rPr>
              <a:t>Build 20-30 architect + EPC + PMC relationships per beachhead.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63640" y="4745736"/>
            <a:ext cx="553212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63640" y="4745736"/>
            <a:ext cx="640080" cy="777240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63640" y="4745736"/>
            <a:ext cx="64008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0" y="4855464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PRODUCT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0" y="5111496"/>
            <a:ext cx="4709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D4D55"/>
                </a:solidFill>
                <a:latin typeface="Calibri"/>
              </a:rPr>
              <a:t>Test PEN for North soil + climate. Translate kit to Hindi.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63640" y="5596128"/>
            <a:ext cx="5532120" cy="7772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5596128"/>
            <a:ext cx="640080" cy="77724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63640" y="5596128"/>
            <a:ext cx="64008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57058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OPERATE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40880" y="5961888"/>
            <a:ext cx="4709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D4D55"/>
                </a:solidFill>
                <a:latin typeface="Calibri"/>
              </a:rPr>
              <a:t>Certify local installers. Publish 48-hr service SLA.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760" y="6446520"/>
            <a:ext cx="11430000" cy="292608"/>
          </a:xfrm>
          <a:prstGeom prst="roundRect">
            <a:avLst>
              <a:gd name="adj" fmla="val 2000"/>
            </a:avLst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6446520"/>
            <a:ext cx="114300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1">
                <a:solidFill>
                  <a:srgbClr val="FFF4F1"/>
                </a:solidFill>
                <a:latin typeface="Calibri"/>
              </a:rPr>
              <a:t>Pillars 1+2 are non-negotiable foundations — Pillars 3-5 stack on top once a beachhead has presence + proof.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Solution · Trust Architecture : remove the buyer's reasons to say no, one by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Every component below directly attacks one of the 5 problems listed on slide 2. Nothing in this layer requires more product R&amp;D — it requires execution.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83080"/>
            <a:ext cx="594360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783080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trust moves · sequenced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194560"/>
            <a:ext cx="5943600" cy="786384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2920" y="2395728"/>
            <a:ext cx="365760" cy="36576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395728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2267712"/>
            <a:ext cx="4846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Close PEN Certification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505456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Track every pending approval — body, stage, blocker. CEO-led monthly review.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761488"/>
            <a:ext cx="48463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7F1212"/>
                </a:solidFill>
                <a:latin typeface="Calibri"/>
              </a:rPr>
              <a:t>Fixes: "Paperwork not done"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035808"/>
            <a:ext cx="5943600" cy="786384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3236976"/>
            <a:ext cx="365760" cy="36576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236976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108960"/>
            <a:ext cx="4846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Lighthouse Project Programme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346704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One reference project per beachhead at concession pricing. Photographable + visitable + Hindi case-study.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3602736"/>
            <a:ext cx="48463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7F1212"/>
                </a:solidFill>
                <a:latin typeface="Calibri"/>
              </a:rPr>
              <a:t>Fixes: "No driveable proof"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877056"/>
            <a:ext cx="5943600" cy="786384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2920" y="4078224"/>
            <a:ext cx="365760" cy="36576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078224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3950208"/>
            <a:ext cx="4846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Bilingual Sales Kit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187952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Hindi BoQ templates, contracts, WhatsApp drip, site signage. Sales team trained on regional dialect.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443984"/>
            <a:ext cx="48463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7F1212"/>
                </a:solidFill>
                <a:latin typeface="Calibri"/>
              </a:rPr>
              <a:t>Fixes: "Language mismatch"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718304"/>
            <a:ext cx="5943600" cy="786384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2920" y="4919472"/>
            <a:ext cx="365760" cy="36576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4919472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791456"/>
            <a:ext cx="4846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North Soil + Climate 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5029200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Pilot lab tests on alluvial soil + foothill cold cycle + Doon dust profile. Publish results.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285232"/>
            <a:ext cx="48463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7F1212"/>
                </a:solidFill>
                <a:latin typeface="Calibri"/>
              </a:rPr>
              <a:t>Fixes: "Spec-fit unknown"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5559552"/>
            <a:ext cx="5943600" cy="786384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02920" y="5760720"/>
            <a:ext cx="365760" cy="36576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7607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632704"/>
            <a:ext cx="4846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Local Installer Certification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" y="58704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Train 2-3 local installer firms per beachhead. NSDC-aligned curriculum. Branded ID.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6126480"/>
            <a:ext cx="48463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7F1212"/>
                </a:solidFill>
                <a:latin typeface="Calibri"/>
              </a:rPr>
              <a:t>Fixes: "We're not there"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46520" y="1783080"/>
            <a:ext cx="534924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46520" y="1783080"/>
            <a:ext cx="534924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Trust Signal Matrix · what buyers see before they sign</a:t>
            </a:r>
          </a:p>
        </p:txBody>
      </p:sp>
      <p:sp>
        <p:nvSpPr>
          <p:cNvPr id="54" name="Oval 53"/>
          <p:cNvSpPr/>
          <p:nvPr/>
        </p:nvSpPr>
        <p:spPr>
          <a:xfrm>
            <a:off x="8595360" y="3200400"/>
            <a:ext cx="1097280" cy="10972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95360" y="3200400"/>
            <a:ext cx="1097280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C-DISC</a:t>
            </a:r>
          </a:p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Trust</a:t>
            </a:r>
          </a:p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Stack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675120" y="2286000"/>
            <a:ext cx="1371600" cy="777240"/>
          </a:xfrm>
          <a:prstGeom prst="roundRect">
            <a:avLst>
              <a:gd name="adj" fmla="val 5000"/>
            </a:avLst>
          </a:prstGeom>
          <a:solidFill>
            <a:srgbClr val="FFF4F1"/>
          </a:solidFill>
          <a:ln w="1270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0" y="2359152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CERTIFIED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606040"/>
            <a:ext cx="118872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4D4D55"/>
                </a:solidFill>
                <a:latin typeface="Calibri"/>
              </a:rPr>
              <a:t>PEN approvals · NIT Calicut endorsement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2670048"/>
            <a:ext cx="1783080" cy="1078991"/>
          </a:xfrm>
          <a:prstGeom prst="line">
            <a:avLst/>
          </a:prstGeom>
          <a:ln w="12700">
            <a:solidFill>
              <a:srgbClr val="F9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0424160" y="2286000"/>
            <a:ext cx="1371600" cy="777240"/>
          </a:xfrm>
          <a:prstGeom prst="roundRect">
            <a:avLst>
              <a:gd name="adj" fmla="val 5000"/>
            </a:avLst>
          </a:prstGeom>
          <a:solidFill>
            <a:srgbClr val="FFF4F1"/>
          </a:solidFill>
          <a:ln w="1270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24160" y="2359152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REFERENCED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2606040"/>
            <a:ext cx="118872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4D4D55"/>
                </a:solidFill>
                <a:latin typeface="Calibri"/>
              </a:rPr>
              <a:t>3 lighthouse projects per beachhead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9144000" y="2670048"/>
            <a:ext cx="1965960" cy="1078991"/>
          </a:xfrm>
          <a:prstGeom prst="line">
            <a:avLst/>
          </a:prstGeom>
          <a:ln w="12700">
            <a:solidFill>
              <a:srgbClr val="F9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675120" y="4572000"/>
            <a:ext cx="1371600" cy="777240"/>
          </a:xfrm>
          <a:prstGeom prst="roundRect">
            <a:avLst>
              <a:gd name="adj" fmla="val 5000"/>
            </a:avLst>
          </a:prstGeom>
          <a:solidFill>
            <a:srgbClr val="FFF4F1"/>
          </a:solidFill>
          <a:ln w="1270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5120" y="4645152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LOCALISED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6560" y="4892040"/>
            <a:ext cx="118872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4D4D55"/>
                </a:solidFill>
                <a:latin typeface="Calibri"/>
              </a:rPr>
              <a:t>Hindi kit + North-soil tested</a:t>
            </a:r>
          </a:p>
        </p:txBody>
      </p:sp>
      <p:cxnSp>
        <p:nvCxnSpPr>
          <p:cNvPr id="67" name="Connector 66"/>
          <p:cNvCxnSpPr/>
          <p:nvPr/>
        </p:nvCxnSpPr>
        <p:spPr>
          <a:xfrm flipV="1">
            <a:off x="7360920" y="3749039"/>
            <a:ext cx="1783080" cy="1207009"/>
          </a:xfrm>
          <a:prstGeom prst="line">
            <a:avLst/>
          </a:prstGeom>
          <a:ln w="12700">
            <a:solidFill>
              <a:srgbClr val="F9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0424160" y="4572000"/>
            <a:ext cx="1371600" cy="777240"/>
          </a:xfrm>
          <a:prstGeom prst="roundRect">
            <a:avLst>
              <a:gd name="adj" fmla="val 5000"/>
            </a:avLst>
          </a:prstGeom>
          <a:solidFill>
            <a:srgbClr val="FFF4F1"/>
          </a:solidFill>
          <a:ln w="1270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24160" y="4645152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INSTALLED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4892040"/>
            <a:ext cx="118872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4D4D55"/>
                </a:solidFill>
                <a:latin typeface="Calibri"/>
              </a:rPr>
              <a:t>90-day SLA + local installer ID</a:t>
            </a:r>
          </a:p>
        </p:txBody>
      </p:sp>
      <p:cxnSp>
        <p:nvCxnSpPr>
          <p:cNvPr id="71" name="Connector 70"/>
          <p:cNvCxnSpPr/>
          <p:nvPr/>
        </p:nvCxnSpPr>
        <p:spPr>
          <a:xfrm flipH="1" flipV="1">
            <a:off x="9144000" y="3749039"/>
            <a:ext cx="1965960" cy="1207009"/>
          </a:xfrm>
          <a:prstGeom prst="line">
            <a:avLst/>
          </a:prstGeom>
          <a:ln w="12700">
            <a:solidFill>
              <a:srgbClr val="F9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6446520" y="5669280"/>
            <a:ext cx="5349240" cy="777240"/>
          </a:xfrm>
          <a:prstGeom prst="roundRect">
            <a:avLst>
              <a:gd name="adj" fmla="val 2000"/>
            </a:avLst>
          </a:prstGeom>
          <a:solidFill>
            <a:srgbClr val="FDECEC"/>
          </a:solidFill>
          <a:ln w="1016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0" y="5760720"/>
            <a:ext cx="5074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KEY INSIGHT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83680" y="5989320"/>
            <a:ext cx="50749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A1A1F"/>
                </a:solidFill>
                <a:latin typeface="Calibri"/>
              </a:rPr>
              <a:t>Trust is not a marketing slide. It's a stack of four operational deliverables — together they make C-DISC the obvious low-risk choice.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Note · "Closing PEN certification" requires C-DISC to share which approvals are pending (body, stage, blocker) — see input request in appendix.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Solution · The C-DISC GTM Agent : a live, working CRM + outreach tool built for the North-India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Already deployed at cdisc-north-engine.vercel.app — used as the operating layer for discovery → CRM → outreach → tracking.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83080"/>
            <a:ext cx="3840480" cy="24688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1 · DISCOVER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2313432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240280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Real OpenAI-powered web search for businesses (PEN-fit segments)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" y="2697480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624328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Manual lead entry with auto segment detection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308152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008376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Sample-batch generator for pipeline testing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" y="3465576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392424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G+1 / multi-storey reject built in (3-layer enforcement)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977640"/>
            <a:ext cx="3511296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⚙ Browser calls OpenAI · key stays in user's browser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1783080"/>
            <a:ext cx="3840480" cy="24688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2 · CRM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16552" y="2313432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4568" y="2240280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Pipeline as kanban or table 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16552" y="2697480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44568" y="2624328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7 stages: New → Contacted → Replied → Qualified → Proposal → Won/Lost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16552" y="308152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44568" y="3008376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Per-lead drawer · edit · stage change · timeline · notes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16552" y="3465576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4568" y="3392424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CSV export · activity feed · search + filters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6552" y="3977640"/>
            <a:ext cx="3511296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⚙ No backend · localStorage only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8160" y="1783080"/>
            <a:ext cx="3840480" cy="24688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3 · OUTREACH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02752" y="2313432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30768" y="2240280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Personalised messages: WhatsApp + Email + LinkedIn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02752" y="2697480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8" y="2624328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EN + HI templates per segment (5 segments)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02752" y="308152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3008376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wa.me click-link export · email CSV · LinkedIn DM queue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02752" y="3465576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30768" y="3392424"/>
            <a:ext cx="3383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F"/>
                </a:solidFill>
                <a:latin typeface="Calibri"/>
              </a:rPr>
              <a:t>On-send: stage auto-bumps to Contacted; history logged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02752" y="3977640"/>
            <a:ext cx="3511296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⚙ ToS-compliant — no auto-DM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5760" y="4389120"/>
            <a:ext cx="7772400" cy="1600200"/>
          </a:xfrm>
          <a:prstGeom prst="roundRect">
            <a:avLst>
              <a:gd name="adj" fmla="val 3000"/>
            </a:avLst>
          </a:prstGeom>
          <a:solidFill>
            <a:srgbClr val="FFFDF9"/>
          </a:solidFill>
          <a:ln w="1270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4389120"/>
            <a:ext cx="7772400" cy="292608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02920" y="4462272"/>
            <a:ext cx="137160" cy="137160"/>
          </a:xfrm>
          <a:prstGeom prst="ellipse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85800" y="4462272"/>
            <a:ext cx="137160" cy="137160"/>
          </a:xfrm>
          <a:prstGeom prst="ellipse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68680" y="4462272"/>
            <a:ext cx="137160" cy="137160"/>
          </a:xfrm>
          <a:prstGeom prst="ellipse">
            <a:avLst/>
          </a:prstGeom>
          <a:solidFill>
            <a:srgbClr val="1F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4425696"/>
            <a:ext cx="59436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cdisc-north-engine.vercel.app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681728"/>
            <a:ext cx="1371600" cy="1307592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800600"/>
            <a:ext cx="11887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B71C1C"/>
                </a:solidFill>
                <a:latin typeface="Calibri"/>
              </a:rPr>
              <a:t>•  CRM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5001768"/>
            <a:ext cx="11887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71C1C"/>
                </a:solidFill>
                <a:latin typeface="Calibri"/>
              </a:rPr>
              <a:t>•  Discover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5202936"/>
            <a:ext cx="11887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71C1C"/>
                </a:solidFill>
                <a:latin typeface="Calibri"/>
              </a:rPr>
              <a:t>•  Outreach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5404104"/>
            <a:ext cx="11887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71C1C"/>
                </a:solidFill>
                <a:latin typeface="Calibri"/>
              </a:rPr>
              <a:t>•  Activity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605272"/>
            <a:ext cx="11887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71C1C"/>
                </a:solidFill>
                <a:latin typeface="Calibri"/>
              </a:rPr>
              <a:t>•  Configure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74519" y="4773168"/>
            <a:ext cx="61264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F"/>
                </a:solidFill>
                <a:latin typeface="Calibri"/>
              </a:rPr>
              <a:t>Pipeline overview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874519" y="5074920"/>
            <a:ext cx="1143000" cy="50292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74519" y="5120640"/>
            <a:ext cx="114300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Total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74519" y="5276088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B71C1C"/>
                </a:solidFill>
                <a:latin typeface="Calibri"/>
              </a:rPr>
              <a:t>—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072383" y="5074920"/>
            <a:ext cx="1143000" cy="50292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72383" y="5120640"/>
            <a:ext cx="114300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New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72383" y="5276088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B71C1C"/>
                </a:solidFill>
                <a:latin typeface="Calibri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70247" y="5074920"/>
            <a:ext cx="1143000" cy="50292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70247" y="5120640"/>
            <a:ext cx="114300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Contacted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70247" y="5276088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B71C1C"/>
                </a:solidFill>
                <a:latin typeface="Calibri"/>
              </a:rPr>
              <a:t>—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68111" y="5074920"/>
            <a:ext cx="1143000" cy="50292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68111" y="5120640"/>
            <a:ext cx="114300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Replied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68111" y="5276088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B71C1C"/>
                </a:solidFill>
                <a:latin typeface="Calibri"/>
              </a:rPr>
              <a:t>—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665975" y="5074920"/>
            <a:ext cx="1143000" cy="50292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665975" y="5120640"/>
            <a:ext cx="114300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807F82"/>
                </a:solidFill>
                <a:latin typeface="Calibri"/>
              </a:rPr>
              <a:t>Won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65975" y="5276088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B71C1C"/>
                </a:solidFill>
                <a:latin typeface="Calibri"/>
              </a:rPr>
              <a:t>—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874519" y="5669280"/>
            <a:ext cx="1143000" cy="274320"/>
          </a:xfrm>
          <a:prstGeom prst="roundRect">
            <a:avLst>
              <a:gd name="adj" fmla="val 2000"/>
            </a:avLst>
          </a:prstGeom>
          <a:solidFill>
            <a:srgbClr val="FDECEC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874519" y="5669280"/>
            <a:ext cx="114300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7F1212"/>
                </a:solidFill>
                <a:latin typeface="Calibri"/>
              </a:rPr>
              <a:t>New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072383" y="5669280"/>
            <a:ext cx="1143000" cy="274320"/>
          </a:xfrm>
          <a:prstGeom prst="roundRect">
            <a:avLst>
              <a:gd name="adj" fmla="val 2000"/>
            </a:avLst>
          </a:prstGeom>
          <a:solidFill>
            <a:srgbClr val="FDECEC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072383" y="5669280"/>
            <a:ext cx="114300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7F1212"/>
                </a:solidFill>
                <a:latin typeface="Calibri"/>
              </a:rPr>
              <a:t>Contacted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270247" y="5669280"/>
            <a:ext cx="1143000" cy="274320"/>
          </a:xfrm>
          <a:prstGeom prst="roundRect">
            <a:avLst>
              <a:gd name="adj" fmla="val 2000"/>
            </a:avLst>
          </a:prstGeom>
          <a:solidFill>
            <a:srgbClr val="FDECEC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70247" y="5669280"/>
            <a:ext cx="114300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7F1212"/>
                </a:solidFill>
                <a:latin typeface="Calibri"/>
              </a:rPr>
              <a:t>Replied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468111" y="5669280"/>
            <a:ext cx="1143000" cy="274320"/>
          </a:xfrm>
          <a:prstGeom prst="roundRect">
            <a:avLst>
              <a:gd name="adj" fmla="val 2000"/>
            </a:avLst>
          </a:prstGeom>
          <a:solidFill>
            <a:srgbClr val="FDECEC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68111" y="5669280"/>
            <a:ext cx="114300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7F1212"/>
                </a:solidFill>
                <a:latin typeface="Calibri"/>
              </a:rPr>
              <a:t>Qualified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665975" y="5669280"/>
            <a:ext cx="1143000" cy="274320"/>
          </a:xfrm>
          <a:prstGeom prst="roundRect">
            <a:avLst>
              <a:gd name="adj" fmla="val 2000"/>
            </a:avLst>
          </a:prstGeom>
          <a:solidFill>
            <a:srgbClr val="FDECEC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65975" y="5669280"/>
            <a:ext cx="114300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7F1212"/>
                </a:solidFill>
                <a:latin typeface="Calibri"/>
              </a:rPr>
              <a:t>Won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275320" y="4389120"/>
            <a:ext cx="3520440" cy="1600200"/>
          </a:xfrm>
          <a:prstGeom prst="roundRect">
            <a:avLst>
              <a:gd name="adj" fmla="val 3000"/>
            </a:avLst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12480" y="4480560"/>
            <a:ext cx="3246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89B2F"/>
                </a:solidFill>
                <a:latin typeface="Calibri"/>
              </a:rPr>
              <a:t>WHY IT MATTERS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12480" y="4754880"/>
            <a:ext cx="324612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Even the best strategy needs a daily operating layer.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The agent gives the North-India team a CRM, an outreach engine and an activity log on day one — no months waiting on tools.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6080760"/>
            <a:ext cx="11430000" cy="502920"/>
          </a:xfrm>
          <a:prstGeom prst="roundRect">
            <a:avLst>
              <a:gd name="adj" fmla="val 2000"/>
            </a:avLst>
          </a:prstGeom>
          <a:solidFill>
            <a:srgbClr val="FFF4F1"/>
          </a:solidFill>
          <a:ln w="9525">
            <a:solidFill>
              <a:srgbClr val="F9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12648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TECH STACK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6355080"/>
            <a:ext cx="749807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Vanilla JS · HTML/CSS · Vercel · OpenAI Responses API · localStorage · ~2,500 LOC · open-source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29600" y="6172200"/>
            <a:ext cx="548640" cy="292608"/>
          </a:xfrm>
          <a:prstGeom prst="rect">
            <a:avLst/>
          </a:prstGeom>
          <a:solidFill>
            <a:srgbClr val="1F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29600" y="6172200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LIVE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69680" y="6245352"/>
            <a:ext cx="2926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7F1212"/>
                </a:solidFill>
                <a:latin typeface="Calibri"/>
              </a:rPr>
              <a:t>cdisc-north-engine.vercel.app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GTM Roadmap : own one beachhead first, replicate to the rest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A 3-phase model that mirrors the proven city-mastery playbook. KPI targets per phase to be confirmed by leadership.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83080"/>
            <a:ext cx="731520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783080"/>
            <a:ext cx="73152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THREE-PHASE GTM TIMELINE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194560"/>
            <a:ext cx="7315200" cy="1371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194560"/>
            <a:ext cx="1097280" cy="137160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286000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89B2F"/>
                </a:solidFill>
                <a:latin typeface="Calibri"/>
              </a:rPr>
              <a:t>PHASE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606040"/>
            <a:ext cx="109728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SEED &amp;</a:t>
            </a:r>
          </a:p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SIGNAL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286000"/>
            <a:ext cx="5623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BEACHHEAD: NCR / Greater Noida (first beachhead)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640" y="2615184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83080" y="2560320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Hire Head of North India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91640" y="2779776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83080" y="2724912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Open stocking + service depot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91640" y="2944368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2889504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Sign first lighthouse project (concession price)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91640" y="3108960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83080" y="3054096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Close pending PEN certifications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91640" y="3273552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83080" y="3218688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Translate sales kit to Hindi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91640" y="3438144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83080" y="3383280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Onboard 5-8 specifier accounts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32120" y="256032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256032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1 depot live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32120" y="278892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32120" y="278892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1 lighthouse signed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32120" y="301752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32120" y="301752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≥5 specifier accounts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32120" y="324612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32120" y="324612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PEN cert progress logged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5760" y="3657600"/>
            <a:ext cx="7315200" cy="1371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760" y="3657600"/>
            <a:ext cx="1097280" cy="137160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3749040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89B2F"/>
                </a:solidFill>
                <a:latin typeface="Calibri"/>
              </a:rPr>
              <a:t>PHASE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4069080"/>
            <a:ext cx="109728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PROVE &amp;</a:t>
            </a:r>
          </a:p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3749040"/>
            <a:ext cx="5623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BEACHHEAD: NCR consolidated · open Punjab/Haryana farm belt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691640" y="4078224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783080" y="4023360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Open beachhead #2 (Punjab/Haryana)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91640" y="4242816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83080" y="4187952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Train first installer cohort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691640" y="4407408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83080" y="4352544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NABARD vendor empanelment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91640" y="4572000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783080" y="4517136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20-30 active specifiers per beachhead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91640" y="4736592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83080" y="4681728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Photographed reference sites visited by buyers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91640" y="4901184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83080" y="4846320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Run paid pilot campaigns in Hindi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532120" y="402336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532120" y="402336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2 beachheads live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32120" y="425196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532120" y="425196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3+ lighthouse sites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32120" y="448056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32120" y="448056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≥20 specifiers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532120" y="470916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32120" y="470916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Service SLA published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5120640"/>
            <a:ext cx="7315200" cy="1371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5760" y="5120640"/>
            <a:ext cx="1097280" cy="137160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5212080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89B2F"/>
                </a:solidFill>
                <a:latin typeface="Calibri"/>
              </a:rPr>
              <a:t>PHASE 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5532120"/>
            <a:ext cx="109728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REPLICATE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00200" y="5212080"/>
            <a:ext cx="5623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BEACHHEAD: Uttarakhand resort belt · NCR scale-up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91640" y="5541264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783080" y="5486400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Open beachhead #3 (Uttarakhand)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691640" y="5705856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783080" y="5650992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Launch first MNZE resort cluster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91640" y="5870448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783080" y="5815584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Decide on North-India plant location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91640" y="6035040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783080" y="5980176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Industry awards + PR push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91640" y="6199632"/>
            <a:ext cx="4572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783080" y="6144768"/>
            <a:ext cx="365760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Adjacent state probe (Rajasthan / Delhi extension)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532120" y="548640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532120" y="548640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3 beachheads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532120" y="571500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32120" y="571500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First MNZE cluster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532120" y="594360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532120" y="594360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Plant decision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532120" y="6172200"/>
            <a:ext cx="1691640" cy="201168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32120" y="6172200"/>
            <a:ext cx="16916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750" b="1" i="0">
                <a:solidFill>
                  <a:srgbClr val="7F1212"/>
                </a:solidFill>
                <a:latin typeface="Calibri"/>
              </a:rPr>
              <a:t>North revenue [TBD]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772400" y="1783080"/>
            <a:ext cx="402336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772400" y="1783080"/>
            <a:ext cx="40233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BEACHHEAD EXPANSION SEQUENCE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772400" y="2194560"/>
            <a:ext cx="4023360" cy="32004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863840" y="2194560"/>
            <a:ext cx="128016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City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26880" y="2194560"/>
            <a:ext cx="64008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149840" y="2194560"/>
            <a:ext cx="155448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Why now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772400" y="2514600"/>
            <a:ext cx="4023360" cy="50292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863840" y="2514600"/>
            <a:ext cx="12801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NCR / Gr Noida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26880" y="2514600"/>
            <a:ext cx="6400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B71C1C"/>
                </a:solidFill>
                <a:latin typeface="Calibri"/>
              </a:rPr>
              <a:t>P1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149840" y="2514600"/>
            <a:ext cx="15544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Highest density · pre-engg accepted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772400" y="3017520"/>
            <a:ext cx="4023360" cy="502920"/>
          </a:xfrm>
          <a:prstGeom prst="rect">
            <a:avLst/>
          </a:prstGeom>
          <a:solidFill>
            <a:srgbClr val="FFF4F1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863840" y="3017520"/>
            <a:ext cx="12801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Khurja / Dadri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26880" y="3017520"/>
            <a:ext cx="6400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B71C1C"/>
                </a:solidFill>
                <a:latin typeface="Calibri"/>
              </a:rPr>
              <a:t>P1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49840" y="3017520"/>
            <a:ext cx="15544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Adjacent · low-cost expansion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772400" y="3520440"/>
            <a:ext cx="4023360" cy="50292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863840" y="3520440"/>
            <a:ext cx="12801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Bareilly + UP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0" y="3520440"/>
            <a:ext cx="6400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B71C1C"/>
                </a:solidFill>
                <a:latin typeface="Calibri"/>
              </a:rPr>
              <a:t>P2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49840" y="3520440"/>
            <a:ext cx="15544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Agri infra cluster · NABARD route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72400" y="4023360"/>
            <a:ext cx="4023360" cy="502920"/>
          </a:xfrm>
          <a:prstGeom prst="rect">
            <a:avLst/>
          </a:prstGeom>
          <a:solidFill>
            <a:srgbClr val="FFF4F1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863840" y="4023360"/>
            <a:ext cx="12801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Karnal / Hisar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6880" y="4023360"/>
            <a:ext cx="6400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B71C1C"/>
                </a:solidFill>
                <a:latin typeface="Calibri"/>
              </a:rPr>
              <a:t>P2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149840" y="4023360"/>
            <a:ext cx="15544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Punjab/Haryana farm + dairy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772400" y="4526280"/>
            <a:ext cx="4023360" cy="50292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863840" y="4526280"/>
            <a:ext cx="12801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Nainital region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26880" y="4526280"/>
            <a:ext cx="6400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B71C1C"/>
                </a:solidFill>
                <a:latin typeface="Calibri"/>
              </a:rPr>
              <a:t>P3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49840" y="4526280"/>
            <a:ext cx="15544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Resort cottages · MNZE play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72400" y="5029200"/>
            <a:ext cx="4023360" cy="502920"/>
          </a:xfrm>
          <a:prstGeom prst="rect">
            <a:avLst/>
          </a:prstGeom>
          <a:solidFill>
            <a:srgbClr val="FFF4F1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63840" y="5029200"/>
            <a:ext cx="128016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Roorkee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326880" y="5029200"/>
            <a:ext cx="6400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B71C1C"/>
                </a:solidFill>
                <a:latin typeface="Calibri"/>
              </a:rPr>
              <a:t>P3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49840" y="5029200"/>
            <a:ext cx="15544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D4D55"/>
                </a:solidFill>
                <a:latin typeface="Calibri"/>
              </a:rPr>
              <a:t>Hill access + transit hub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772400" y="5577840"/>
            <a:ext cx="40233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1">
                <a:solidFill>
                  <a:srgbClr val="807F82"/>
                </a:solidFill>
                <a:latin typeface="Calibri"/>
              </a:rPr>
              <a:t>Note: city scale-out volumes per beachhead = [TBD by C-DISC after Phase 1 baseline]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537960"/>
            <a:ext cx="11430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7F1212"/>
                </a:solidFill>
                <a:latin typeface="Calibri"/>
              </a:rPr>
              <a:t>Strategic principle : do not run all three beachheads simultaneously in Phase 1. Concentrate, learn, then replicate.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F9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F1212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Economics : the qualitative cost structure of a Phase-1 entry — revenue model to be set by C-DISC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We can structure the buckets honestly without inventing the rupees. Each cost line below is real; each rupee value remains [TBD by C-DISC].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83080"/>
            <a:ext cx="640080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783080"/>
            <a:ext cx="6400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PHASE-1 COST STRUCTURE (qualitative)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194560"/>
            <a:ext cx="3200400" cy="105156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194560"/>
            <a:ext cx="3200400" cy="256032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194560"/>
            <a:ext cx="3108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FIXED — set-up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248716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Lease + fit-out · stocking depot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48716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267004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Software · CRM, comms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267004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low (agent open-source)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285292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Hindi sales kit translation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85292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one-time 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303580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Lab tests on N. India soil samples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03580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one-time medium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11880" y="2194560"/>
            <a:ext cx="3200400" cy="105156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11880" y="2194560"/>
            <a:ext cx="3200400" cy="256032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03320" y="2194560"/>
            <a:ext cx="3108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FIXED — recurring monthly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21608" y="248716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Head of North India + 2 reports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248716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1608" y="267004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Depot opex (utilities, rent)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267004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21608" y="285292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Marketing baseline + PR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85292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21608" y="303580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Hosting + SaaS subscriptions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303580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low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3337560"/>
            <a:ext cx="3200400" cy="105156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3337560"/>
            <a:ext cx="3200400" cy="256032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337560"/>
            <a:ext cx="3108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VARIABLE — per project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363016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Inbound freight (Calicut → site)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0" y="363016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high until plant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" y="381304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Installation crew mobilisation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381304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medium (local once trained)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399592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Site-specific compliance / cert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0" y="399592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low-medium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417880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Channel partner margin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0" y="417880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standard 7-10%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11880" y="3337560"/>
            <a:ext cx="3200400" cy="105156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11880" y="3337560"/>
            <a:ext cx="3200400" cy="256032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03320" y="3337560"/>
            <a:ext cx="3108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ONE-OFFS · Phase-1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21608" y="363016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Lighthouse-project concession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363016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[TBD margin gap]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21608" y="381304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Installer-training cohort #1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81304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one-time medium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21608" y="399592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Hiring + relocation costs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89320" y="399592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21608" y="4178808"/>
            <a:ext cx="219456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 PEN certification fees + tests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89320" y="4178808"/>
            <a:ext cx="77724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check w/ NIT Calicut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8000" y="1783080"/>
            <a:ext cx="493776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0" y="1783080"/>
            <a:ext cx="4937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REVENUE MODEL · STRUCTURE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858000" y="2194560"/>
            <a:ext cx="4937760" cy="17830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95160" y="2286000"/>
            <a:ext cx="4663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PER-PROJECT P&amp;L (structure only)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95160" y="2560320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Gross contract value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09760" y="2560320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>
                <a:solidFill>
                  <a:srgbClr val="B71C1C"/>
                </a:solidFill>
                <a:latin typeface="Calibri"/>
              </a:rPr>
              <a:t>[TBD] · ₹/sq ft × area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95160" y="2779776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− Cost of materials (factory)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2779776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>
                <a:solidFill>
                  <a:srgbClr val="B71C1C"/>
                </a:solidFill>
                <a:latin typeface="Calibri"/>
              </a:rPr>
              <a:t>[TBD] · COGS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60" y="2999232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− Inbound freight Calicut→site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09760" y="2999232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>
                <a:solidFill>
                  <a:srgbClr val="B71C1C"/>
                </a:solidFill>
                <a:latin typeface="Calibri"/>
              </a:rPr>
              <a:t>High till North plant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95160" y="3218688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− Installation labour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3218688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>
                <a:solidFill>
                  <a:srgbClr val="B71C1C"/>
                </a:solidFill>
                <a:latin typeface="Calibri"/>
              </a:rPr>
              <a:t>Lower w/ local crew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95160" y="3438144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− Channel partner share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09760" y="3438144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>
                <a:solidFill>
                  <a:srgbClr val="B71C1C"/>
                </a:solidFill>
                <a:latin typeface="Calibri"/>
              </a:rPr>
              <a:t>7-10% typical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903720" y="3675888"/>
            <a:ext cx="4846320" cy="201168"/>
          </a:xfrm>
          <a:prstGeom prst="rect">
            <a:avLst/>
          </a:prstGeom>
          <a:solidFill>
            <a:srgbClr val="FF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95160" y="3657600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1A1A1F"/>
                </a:solidFill>
                <a:latin typeface="Calibri"/>
              </a:rPr>
              <a:t>= Gross project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9760" y="3657600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58000" y="4114800"/>
            <a:ext cx="4937760" cy="15544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95160" y="4206240"/>
            <a:ext cx="4663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PAYBACK CALCULATION (template)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95160" y="4526280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Phase-1 setup investment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09760" y="4526280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[TBD by C-DISC]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95160" y="4727448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Avg margin per project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09760" y="4727448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95160" y="4928616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Projects to recover setup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09760" y="4928616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Setup ÷ Avg margin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95160" y="5129784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Months to first cohort sold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09760" y="5129784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Function of pipeline build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95160" y="5330952"/>
            <a:ext cx="2468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F"/>
                </a:solidFill>
                <a:latin typeface="Calibri"/>
              </a:rPr>
              <a:t>• Payback horizon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09760" y="5330952"/>
            <a:ext cx="22402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B71C1C"/>
                </a:solidFill>
                <a:latin typeface="Calibri"/>
              </a:rPr>
              <a:t>Use the above formula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5760" y="6263640"/>
            <a:ext cx="11430000" cy="365760"/>
          </a:xfrm>
          <a:prstGeom prst="roundRect">
            <a:avLst>
              <a:gd name="adj" fmla="val 2000"/>
            </a:avLst>
          </a:prstGeom>
          <a:solidFill>
            <a:srgbClr val="FDECEC"/>
          </a:solidFill>
          <a:ln w="9525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2920" y="6300216"/>
            <a:ext cx="11155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1A1A1F"/>
                </a:solidFill>
                <a:latin typeface="Calibri"/>
              </a:rPr>
              <a:t>Honest framing : all [TBD] values become real numbers once C-DISC shares (a) project pricing benchmarks, (b) cost-to-deliver curve from Calicut, (c) leadership's capital envelope for the North push.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Metrics Dashboard : 9 KPIs across the funnel  +  4-risk register  +  why this strategy wins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Leading indicators first (will demand convert?) before lagging indicators (did it convert?). Targets to be set by C-DISC leadership once baseline is 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83080"/>
            <a:ext cx="640080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783080"/>
            <a:ext cx="6400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KPI TREE  ·  FULL FUNNEL  ·  PHASE-1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94560"/>
            <a:ext cx="6400800" cy="292608"/>
          </a:xfrm>
          <a:prstGeom prst="rect">
            <a:avLst/>
          </a:prstGeom>
          <a:solidFill>
            <a:srgbClr val="7F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194560"/>
            <a:ext cx="10972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2194560"/>
            <a:ext cx="242316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2194560"/>
            <a:ext cx="7315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194560"/>
            <a:ext cx="1417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487168"/>
            <a:ext cx="6400800" cy="36576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487168"/>
            <a:ext cx="1280160" cy="109728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487168"/>
            <a:ext cx="1280160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PRESENCE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248716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Depot operational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248716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Y / 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248716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852928"/>
            <a:ext cx="6400800" cy="365760"/>
          </a:xfrm>
          <a:prstGeom prst="rect">
            <a:avLst/>
          </a:prstGeom>
          <a:solidFill>
            <a:srgbClr val="FFF4F1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37360" y="285292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Regional head hired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285292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Y /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7800" y="285292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18688"/>
            <a:ext cx="6400800" cy="36576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321868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Local installers certified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43400" y="321868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# count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321868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584448"/>
            <a:ext cx="6400800" cy="36576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3584448"/>
            <a:ext cx="1280160" cy="1097280"/>
          </a:xfrm>
          <a:prstGeom prst="rect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3584448"/>
            <a:ext cx="1280160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PROOF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58444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PEN certifications closed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43400" y="358444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# count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7800" y="358444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950208"/>
            <a:ext cx="6400800" cy="365760"/>
          </a:xfrm>
          <a:prstGeom prst="rect">
            <a:avLst/>
          </a:prstGeom>
          <a:solidFill>
            <a:srgbClr val="FFF4F1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395020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Lighthouse projects signed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3400" y="395020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# count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395020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315968"/>
            <a:ext cx="6400800" cy="36576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37360" y="431596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Site visits hosted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431596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#/quarter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7800" y="431596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681728"/>
            <a:ext cx="6400800" cy="36576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5760" y="4681728"/>
            <a:ext cx="1280160" cy="1097280"/>
          </a:xfrm>
          <a:prstGeom prst="rect">
            <a:avLst/>
          </a:prstGeom>
          <a:solidFill>
            <a:srgbClr val="C89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4681728"/>
            <a:ext cx="1280160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37360" y="468172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Active specifier accounts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43400" y="468172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# count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57800" y="468172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047488"/>
            <a:ext cx="6400800" cy="365760"/>
          </a:xfrm>
          <a:prstGeom prst="rect">
            <a:avLst/>
          </a:prstGeom>
          <a:solidFill>
            <a:srgbClr val="FFF4F1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37360" y="504748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Inbound N. India leads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4748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# / source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57800" y="504748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5413248"/>
            <a:ext cx="6400800" cy="365760"/>
          </a:xfrm>
          <a:prstGeom prst="rect">
            <a:avLst/>
          </a:prstGeom>
          <a:solidFill>
            <a:srgbClr val="FFFDF9"/>
          </a:solidFill>
          <a:ln w="3810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737360" y="5413248"/>
            <a:ext cx="24231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F"/>
                </a:solidFill>
                <a:latin typeface="Calibri"/>
              </a:rPr>
              <a:t>Spec-share rate in proposals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43400" y="5413248"/>
            <a:ext cx="7315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57800" y="5413248"/>
            <a:ext cx="1417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[TBD]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0" y="1783080"/>
            <a:ext cx="4937760" cy="365760"/>
          </a:xfrm>
          <a:prstGeom prst="rect">
            <a:avLst/>
          </a:prstGeom>
          <a:solidFill>
            <a:srgbClr val="7F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0" y="1783080"/>
            <a:ext cx="4937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NORTH STAR METRIC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858000" y="2148840"/>
            <a:ext cx="4937760" cy="1325880"/>
          </a:xfrm>
          <a:prstGeom prst="roundRect">
            <a:avLst>
              <a:gd name="adj" fmla="val 2000"/>
            </a:avLst>
          </a:prstGeom>
          <a:solidFill>
            <a:srgbClr val="FFF4F1"/>
          </a:solidFill>
          <a:ln w="9525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0" y="2286000"/>
            <a:ext cx="4937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B71C1C"/>
                </a:solidFill>
                <a:latin typeface="Calibri"/>
              </a:rPr>
              <a:t>NUMBER OF LIGHTHOUSE PROJECTS LIVE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0" y="2651760"/>
            <a:ext cx="4937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B71C1C"/>
                </a:solidFill>
                <a:latin typeface="Calibri"/>
              </a:rPr>
              <a:t>AND PHOTOGRAPHED IN NORTH INDIA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3063240"/>
            <a:ext cx="4937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4D4D55"/>
                </a:solidFill>
                <a:latin typeface="Calibri"/>
              </a:rPr>
              <a:t>Phase-1 target: [TBD] · drives every downstream KPI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58000" y="3200400"/>
            <a:ext cx="493776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8000" y="3200400"/>
            <a:ext cx="4937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RISK REGISTER &amp; MITIGATIONS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858000" y="3611880"/>
            <a:ext cx="4937760" cy="5486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58000" y="3611880"/>
            <a:ext cx="502920" cy="54864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0" y="3611880"/>
            <a:ext cx="5029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8079" y="3675888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PEN cert delay slows trust win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98079" y="3886200"/>
            <a:ext cx="42062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4D4D55"/>
                </a:solidFill>
                <a:latin typeface="Calibri"/>
              </a:rPr>
              <a:t>CEO-owned monthly review · share status publicly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858000" y="4206240"/>
            <a:ext cx="4937760" cy="5486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858000" y="4206240"/>
            <a:ext cx="502920" cy="54864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58000" y="4206240"/>
            <a:ext cx="5029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98079" y="4270248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No local lighthouse project closed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79" y="4480560"/>
            <a:ext cx="42062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4D4D55"/>
                </a:solidFill>
                <a:latin typeface="Calibri"/>
              </a:rPr>
              <a:t>Pre-identify 3 candidates · accept margin compression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58000" y="4800600"/>
            <a:ext cx="4937760" cy="5486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858000" y="4800600"/>
            <a:ext cx="502920" cy="548640"/>
          </a:xfrm>
          <a:prstGeom prst="rect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0" y="4800600"/>
            <a:ext cx="5029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98079" y="4864608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Talent — North-India head hard to find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98079" y="5074920"/>
            <a:ext cx="42062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4D4D55"/>
                </a:solidFill>
                <a:latin typeface="Calibri"/>
              </a:rPr>
              <a:t>Retained search + interim from senior South leader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858000" y="5394960"/>
            <a:ext cx="4937760" cy="54864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9525">
            <a:solidFill>
              <a:srgbClr val="E9D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858000" y="5394960"/>
            <a:ext cx="502920" cy="548640"/>
          </a:xfrm>
          <a:prstGeom prst="rect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58000" y="5394960"/>
            <a:ext cx="5029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98079" y="5458968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1A1F"/>
                </a:solidFill>
                <a:latin typeface="Calibri"/>
              </a:rPr>
              <a:t>PEN soil-fit issue surfaces post-launch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79" y="5669280"/>
            <a:ext cx="42062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4D4D55"/>
                </a:solidFill>
                <a:latin typeface="Calibri"/>
              </a:rPr>
              <a:t>Test before commit · publish results · adjust spec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989320"/>
            <a:ext cx="11430000" cy="685800"/>
          </a:xfrm>
          <a:prstGeom prst="roundRect">
            <a:avLst>
              <a:gd name="adj" fmla="val 2000"/>
            </a:avLst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0350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89B2F"/>
                </a:solidFill>
                <a:latin typeface="Calibri"/>
              </a:rPr>
              <a:t>WHY THIS STRATEGY WINS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6355080"/>
            <a:ext cx="37490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1.  Concentrates scarce resources on 3 beachheads — no spread-thin failure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43400" y="6355080"/>
            <a:ext cx="37490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2.  Sequenced: presence → proof → channel — each unlocks the next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83880" y="6355080"/>
            <a:ext cx="37490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3.  Live agent tool from day one — execution layer in place before hiring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13716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5" name="Chevron 4"/>
          <p:cNvSpPr/>
          <p:nvPr/>
        </p:nvSpPr>
        <p:spPr>
          <a:xfrm>
            <a:off x="1753035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53035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7" name="Chevron 6"/>
          <p:cNvSpPr/>
          <p:nvPr/>
        </p:nvSpPr>
        <p:spPr>
          <a:xfrm>
            <a:off x="3368910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8910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9" name="Chevron 8"/>
          <p:cNvSpPr/>
          <p:nvPr/>
        </p:nvSpPr>
        <p:spPr>
          <a:xfrm>
            <a:off x="4984786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4786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600661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661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13" name="Chevron 12"/>
          <p:cNvSpPr/>
          <p:nvPr/>
        </p:nvSpPr>
        <p:spPr>
          <a:xfrm>
            <a:off x="8216537" y="73152"/>
            <a:ext cx="1862763" cy="457200"/>
          </a:xfrm>
          <a:prstGeom prst="chevron">
            <a:avLst/>
          </a:prstGeom>
          <a:solidFill>
            <a:srgbClr val="E4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6537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Economics</a:t>
            </a:r>
          </a:p>
        </p:txBody>
      </p:sp>
      <p:sp>
        <p:nvSpPr>
          <p:cNvPr id="15" name="Chevron 14"/>
          <p:cNvSpPr/>
          <p:nvPr/>
        </p:nvSpPr>
        <p:spPr>
          <a:xfrm>
            <a:off x="9832412" y="73152"/>
            <a:ext cx="1862763" cy="457200"/>
          </a:xfrm>
          <a:prstGeom prst="chevron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2412" y="73152"/>
            <a:ext cx="1862763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F"/>
                </a:solidFill>
                <a:latin typeface="Calibri"/>
              </a:rPr>
              <a:t>Appendix : Sources, key assumptions, agent links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234440"/>
            <a:ext cx="11430000" cy="4572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32588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4D4D55"/>
                </a:solidFill>
                <a:latin typeface="Calibri"/>
              </a:rPr>
              <a:t>Everything in this deck is traceable. Items needing C-DISC internal data are marked [TBD by C-DISC] throughout.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 · DATA SOURCES (macro)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042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24028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C-DISC public website — cdisctechnologies.com (PEN 15 MT spec, NIT Calicut partnership, "under certification", MNZE Homes)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67004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60604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IBEF — Construction Industry Report FY25 (sector size $640 bn)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3580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97180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CRISIL — Construction Outlook FY25-29 (CAGR estimates)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0156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33756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Mordor Intelligence — India Pre-Engineered Buildings Market 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6732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70332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NIAL — Jewar International Airport project documents (₹10,050 cr Phase 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1330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06908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YEIDA — Yamuna Expressway Industrial Development Authority notifications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9884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43484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NICDC — National Industrial Corridor Development Corp. project list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86460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80060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DMIC — Delhi-Mumbai Industrial Corridor official site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23036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16636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MoRD — PMAY-G annual progress report (target 2.95 cr houses)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59612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553212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NABARD — Annual Report (agri infra financing instruments)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618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89788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MOSPI — National Accounts Statistics (construction GVA share)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B · KEY ASSUMPTIONS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43400" y="23042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53128" y="224028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PEN load capacity of 15 MT (per C-DISC product page) is the operational reference for all scenarios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267004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53128" y="260604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PEN is "under certification" → completed certification is a Phase-1 deliverable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43400" y="303580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53128" y="297180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Cost economics of Calicut → North freight is unfavourable for heavy precast at distance &gt;1,500 km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43400" y="340156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53128" y="333756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India construction sector demand is geographically dense → beachhead approach is justified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43400" y="376732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53128" y="370332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North India construction has a higher share of brick &amp; RCC than South (substitute force = HIGH)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43400" y="41330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53128" y="406908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Decision-making in North India's construction trade is heavily Hindi-language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43400" y="449884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53128" y="443484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NIT Calicut partnership lends third-party credibility, especially for institutional buyers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43400" y="486460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53128" y="4800600"/>
            <a:ext cx="3520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No fabricated quantitative figures — all C-DISC-specific numbers marked [TBD by C-DISC]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1783080"/>
            <a:ext cx="384048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 · GTM AGENT + DATA WE NEED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29600" y="2240280"/>
            <a:ext cx="3657600" cy="960120"/>
          </a:xfrm>
          <a:prstGeom prst="roundRect">
            <a:avLst>
              <a:gd name="adj" fmla="val 2000"/>
            </a:avLst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2286000"/>
            <a:ext cx="3474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89B2F"/>
                </a:solidFill>
                <a:latin typeface="Calibri"/>
              </a:rPr>
              <a:t>LIVE AGENT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2496312"/>
            <a:ext cx="3474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cdisc-north-engine.vercel.app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2743200"/>
            <a:ext cx="34747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FFF4F1"/>
                </a:solidFill>
                <a:latin typeface="Calibri"/>
              </a:rPr>
              <a:t>CRM · web search · outreach · activity log · all in one browser tool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33832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B71C1C"/>
                </a:solidFill>
                <a:latin typeface="Calibri"/>
              </a:rPr>
              <a:t>INPUT REQUEST · what to share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376732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85048" y="3703320"/>
            <a:ext cx="34747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Project + revenue split by region (last 24 months)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75320" y="408736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85048" y="4023360"/>
            <a:ext cx="34747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PEN certification tracker — body, stage, blocker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75320" y="440740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85048" y="4343400"/>
            <a:ext cx="34747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PEN soil + climate test data available today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75320" y="472744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85048" y="4663440"/>
            <a:ext cx="34747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Cost-to-deliver curve (Calicut → North sites)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75320" y="504748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85048" y="4983480"/>
            <a:ext cx="34747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Cash envelope leadership is willing to deploy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367528"/>
            <a:ext cx="54864" cy="54864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85048" y="5303520"/>
            <a:ext cx="34747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1A1A1F"/>
                </a:solidFill>
                <a:latin typeface="Calibri"/>
              </a:rPr>
              <a:t>Existing N. India footprint (any customer, dealer, installer)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65760" y="6565392"/>
            <a:ext cx="11430000" cy="0"/>
          </a:xfrm>
          <a:prstGeom prst="line">
            <a:avLst/>
          </a:prstGeom>
          <a:ln w="7620">
            <a:solidFill>
              <a:srgbClr val="B7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65760" y="6620256"/>
            <a:ext cx="11430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1">
                <a:solidFill>
                  <a:srgbClr val="807F82"/>
                </a:solidFill>
                <a:latin typeface="Calibri"/>
              </a:rPr>
              <a:t>C-DISC GROW NORTH  ·  Built on cdisctechnologies.com + qualitative frameworks + cited macro sources  ·  No fabricated quantitative figures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