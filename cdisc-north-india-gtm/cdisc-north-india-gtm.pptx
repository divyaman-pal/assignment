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06240" y="0"/>
            <a:ext cx="54864" cy="685800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 i="0">
                <a:solidFill>
                  <a:srgbClr val="1B3A5C"/>
                </a:solidFill>
                <a:latin typeface="Calibri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713232"/>
            <a:ext cx="25603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C-DISC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978408"/>
            <a:ext cx="32918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C8A951"/>
                </a:solidFill>
                <a:latin typeface="Calibri"/>
              </a:rPr>
              <a:t>Innovative &amp; sustainable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8A951"/>
                </a:solidFill>
                <a:latin typeface="Calibri"/>
              </a:rPr>
              <a:t>STRATEGIC DIAGNOSTIC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356616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Expanding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from South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to North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India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8A951"/>
                </a:solidFill>
                <a:latin typeface="Calibri"/>
              </a:rPr>
              <a:t>Internal · Strategy diagnostic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For the C-DISC leadership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09728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WHAT THIS DECK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694944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B3A5C"/>
                </a:solidFill>
                <a:latin typeface="Calibri"/>
              </a:rPr>
              <a:t>A fact-based diagnostic, not a fabricated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148840"/>
            <a:ext cx="704088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A2D33"/>
                </a:solidFill>
                <a:latin typeface="Calibri"/>
              </a:rPr>
              <a:t>C-DISC is headquartered in </a:t>
            </a:r>
            <a:r>
              <a:rPr sz="1300" b="1" i="0">
                <a:solidFill>
                  <a:srgbClr val="1B3A5C"/>
                </a:solidFill>
                <a:latin typeface="Calibri"/>
              </a:rPr>
              <a:t>Calicut, Kerala</a:t>
            </a:r>
            <a:r>
              <a:rPr sz="1300" b="0" i="0">
                <a:solidFill>
                  <a:srgbClr val="2A2D33"/>
                </a:solidFill>
                <a:latin typeface="Calibri"/>
              </a:rPr>
              <a:t>, and its project portfolio is concentrated in the Southern region. Leadership wants to </a:t>
            </a:r>
            <a:r>
              <a:rPr sz="1300" b="1" i="0">
                <a:solidFill>
                  <a:srgbClr val="1B3A5C"/>
                </a:solidFill>
                <a:latin typeface="Calibri"/>
              </a:rPr>
              <a:t>systematically expand into North India</a:t>
            </a:r>
            <a:r>
              <a:rPr sz="1300" b="0" i="0">
                <a:solidFill>
                  <a:srgbClr val="2A2D33"/>
                </a:solidFill>
                <a:latin typeface="Calibri"/>
              </a:rPr>
              <a:t>, where construction activity is growing.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A2D33"/>
                </a:solidFill>
                <a:latin typeface="Calibri"/>
              </a:rPr>
              <a:t>This deck does three things: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A2D33"/>
                </a:solidFill>
                <a:latin typeface="Calibri"/>
              </a:rPr>
              <a:t>1.  Locks down </a:t>
            </a:r>
            <a:r>
              <a:rPr sz="1250" b="1" i="0">
                <a:solidFill>
                  <a:srgbClr val="1B3A5C"/>
                </a:solidFill>
                <a:latin typeface="Calibri"/>
              </a:rPr>
              <a:t>what we actually know</a:t>
            </a:r>
            <a:r>
              <a:rPr sz="1250" b="0" i="0">
                <a:solidFill>
                  <a:srgbClr val="2A2D33"/>
                </a:solidFill>
                <a:latin typeface="Calibri"/>
              </a:rPr>
              <a:t> about C-DISC's offering (from the public website only).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A2D33"/>
                </a:solidFill>
                <a:latin typeface="Calibri"/>
              </a:rPr>
              <a:t>2.  Builds a </a:t>
            </a:r>
            <a:r>
              <a:rPr sz="1250" b="1" i="0">
                <a:solidFill>
                  <a:srgbClr val="1B3A5C"/>
                </a:solidFill>
                <a:latin typeface="Calibri"/>
              </a:rPr>
              <a:t>diagnostic framework</a:t>
            </a:r>
            <a:r>
              <a:rPr sz="1250" b="0" i="0">
                <a:solidFill>
                  <a:srgbClr val="2A2D33"/>
                </a:solidFill>
                <a:latin typeface="Calibri"/>
              </a:rPr>
              <a:t> for why a Calicut-based pre-engineered construction company would struggle in North India.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A2D33"/>
                </a:solidFill>
                <a:latin typeface="Calibri"/>
              </a:rPr>
              <a:t>3.  Proposes a </a:t>
            </a:r>
            <a:r>
              <a:rPr sz="1250" b="1" i="0">
                <a:solidFill>
                  <a:srgbClr val="1B3A5C"/>
                </a:solidFill>
                <a:latin typeface="Calibri"/>
              </a:rPr>
              <a:t>beachhead-led entry strategy</a:t>
            </a:r>
            <a:r>
              <a:rPr sz="1250" b="0" i="0">
                <a:solidFill>
                  <a:srgbClr val="2A2D33"/>
                </a:solidFill>
                <a:latin typeface="Calibri"/>
              </a:rPr>
              <a:t> — with all quantitative dimensioning explicitly flagged as </a:t>
            </a:r>
            <a:r>
              <a:rPr sz="1250" b="1" i="1">
                <a:solidFill>
                  <a:srgbClr val="1B3A5C"/>
                </a:solidFill>
                <a:latin typeface="Calibri"/>
              </a:rPr>
              <a:t>requiring C-DISC internal data.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2E7D6A"/>
                </a:solidFill>
                <a:latin typeface="Calibri"/>
              </a:rPr>
              <a:t>No fabricated numbers. Every claim is sourced or marked TBD.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0" y="6035040"/>
            <a:ext cx="693115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0" y="612648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C7479"/>
                </a:solidFill>
                <a:latin typeface="Calibri"/>
              </a:rPr>
              <a:t>16 slides  ·  Confidential — for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SCOPE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Scope of analysis: a fact-based diagnostic — what we know vs what needs C-DISC internal data before recommendations can be quantified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E7D6A"/>
                </a:solidFill>
                <a:latin typeface="Calibri"/>
              </a:rPr>
              <a:t>What this deck IS based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29383"/>
            <a:ext cx="73152" cy="4572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5257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C-DISC public website (cdisctechnologies.com) — company description, two product pages, services page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23743"/>
            <a:ext cx="73152" cy="4572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79"/>
            <a:ext cx="5257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The problem statement: "most projects from South India; expand to North India where construction is growing fast"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18103"/>
            <a:ext cx="73152" cy="4572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63239"/>
            <a:ext cx="5257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Generally-known qualitative facts about Indian construction and regional differences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12463"/>
            <a:ext cx="73152" cy="4572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599"/>
            <a:ext cx="5257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A standard market-entry diagnostic framework (where to play / how to win / what to commit)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06823"/>
            <a:ext cx="73152" cy="4572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51959"/>
            <a:ext cx="5257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Explicit hypotheses, clearly marked as hypotheses to be validated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B33A3A"/>
                </a:solidFill>
                <a:latin typeface="Calibri"/>
              </a:rPr>
              <a:t>What this deck is NOT based 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929383"/>
            <a:ext cx="73152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74519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C-DISC internal financials, revenue split, project counts, or customer list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523743"/>
            <a:ext cx="73152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468879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Specific market sizing — TAM / SAM / SOM numbers (would require primary research)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118103"/>
            <a:ext cx="73152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063239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C-DISC capex / pricing / margin data or any other internal numbers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712463"/>
            <a:ext cx="73152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657599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C-DISC competitor intelligence or share-of-market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306823"/>
            <a:ext cx="73152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251959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Any government scheme, certification or partnership not confirmed in writing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349240"/>
            <a:ext cx="11183112" cy="1097280"/>
          </a:xfrm>
          <a:prstGeom prst="roundRect">
            <a:avLst>
              <a:gd name="adj" fmla="val 4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440680"/>
            <a:ext cx="107899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IMPLICATION FOR THE READER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1078992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The strategic recommendations below are directionally robust because they rest on a structural framework. Their quantification — investment size, revenue ramp, payback — is deliberately left as an action item for the C-DISC team. This deck identifies the right questions; the answers require company-specific inputs.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COMPANY SNAPSHOT  ·  Source: cdisctechnologies.com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C-DISC at a glance — a Kerala-based R&amp;D-led construction technology company with two products, one of which is publicly listed as "under certification"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440680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44068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54406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C8A951"/>
                </a:solidFill>
                <a:latin typeface="Calibri"/>
              </a:rPr>
              <a:t>CORPORATE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Legal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011680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Center for Development of Innovative and Sustainable Construction Technologies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0604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Headquarters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606040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11/506D, Venmarath Building, Red Cross Road, Calicut 673032 (Kerala)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Parent company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200400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Forms EzyBuild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9476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Stated 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3794760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"Swifter, safer, sustainable and Spartan construction methodologies" with optimum use of natural resources and disaster-resilient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Tagline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389120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"Reduce. Reuse. Recycle."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98348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R&amp;D partner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4983480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NIT Calicut (on PEN Foundation)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7784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5577840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+91 9847434848  ·  cdiscpvtltd@gmail.com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463040"/>
            <a:ext cx="5422392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463040"/>
            <a:ext cx="5422392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463040"/>
            <a:ext cx="5422392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C8A951"/>
                </a:solidFill>
                <a:latin typeface="Calibri"/>
              </a:rPr>
              <a:t>CORE SERVICE &amp; POSITIONING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0116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B3A5C"/>
                </a:solidFill>
                <a:latin typeface="Calibri"/>
              </a:rPr>
              <a:t>Integrated Pre-Engineered Construction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331720"/>
            <a:ext cx="512064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2A2D33"/>
                </a:solidFill>
                <a:latin typeface="Calibri"/>
              </a:rPr>
              <a:t>"Every structural component is precisely engineered to support only the intended loads — nothing extra. Buildings are designed and fabricated in advance, allowing faster on-site assembly… Ideal for industrial, commercial, and warehouse projects seeking speed, strength, and sustainability."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34340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Target sectors stated on the website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4663440"/>
            <a:ext cx="1600200" cy="502920"/>
          </a:xfrm>
          <a:prstGeom prst="roundRect">
            <a:avLst>
              <a:gd name="adj" fmla="val 2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663440"/>
            <a:ext cx="16002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Industrial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4663440"/>
            <a:ext cx="1600200" cy="502920"/>
          </a:xfrm>
          <a:prstGeom prst="roundRect">
            <a:avLst>
              <a:gd name="adj" fmla="val 2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663440"/>
            <a:ext cx="16002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9800" y="4663440"/>
            <a:ext cx="1600200" cy="502920"/>
          </a:xfrm>
          <a:prstGeom prst="roundRect">
            <a:avLst>
              <a:gd name="adj" fmla="val 2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4663440"/>
            <a:ext cx="16002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Warehouse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3949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Stated USPs (their own language)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669280"/>
            <a:ext cx="5166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Rapid Installation   ·   Minimal Environmental Impact   ·   Ease of Deconstruction &amp; Reusability   ·   Cost Effective   ·   Versatility &amp; Adaptability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PRODUCTS  ·  Source: cdisctechnologies.com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C-DISC has two flagship offerings — PEN Foundation (15 MT load-bearing capacity, developed with NIT Calicut, under certification) and MNZE Homes (light-gauge-steel modular net-zero homes)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498348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51663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8A951"/>
                </a:solidFill>
                <a:latin typeface="Calibri"/>
              </a:rPr>
              <a:t>PEN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51663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1B3A5C"/>
                </a:solidFill>
                <a:latin typeface="Calibri"/>
              </a:rPr>
              <a:t>Pre-Engineered Nail foundation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2316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5176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Developed in association with NIT Calicut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LOAD CAPACITY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9184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15 MT (per product page)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3192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Under certification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4340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STATED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7200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Foundation for pre-engineered buildings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20640"/>
            <a:ext cx="5166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STATED FEATURES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440679"/>
            <a:ext cx="1563624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0679"/>
            <a:ext cx="1563624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Rapid Installation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22576" y="5440679"/>
            <a:ext cx="2340864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22576" y="5440679"/>
            <a:ext cx="2340864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Minimal Environmental Impact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806439"/>
            <a:ext cx="2340864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06439"/>
            <a:ext cx="2340864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Deconstruction &amp; Reusability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5806439"/>
            <a:ext cx="1252728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9816" y="5806439"/>
            <a:ext cx="1252728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Cost Effective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6172199"/>
            <a:ext cx="2185416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172199"/>
            <a:ext cx="2185416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Versatility &amp; Adaptability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53912" y="1463040"/>
            <a:ext cx="5532120" cy="498348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53912" y="1463040"/>
            <a:ext cx="553212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1463040"/>
            <a:ext cx="51663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8A951"/>
                </a:solidFill>
                <a:latin typeface="Calibri"/>
              </a:rPr>
              <a:t>MNZE Homes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1965960"/>
            <a:ext cx="51663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1B3A5C"/>
                </a:solidFill>
                <a:latin typeface="Calibri"/>
              </a:rPr>
              <a:t>Modular Net-Zero Energy Homes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242316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FRAMING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6792" y="265176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Light gauge steel frames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6792" y="306324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ENVELOPE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329184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Customisable envelopes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6792" y="370332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ENERGY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6792" y="393192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Integrated smart energy solutions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792" y="434340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POSITIONING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4572000"/>
            <a:ext cx="5166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"Modern, connected, sustainable living"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5120640"/>
            <a:ext cx="5166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STATED FEATURES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36792" y="5440679"/>
            <a:ext cx="1563624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36792" y="5440679"/>
            <a:ext cx="1563624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Rapid Installation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3568" y="5440679"/>
            <a:ext cx="2340864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73568" y="5440679"/>
            <a:ext cx="2340864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Minimal Environmental Impact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36792" y="5806439"/>
            <a:ext cx="2340864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36792" y="5806439"/>
            <a:ext cx="2340864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Deconstruction &amp; Reusability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50808" y="5806439"/>
            <a:ext cx="1252728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0808" y="5806439"/>
            <a:ext cx="1252728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Cost Effective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36792" y="6172199"/>
            <a:ext cx="2185416" cy="292608"/>
          </a:xfrm>
          <a:prstGeom prst="roundRect">
            <a:avLst>
              <a:gd name="adj" fmla="val 40000"/>
            </a:avLst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36792" y="6172199"/>
            <a:ext cx="2185416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Versatility &amp; Adaptability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THE STRATEGIC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The strategic question: how does a Calicut-based, R&amp;D-led, pre-engineered construction company convert customers in a geography roughly 2,500 km from its base?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11183112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0" y="4572000"/>
            <a:ext cx="54864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C8A951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691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CALICUT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691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C-DISC HQ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2286000"/>
            <a:ext cx="548640" cy="54864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22860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B3A5C"/>
                </a:solidFill>
                <a:latin typeface="Calibri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926080"/>
            <a:ext cx="1783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NORTH INDIA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154680"/>
            <a:ext cx="1783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Target geography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28800" y="2651760"/>
            <a:ext cx="8092440" cy="1920240"/>
          </a:xfrm>
          <a:prstGeom prst="line">
            <a:avLst/>
          </a:prstGeom>
          <a:ln w="3175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0" y="329184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~ 2,500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6118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point-to-point (approximate, by road)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18288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B3A5C"/>
                </a:solidFill>
                <a:latin typeface="Calibri"/>
              </a:rPr>
              <a:t>The geographic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10312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555A60"/>
                </a:solidFill>
                <a:latin typeface="Calibri"/>
              </a:rPr>
              <a:t>Current operating base: South India  ·  Stated expansion target: North 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A purely transactional expansion (ship from Calicut, hope buyers convert) will not work for pre-engineered construction at this distance. Strategy must build presence, not just sales activity.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WHY NORTH ISN'T CONVERTING  ·  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Why North India isn't converting today — six structural hypotheses, each paired with the question C-DISC needs to ask to validate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C7479"/>
                </a:solidFill>
                <a:latin typeface="Calibri"/>
              </a:rPr>
              <a:t>Each hypothesis is followed by the validation question — turning the diagnostic into an action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11183112" cy="749808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325880" cy="7498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32588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PRESENCE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1929383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No physical presence in North India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185415"/>
            <a:ext cx="6309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Pre-engineered construction is a high-touch sale — buyers want to inspect product, meet vendor, see a reference site within reasonable travel.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1947671"/>
            <a:ext cx="73152" cy="6035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929383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VALIDATE BY ASKING: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185415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B3A5C"/>
                </a:solidFill>
                <a:latin typeface="Calibri"/>
              </a:rPr>
              <a:t>Does C-DISC have any office, plant or service hub north of Maharashtra?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60903"/>
            <a:ext cx="11183112" cy="749808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60903"/>
            <a:ext cx="1325880" cy="7498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60903"/>
            <a:ext cx="132588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AWARENESS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2715767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Low brand awareness among North India specifiers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2971799"/>
            <a:ext cx="6309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Architects, EPCs and PMC firms in NCR / UP / Punjab specify what they know. C-DISC's public footprint outside the South is modest.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2734055"/>
            <a:ext cx="73152" cy="6035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715767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VALIDATE BY ASKING: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971799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B3A5C"/>
                </a:solidFill>
                <a:latin typeface="Calibri"/>
              </a:rPr>
              <a:t>What % of targeted North India architects can name C-DISC unaided?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47287"/>
            <a:ext cx="11183112" cy="749808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447287"/>
            <a:ext cx="1325880" cy="749808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447287"/>
            <a:ext cx="132588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3502151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Certification status creates buyer hesitation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3758183"/>
            <a:ext cx="6309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PEN Foundation is publicly listed as "under certification". Govt and institutional buyers in the North typically require completed approvals.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3520439"/>
            <a:ext cx="73152" cy="6035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502151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VALIDATE BY ASKING: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758183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B3A5C"/>
                </a:solidFill>
                <a:latin typeface="Calibri"/>
              </a:rPr>
              <a:t>Which specific certifications are pending? What is the realistic timeline?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233671"/>
            <a:ext cx="11183112" cy="749808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4233671"/>
            <a:ext cx="1325880" cy="749808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233671"/>
            <a:ext cx="132588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PROOF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288535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No driveable reference projects in North India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5960" y="4544567"/>
            <a:ext cx="6309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Indian construction is heavily reference-driven. Buyers want to visit a completed site nearby before committing.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60" y="4306823"/>
            <a:ext cx="73152" cy="6035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4288535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VALIDATE BY ASKING: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544567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B3A5C"/>
                </a:solidFill>
                <a:latin typeface="Calibri"/>
              </a:rPr>
              <a:t>Are any of the projects on cdisctechnologies.com/projects in N. India?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020055"/>
            <a:ext cx="11183112" cy="749808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020055"/>
            <a:ext cx="1325880" cy="749808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20055"/>
            <a:ext cx="132588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074919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No North India channel / distribution layer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5330951"/>
            <a:ext cx="6309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Foundation and modular-home products typically reach buyers via architects, EPCs and dealers. These relationships are built locally over time.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5093207"/>
            <a:ext cx="73152" cy="6035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5074919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VALIDATE BY ASKING: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330951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B3A5C"/>
                </a:solidFill>
                <a:latin typeface="Calibri"/>
              </a:rPr>
              <a:t>How many active channel partners or specifier relationships exist in N. India?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06439"/>
            <a:ext cx="11183112" cy="749808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5806439"/>
            <a:ext cx="1325880" cy="74980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806439"/>
            <a:ext cx="132588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PRODUCT-FIT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65960" y="5861303"/>
            <a:ext cx="6309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Product spec may not match North site conditions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65960" y="6117335"/>
            <a:ext cx="63093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Alluvial-plain soils, foothill freeze-thaw, and seismic-zone IV conditions (NCR) may demand different foundation calibrations than typical South India sites.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66760" y="5879591"/>
            <a:ext cx="73152" cy="6035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861303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VALIDATE BY ASKING: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6117335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B3A5C"/>
                </a:solidFill>
                <a:latin typeface="Calibri"/>
              </a:rPr>
              <a:t>Has PEN been tested for the soil / climate / seismic profiles of priority N. India zones?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NORTH vs SOUTH  ·  STRUCTURAL DIFFERENCES (qualitative)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What makes North India structurally different from C-DISC's home market — six dimensions that should change the GTM playbook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C7479"/>
                </a:solidFill>
                <a:latin typeface="Calibri"/>
              </a:rPr>
              <a:t>Each row identifies a dimension where the South playbook will not transfer cleanly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1120140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74519"/>
            <a:ext cx="19202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5768" y="1874519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South India (home)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41848" y="1874519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North India (target)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67928" y="1874519"/>
            <a:ext cx="30632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Implication for GTM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40279"/>
            <a:ext cx="11201400" cy="713232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276855"/>
            <a:ext cx="1920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Distance to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2276855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C-DISC HQ is in-region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41848" y="2276855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~2,500 km from Calicut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7928" y="2276855"/>
            <a:ext cx="3063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Local plant or stocking depot becomes economically rational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53511"/>
            <a:ext cx="11201400" cy="713232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990087"/>
            <a:ext cx="1920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Language of business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5768" y="2990087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English + regional (Malayalam, Tamil)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1848" y="2990087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Hindi + regional (Punjabi, Urdu)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7928" y="2990087"/>
            <a:ext cx="3063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Sales collateral, BoQ formats and contracts need a Hindi pathway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66743"/>
            <a:ext cx="11201400" cy="713232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703319"/>
            <a:ext cx="1920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Construction 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5768" y="3703319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Mixed adoption of pre-engineered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3703319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Brick-and-mortar dominant in many sub-segments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703319"/>
            <a:ext cx="3063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Heavier emphasis on education, demonstration, reference-building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379975"/>
            <a:ext cx="11201400" cy="713232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" y="4416551"/>
            <a:ext cx="1920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Climate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4416551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Coastal humid tropical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1848" y="4416551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Continental — frost in foothills, dust loads in plains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7928" y="4416551"/>
            <a:ext cx="3063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Validate product spec against new climate conditions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093207"/>
            <a:ext cx="11201400" cy="713232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5129783"/>
            <a:ext cx="1920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Soil profile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15768" y="5129783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Lateritic / hard-rock common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5129783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Alluvial Indo-Gangetic + Himalayan foothill mix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7928" y="5129783"/>
            <a:ext cx="3063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Confirm 15 MT PEN load behaviour on alluvial soil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806439"/>
            <a:ext cx="11201400" cy="713232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" y="5843015"/>
            <a:ext cx="1920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Buyer profile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15768" y="5843015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Industrial / commercial mid-sized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1848" y="5843015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Mix of agri, industrial, hospitality + new-build housing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67928" y="5843015"/>
            <a:ext cx="3063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Adjust segment mix; map each segment to PEN vs MNZE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STRATEGIC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Three strategic postures to choose from — each with a different speed, cost and learning profile. Recommendation: Option B (beachhead-led entry)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3721608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721608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447288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C8A951"/>
                </a:solidFill>
                <a:latin typeface="Calibri"/>
              </a:rPr>
              <a:t>OPTION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65960"/>
            <a:ext cx="3447288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Opportunistic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447288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Continue chasing inbound leads from North India case-by-case. Sales handled remotely from Calicut.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34472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2E7D6A"/>
                </a:solidFill>
                <a:latin typeface="Calibri"/>
              </a:rPr>
              <a:t>PROS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547871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No new investment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877055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Fast to 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206239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Preserves cash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81143"/>
            <a:ext cx="34472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B33A3A"/>
                </a:solidFill>
                <a:latin typeface="Calibri"/>
              </a:rPr>
              <a:t>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837175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Negligible market-share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166359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Each project becomes a logistics adventure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495543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Brand stays invisible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897880"/>
            <a:ext cx="3447288" cy="36576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3447288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Status quo · Not recommended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0248" y="1463040"/>
            <a:ext cx="3721608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0248" y="1463040"/>
            <a:ext cx="3721608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1463040"/>
            <a:ext cx="3447288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C8A951"/>
                </a:solidFill>
                <a:latin typeface="Calibri"/>
              </a:rPr>
              <a:t>OPTION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965960"/>
            <a:ext cx="3447288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Beachhead-led entry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2286000"/>
            <a:ext cx="3447288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Pick 2–3 narrow geographic + segment beachheads, build deep presence (people, references, channel) before broadening.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3291840"/>
            <a:ext cx="34472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2E7D6A"/>
                </a:solidFill>
                <a:latin typeface="Calibri"/>
              </a:rPr>
              <a:t>PROS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547871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Concentrates scarce resources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877055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Creates referenceable case studies fast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206239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Learnings transfer to next phase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581143"/>
            <a:ext cx="34472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B33A3A"/>
                </a:solidFill>
                <a:latin typeface="Calibri"/>
              </a:rPr>
              <a:t>CONS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837175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Requires committed leadership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5166359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Investment needed before revenue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5495543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Misses some opportunistic deals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5897880"/>
            <a:ext cx="3447288" cy="36576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5897880"/>
            <a:ext cx="3447288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Recommended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37576" y="1463040"/>
            <a:ext cx="3721608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37576" y="1463040"/>
            <a:ext cx="3721608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1463040"/>
            <a:ext cx="3447288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C8A951"/>
                </a:solidFill>
                <a:latin typeface="Calibri"/>
              </a:rPr>
              <a:t>OPTION 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74736" y="1965960"/>
            <a:ext cx="3447288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Full national push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2286000"/>
            <a:ext cx="3447288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Open multiple regional offices simultaneously, hire across NCR / UP / Punjab / Rajasthan, broad marketing.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74736" y="3291840"/>
            <a:ext cx="34472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2E7D6A"/>
                </a:solidFill>
                <a:latin typeface="Calibri"/>
              </a:rPr>
              <a:t>PROS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02168" y="3547871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Maximum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2168" y="3877055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Brand presence builds quickly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2168" y="4206239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+  No prioritisation debates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4581143"/>
            <a:ext cx="34472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B33A3A"/>
                </a:solidFill>
                <a:latin typeface="Calibri"/>
              </a:rPr>
              <a:t>CONS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02168" y="4837175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Capital-intensive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5166359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High execution risk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02168" y="5495543"/>
            <a:ext cx="339242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−  Spreads management attention thin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74736" y="5897880"/>
            <a:ext cx="3447288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74736" y="5897880"/>
            <a:ext cx="3447288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Premature at current stage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WHERE TO PLAY  ·  BEACHHEAD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Where to play: five criteria a beachhead must pass before C-DISC commits scarce attention to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C7479"/>
                </a:solidFill>
                <a:latin typeface="Calibri"/>
              </a:rPr>
              <a:t>A repeatable filter the leadership team can apply to any candidate North India region or segment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77724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777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C8A951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965959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1. Product-fit clarity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40279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PEN or MNZE has a defensible technical advantage for this building type in this geography (load, soil, climate, timeline)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199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43199"/>
            <a:ext cx="77724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743199"/>
            <a:ext cx="777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C8A951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834639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2. Demand visibility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08959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Identifiable pipeline of relevant projects — public announcements, govt tenders, industry intelligence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11879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11879"/>
            <a:ext cx="77724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11879"/>
            <a:ext cx="777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C8A951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703319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3. Buyer accessibility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977639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Decision-maker concentration is high enough that 10–15 named accounts can be reached with a small field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80559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480559"/>
            <a:ext cx="77724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480559"/>
            <a:ext cx="777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C8A951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571999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4. Reference potential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846319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At least one anchor project achievable with executive sponsorship that becomes a credibility asset for the whole region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49239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349239"/>
            <a:ext cx="77724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349239"/>
            <a:ext cx="777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C8A951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5440679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5. Operating feasibility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714999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Site can be served from Calicut for the first phase without prohibitive freight or installer-mobilisation cost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CANDIDATE BEACHHEADS  ·  TO BE PRIORITISED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Candidate beachheads to evaluate — qualitative shortlist for C-DISC leadership to rank using internal data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C7479"/>
                </a:solidFill>
                <a:latin typeface="Calibri"/>
              </a:rPr>
              <a:t>Each candidate maps a geography to one of the two C-DISC products and a stated target sector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11183112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74519"/>
            <a:ext cx="19202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Geography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5768" y="1874519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Stated target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12801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Anchor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7608" y="1874519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Why it might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0888" y="1874519"/>
            <a:ext cx="2221992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Why it might not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40279"/>
            <a:ext cx="11183112" cy="77724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276855"/>
            <a:ext cx="192024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NCR + Greater Noida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2276855"/>
            <a:ext cx="164592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Industrial / Warehouse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2487167"/>
            <a:ext cx="868680" cy="2743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487167"/>
            <a:ext cx="8686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7608" y="2276855"/>
            <a:ext cx="320040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High concentration of warehouse and light industrial development; pre-engineered already accepted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2276855"/>
            <a:ext cx="2221992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Crowded competition; 15 MT load may exclude heavier industrial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7519"/>
            <a:ext cx="11183112" cy="77724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054095"/>
            <a:ext cx="192024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Punjab / Haryana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5768" y="3054095"/>
            <a:ext cx="164592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Agricultural infra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264407"/>
            <a:ext cx="868680" cy="2743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264407"/>
            <a:ext cx="8686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8" y="3054095"/>
            <a:ext cx="320040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Large poultry, dairy, cold-storage demand; foundation cost matters at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0888" y="3054095"/>
            <a:ext cx="2221992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NABARD-linked projects often need completed certifications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94759"/>
            <a:ext cx="11183112" cy="77724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" y="3831335"/>
            <a:ext cx="192024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Uttar Pradesh (rural)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3831335"/>
            <a:ext cx="164592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PMAY-G housing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4041647"/>
            <a:ext cx="868680" cy="2743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041647"/>
            <a:ext cx="8686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MNZE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07608" y="3831335"/>
            <a:ext cx="320040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Govt-supported modular housing push; light-gauge-steel + net-zero aligns with policy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0888" y="3831335"/>
            <a:ext cx="2221992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Government procurement is slow and price-sensitive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71999"/>
            <a:ext cx="11183112" cy="77724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608575"/>
            <a:ext cx="192024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Uttarakhand foothills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4608575"/>
            <a:ext cx="164592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Hospitality / resorts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7720" y="4818887"/>
            <a:ext cx="868680" cy="2743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17720" y="4818887"/>
            <a:ext cx="8686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MNZE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7608" y="4608575"/>
            <a:ext cx="320040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Resort cottage clusters favour rapid low-impact construction; sustainability narrative resonates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90888" y="4608575"/>
            <a:ext cx="2221992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Seasonality and access logistics complicate first delivery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349239"/>
            <a:ext cx="11183112" cy="77724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" y="5385815"/>
            <a:ext cx="192024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Rajasthan industrial belt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15768" y="5385815"/>
            <a:ext cx="164592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Commercial / industrial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17720" y="5596127"/>
            <a:ext cx="868680" cy="2743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5596127"/>
            <a:ext cx="8686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PEN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7608" y="5385815"/>
            <a:ext cx="3200400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Bhiwadi / Neemrana / Alwar growing as Delhi-Mumbai corridor matures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90888" y="5385815"/>
            <a:ext cx="2221992" cy="70408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Distance from Calicut still significant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Ranking requires data the C-DISC team holds: realistic landed cost per site, current capacity to deliver to each region, and which segment leadership wants to lean into.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HOW TO WIN  ·  5-PILLAR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How to win: five strategic pillars — each pillar exists to dismantle one of the structural friction hypotheses identified earlier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83112" cy="4114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1183112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OUTCOME  ·  C-DISC becomes a referenceable, locally-served brand in a focused set of North India beachheads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52160"/>
            <a:ext cx="11183112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852160"/>
            <a:ext cx="1118311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FOUNDATION  ·  Beachhead-led entry with shared infrastructure across 2–3 priority regions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216347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198059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1.  PRESENCE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77440"/>
            <a:ext cx="2163470" cy="3383280"/>
          </a:xfrm>
          <a:prstGeom prst="roundRect">
            <a:avLst>
              <a:gd name="adj" fmla="val 2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68880"/>
            <a:ext cx="198059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Address the geography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78892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A North India operating hub (stocking + service depot first; plant later)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42900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A first hire: regional head with P&amp;L authority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06908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Local installer relationships, not flown-in crews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440680"/>
            <a:ext cx="198059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Fixes: PRESENCE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57830" y="1920240"/>
            <a:ext cx="216347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49270" y="1920240"/>
            <a:ext cx="198059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2.  PROOF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7830" y="2377440"/>
            <a:ext cx="2163470" cy="3383280"/>
          </a:xfrm>
          <a:prstGeom prst="roundRect">
            <a:avLst>
              <a:gd name="adj" fmla="val 2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49270" y="2468880"/>
            <a:ext cx="198059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Address trust &amp; certification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7558" y="278892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Close out the pending PEN certification process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67558" y="342900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Sign 2–3 anchor reference projects per beachhead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67558" y="406908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Make project visits part of the sales motion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9270" y="5440680"/>
            <a:ext cx="198059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Fixes: TRUST, PROOF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12740" y="1920240"/>
            <a:ext cx="216347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04180" y="1920240"/>
            <a:ext cx="198059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3.  CHANNEL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12740" y="2377440"/>
            <a:ext cx="2163470" cy="3383280"/>
          </a:xfrm>
          <a:prstGeom prst="roundRect">
            <a:avLst>
              <a:gd name="adj" fmla="val 2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04180" y="2468880"/>
            <a:ext cx="198059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Address relationship gap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2468" y="278892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Focused list of 20–30 architects/EPCs/PMCs per beachhead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2468" y="342900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Specifier engagement: design libraries, demos, training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2468" y="406908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Targeted dealer/distributor agreements where they match the segment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04180" y="5440680"/>
            <a:ext cx="198059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Fixes: AWARENESS, CHANNEL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67651" y="1920240"/>
            <a:ext cx="216347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9091" y="1920240"/>
            <a:ext cx="198059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4.  PRODUCT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7651" y="2377440"/>
            <a:ext cx="2163470" cy="3383280"/>
          </a:xfrm>
          <a:prstGeom prst="roundRect">
            <a:avLst>
              <a:gd name="adj" fmla="val 2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59091" y="2468880"/>
            <a:ext cx="198059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Address spec-fit gap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77379" y="278892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Test PEN performance on North India soil profiles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7379" y="342900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Climate adjustments for foothills frost / plains dust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7379" y="406908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Hindi technical &amp; commercial documentation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59091" y="5440680"/>
            <a:ext cx="198059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Fixes: PRODUCT-FIT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22561" y="1920240"/>
            <a:ext cx="216347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14001" y="1920240"/>
            <a:ext cx="198059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5.  OPERATE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22561" y="2377440"/>
            <a:ext cx="2163470" cy="3383280"/>
          </a:xfrm>
          <a:prstGeom prst="roundRect">
            <a:avLst>
              <a:gd name="adj" fmla="val 2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14001" y="2468880"/>
            <a:ext cx="198059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Make delivery reliable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32289" y="278892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Defined service SLA from the depot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32289" y="342900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Installer training programme — first cohort from chosen beachhead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32289" y="4069080"/>
            <a:ext cx="194401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Project-tracking + quality control with photo evidence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14001" y="5440680"/>
            <a:ext cx="198059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Fixes: long-term defensibility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PILLAR DETAIL  ·  PRESENCE &amp;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Pillar 1 &amp; 2 detail: Presence and Proof — the two pillars that unlock everything else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77840" cy="498348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7784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55778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PILLAR 1 · PRESENCE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65960"/>
            <a:ext cx="524865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Why it must come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240280"/>
            <a:ext cx="524865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Without local presence, every other initiative becomes remote management. A small physical footprint changes how buyers, architects and installers perceive C-DISC.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01752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Initial 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01752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Leased stocking + service depot in chosen beachhead. Not a full plant. Enables on-time delivery and rapid service response.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74904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First hire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74904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Regional head — North India construction experience — empowered with P&amp;L authority and a small team budget.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48056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Installer pool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48056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Identify and certify 2–3 local installer firms on PEN + MNZE methods, rather than mobilising South-based crews repeatedly.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21208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Data to gather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521208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Realistic capex for depot vs full plant, freight from Calicut to candidate depot, depot opex run-rate.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463040"/>
            <a:ext cx="5577840" cy="498348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463040"/>
            <a:ext cx="5577840" cy="41148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463040"/>
            <a:ext cx="55778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PILLAR 2 · 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1965960"/>
            <a:ext cx="524865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Why it must come fast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240280"/>
            <a:ext cx="524865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Indian construction is reference-led. A C-DISC pitch landing without a North India reference is a much longer sales cycle than one with a reference site.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301752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Close PEN certification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301752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Track each pending approval as a strategic milestone: which body, what stage, what unblocks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4904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Sign 2–3 anchor projects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9872" y="374904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Acceptable to take margin compression. Each anchor must be (a) in a beachhead, (b) photographable, (c) referenceable.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48056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Case-study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448056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Each completed project becomes a 2-page case study (PDF + Hindi), a site visit, and a video.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521208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Data to gather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521208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Pending certifications + timelines; identified candidate anchor projects; margin envelope C-DISC can absorb.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PILLAR DETAIL  ·  CHANNEL · PRODUCT ·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Pillar 3, 4 &amp; 5: Channel, Product and Operate — supporting pillars that follow once Presence and Proof are in place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3721608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721608" cy="4114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3721608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PILLAR 3 · CHANNEL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65960"/>
            <a:ext cx="3447288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Pre-engineered foundation and modular-home sales come through specifiers. C-DISC needs a named-account approach, not a mass-market motion.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59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Specifier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75303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Top 20–30 architects, EPCs, PMC firms per beachhead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50791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88535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Demos, design libraries, technical content for specifier offices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64023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Dealer / distributor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01767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Only where it adds reach (e.g. agri PEN)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77255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Data to gather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14999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Existing architect/EPC relationships from North projects, if any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1463040"/>
            <a:ext cx="3721608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0248" y="1463040"/>
            <a:ext cx="3721608" cy="4114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0248" y="1463040"/>
            <a:ext cx="3721608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PILLAR 4 ·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1965960"/>
            <a:ext cx="3447288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Product viability in North India is a research question, not a marketing one. PEN spec sheet shows 15 MT load — the question is whether that holds on alluvial soil under continental climate.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3337559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PEN soil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3575303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Pilot load tests on Indo-Gangetic alluvial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4050791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Climate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4288535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Cold-cycle test for foothills, dust-load tolerance for plains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764023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Documentation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5001767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Hindi BoQ templates, contracts, on-site safety signage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8" y="5477255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Data to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5714999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Existing test reports from NIT Calicut + any other bodies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37576" y="1463040"/>
            <a:ext cx="3721608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1463040"/>
            <a:ext cx="3721608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6" y="1463040"/>
            <a:ext cx="3721608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PILLAR 5 · OPERATE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1965960"/>
            <a:ext cx="3447288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A first-time buyer's biggest fear is delivery failure. Operational reliability — predictable response, quality sign-off, post-delivery service — converts more skeptics than any marketing campaign.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3337559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Service SLA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3575303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Publish a written response-time commitment from the depot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4736" y="4050791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Installer certification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6" y="4288535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First cohort programme in the beachhead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74736" y="4764023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Quality protocol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74736" y="5001767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Photo evidence + sign-off log before invoice release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5477255"/>
            <a:ext cx="344728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Data to gather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74736" y="5714999"/>
            <a:ext cx="344728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Current avg. service response time from Calicut for North projects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KPI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How to know it's working — a metric framework. Targets to be set by C-DISC leadership once baseline data is collected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C7479"/>
                </a:solidFill>
                <a:latin typeface="Calibri"/>
              </a:rPr>
              <a:t>Indicators are grouped by pillar — leading indicators (will demand convert?) appear before lagging (did it convert?)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46304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63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198424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Depot operational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225856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Y/N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244144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672" y="198424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Regional head hired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5672" y="225856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Y/N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5672" y="244144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696" y="198424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Local installers certified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696" y="225856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696" y="2441447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724911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724911"/>
            <a:ext cx="1463040" cy="77724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724911"/>
            <a:ext cx="1463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5648" y="283463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Certifications closed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5648" y="310895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55648" y="329183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5672" y="283463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Anchor reference projects signed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5672" y="310895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5672" y="329183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5696" y="283463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Site visits per quarter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696" y="310895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696" y="3291839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575303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575303"/>
            <a:ext cx="1463040" cy="77724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575303"/>
            <a:ext cx="1463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55648" y="368503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Active specifier relationships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55648" y="395935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5648" y="414223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5672" y="368503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Specs naming C-DISC in BoQ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95672" y="395935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5672" y="414223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35696" y="368503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Inbound leads from N. India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35696" y="395935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 + source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35696" y="4142231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425695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425695"/>
            <a:ext cx="1463040" cy="77724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4425695"/>
            <a:ext cx="1463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55648" y="4535423"/>
            <a:ext cx="46405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Spec tests completed for N. India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5648" y="4809743"/>
            <a:ext cx="46405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5648" y="4992623"/>
            <a:ext cx="46405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5684" y="4535423"/>
            <a:ext cx="46405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Quality complaints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15684" y="4809743"/>
            <a:ext cx="46405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count + severity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5684" y="4992623"/>
            <a:ext cx="46405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276087"/>
            <a:ext cx="11183112" cy="77724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5276087"/>
            <a:ext cx="1463040" cy="777240"/>
          </a:xfrm>
          <a:prstGeom prst="rect">
            <a:avLst/>
          </a:prstGeom>
          <a:solidFill>
            <a:srgbClr val="6C7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5276087"/>
            <a:ext cx="1463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55648" y="538581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Service response time (avg)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55648" y="566013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hours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55648" y="584301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95672" y="538581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Delivery on schedule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95672" y="566013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95672" y="584301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35696" y="538581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Defect-free sign-offs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35696" y="566013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Unit: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35696" y="5843015"/>
            <a:ext cx="302056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Target: [to be set by leadership]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INPUT REQUEST  ·  DATA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What we need from C-DISC before this strategy can be costed, ranked and executed — a defined diligence package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C7479"/>
                </a:solidFill>
                <a:latin typeface="Calibri"/>
              </a:rPr>
              <a:t>Each item below is required to convert one or more recommendations from "directional" to "executable"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6400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6400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3246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Revenue distribution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121408"/>
            <a:ext cx="32461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Project count and revenue split by region for last 24 months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1947672"/>
            <a:ext cx="54864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874520"/>
            <a:ext cx="685800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WHY WE NEED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103120"/>
            <a:ext cx="68580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Confirms the South-concentration premise; quantifies the gap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6888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68880"/>
            <a:ext cx="6400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468880"/>
            <a:ext cx="6400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514600"/>
            <a:ext cx="3246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Existing North footprint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61488"/>
            <a:ext cx="32461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Any existing customers, projects, dealers, architects or installers in North India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2587752"/>
            <a:ext cx="54864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2514600"/>
            <a:ext cx="685800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WHY WE NEED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68580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Tells us whether any beachhead is already partially seeded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10896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108960"/>
            <a:ext cx="6400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108960"/>
            <a:ext cx="6400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154680"/>
            <a:ext cx="3246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Certification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3401568"/>
            <a:ext cx="32461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For each pending PEN certification: body, stage, blocker, expected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3227832"/>
            <a:ext cx="54864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3154680"/>
            <a:ext cx="685800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WHY WE NEED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383280"/>
            <a:ext cx="68580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Determines how soon Pillar 2 (Proof) can be unlocked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74904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749040"/>
            <a:ext cx="6400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749040"/>
            <a:ext cx="6400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3794760"/>
            <a:ext cx="3246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Product test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41648"/>
            <a:ext cx="32461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PEN load-test, soil-type and climate test reports available 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3867912"/>
            <a:ext cx="54864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3794760"/>
            <a:ext cx="685800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WHY WE NEED 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023360"/>
            <a:ext cx="68580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Determines whether Pillar 4 (Product) needs new R&amp;D or just packaging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38912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6400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389120"/>
            <a:ext cx="6400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4434840"/>
            <a:ext cx="3246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Cost-to-deliver curve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681728"/>
            <a:ext cx="32461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Landed cost from Calicut to representative North India sites; freight + install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17720" y="4507992"/>
            <a:ext cx="54864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4434840"/>
            <a:ext cx="685800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WHY WE NEED 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4663440"/>
            <a:ext cx="68580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Lets us judge depot vs no-depot economically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02920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5029200"/>
            <a:ext cx="6400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029200"/>
            <a:ext cx="6400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074920"/>
            <a:ext cx="3246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Cash envelope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80160" y="5321808"/>
            <a:ext cx="32461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Working capital and capex envelope leadership is willing to deploy on the North push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17720" y="5148072"/>
            <a:ext cx="54864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5074920"/>
            <a:ext cx="685800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WHY WE NEED 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5303520"/>
            <a:ext cx="68580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Lets us right-size depot, hiring and reference-project investment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566928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" y="5669280"/>
            <a:ext cx="6400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5669280"/>
            <a:ext cx="6400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80160" y="5715000"/>
            <a:ext cx="3246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Decision rights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80160" y="5961888"/>
            <a:ext cx="32461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Who approves what; gating cadence (board, MD, regional head)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17720" y="5788152"/>
            <a:ext cx="54864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4880" y="5715000"/>
            <a:ext cx="685800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A951"/>
                </a:solidFill>
                <a:latin typeface="Calibri"/>
              </a:rPr>
              <a:t>WHY WE NEED 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54880" y="5943600"/>
            <a:ext cx="68580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2A2D33"/>
                </a:solidFill>
                <a:latin typeface="Calibri"/>
              </a:rPr>
              <a:t>Lets us design a credible execution 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Recommended next steps — four leadership decisions and four parallel data collections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25880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C-DISC  ·  North India GTM diagnostic  ·  Source: cdisctechnologies.com + qualitative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B3A5C"/>
                </a:solidFill>
                <a:latin typeface="Calibri"/>
              </a:rPr>
              <a:t>A · Four decisions for the leadership team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5532120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64008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D1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011679"/>
            <a:ext cx="466344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Endorse the strategic posture: beachhead-led entry (Option B), not opportunistic and not nationwide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59"/>
            <a:ext cx="5532120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880359"/>
            <a:ext cx="64008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8035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D2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17519"/>
            <a:ext cx="466344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Pick 2 beachheads from the candidate shortlist — using the five criteria on slide 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86199"/>
            <a:ext cx="5532120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886199"/>
            <a:ext cx="64008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8619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D3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023359"/>
            <a:ext cx="466344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Authorise the first regional hire (a North India head with P&amp;L authority)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39"/>
            <a:ext cx="5532120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892039"/>
            <a:ext cx="64008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9203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C8A951"/>
                </a:solidFill>
                <a:latin typeface="Calibri"/>
              </a:rPr>
              <a:t>D4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29199"/>
            <a:ext cx="466344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Commit a defined "first-phase" budget envelope for depot, anchor projects and Hindi documentation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B3A5C"/>
                </a:solidFill>
                <a:latin typeface="Calibri"/>
              </a:rPr>
              <a:t>B · Four data collections (in parallel)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1874519"/>
            <a:ext cx="5422392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1874519"/>
            <a:ext cx="640080" cy="9144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87451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011679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Compile a one-page tracker for every pending PEN certification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880359"/>
            <a:ext cx="5422392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2880359"/>
            <a:ext cx="640080" cy="9144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288035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3017519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Pull last 24 months of project data — region, segment, customer, ticket size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3886199"/>
            <a:ext cx="5422392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3886199"/>
            <a:ext cx="640080" cy="9144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88619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023359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Map any existing North India relationships (customer, channel, specifier, installer)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892039"/>
            <a:ext cx="5422392" cy="9144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4892039"/>
            <a:ext cx="640080" cy="91440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892039"/>
            <a:ext cx="64008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5029199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Get a landed-cost estimate from Calicut to two candidate beachhead capitals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Closing note: this diagnostic gives directional strategy and explicitly-flagged data gaps. Quantification is the next conversation, once the items above are in hand.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