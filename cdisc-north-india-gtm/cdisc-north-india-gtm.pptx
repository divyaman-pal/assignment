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45720" cy="6858000"/>
          </a:xfrm>
          <a:prstGeom prst="rect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94360"/>
            <a:ext cx="640080" cy="640080"/>
          </a:xfrm>
          <a:prstGeom prst="rect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102A43"/>
                </a:solidFill>
                <a:latin typeface="Calibri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658368"/>
            <a:ext cx="3200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C-DISC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914400"/>
            <a:ext cx="3383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6B84E"/>
                </a:solidFill>
                <a:latin typeface="Calibri"/>
              </a:rPr>
              <a:t>Innovative &amp; sustainable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4023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B84E"/>
                </a:solidFill>
                <a:latin typeface="Calibri"/>
              </a:rPr>
              <a:t>THE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420624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Why doesn't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North India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know us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yet?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4023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E6B84E"/>
                </a:solidFill>
                <a:latin typeface="Calibri"/>
              </a:rPr>
              <a:t>A simple plan to change that.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4023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16-slide diagnostic + playbook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73152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05E5B"/>
                </a:solidFill>
                <a:latin typeface="Calibri"/>
              </a:rPr>
              <a:t>GROW NORTH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097280"/>
            <a:ext cx="6400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02A43"/>
                </a:solidFill>
                <a:latin typeface="Calibri"/>
              </a:rPr>
              <a:t>A short story in three 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468880"/>
            <a:ext cx="6126480" cy="1051560"/>
          </a:xfrm>
          <a:prstGeom prst="roundRect">
            <a:avLst>
              <a:gd name="adj" fmla="val 4000"/>
            </a:avLst>
          </a:prstGeom>
          <a:solidFill>
            <a:srgbClr val="FAF6EE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2468880"/>
            <a:ext cx="109728" cy="1051560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633472"/>
            <a:ext cx="640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05E5B"/>
                </a:solidFill>
                <a:latin typeface="Calibri"/>
              </a:rPr>
              <a:t>ACT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889504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02A43"/>
                </a:solidFill>
                <a:latin typeface="Calibri"/>
              </a:rPr>
              <a:t>WHY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98064"/>
            <a:ext cx="3749039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C4A44"/>
                </a:solidFill>
                <a:latin typeface="Calibri"/>
              </a:rPr>
              <a:t>we're not visible up there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3657600"/>
            <a:ext cx="6126480" cy="1051560"/>
          </a:xfrm>
          <a:prstGeom prst="roundRect">
            <a:avLst>
              <a:gd name="adj" fmla="val 4000"/>
            </a:avLst>
          </a:prstGeom>
          <a:solidFill>
            <a:srgbClr val="FAF6EE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0" y="3657600"/>
            <a:ext cx="109728" cy="1051560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3822192"/>
            <a:ext cx="640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8868D"/>
                </a:solidFill>
                <a:latin typeface="Calibri"/>
              </a:rPr>
              <a:t>ACT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078224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02A43"/>
                </a:solidFill>
                <a:latin typeface="Calibri"/>
              </a:rPr>
              <a:t>HOW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86784"/>
            <a:ext cx="3749039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C4A44"/>
                </a:solidFill>
                <a:latin typeface="Calibri"/>
              </a:rPr>
              <a:t>we change that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4846320"/>
            <a:ext cx="6126480" cy="1051560"/>
          </a:xfrm>
          <a:prstGeom prst="roundRect">
            <a:avLst>
              <a:gd name="adj" fmla="val 4000"/>
            </a:avLst>
          </a:prstGeom>
          <a:solidFill>
            <a:srgbClr val="FAF6EE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0" y="4846320"/>
            <a:ext cx="109728" cy="105156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5010912"/>
            <a:ext cx="640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CAF6A"/>
                </a:solidFill>
                <a:latin typeface="Calibri"/>
              </a:rPr>
              <a:t>ACT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266944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02A43"/>
                </a:solidFill>
                <a:latin typeface="Calibri"/>
              </a:rPr>
              <a:t>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175504"/>
            <a:ext cx="3749039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C4A44"/>
                </a:solidFill>
                <a:latin typeface="Calibri"/>
              </a:rPr>
              <a:t>what we start tomorrow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0" y="6400800"/>
            <a:ext cx="6035040" cy="0"/>
          </a:xfrm>
          <a:prstGeom prst="line">
            <a:avLst/>
          </a:prstGeom>
          <a:ln w="6350">
            <a:solidFill>
              <a:srgbClr val="E4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6E6A60"/>
                </a:solidFill>
                <a:latin typeface="Calibri"/>
              </a:rPr>
              <a:t>Simple language. Real frameworks (Ansoff, BCG, Porter). No invented numbers.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64592" cy="164592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3657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05E5B"/>
                </a:solidFill>
                <a:latin typeface="Calibri"/>
              </a:rPr>
              <a:t>ACT 1 ·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E6A60"/>
                </a:solidFill>
                <a:latin typeface="Calibri"/>
              </a:rP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6E6A60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02A43"/>
                </a:solidFill>
                <a:latin typeface="Calibri"/>
              </a:rPr>
              <a:t>First — who exactly are we?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E6A60"/>
                </a:solidFill>
                <a:latin typeface="Calibri"/>
              </a:rPr>
              <a:t>Four facts straight from cdisctechnologies.com.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2706624" cy="411480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02A43"/>
                </a:solidFill>
                <a:latin typeface="Calibri"/>
              </a:rP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40"/>
            <a:ext cx="234086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05E5B"/>
                </a:solidFill>
                <a:latin typeface="Calibri"/>
              </a:rPr>
              <a:t>WHERE WE 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2340864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A1F2C"/>
                </a:solidFill>
                <a:latin typeface="Calibri"/>
              </a:rPr>
              <a:t>Calicut, Kerala.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A1F2C"/>
                </a:solidFill>
                <a:latin typeface="Calibri"/>
              </a:rPr>
              <a:t>A south-Indian R&amp;D-led construction company.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0984" y="2011680"/>
            <a:ext cx="2706624" cy="411480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58184" y="2286000"/>
            <a:ext cx="777240" cy="777240"/>
          </a:xfrm>
          <a:prstGeom prst="ellipse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8184" y="2286000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02A43"/>
                </a:solidFill>
                <a:latin typeface="Calibri"/>
              </a:rPr>
              <a:t>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291840"/>
            <a:ext cx="234086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05E5B"/>
                </a:solidFill>
                <a:latin typeface="Calibri"/>
              </a:rPr>
              <a:t>WHAT WE MAKE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3703320"/>
            <a:ext cx="2340864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A1F2C"/>
                </a:solidFill>
                <a:latin typeface="Calibri"/>
              </a:rPr>
              <a:t>Two products: PEN Foundation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A1F2C"/>
                </a:solidFill>
                <a:latin typeface="Calibri"/>
              </a:rPr>
              <a:t>(15 MT load capacity, developed with NIT Calicut)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A1F2C"/>
                </a:solidFill>
                <a:latin typeface="Calibri"/>
              </a:rPr>
              <a:t>and MNZE Homes (modular light-gauge-steel net-zero houses).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8" y="2011680"/>
            <a:ext cx="2706624" cy="411480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6248" y="2286000"/>
            <a:ext cx="777240" cy="777240"/>
          </a:xfrm>
          <a:prstGeom prst="ellipse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2286000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02A43"/>
                </a:solidFill>
                <a:latin typeface="Calibri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291840"/>
            <a:ext cx="234086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05E5B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3703320"/>
            <a:ext cx="2340864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A1F2C"/>
                </a:solidFill>
                <a:latin typeface="Calibri"/>
              </a:rPr>
              <a:t>Buildings go up faster,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A1F2C"/>
                </a:solidFill>
                <a:latin typeface="Calibri"/>
              </a:rPr>
              <a:t>use less material, leave less waste,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A1F2C"/>
                </a:solidFill>
                <a:latin typeface="Calibri"/>
              </a:rPr>
              <a:t>and can be taken apart and reused.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7112" y="2011680"/>
            <a:ext cx="2706624" cy="411480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54312" y="2286000"/>
            <a:ext cx="777240" cy="777240"/>
          </a:xfrm>
          <a:prstGeom prst="ellipse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2" y="2286000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02A43"/>
                </a:solidFill>
                <a:latin typeface="Calibri"/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3291840"/>
            <a:ext cx="234086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05E5B"/>
                </a:solidFill>
                <a:latin typeface="Calibri"/>
              </a:rPr>
              <a:t>WHO BUYS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3703320"/>
            <a:ext cx="2340864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A1F2C"/>
                </a:solidFill>
                <a:latin typeface="Calibri"/>
              </a:rPr>
              <a:t>Industrial, commercial, and warehouse projects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1A1F2C"/>
                </a:solidFill>
                <a:latin typeface="Calibri"/>
              </a:rPr>
              <a:t>that care about speed, strength and sustainability.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1">
                <a:solidFill>
                  <a:srgbClr val="102A43"/>
                </a:solidFill>
                <a:latin typeface="Calibri"/>
              </a:rPr>
              <a:t>In short: we make construction lighter, faster and greener. And we've proved it — in the South.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64592" cy="164592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3657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05E5B"/>
                </a:solidFill>
                <a:latin typeface="Calibri"/>
              </a:rPr>
              <a:t>ACT 1 ·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E6A60"/>
                </a:solidFill>
                <a:latin typeface="Calibri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6E6A60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02A43"/>
                </a:solidFill>
                <a:latin typeface="Calibri"/>
              </a:rPr>
              <a:t>Today, the map looks like this.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6E6A60"/>
                </a:solidFill>
                <a:latin typeface="Calibri"/>
              </a:rPr>
              <a:t>South India — strong. North India — silent.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5577840" cy="4297680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B84E"/>
                </a:solidFill>
                <a:latin typeface="Calibri"/>
              </a:rPr>
              <a:t>SOUTH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Our home turf.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6B84E"/>
                </a:solidFill>
                <a:latin typeface="Calibri"/>
              </a:rPr>
              <a:t>HQ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383280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Calicut, Kerala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6B84E"/>
                </a:solidFill>
                <a:latin typeface="Calibri"/>
              </a:rPr>
              <a:t>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794760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Most of our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06240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6B84E"/>
                </a:solidFill>
                <a:latin typeface="Calibri"/>
              </a:rPr>
              <a:t>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206240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Our installers and field team are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6B84E"/>
                </a:solidFill>
                <a:latin typeface="Calibri"/>
              </a:rPr>
              <a:t>BUYERS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617720"/>
            <a:ext cx="3931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They know us. Some have visited the office.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86400"/>
            <a:ext cx="5029200" cy="50292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50292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  WE WIN HERE  ·  THIS IS THE CASH COW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920240"/>
            <a:ext cx="5422392" cy="4297680"/>
          </a:xfrm>
          <a:prstGeom prst="roundRect">
            <a:avLst>
              <a:gd name="adj" fmla="val 4000"/>
            </a:avLst>
          </a:prstGeom>
          <a:solidFill>
            <a:srgbClr val="FAF6EE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10312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05E5B"/>
                </a:solidFill>
                <a:latin typeface="Calibri"/>
              </a:rPr>
              <a:t>NORTH 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468880"/>
            <a:ext cx="50292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02A43"/>
                </a:solidFill>
                <a:latin typeface="Calibri"/>
              </a:rPr>
              <a:t>A whisper.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383280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5E5B"/>
                </a:solidFill>
                <a:latin typeface="Calibri"/>
              </a:rPr>
              <a:t>HQ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38328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C"/>
                </a:solidFill>
                <a:latin typeface="Calibri"/>
              </a:rPr>
              <a:t>None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94760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5E5B"/>
                </a:solidFill>
                <a:latin typeface="Calibri"/>
              </a:rPr>
              <a:t>PROJECTS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79476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C"/>
                </a:solidFill>
                <a:latin typeface="Calibri"/>
              </a:rPr>
              <a:t>Almost none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206240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5E5B"/>
                </a:solidFill>
                <a:latin typeface="Calibri"/>
              </a:rPr>
              <a:t>PEOPLE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20624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C"/>
                </a:solidFill>
                <a:latin typeface="Calibri"/>
              </a:rPr>
              <a:t>No field team. No installers we trust.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617720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5E5B"/>
                </a:solidFill>
                <a:latin typeface="Calibri"/>
              </a:rPr>
              <a:t>BUYERS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61772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C"/>
                </a:solidFill>
                <a:latin typeface="Calibri"/>
              </a:rPr>
              <a:t>Most have never heard of C-DISC.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5486400"/>
            <a:ext cx="4846320" cy="502920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486400"/>
            <a:ext cx="48463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?  AN OPEN MARKET — AND A BIG QUESTION MARK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64592" cy="164592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3657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05E5B"/>
                </a:solidFill>
                <a:latin typeface="Calibri"/>
              </a:rPr>
              <a:t>ACT 1 ·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E6A60"/>
                </a:solidFill>
                <a:latin typeface="Calibri"/>
              </a:rPr>
              <a:t>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6E6A60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02A43"/>
                </a:solidFill>
                <a:latin typeface="Calibri"/>
              </a:rPr>
              <a:t>So — five honest reasons we're not visible up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E6A60"/>
                </a:solidFill>
                <a:latin typeface="Calibri"/>
              </a:rPr>
              <a:t>These are not excuses. They are the things we will fix.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11183112" cy="82296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822960" cy="822960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8229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3911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2A43"/>
                </a:solidFill>
                <a:latin typeface="Calibri"/>
              </a:rPr>
              <a:t>We're not there.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40864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C4A44"/>
                </a:solidFill>
                <a:latin typeface="Calibri"/>
              </a:rPr>
              <a:t>No office. No plant. No depot. The closest C-DISC point is ~2,500 km away.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07208"/>
            <a:ext cx="11183112" cy="82296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807208"/>
            <a:ext cx="822960" cy="822960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07208"/>
            <a:ext cx="8229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926080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2A43"/>
                </a:solidFill>
                <a:latin typeface="Calibri"/>
              </a:rPr>
              <a:t>Nobody has seen our 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27832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C4A44"/>
                </a:solidFill>
                <a:latin typeface="Calibri"/>
              </a:rPr>
              <a:t>There are no driveable C-DISC projects in the North. Buyers want to touch and walk a finished site before they trust.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94176"/>
            <a:ext cx="11183112" cy="82296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694176"/>
            <a:ext cx="822960" cy="822960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94176"/>
            <a:ext cx="8229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1304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2A43"/>
                </a:solidFill>
                <a:latin typeface="Calibri"/>
              </a:rPr>
              <a:t>Our paperwork isn't done.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11480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C4A44"/>
                </a:solidFill>
                <a:latin typeface="Calibri"/>
              </a:rPr>
              <a:t>PEN Foundation is still "under certification." Big buyers — especially government and institutional — wait until the stamp is 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81144"/>
            <a:ext cx="11183112" cy="82296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581144"/>
            <a:ext cx="822960" cy="822960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81144"/>
            <a:ext cx="8229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700016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2A43"/>
                </a:solidFill>
                <a:latin typeface="Calibri"/>
              </a:rPr>
              <a:t>We don't speak their language yet.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001768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C4A44"/>
                </a:solidFill>
                <a:latin typeface="Calibri"/>
              </a:rPr>
              <a:t>Our pitch decks, BoQs, contracts and WhatsApp templates are in English. North India does business in Hindi.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468112"/>
            <a:ext cx="11183112" cy="82296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468112"/>
            <a:ext cx="822960" cy="822960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468112"/>
            <a:ext cx="8229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586984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2A43"/>
                </a:solidFill>
                <a:latin typeface="Calibri"/>
              </a:rPr>
              <a:t>Their soil isn't our soil.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888736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C4A44"/>
                </a:solidFill>
                <a:latin typeface="Calibri"/>
              </a:rPr>
              <a:t>PEN was tested for Kerala's ground. The North has alluvial soil, freezing foothills, and dusty plains. We need to prove the product works there.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64592" cy="164592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3657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05E5B"/>
                </a:solidFill>
                <a:latin typeface="Calibri"/>
              </a:rPr>
              <a:t>ACT 1 ·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E6A60"/>
                </a:solidFill>
                <a:latin typeface="Calibri"/>
              </a:rPr>
              <a:t>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6E6A60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Ansoff Matrix · We're doing the second-hardest kind of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E6A60"/>
                </a:solidFill>
                <a:latin typeface="Calibri"/>
              </a:rPr>
              <a:t>Same product. New market. It's called "Market Development" — and it needs a different playbook than what worked in the South.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6126480" cy="4297680"/>
          </a:xfrm>
          <a:prstGeom prst="rect">
            <a:avLst/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3063240" cy="2148840"/>
          </a:xfrm>
          <a:prstGeom prst="rect">
            <a:avLst/>
          </a:prstGeom>
          <a:solidFill>
            <a:srgbClr val="E9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6200" y="1965960"/>
            <a:ext cx="3063240" cy="2148840"/>
          </a:xfrm>
          <a:prstGeom prst="rect">
            <a:avLst/>
          </a:prstGeom>
          <a:solidFill>
            <a:srgbClr val="F1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14800"/>
            <a:ext cx="3063240" cy="2148840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86200" y="4114800"/>
            <a:ext cx="3063240" cy="2148840"/>
          </a:xfrm>
          <a:prstGeom prst="rect">
            <a:avLst/>
          </a:prstGeom>
          <a:solidFill>
            <a:srgbClr val="E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22960" y="4114800.0"/>
            <a:ext cx="6126480" cy="0.0"/>
          </a:xfrm>
          <a:prstGeom prst="line">
            <a:avLst/>
          </a:prstGeom>
          <a:ln w="1905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86200.0" y="1965960"/>
            <a:ext cx="0.0" cy="4297680"/>
          </a:xfrm>
          <a:prstGeom prst="line">
            <a:avLst/>
          </a:prstGeom>
          <a:ln w="1905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0120" y="2103120"/>
            <a:ext cx="2788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CAF6A"/>
                </a:solidFill>
                <a:latin typeface="Calibri"/>
              </a:rPr>
              <a:t>MARKET PENETRATION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423160"/>
            <a:ext cx="27889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C"/>
                </a:solidFill>
                <a:latin typeface="Calibri"/>
              </a:rPr>
              <a:t>Sell more of what we have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C"/>
                </a:solidFill>
                <a:latin typeface="Calibri"/>
              </a:rPr>
              <a:t>to people who already buy.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20440"/>
            <a:ext cx="2788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4C4A44"/>
                </a:solidFill>
                <a:latin typeface="Calibri"/>
              </a:rPr>
              <a:t>e.g. more PEN to South industrial sites.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103120"/>
            <a:ext cx="2788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6B84E"/>
                </a:solidFill>
                <a:latin typeface="Calibri"/>
              </a:rPr>
              <a:t>PRODUCT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423160"/>
            <a:ext cx="27889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C"/>
                </a:solidFill>
                <a:latin typeface="Calibri"/>
              </a:rPr>
              <a:t>Build new things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C"/>
                </a:solidFill>
                <a:latin typeface="Calibri"/>
              </a:rPr>
              <a:t>for people who already buy.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520440"/>
            <a:ext cx="2788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4C4A44"/>
                </a:solidFill>
                <a:latin typeface="Calibri"/>
              </a:rPr>
              <a:t>e.g. new PEN variants for South.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2788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MARKET DEVELOPMENT  ←  WE ARE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72000"/>
            <a:ext cx="27889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Same product.</a:t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New market.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486400"/>
            <a:ext cx="2788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FFFFFF"/>
                </a:solidFill>
                <a:latin typeface="Calibri"/>
              </a:rPr>
              <a:t>Take PEN &amp; MNZE to North India.</a:t>
            </a:r>
          </a:p>
        </p:txBody>
      </p:sp>
      <p:sp>
        <p:nvSpPr>
          <p:cNvPr id="25" name="Oval 24"/>
          <p:cNvSpPr/>
          <p:nvPr/>
        </p:nvSpPr>
        <p:spPr>
          <a:xfrm>
            <a:off x="2971800" y="5623560"/>
            <a:ext cx="457200" cy="457200"/>
          </a:xfrm>
          <a:prstGeom prst="ellipse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5623560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251960"/>
            <a:ext cx="2788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05E5B"/>
                </a:solidFill>
                <a:latin typeface="Calibri"/>
              </a:rPr>
              <a:t>DIVERSIFICATION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572000"/>
            <a:ext cx="27889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C"/>
                </a:solidFill>
                <a:latin typeface="Calibri"/>
              </a:rPr>
              <a:t>New product.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C"/>
                </a:solidFill>
                <a:latin typeface="Calibri"/>
              </a:rPr>
              <a:t>New market.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C"/>
                </a:solidFill>
                <a:latin typeface="Calibri"/>
              </a:rPr>
              <a:t>(The riskiest move.)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126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>MARKETS  →   ← existing                                       new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365760" y="1965960"/>
            <a:ext cx="1097280" cy="4297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>PRODUCTS</a:t>
            </a:r>
          </a:p>
          <a:p>
            <a:pPr algn="r">
              <a:lnSpc>
                <a:spcPct val="14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/>
            </a:r>
          </a:p>
          <a:p>
            <a:pPr algn="r">
              <a:lnSpc>
                <a:spcPct val="14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>↓ new</a:t>
            </a:r>
          </a:p>
          <a:p>
            <a:pPr algn="r">
              <a:lnSpc>
                <a:spcPct val="14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/>
            </a:r>
          </a:p>
          <a:p>
            <a:pPr algn="r">
              <a:lnSpc>
                <a:spcPct val="14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>↑ existing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1965960"/>
            <a:ext cx="4370832" cy="4297680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2148840"/>
            <a:ext cx="3931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6B84E"/>
                </a:solidFill>
                <a:latin typeface="Calibri"/>
              </a:rPr>
              <a:t>WHAT IT MEANS FOR 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514600"/>
            <a:ext cx="3931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The risk is in the buyer,</a:t>
            </a:r>
          </a:p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not the product.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3611880"/>
            <a:ext cx="393192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Our product already works.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The job is to make a new market understand it, trust it, see it, touch it, and buy it.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That's a presence-and-proof job. Not a product job.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5669280"/>
            <a:ext cx="3931920" cy="457200"/>
          </a:xfrm>
          <a:prstGeom prst="rect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5669280"/>
            <a:ext cx="3931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02A43"/>
                </a:solidFill>
                <a:latin typeface="Calibri"/>
              </a:rPr>
              <a:t>Lesson: We don't need a new product.</a:t>
            </a:r>
          </a:p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02A43"/>
                </a:solidFill>
                <a:latin typeface="Calibri"/>
              </a:rPr>
              <a:t>We need to be there.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B84E"/>
                </a:solidFill>
                <a:latin typeface="Calibri"/>
              </a:rPr>
              <a:t>ACT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5029200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200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5029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FFFFFF"/>
                </a:solidFill>
                <a:latin typeface="Calibri"/>
              </a:rPr>
              <a:t>we make North India see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377440"/>
            <a:ext cx="5029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8868D"/>
                </a:solidFill>
                <a:latin typeface="Calibri"/>
              </a:rPr>
              <a:t>IN THIS 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5029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Three frameworks.</a:t>
            </a:r>
          </a:p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Three decisions.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4005072"/>
            <a:ext cx="73152" cy="411480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931920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8868D"/>
                </a:solidFill>
                <a:latin typeface="Calibri"/>
              </a:rPr>
              <a:t>FRAME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931920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C"/>
                </a:solidFill>
                <a:latin typeface="Calibri"/>
              </a:rPr>
              <a:t>BCG — where North India fits today and where we move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462272"/>
            <a:ext cx="73152" cy="411480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389120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8868D"/>
                </a:solidFill>
                <a:latin typeface="Calibri"/>
              </a:rPr>
              <a:t>FRAME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389120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C"/>
                </a:solidFill>
                <a:latin typeface="Calibri"/>
              </a:rPr>
              <a:t>Beachheads — three small places where we win first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919472"/>
            <a:ext cx="73152" cy="411480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846320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8868D"/>
                </a:solidFill>
                <a:latin typeface="Calibri"/>
              </a:rPr>
              <a:t>FRAME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46320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C"/>
                </a:solidFill>
                <a:latin typeface="Calibri"/>
              </a:rPr>
              <a:t>Porter's 5 Forces — what we'll be up against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5376672"/>
            <a:ext cx="73152" cy="411480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5303520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8868D"/>
                </a:solidFill>
                <a:latin typeface="Calibri"/>
              </a:rPr>
              <a:t>FRAME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303520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C"/>
                </a:solidFill>
                <a:latin typeface="Calibri"/>
              </a:rPr>
              <a:t>Five plays — the strategy in plain words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FFFFFF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64592" cy="164592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3657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8868D"/>
                </a:solidFill>
                <a:latin typeface="Calibri"/>
              </a:rPr>
              <a:t>ACT 2 ·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E6A60"/>
                </a:solidFill>
                <a:latin typeface="Calibri"/>
              </a:rPr>
              <a:t>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6E6A60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BCG Matrix · South is our cash cow. North is the bet.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E6A60"/>
                </a:solidFill>
                <a:latin typeface="Calibri"/>
              </a:rPr>
              <a:t>The goal is to push North India from "Question Mark" into "Star."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3063240" cy="2148840"/>
          </a:xfrm>
          <a:prstGeom prst="rect">
            <a:avLst/>
          </a:prstGeom>
          <a:solidFill>
            <a:srgbClr val="F4E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1965960"/>
            <a:ext cx="3063240" cy="2148840"/>
          </a:xfrm>
          <a:prstGeom prst="rect">
            <a:avLst/>
          </a:prstGeom>
          <a:solidFill>
            <a:srgbClr val="FA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114800"/>
            <a:ext cx="3063240" cy="2148840"/>
          </a:xfrm>
          <a:prstGeom prst="rect">
            <a:avLst/>
          </a:prstGeom>
          <a:solidFill>
            <a:srgbClr val="DF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4114800"/>
            <a:ext cx="3063240" cy="21488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22960" y="4114800.0"/>
            <a:ext cx="6126480" cy="0.0"/>
          </a:xfrm>
          <a:prstGeom prst="line">
            <a:avLst/>
          </a:prstGeom>
          <a:ln w="1905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86200.0" y="1965960"/>
            <a:ext cx="0.0" cy="4297680"/>
          </a:xfrm>
          <a:prstGeom prst="line">
            <a:avLst/>
          </a:prstGeom>
          <a:ln w="1905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2103120"/>
            <a:ext cx="2788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B84E"/>
                </a:solidFill>
                <a:latin typeface="Calibri"/>
              </a:rPr>
              <a:t>★  STARS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2788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C4A44"/>
                </a:solidFill>
                <a:latin typeface="Calibri"/>
              </a:rPr>
              <a:t>High growth · High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834640"/>
            <a:ext cx="2788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F2C"/>
                </a:solidFill>
                <a:latin typeface="Calibri"/>
              </a:rPr>
              <a:t>Where we want North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F2C"/>
                </a:solidFill>
                <a:latin typeface="Calibri"/>
              </a:rPr>
              <a:t>India to be in 3 years.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103120"/>
            <a:ext cx="2788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05E5B"/>
                </a:solidFill>
                <a:latin typeface="Calibri"/>
              </a:rPr>
              <a:t>?  QUESTION 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423160"/>
            <a:ext cx="2788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C4A44"/>
                </a:solidFill>
                <a:latin typeface="Calibri"/>
              </a:rPr>
              <a:t>High growth · Low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834640"/>
            <a:ext cx="2788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F2C"/>
                </a:solidFill>
                <a:latin typeface="Calibri"/>
              </a:rPr>
              <a:t>North India today.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F2C"/>
                </a:solidFill>
                <a:latin typeface="Calibri"/>
              </a:rPr>
              <a:t>Invest, or it stays a question.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251960"/>
            <a:ext cx="2788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CAF6A"/>
                </a:solidFill>
                <a:latin typeface="Calibri"/>
              </a:rPr>
              <a:t>$  CASH COWS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72000"/>
            <a:ext cx="2788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C4A44"/>
                </a:solidFill>
                <a:latin typeface="Calibri"/>
              </a:rPr>
              <a:t>Low growth · High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83480"/>
            <a:ext cx="2788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F2C"/>
                </a:solidFill>
                <a:latin typeface="Calibri"/>
              </a:rPr>
              <a:t>South India today.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F2C"/>
                </a:solidFill>
                <a:latin typeface="Calibri"/>
              </a:rPr>
              <a:t>Funds the North push.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251960"/>
            <a:ext cx="2788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E6A60"/>
                </a:solidFill>
                <a:latin typeface="Calibri"/>
              </a:rPr>
              <a:t>✕  DOGS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572000"/>
            <a:ext cx="2788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C4A44"/>
                </a:solidFill>
                <a:latin typeface="Calibri"/>
              </a:rPr>
              <a:t>Low growth · Low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983480"/>
            <a:ext cx="2788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F2C"/>
                </a:solidFill>
                <a:latin typeface="Calibri"/>
              </a:rPr>
              <a:t>Avoid for now. Don't spread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F2C"/>
                </a:solidFill>
                <a:latin typeface="Calibri"/>
              </a:rPr>
              <a:t>thin into 2nd-tier states yet.</a:t>
            </a:r>
          </a:p>
        </p:txBody>
      </p:sp>
      <p:sp>
        <p:nvSpPr>
          <p:cNvPr id="27" name="Oval 26"/>
          <p:cNvSpPr/>
          <p:nvPr/>
        </p:nvSpPr>
        <p:spPr>
          <a:xfrm>
            <a:off x="6172200" y="3794760"/>
            <a:ext cx="777240" cy="777240"/>
          </a:xfrm>
          <a:prstGeom prst="ellipse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3794760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663440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102A43"/>
                </a:solidFill>
                <a:latin typeface="Calibri"/>
              </a:rPr>
              <a:t>North today</a:t>
            </a:r>
          </a:p>
        </p:txBody>
      </p:sp>
      <p:sp>
        <p:nvSpPr>
          <p:cNvPr id="30" name="Oval 29"/>
          <p:cNvSpPr/>
          <p:nvPr/>
        </p:nvSpPr>
        <p:spPr>
          <a:xfrm>
            <a:off x="1463040" y="5806440"/>
            <a:ext cx="777240" cy="777240"/>
          </a:xfrm>
          <a:prstGeom prst="ellipse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5806440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6629400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102A43"/>
                </a:solidFill>
                <a:latin typeface="Calibri"/>
              </a:rPr>
              <a:t>South today</a:t>
            </a:r>
          </a:p>
        </p:txBody>
      </p:sp>
      <p:sp>
        <p:nvSpPr>
          <p:cNvPr id="33" name="Oval 32"/>
          <p:cNvSpPr/>
          <p:nvPr/>
        </p:nvSpPr>
        <p:spPr>
          <a:xfrm>
            <a:off x="3108960" y="3794760"/>
            <a:ext cx="777240" cy="777240"/>
          </a:xfrm>
          <a:prstGeom prst="ellipse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3794760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02A43"/>
                </a:solidFill>
                <a:latin typeface="Calibri"/>
              </a:rP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66344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102A43"/>
                </a:solidFill>
                <a:latin typeface="Calibri"/>
              </a:rPr>
              <a:t>North · 3-year target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3886200" y="4178808"/>
            <a:ext cx="2286000.0" cy="0"/>
          </a:xfrm>
          <a:prstGeom prst="line">
            <a:avLst/>
          </a:prstGeom>
          <a:ln w="2794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2960" y="6355080"/>
            <a:ext cx="6126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>MARKET SHARE  →   ← low                                       high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365760" y="1965960"/>
            <a:ext cx="1097280" cy="4297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>MARKET</a:t>
            </a:r>
          </a:p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/>
            </a:r>
          </a:p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>GROWTH</a:t>
            </a:r>
          </a:p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/>
            </a:r>
          </a:p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>↑ high</a:t>
            </a:r>
          </a:p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102A43"/>
                </a:solidFill>
                <a:latin typeface="Calibri"/>
              </a:rPr>
              <a:t>↓ 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1965960"/>
            <a:ext cx="4370832" cy="4297680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2148840"/>
            <a:ext cx="3931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6B84E"/>
                </a:solidFill>
                <a:latin typeface="Calibri"/>
              </a:rPr>
              <a:t>THE BCG MOVE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2514600"/>
            <a:ext cx="39319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Use Cash-Cow cash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to feed a Question Mark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until it becomes a Star.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4251960"/>
            <a:ext cx="393192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South India already runs profitably. That profit becomes the fuel for the North push.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We don't need outside money — we need disciplined re-investment of what's already coming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64592" cy="164592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3657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8868D"/>
                </a:solidFill>
                <a:latin typeface="Calibri"/>
              </a:rPr>
              <a:t>ACT 2 ·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E6A60"/>
                </a:solidFill>
                <a:latin typeface="Calibri"/>
              </a:rPr>
              <a:t>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6E6A60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Don't try to win all of North India. Pick three small fights and win them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E6A60"/>
                </a:solidFill>
                <a:latin typeface="Calibri"/>
              </a:rPr>
              <a:t>A beachhead is a small piece of territory where we concentrate everything we've got — and become the obvious choice.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3721608" cy="443484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721608" cy="594360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7568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7568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E05E5B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965960"/>
            <a:ext cx="2167128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BEACHHEAD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2103120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103120"/>
            <a:ext cx="73152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05E5B"/>
                </a:solidFill>
                <a:latin typeface="Calibri"/>
              </a:rPr>
              <a:t>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43200"/>
            <a:ext cx="3355848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02A43"/>
                </a:solidFill>
                <a:latin typeface="Calibri"/>
              </a:rPr>
              <a:t>NCR &amp; Greater Noida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20440"/>
            <a:ext cx="33558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5E5B"/>
                </a:solidFill>
                <a:latin typeface="Calibri"/>
              </a:rPr>
              <a:t>WHO LIVES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67328"/>
            <a:ext cx="3355848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Warehouse and light-industrial developers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80560"/>
            <a:ext cx="33558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5E5B"/>
                </a:solidFill>
                <a:latin typeface="Calibri"/>
              </a:rPr>
              <a:t>WHY IT FITS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27448"/>
            <a:ext cx="3355848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Pre-engineered buildings are already accepted here. Huge concentration of buyers in one place.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40680"/>
            <a:ext cx="33558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5E5B"/>
                </a:solidFill>
                <a:latin typeface="Calibri"/>
              </a:rPr>
              <a:t>THE BIG MOVE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87568"/>
            <a:ext cx="3355848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One driveable lighthouse project changes everything.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1965960"/>
            <a:ext cx="3721608" cy="443484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1965960"/>
            <a:ext cx="3721608" cy="594360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98848" y="207568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207568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8868D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1965960"/>
            <a:ext cx="2167128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BEACHHEAD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23176" y="2103120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23176" y="2103120"/>
            <a:ext cx="73152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8868D"/>
                </a:solidFill>
                <a:latin typeface="Calibri"/>
              </a:rPr>
              <a:t>PEN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2743200"/>
            <a:ext cx="3355848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02A43"/>
                </a:solidFill>
                <a:latin typeface="Calibri"/>
              </a:rPr>
              <a:t>Punjab &amp; Haryana farm belt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3520440"/>
            <a:ext cx="33558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8868D"/>
                </a:solidFill>
                <a:latin typeface="Calibri"/>
              </a:rPr>
              <a:t>WHO LIVES 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3767328"/>
            <a:ext cx="3355848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Mid-sized poultry, dairy and cold-storage owners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4480560"/>
            <a:ext cx="33558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8868D"/>
                </a:solidFill>
                <a:latin typeface="Calibri"/>
              </a:rPr>
              <a:t>WHY IT FITS 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4727448"/>
            <a:ext cx="3355848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Big demand for farm sheds. They care deeply about cost and speed — our core pitch.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5440680"/>
            <a:ext cx="33558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8868D"/>
                </a:solidFill>
                <a:latin typeface="Calibri"/>
              </a:rPr>
              <a:t>THE BIG MOVE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5687568"/>
            <a:ext cx="3355848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NABARD-backed projects could be a wedge once certification is closed.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37576" y="1965960"/>
            <a:ext cx="3721608" cy="443484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37576" y="1965960"/>
            <a:ext cx="3721608" cy="59436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66176" y="207568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6" y="2075688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4CAF6A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3376" y="1965960"/>
            <a:ext cx="2167128" cy="5943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BEACHHEAD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90504" y="2103120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90504" y="2103120"/>
            <a:ext cx="731520" cy="320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4CAF6A"/>
                </a:solidFill>
                <a:latin typeface="Calibri"/>
              </a:rPr>
              <a:t>MNZE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0456" y="2743200"/>
            <a:ext cx="3355848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02A43"/>
                </a:solidFill>
                <a:latin typeface="Calibri"/>
              </a:rPr>
              <a:t>Uttarakhand resort belt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0456" y="3520440"/>
            <a:ext cx="33558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4CAF6A"/>
                </a:solidFill>
                <a:latin typeface="Calibri"/>
              </a:rPr>
              <a:t>WHO LIVES HERE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0456" y="3767328"/>
            <a:ext cx="3355848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Independent resort and farm-stay developers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0456" y="4480560"/>
            <a:ext cx="33558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4CAF6A"/>
                </a:solidFill>
                <a:latin typeface="Calibri"/>
              </a:rPr>
              <a:t>WHY IT FITS 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0456" y="4727448"/>
            <a:ext cx="3355848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Cottage clusters need to go up fast in a short build season. MNZE's sustainability story sells.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0456" y="5440680"/>
            <a:ext cx="33558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4CAF6A"/>
                </a:solidFill>
                <a:latin typeface="Calibri"/>
              </a:rPr>
              <a:t>THE BIG MOVE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0456" y="5687568"/>
            <a:ext cx="3355848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Tie up with 2-3 hill architects and ride their projects.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64592" cy="164592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3657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8868D"/>
                </a:solidFill>
                <a:latin typeface="Calibri"/>
              </a:rPr>
              <a:t>ACT 2 ·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E6A60"/>
                </a:solidFill>
                <a:latin typeface="Calibri"/>
              </a:rPr>
              <a:t>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6E6A60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Porter's 5 Forces · What we'll be up against in the North.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E6A60"/>
                </a:solidFill>
                <a:latin typeface="Calibri"/>
              </a:rPr>
              <a:t>A simple read on the competitive weather — each force rated by feel, to be re-rated with field data.</a:t>
            </a:r>
          </a:p>
        </p:txBody>
      </p:sp>
      <p:sp>
        <p:nvSpPr>
          <p:cNvPr id="9" name="Oval 8"/>
          <p:cNvSpPr/>
          <p:nvPr/>
        </p:nvSpPr>
        <p:spPr>
          <a:xfrm>
            <a:off x="5212080" y="3657600"/>
            <a:ext cx="1737360" cy="100584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3657600"/>
            <a:ext cx="173736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C-DISC</a:t>
            </a:r>
          </a:p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 North</a:t>
            </a:r>
          </a:p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India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214884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19088" y="2221992"/>
            <a:ext cx="502920" cy="228600"/>
          </a:xfrm>
          <a:prstGeom prst="rect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221992"/>
            <a:ext cx="50292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20370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02A43"/>
                </a:solidFill>
                <a:latin typeface="Calibri"/>
              </a:rPr>
              <a:t>NEW ENTRANTS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468880"/>
            <a:ext cx="1645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4C4A44"/>
                </a:solidFill>
                <a:latin typeface="Calibri"/>
              </a:rPr>
              <a:t>Few national pre-engineered players; many local SMEs but small scale.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.0" y="2628900.0"/>
            <a:ext cx="0.0" cy="1531620.0"/>
          </a:xfrm>
          <a:prstGeom prst="line">
            <a:avLst/>
          </a:prstGeom>
          <a:ln w="12700">
            <a:solidFill>
              <a:srgbClr val="E4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44758" y="322296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97486" y="3296112"/>
            <a:ext cx="502920" cy="22860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7486" y="3296112"/>
            <a:ext cx="50292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6198" y="327782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02A43"/>
                </a:solidFill>
                <a:latin typeface="Calibri"/>
              </a:rPr>
              <a:t>SUPPLIERS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6198" y="3543000"/>
            <a:ext cx="1645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4C4A44"/>
                </a:solidFill>
                <a:latin typeface="Calibri"/>
              </a:rPr>
              <a:t>Steel and cement are commodities — multiple suppliers, weak supplier power.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080760" y="3703020.0"/>
            <a:ext cx="1478398.0" cy="457500.0"/>
          </a:xfrm>
          <a:prstGeom prst="line">
            <a:avLst/>
          </a:prstGeom>
          <a:ln w="12700">
            <a:solidFill>
              <a:srgbClr val="E4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80060" y="496092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32788" y="5034072"/>
            <a:ext cx="502920" cy="228600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2788" y="5034072"/>
            <a:ext cx="50292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1500" y="501578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02A43"/>
                </a:solidFill>
                <a:latin typeface="Calibri"/>
              </a:rPr>
              <a:t>BUYERS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1500" y="5280960"/>
            <a:ext cx="1645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4C4A44"/>
                </a:solidFill>
                <a:latin typeface="Calibri"/>
              </a:rPr>
              <a:t>Decision-makers are scattered, price-sensitive, relationship-led.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6080760" y="4160520"/>
            <a:ext cx="913700.0" cy="1280460.0"/>
          </a:xfrm>
          <a:prstGeom prst="line">
            <a:avLst/>
          </a:prstGeom>
          <a:ln w="12700">
            <a:solidFill>
              <a:srgbClr val="E4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52660" y="496092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05388" y="5034072"/>
            <a:ext cx="502920" cy="228600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5388" y="5034072"/>
            <a:ext cx="50292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4100" y="501578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02A43"/>
                </a:solidFill>
                <a:latin typeface="Calibri"/>
              </a:rPr>
              <a:t>SUBSTITUTES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4100" y="5280960"/>
            <a:ext cx="1645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4C4A44"/>
                </a:solidFill>
                <a:latin typeface="Calibri"/>
              </a:rPr>
              <a:t>Brick-and-mortar is the obvious default — every brick-mason is a substitute.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5167060.0" y="4160520"/>
            <a:ext cx="913700.0" cy="1280460.0"/>
          </a:xfrm>
          <a:prstGeom prst="line">
            <a:avLst/>
          </a:prstGeom>
          <a:ln w="12700">
            <a:solidFill>
              <a:srgbClr val="E4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687962" y="322296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40690" y="3296112"/>
            <a:ext cx="502920" cy="228600"/>
          </a:xfrm>
          <a:prstGeom prst="rect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40690" y="3296112"/>
            <a:ext cx="502920" cy="228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79402" y="3277824"/>
            <a:ext cx="11887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02A43"/>
                </a:solidFill>
                <a:latin typeface="Calibri"/>
              </a:rPr>
              <a:t>COMPETITIVE RIVALRY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9402" y="3543000"/>
            <a:ext cx="1645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4C4A44"/>
                </a:solidFill>
                <a:latin typeface="Calibri"/>
              </a:rPr>
              <a:t>Few direct pre-engineered competitors but they have presence we don't.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02362.0" y="3703020.0"/>
            <a:ext cx="1478398.0" cy="457500.0"/>
          </a:xfrm>
          <a:prstGeom prst="line">
            <a:avLst/>
          </a:prstGeom>
          <a:ln w="12700">
            <a:solidFill>
              <a:srgbClr val="E4D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02920" y="1965960"/>
            <a:ext cx="4114800" cy="4297680"/>
          </a:xfrm>
          <a:prstGeom prst="roundRect">
            <a:avLst>
              <a:gd name="adj" fmla="val 4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214884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6B84E"/>
                </a:solidFill>
                <a:latin typeface="Calibri"/>
              </a:rPr>
              <a:t>WHAT THIS TELLS 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2514600"/>
            <a:ext cx="3657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two big forces working against us are the same two things.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370332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B84E"/>
                </a:solidFill>
                <a:latin typeface="Calibri"/>
              </a:rPr>
              <a:t>1.  BUYERS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3977639"/>
            <a:ext cx="36576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Hard to find, hard to convince, hard to keep.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B84E"/>
                </a:solidFill>
                <a:latin typeface="Calibri"/>
              </a:rPr>
              <a:t>2.  SUBSTITUTES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937760"/>
            <a:ext cx="36576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The brick mason is everywhere. And cheap to hire.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623560"/>
            <a:ext cx="3657600" cy="457200"/>
          </a:xfrm>
          <a:prstGeom prst="rect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623560"/>
            <a:ext cx="3657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102A43"/>
                </a:solidFill>
                <a:latin typeface="Calibri"/>
              </a:rPr>
              <a:t>So our edge must be PROOF and SPEED.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64592" cy="164592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3657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8868D"/>
                </a:solidFill>
                <a:latin typeface="Calibri"/>
              </a:rPr>
              <a:t>ACT 2 ·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E6A60"/>
                </a:solidFill>
                <a:latin typeface="Calibri"/>
              </a:rPr>
              <a:t>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6E6A60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Five plays. Plain English. Each one fixes a reason we listed in Act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E6A60"/>
                </a:solidFill>
                <a:latin typeface="Calibri"/>
              </a:rPr>
              <a:t>Memorise these five words: BE THERE  ·  SHOW PROOF  ·  FIND FRIENDS  ·  SPEAK THEIR LANGUAGE  ·  DELIVER WELL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11183112" cy="850392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731520" cy="850392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731520" cy="8503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57400"/>
            <a:ext cx="640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E05E5B"/>
                </a:solidFill>
                <a:latin typeface="Calibri"/>
              </a:rPr>
              <a:t>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029968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2A43"/>
                </a:solidFill>
                <a:latin typeface="Calibri"/>
              </a:rPr>
              <a:t>BE THERE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331720"/>
            <a:ext cx="6858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C4A44"/>
                </a:solidFill>
                <a:latin typeface="Calibri"/>
              </a:rPr>
              <a:t>Open one small office or stocking point in the North. Hire one local leader.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2103120"/>
            <a:ext cx="2468880" cy="457200"/>
          </a:xfrm>
          <a:prstGeom prst="rect">
            <a:avLst/>
          </a:prstGeom>
          <a:solidFill>
            <a:srgbClr val="FAF6EE"/>
          </a:solidFill>
          <a:ln w="635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103120"/>
            <a:ext cx="24688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4C4A44"/>
                </a:solidFill>
                <a:latin typeface="Calibri"/>
              </a:rPr>
              <a:t>Fixes: "We're not there"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07208"/>
            <a:ext cx="11183112" cy="850392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807208"/>
            <a:ext cx="731520" cy="850392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07208"/>
            <a:ext cx="731520" cy="8503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44368"/>
            <a:ext cx="640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18868D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916936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2A43"/>
                </a:solidFill>
                <a:latin typeface="Calibri"/>
              </a:rPr>
              <a:t>SHOW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218688"/>
            <a:ext cx="6858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C4A44"/>
                </a:solidFill>
                <a:latin typeface="Calibri"/>
              </a:rPr>
              <a:t>Get the PEN certificate signed. Sign three lighthouse projects. Let buyers walk a finished site.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2990088"/>
            <a:ext cx="2468880" cy="457200"/>
          </a:xfrm>
          <a:prstGeom prst="rect">
            <a:avLst/>
          </a:prstGeom>
          <a:solidFill>
            <a:srgbClr val="FAF6EE"/>
          </a:solidFill>
          <a:ln w="635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2990088"/>
            <a:ext cx="24688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4C4A44"/>
                </a:solidFill>
                <a:latin typeface="Calibri"/>
              </a:rPr>
              <a:t>Fixes: "Nobody has seen our work" + "Paperwork not done"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694176"/>
            <a:ext cx="11183112" cy="850392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694176"/>
            <a:ext cx="731520" cy="850392"/>
          </a:xfrm>
          <a:prstGeom prst="rect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694176"/>
            <a:ext cx="731520" cy="8503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831336"/>
            <a:ext cx="640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E6B84E"/>
                </a:solidFill>
                <a:latin typeface="Calibri"/>
              </a:rPr>
              <a:t>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803904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2A43"/>
                </a:solidFill>
                <a:latin typeface="Calibri"/>
              </a:rPr>
              <a:t>FIND FRIENDS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105656"/>
            <a:ext cx="6858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C4A44"/>
                </a:solidFill>
                <a:latin typeface="Calibri"/>
              </a:rPr>
              <a:t>Build relationships with 20–30 architects, EPC contractors and dealers. They are the people who actually decide what gets specified.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3877056"/>
            <a:ext cx="2468880" cy="457200"/>
          </a:xfrm>
          <a:prstGeom prst="rect">
            <a:avLst/>
          </a:prstGeom>
          <a:solidFill>
            <a:srgbClr val="FAF6EE"/>
          </a:solidFill>
          <a:ln w="635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3877056"/>
            <a:ext cx="24688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4C4A44"/>
                </a:solidFill>
                <a:latin typeface="Calibri"/>
              </a:rPr>
              <a:t>Fixes: "No channel"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581144"/>
            <a:ext cx="11183112" cy="850392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581144"/>
            <a:ext cx="731520" cy="850392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581144"/>
            <a:ext cx="731520" cy="8503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718304"/>
            <a:ext cx="640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4CAF6A"/>
                </a:solidFill>
                <a:latin typeface="Calibri"/>
              </a:rPr>
              <a:t>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4690872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2A43"/>
                </a:solidFill>
                <a:latin typeface="Calibri"/>
              </a:rPr>
              <a:t>SPEAK THEIR LANGUAGE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992624"/>
            <a:ext cx="6858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C4A44"/>
                </a:solidFill>
                <a:latin typeface="Calibri"/>
              </a:rPr>
              <a:t>Rewrite the sales kit, BoQ, contracts and WhatsApp templates in Hindi. Train the team to talk like a North India contractor.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4764024"/>
            <a:ext cx="2468880" cy="457200"/>
          </a:xfrm>
          <a:prstGeom prst="rect">
            <a:avLst/>
          </a:prstGeom>
          <a:solidFill>
            <a:srgbClr val="FAF6EE"/>
          </a:solidFill>
          <a:ln w="635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4764024"/>
            <a:ext cx="24688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4C4A44"/>
                </a:solidFill>
                <a:latin typeface="Calibri"/>
              </a:rPr>
              <a:t>Fixes: "We don't speak their language"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468112"/>
            <a:ext cx="11183112" cy="850392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468112"/>
            <a:ext cx="731520" cy="85039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468112"/>
            <a:ext cx="731520" cy="8503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605272"/>
            <a:ext cx="640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102A43"/>
                </a:solidFill>
                <a:latin typeface="Calibri"/>
              </a:rPr>
              <a:t>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5577840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2A43"/>
                </a:solidFill>
                <a:latin typeface="Calibri"/>
              </a:rPr>
              <a:t>DELIVER WELL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5879592"/>
            <a:ext cx="6858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C4A44"/>
                </a:solidFill>
                <a:latin typeface="Calibri"/>
              </a:rPr>
              <a:t>Train local installers. Set a clear service promise. Photograph and sign off every site.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5650992"/>
            <a:ext cx="2468880" cy="457200"/>
          </a:xfrm>
          <a:prstGeom prst="rect">
            <a:avLst/>
          </a:prstGeom>
          <a:solidFill>
            <a:srgbClr val="FAF6EE"/>
          </a:solidFill>
          <a:ln w="635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5650992"/>
            <a:ext cx="24688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4C4A44"/>
                </a:solidFill>
                <a:latin typeface="Calibri"/>
              </a:rPr>
              <a:t>Fixes: "Their soil is different" + earns repeat orders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B84E"/>
                </a:solidFill>
                <a:latin typeface="Calibri"/>
              </a:rPr>
              <a:t>ACT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5029200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12000" b="1" i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5029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FFFFFF"/>
                </a:solidFill>
                <a:latin typeface="Calibri"/>
              </a:rPr>
              <a:t>what we start tomorrow morning.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377440"/>
            <a:ext cx="5029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CAF6A"/>
                </a:solidFill>
                <a:latin typeface="Calibri"/>
              </a:rPr>
              <a:t>IN THIS 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5029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The plan, the people,</a:t>
            </a:r>
          </a:p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and the scoreboard.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4005072"/>
            <a:ext cx="73152" cy="41148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931920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CAF6A"/>
                </a:solidFill>
                <a:latin typeface="Calibri"/>
              </a:rPr>
              <a:t>MOVE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931920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C"/>
                </a:solidFill>
                <a:latin typeface="Calibri"/>
              </a:rPr>
              <a:t>The first three concrete moves (cheap, fast, high-signal)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462272"/>
            <a:ext cx="73152" cy="41148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389120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CAF6A"/>
                </a:solidFill>
                <a:latin typeface="Calibri"/>
              </a:rPr>
              <a:t>MOVE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389120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C"/>
                </a:solidFill>
                <a:latin typeface="Calibri"/>
              </a:rPr>
              <a:t>A practical to-do list grouped by Now / Soon / Later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919472"/>
            <a:ext cx="73152" cy="41148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846320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CAF6A"/>
                </a:solidFill>
                <a:latin typeface="Calibri"/>
              </a:rPr>
              <a:t>MOVE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46320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C"/>
                </a:solidFill>
                <a:latin typeface="Calibri"/>
              </a:rPr>
              <a:t>Who decides, who does, who watches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5376672"/>
            <a:ext cx="73152" cy="41148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5303520"/>
            <a:ext cx="1280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CAF6A"/>
                </a:solidFill>
                <a:latin typeface="Calibri"/>
              </a:rPr>
              <a:t>MOVE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303520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C"/>
                </a:solidFill>
                <a:latin typeface="Calibri"/>
              </a:rPr>
              <a:t>A simple scoreboard that says: are we winning?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FFFFFF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64592" cy="164592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3657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CAF6A"/>
                </a:solidFill>
                <a:latin typeface="Calibri"/>
              </a:rPr>
              <a:t>ACT 3 ·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E6A60"/>
                </a:solidFill>
                <a:latin typeface="Calibri"/>
              </a:rPr>
              <a:t>12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6E6A60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02A43"/>
                </a:solidFill>
                <a:latin typeface="Calibri"/>
              </a:rPr>
              <a:t>Don't boil the ocean. Do these three things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E6A60"/>
                </a:solidFill>
                <a:latin typeface="Calibri"/>
              </a:rPr>
              <a:t>Each move is cheap, fast, and tells us a 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3721608" cy="438912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3721608" cy="50292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3558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MOVE 1</a:t>
            </a:r>
          </a:p>
        </p:txBody>
      </p:sp>
      <p:sp>
        <p:nvSpPr>
          <p:cNvPr id="12" name="Oval 11"/>
          <p:cNvSpPr/>
          <p:nvPr/>
        </p:nvSpPr>
        <p:spPr>
          <a:xfrm>
            <a:off x="1860804" y="2697480"/>
            <a:ext cx="1005840" cy="100584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0804" y="2697480"/>
            <a:ext cx="100584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6B84E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335584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02A43"/>
                </a:solidFill>
                <a:latin typeface="Calibri"/>
              </a:rPr>
              <a:t>Hire ONE person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3355848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A1F2C"/>
                </a:solidFill>
                <a:latin typeface="Calibri"/>
              </a:rPr>
              <a:t>A North-India construction-industry veteran who can be the face of C-DISC in the North.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A1F2C"/>
                </a:solidFill>
                <a:latin typeface="Calibri"/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A1F2C"/>
                </a:solidFill>
                <a:latin typeface="Calibri"/>
              </a:rPr>
              <a:t>They carry the title, the P&amp;L, and the rolodex.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577840"/>
            <a:ext cx="3355848" cy="54864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96128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4CAF6A"/>
                </a:solidFill>
                <a:latin typeface="Calibri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96128"/>
            <a:ext cx="2852928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4C4A44"/>
                </a:solidFill>
                <a:latin typeface="Calibri"/>
              </a:rPr>
              <a:t>You can't outsource trust. Real conversations need a real human in the room.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0248" y="1920240"/>
            <a:ext cx="3721608" cy="438912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0248" y="1920240"/>
            <a:ext cx="3721608" cy="50292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1920240"/>
            <a:ext cx="33558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MOVE 2</a:t>
            </a:r>
          </a:p>
        </p:txBody>
      </p:sp>
      <p:sp>
        <p:nvSpPr>
          <p:cNvPr id="22" name="Oval 21"/>
          <p:cNvSpPr/>
          <p:nvPr/>
        </p:nvSpPr>
        <p:spPr>
          <a:xfrm>
            <a:off x="5628132" y="2697480"/>
            <a:ext cx="1005840" cy="100584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8132" y="2697480"/>
            <a:ext cx="100584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6B84E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3840480"/>
            <a:ext cx="335584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02A43"/>
                </a:solidFill>
                <a:latin typeface="Calibri"/>
              </a:rPr>
              <a:t>Close the certificate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4389120"/>
            <a:ext cx="3355848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A1F2C"/>
                </a:solidFill>
                <a:latin typeface="Calibri"/>
              </a:rPr>
              <a:t>PEN Foundation is "under certification" on the website. Make it the CEO's personal monthly task to close every pending approval — body by body, stage by stage.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53128" y="5577840"/>
            <a:ext cx="3355848" cy="54864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5596128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4CAF6A"/>
                </a:solidFill>
                <a:latin typeface="Calibri"/>
              </a:rPr>
              <a:t>WHY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5596128"/>
            <a:ext cx="2852928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4C4A44"/>
                </a:solidFill>
                <a:latin typeface="Calibri"/>
              </a:rPr>
              <a:t>Half our reasons for losing in the North evaporate the day this is done.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7576" y="1920240"/>
            <a:ext cx="3721608" cy="4389120"/>
          </a:xfrm>
          <a:prstGeom prst="roundRect">
            <a:avLst>
              <a:gd name="adj" fmla="val 5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7576" y="1920240"/>
            <a:ext cx="3721608" cy="50292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1920240"/>
            <a:ext cx="33558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MOVE 3</a:t>
            </a:r>
          </a:p>
        </p:txBody>
      </p:sp>
      <p:sp>
        <p:nvSpPr>
          <p:cNvPr id="32" name="Oval 31"/>
          <p:cNvSpPr/>
          <p:nvPr/>
        </p:nvSpPr>
        <p:spPr>
          <a:xfrm>
            <a:off x="9395460" y="2697480"/>
            <a:ext cx="1005840" cy="100584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5460" y="2697480"/>
            <a:ext cx="100584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E6B84E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3840480"/>
            <a:ext cx="335584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102A43"/>
                </a:solidFill>
                <a:latin typeface="Calibri"/>
              </a:rPr>
              <a:t>Sign one lighthouse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4389120"/>
            <a:ext cx="3355848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A1F2C"/>
                </a:solidFill>
                <a:latin typeface="Calibri"/>
              </a:rPr>
              <a:t>Pick one project in one beachhead. Take a margin hit if needed. Build it. Photograph it. Make it the home page of every sales conversation for the next 24 months.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0456" y="5577840"/>
            <a:ext cx="3355848" cy="54864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6" y="5596128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4CAF6A"/>
                </a:solidFill>
                <a:latin typeface="Calibri"/>
              </a:rPr>
              <a:t>WHY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3376" y="5596128"/>
            <a:ext cx="2852928" cy="5120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4C4A44"/>
                </a:solidFill>
                <a:latin typeface="Calibri"/>
              </a:rPr>
              <a:t>A driveable reference site is the single highest-leverage thing in this entire plan.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64592" cy="164592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3657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CAF6A"/>
                </a:solidFill>
                <a:latin typeface="Calibri"/>
              </a:rPr>
              <a:t>ACT 3 ·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E6A60"/>
                </a:solidFill>
                <a:latin typeface="Calibri"/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6E6A60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The to-do list. Sorted by when, not by importance.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E6A60"/>
                </a:solidFill>
                <a:latin typeface="Calibri"/>
              </a:rPr>
              <a:t>Three buckets. Everything in the "Now" bucket can start before the end of this week.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3721608" cy="443484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721608" cy="594360"/>
          </a:xfrm>
          <a:prstGeom prst="rect">
            <a:avLst/>
          </a:prstGeom>
          <a:solidFill>
            <a:srgbClr val="E0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39112"/>
            <a:ext cx="335584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335584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Start this week. Cheap. Decisive.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9806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05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Open a job posting for the North India Head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4670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05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9184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Make a list of every pending PEN certificate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9534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05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List 30 architects + EPCs we want to call in NCR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44398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05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Translate one sales deck and BoQ into Hindi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99262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05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Identify two candidate "lighthouse" project leads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54126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05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Decide the first beachhead (NCR or Punjab or UK)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0248" y="1965960"/>
            <a:ext cx="3721608" cy="443484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1965960"/>
            <a:ext cx="3721608" cy="594360"/>
          </a:xfrm>
          <a:prstGeom prst="rect">
            <a:avLst/>
          </a:prstGeom>
          <a:solidFill>
            <a:srgbClr val="188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2039112"/>
            <a:ext cx="335584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2331720"/>
            <a:ext cx="335584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Once the Head is in. Sets the engine.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53128" y="279806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1886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274320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Lease a small stocking + service point in the beachhead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3128" y="334670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1886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329184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Run lab tests of PEN on alluvial soil samples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53128" y="389534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1886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384048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Sign the first lighthouse project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53128" y="444398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1886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438912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Train the first cohort of local installers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53128" y="499262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1886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1728" y="493776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Set up a simple CRM, log every North lead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53128" y="554126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1886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548640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Build 3 case studies from existing South projects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37576" y="1965960"/>
            <a:ext cx="3721608" cy="443484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7576" y="1965960"/>
            <a:ext cx="3721608" cy="59436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0456" y="2039112"/>
            <a:ext cx="335584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0456" y="2331720"/>
            <a:ext cx="3355848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Once the first lighthouse is live.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0456" y="279806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49056" y="274320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Open beachhead #2 with same model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0456" y="334670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49056" y="329184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Plan the Northern plant (location, capex)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0456" y="389534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49056" y="384048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Launch an annual North architect awards programme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0456" y="444398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49056" y="438912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Roll Hindi marketing into trade media + LinkedIn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0456" y="499262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49056" y="493776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Consider Punjab/UK adjacencies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0456" y="5541264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49056" y="5486400"/>
            <a:ext cx="312724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F2C"/>
                </a:solidFill>
                <a:latin typeface="Calibri"/>
              </a:rPr>
              <a:t>Recruit second cohort of installers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64592" cy="164592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3657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CAF6A"/>
                </a:solidFill>
                <a:latin typeface="Calibri"/>
              </a:rPr>
              <a:t>ACT 3 ·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E6A60"/>
                </a:solidFill>
                <a:latin typeface="Calibri"/>
              </a:rPr>
              <a:t>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6E6A60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Who does what. Four roles. No bureaucracy.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E6A60"/>
                </a:solidFill>
                <a:latin typeface="Calibri"/>
              </a:rPr>
              <a:t>For each big action — who decides, who delivers, who helps, and who watches the scoreboard.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11183112" cy="4572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20240"/>
            <a:ext cx="31089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6B84E"/>
                </a:solidFill>
                <a:latin typeface="Calibri"/>
              </a:rPr>
              <a:t>ACTION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8" y="1920240"/>
            <a:ext cx="18288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6B84E"/>
                </a:solidFill>
                <a:latin typeface="Calibri"/>
              </a:rPr>
              <a:t>DECIDES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6168" y="1920240"/>
            <a:ext cx="18288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6B84E"/>
                </a:solidFill>
                <a:latin typeface="Calibri"/>
              </a:rPr>
              <a:t>DELIVERS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1920240"/>
            <a:ext cx="1645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6B84E"/>
                </a:solidFill>
                <a:latin typeface="Calibri"/>
              </a:rPr>
              <a:t>HELPS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6648" y="1920240"/>
            <a:ext cx="1856232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6B84E"/>
                </a:solidFill>
                <a:latin typeface="Calibri"/>
              </a:rPr>
              <a:t>WATCHES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377440"/>
            <a:ext cx="11183112" cy="566928"/>
          </a:xfrm>
          <a:prstGeom prst="rect">
            <a:avLst/>
          </a:prstGeom>
          <a:solidFill>
            <a:srgbClr val="FFFDF7"/>
          </a:solidFill>
          <a:ln w="508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31089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2A43"/>
                </a:solidFill>
                <a:latin typeface="Calibri"/>
              </a:rPr>
              <a:t>Pick the first beachhead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377440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CEO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77440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North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377440"/>
            <a:ext cx="1645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377440"/>
            <a:ext cx="1856232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44368"/>
            <a:ext cx="11183112" cy="566928"/>
          </a:xfrm>
          <a:prstGeom prst="rect">
            <a:avLst/>
          </a:prstGeom>
          <a:solidFill>
            <a:srgbClr val="FAF6EE"/>
          </a:solidFill>
          <a:ln w="508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44368"/>
            <a:ext cx="31089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2A43"/>
                </a:solidFill>
                <a:latin typeface="Calibri"/>
              </a:rPr>
              <a:t>Hire the North India 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944368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CEO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944368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CHRO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944368"/>
            <a:ext cx="1645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Headhunter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944368"/>
            <a:ext cx="1856232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511296"/>
            <a:ext cx="11183112" cy="566928"/>
          </a:xfrm>
          <a:prstGeom prst="rect">
            <a:avLst/>
          </a:prstGeom>
          <a:solidFill>
            <a:srgbClr val="FFFDF7"/>
          </a:solidFill>
          <a:ln w="508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511296"/>
            <a:ext cx="31089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2A43"/>
                </a:solidFill>
                <a:latin typeface="Calibri"/>
              </a:rPr>
              <a:t>Close PEN certification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511296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CEO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511296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Product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3511296"/>
            <a:ext cx="1645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NIT Calicut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511296"/>
            <a:ext cx="1856232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078224"/>
            <a:ext cx="11183112" cy="566928"/>
          </a:xfrm>
          <a:prstGeom prst="rect">
            <a:avLst/>
          </a:prstGeom>
          <a:solidFill>
            <a:srgbClr val="FAF6EE"/>
          </a:solidFill>
          <a:ln w="508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078224"/>
            <a:ext cx="31089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2A43"/>
                </a:solidFill>
                <a:latin typeface="Calibri"/>
              </a:rPr>
              <a:t>Sign first lighthouse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078224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North Head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078224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Sales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4078224"/>
            <a:ext cx="1645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CEO + CCO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4078224"/>
            <a:ext cx="1856232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645152"/>
            <a:ext cx="11183112" cy="566928"/>
          </a:xfrm>
          <a:prstGeom prst="rect">
            <a:avLst/>
          </a:prstGeom>
          <a:solidFill>
            <a:srgbClr val="FFFDF7"/>
          </a:solidFill>
          <a:ln w="508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645152"/>
            <a:ext cx="31089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2A43"/>
                </a:solidFill>
                <a:latin typeface="Calibri"/>
              </a:rPr>
              <a:t>Set up stocking depot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4645152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COO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645152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Operations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4645152"/>
            <a:ext cx="1645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North Head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645152"/>
            <a:ext cx="1856232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CEO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212080"/>
            <a:ext cx="11183112" cy="566928"/>
          </a:xfrm>
          <a:prstGeom prst="rect">
            <a:avLst/>
          </a:prstGeom>
          <a:solidFill>
            <a:srgbClr val="FAF6EE"/>
          </a:solidFill>
          <a:ln w="508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212080"/>
            <a:ext cx="31089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2A43"/>
                </a:solidFill>
                <a:latin typeface="Calibri"/>
              </a:rPr>
              <a:t>Translate sales kit to Hindi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5212080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CMO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212080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Marketing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0" y="5212080"/>
            <a:ext cx="1645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North Head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5212080"/>
            <a:ext cx="1856232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CEO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779008"/>
            <a:ext cx="11183112" cy="566928"/>
          </a:xfrm>
          <a:prstGeom prst="rect">
            <a:avLst/>
          </a:prstGeom>
          <a:solidFill>
            <a:srgbClr val="FFFDF7"/>
          </a:solidFill>
          <a:ln w="508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779008"/>
            <a:ext cx="31089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2A43"/>
                </a:solidFill>
                <a:latin typeface="Calibri"/>
              </a:rPr>
              <a:t>Train local installers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5779008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North Head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5779008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Operations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80" y="5779008"/>
            <a:ext cx="1645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NIT Calicut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5779008"/>
            <a:ext cx="1856232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CMO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6345936"/>
            <a:ext cx="11183112" cy="566928"/>
          </a:xfrm>
          <a:prstGeom prst="rect">
            <a:avLst/>
          </a:prstGeom>
          <a:solidFill>
            <a:srgbClr val="FAF6EE"/>
          </a:solidFill>
          <a:ln w="5080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6345936"/>
            <a:ext cx="31089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02A43"/>
                </a:solidFill>
                <a:latin typeface="Calibri"/>
              </a:rPr>
              <a:t>Architect + EPC outreach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1920" y="6345936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North Head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6345936"/>
            <a:ext cx="18288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Sales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0" y="6345936"/>
            <a:ext cx="1645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Marketing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0" y="6345936"/>
            <a:ext cx="1856232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C"/>
                </a:solidFill>
                <a:latin typeface="Calibri"/>
              </a:rPr>
              <a:t>CEO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102A43"/>
                </a:solidFill>
                <a:latin typeface="Calibri"/>
              </a:rPr>
              <a:t>One name per cell. No committees. Decisions in one week or escalate.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64592" cy="164592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3657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4CAF6A"/>
                </a:solidFill>
                <a:latin typeface="Calibri"/>
              </a:rPr>
              <a:t>ACT 3 ·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E6A60"/>
                </a:solidFill>
                <a:latin typeface="Calibri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6E6A60"/>
                </a:solidFill>
                <a:latin typeface="Calibri"/>
              </a:rPr>
              <a:t>C-DISC  ·  GROW NORTH  ·  Built on cdisctechnologies.com + qualitative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2A43"/>
                </a:solidFill>
                <a:latin typeface="Calibri"/>
              </a:rPr>
              <a:t>The scoreboard. Six numbers we look at every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E6A60"/>
                </a:solidFill>
                <a:latin typeface="Calibri"/>
              </a:rPr>
              <a:t>Targets to be set by the C-DISC leadership team once the first month's baseline data is 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914400" cy="128016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914400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FFFFFF"/>
                </a:solidFill>
                <a:latin typeface="Calibri"/>
              </a:rPr>
              <a:t>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031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2A43"/>
                </a:solidFill>
                <a:latin typeface="Calibri"/>
              </a:rPr>
              <a:t>Is there a North office?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68880"/>
            <a:ext cx="42976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C4A44"/>
                </a:solidFill>
                <a:latin typeface="Calibri"/>
              </a:rPr>
              <a:t>Yes / No · the simplest indicator that we're actually there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71800"/>
            <a:ext cx="4297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4CAF6A"/>
                </a:solidFill>
                <a:latin typeface="Calibri"/>
              </a:rPr>
              <a:t>Target: [to be set by leadership]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1965960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3912" y="1965960"/>
            <a:ext cx="914400" cy="128016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965960"/>
            <a:ext cx="914400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21031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2A43"/>
                </a:solidFill>
                <a:latin typeface="Calibri"/>
              </a:rPr>
              <a:t>How many people on the ground?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2468880"/>
            <a:ext cx="42976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C4A44"/>
                </a:solidFill>
                <a:latin typeface="Calibri"/>
              </a:rPr>
              <a:t>Number of North-India team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2971800"/>
            <a:ext cx="4297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4CAF6A"/>
                </a:solidFill>
                <a:latin typeface="Calibri"/>
              </a:rPr>
              <a:t>Target: [to be set by leadership]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83280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383280"/>
            <a:ext cx="914400" cy="128016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83280"/>
            <a:ext cx="914400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FFFFFF"/>
                </a:solidFill>
                <a:latin typeface="Calibri"/>
              </a:rPr>
              <a:t>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5204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2A43"/>
                </a:solidFill>
                <a:latin typeface="Calibri"/>
              </a:rPr>
              <a:t>How many lighthouse projects?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886200"/>
            <a:ext cx="42976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C4A44"/>
                </a:solidFill>
                <a:latin typeface="Calibri"/>
              </a:rPr>
              <a:t>Number of signed and shown-off reference projects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389120"/>
            <a:ext cx="4297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4CAF6A"/>
                </a:solidFill>
                <a:latin typeface="Calibri"/>
              </a:rPr>
              <a:t>Target: [to be set by leadership]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3383280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3383280"/>
            <a:ext cx="914400" cy="128016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3912" y="3383280"/>
            <a:ext cx="914400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35204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2A43"/>
                </a:solidFill>
                <a:latin typeface="Calibri"/>
              </a:rPr>
              <a:t>PEN certificate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3886200"/>
            <a:ext cx="42976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C4A44"/>
                </a:solidFill>
                <a:latin typeface="Calibri"/>
              </a:rPr>
              <a:t>How many approvals are still 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4389120"/>
            <a:ext cx="4297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4CAF6A"/>
                </a:solidFill>
                <a:latin typeface="Calibri"/>
              </a:rPr>
              <a:t>Target: [to be set by leadership]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800600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800600"/>
            <a:ext cx="914400" cy="128016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800600"/>
            <a:ext cx="914400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9377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2A43"/>
                </a:solidFill>
                <a:latin typeface="Calibri"/>
              </a:rPr>
              <a:t>Architects and EPCs in our 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303520"/>
            <a:ext cx="42976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C4A44"/>
                </a:solidFill>
                <a:latin typeface="Calibri"/>
              </a:rPr>
              <a:t>Number of named relationships, with their 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806440"/>
            <a:ext cx="4297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4CAF6A"/>
                </a:solidFill>
                <a:latin typeface="Calibri"/>
              </a:rPr>
              <a:t>Target: [to be set by leadership]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53912" y="4800600"/>
            <a:ext cx="5532120" cy="128016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E4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53912" y="4800600"/>
            <a:ext cx="914400" cy="128016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3912" y="4800600"/>
            <a:ext cx="914400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FFFFFF"/>
                </a:solidFill>
                <a:latin typeface="Calibri"/>
              </a:rPr>
              <a:t>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49377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2A43"/>
                </a:solidFill>
                <a:latin typeface="Calibri"/>
              </a:rPr>
              <a:t>North orders signed this month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5472" y="5303520"/>
            <a:ext cx="42976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C4A44"/>
                </a:solidFill>
                <a:latin typeface="Calibri"/>
              </a:rPr>
              <a:t>Number of orders + rupee value (target set by leadership)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5472" y="5806440"/>
            <a:ext cx="4297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4CAF6A"/>
                </a:solidFill>
                <a:latin typeface="Calibri"/>
              </a:rPr>
              <a:t>Target: [to be set by leadership]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B84E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Three approvals.</a:t>
            </a:r>
          </a:p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Everything else flows from these.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090879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1005840" cy="960120"/>
          </a:xfrm>
          <a:prstGeom prst="rect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0584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102A43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80360"/>
            <a:ext cx="8686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02A43"/>
                </a:solidFill>
                <a:latin typeface="Calibri"/>
              </a:rPr>
              <a:t>Approve the strategic posture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46120"/>
            <a:ext cx="86868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C4A44"/>
                </a:solidFill>
                <a:latin typeface="Calibri"/>
              </a:rPr>
              <a:t>Beachhead-led entry. Not opportunistic. Not nationwide.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22192"/>
            <a:ext cx="1090879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22192"/>
            <a:ext cx="1005840" cy="960120"/>
          </a:xfrm>
          <a:prstGeom prst="rect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22192"/>
            <a:ext cx="100584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102A43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59352"/>
            <a:ext cx="8686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02A43"/>
                </a:solidFill>
                <a:latin typeface="Calibri"/>
              </a:rPr>
              <a:t>Approve the first hire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25112"/>
            <a:ext cx="86868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C4A44"/>
                </a:solidFill>
                <a:latin typeface="Calibri"/>
              </a:rPr>
              <a:t>A North-India Head with P&amp;L authority. Job spec ready this week.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01184"/>
            <a:ext cx="1090879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01184"/>
            <a:ext cx="1005840" cy="960120"/>
          </a:xfrm>
          <a:prstGeom prst="rect">
            <a:avLst/>
          </a:prstGeom>
          <a:solidFill>
            <a:srgbClr val="E6B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01184"/>
            <a:ext cx="100584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102A43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038344"/>
            <a:ext cx="8686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02A43"/>
                </a:solidFill>
                <a:latin typeface="Calibri"/>
              </a:rPr>
              <a:t>Approve the first lighthouse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404104"/>
            <a:ext cx="86868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C4A44"/>
                </a:solidFill>
                <a:latin typeface="Calibri"/>
              </a:rPr>
              <a:t>Pick one project. Sign it. Subsidise the margin if you must.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263640"/>
            <a:ext cx="10908792" cy="0"/>
          </a:xfrm>
          <a:prstGeom prst="line">
            <a:avLst/>
          </a:prstGeom>
          <a:ln w="7620">
            <a:solidFill>
              <a:srgbClr val="E6B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1">
                <a:solidFill>
                  <a:srgbClr val="E6B84E"/>
                </a:solidFill>
                <a:latin typeface="Calibri"/>
              </a:rPr>
              <a:t>If we say yes to these three, North India stops being a question mark.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67512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FFFFFF"/>
                </a:solidFill>
                <a:latin typeface="Calibri"/>
              </a:rPr>
              <a:t>C-DISC  ·  GROW NORTH  ·  16-slide diagnostic + playbook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