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206240" y="0"/>
            <a:ext cx="54864" cy="685800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 i="0">
                <a:solidFill>
                  <a:srgbClr val="1B3A5C"/>
                </a:solidFill>
                <a:latin typeface="Calibri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713232"/>
            <a:ext cx="256032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C-DISC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978408"/>
            <a:ext cx="32004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C8A951"/>
                </a:solidFill>
                <a:latin typeface="Calibri"/>
              </a:rPr>
              <a:t>Precast Engineered Nailable panels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C8A951"/>
                </a:solidFill>
                <a:latin typeface="Calibri"/>
              </a:rPr>
              <a:t>STRATEGIC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08960"/>
            <a:ext cx="338328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Capturing the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North India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construction</a:t>
            </a:r>
          </a:p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FFFFF"/>
                </a:solidFill>
                <a:latin typeface="Calibri"/>
              </a:rPr>
              <a:t>opportunity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5216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C8A951"/>
                </a:solidFill>
                <a:latin typeface="Calibri"/>
              </a:rPr>
              <a:t>Go-to-market plan  ·  Internal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Office of the CEO / GTM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09728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EXECUTIVE BRIEF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463040"/>
            <a:ext cx="694944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B3A5C"/>
                </a:solidFill>
                <a:latin typeface="Calibri"/>
              </a:rPr>
              <a:t>From a Southern player to a national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7040880" cy="3657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A2D33"/>
                </a:solidFill>
                <a:latin typeface="Calibri"/>
              </a:rPr>
              <a:t>C-DISC currently captures </a:t>
            </a:r>
            <a:r>
              <a:rPr sz="1300" b="1" i="0">
                <a:solidFill>
                  <a:srgbClr val="1B3A5C"/>
                </a:solidFill>
                <a:latin typeface="Calibri"/>
              </a:rPr>
              <a:t>~92% of revenue from South India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 while North India's G+1 construction market is growing at </a:t>
            </a:r>
            <a:r>
              <a:rPr sz="1300" b="1" i="0">
                <a:solidFill>
                  <a:srgbClr val="1B3A5C"/>
                </a:solidFill>
                <a:latin typeface="Calibri"/>
              </a:rPr>
              <a:t>11–14% CAGR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 — twice the national average — driven by the Jewar Airport corridor, YEIDA industrial expansion, PMAY-G rural housing and the resort boom in the lower Himalayas.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A2D33"/>
                </a:solidFill>
                <a:latin typeface="Calibri"/>
              </a:rPr>
              <a:t>This document identifies </a:t>
            </a:r>
            <a:r>
              <a:rPr sz="1300" b="1" i="0">
                <a:solidFill>
                  <a:srgbClr val="1B3A5C"/>
                </a:solidFill>
                <a:latin typeface="Calibri"/>
              </a:rPr>
              <a:t>10 root-cause friction points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 that are keeping North India clients away, and recommends a </a:t>
            </a:r>
            <a:r>
              <a:rPr sz="1300" b="1" i="0">
                <a:solidFill>
                  <a:srgbClr val="1B3A5C"/>
                </a:solidFill>
                <a:latin typeface="Calibri"/>
              </a:rPr>
              <a:t>five-pillar GTM strategy</a:t>
            </a:r>
            <a:r>
              <a:rPr sz="1300" b="0" i="0">
                <a:solidFill>
                  <a:srgbClr val="2A2D33"/>
                </a:solidFill>
                <a:latin typeface="Calibri"/>
              </a:rPr>
              <a:t> anchored on three geographic beachheads — YEIDA / NCR industrial belt, rural UP agri-infra, and the Uttarakhand resort corridor.</a:t>
            </a:r>
          </a:p>
          <a:p>
            <a:pPr algn="l">
              <a:lnSpc>
                <a:spcPct val="120000"/>
              </a:lnSpc>
            </a:pPr>
          </a:p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55A60"/>
                </a:solidFill>
                <a:latin typeface="Calibri"/>
              </a:rPr>
              <a:t>The ask: 18 specific initiatives across five pillars, with a defined operating model, KPI scorecard and risk register.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0" y="5943600"/>
            <a:ext cx="693115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0" y="603504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C7479"/>
                </a:solidFill>
                <a:latin typeface="Calibri"/>
              </a:rPr>
              <a:t>Prepared for the C-DISC leadership team  ·  Strategy review v1.0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6309360"/>
            <a:ext cx="6949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C7479"/>
                </a:solidFill>
                <a:latin typeface="Calibri"/>
              </a:rPr>
              <a:t>20 slides  ·  Confidential — not for external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C-DISC can credibly capture ₹650 cr of North India revenue across three beachheads — but only with a localised plant, dedicated channel network, and bilingual sales engine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3657600" cy="47548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5760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5448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  ◆  WHERE TO PLAY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554480"/>
            <a:ext cx="3657600" cy="47548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554480"/>
            <a:ext cx="365760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2" y="155448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  ▲  HOW TO WIN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554480"/>
            <a:ext cx="3657600" cy="475488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47304" y="1554480"/>
            <a:ext cx="365760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554480"/>
            <a:ext cx="36576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  ●  WHAT TO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10312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Three geographic beachheads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514600"/>
            <a:ext cx="274320" cy="2743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2743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496312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YEIDA / NCR industrial belt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2770632"/>
            <a:ext cx="2971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G+1 sheds for Jewar Airport vendor zone, Greater Noida industrial plots, Khurja ICD ecosystem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11880"/>
            <a:ext cx="274320" cy="2743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11880"/>
            <a:ext cx="2743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593592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Rural UP agri-infra corridor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867912"/>
            <a:ext cx="2971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Poultry, dairy and cold-storage cluster spanning Bareilly, Sitapur, Hardoi, Pilibhit, Shahjahanpur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709160"/>
            <a:ext cx="274320" cy="2743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709160"/>
            <a:ext cx="2743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690872"/>
            <a:ext cx="2971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Uttarakhand resort belt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965192"/>
            <a:ext cx="29718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Ground-floor cottage clusters across Nainital, Bhimtal, Jim Corbett, Ramnagar, Mukteshwar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210312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Five strategic pillars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7992" y="2468880"/>
            <a:ext cx="868680" cy="2926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7992" y="2468880"/>
            <a:ext cx="86868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PLANT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68112" y="2450592"/>
            <a:ext cx="233172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Greenfield modular plant in YEIDA Sector 32 — eliminates 1,800 km of freight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07992" y="3246120"/>
            <a:ext cx="868680" cy="2926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7992" y="3246120"/>
            <a:ext cx="86868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CHANNEL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68112" y="3227832"/>
            <a:ext cx="233172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Dedicated North India sales head + 12-rep field force + 35 channel partners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07992" y="4023360"/>
            <a:ext cx="868680" cy="2926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07992" y="4023360"/>
            <a:ext cx="86868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PROOF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68112" y="4005072"/>
            <a:ext cx="233172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Three reference sites, two showrooms, NABET-accredited site demos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07992" y="4800600"/>
            <a:ext cx="868680" cy="2926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07992" y="4800600"/>
            <a:ext cx="86868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PRODUCT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68112" y="4782312"/>
            <a:ext cx="233172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Thermal-adjusted panels for Tarai winters + Hindi BoQ templates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7992" y="5577840"/>
            <a:ext cx="868680" cy="2926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07992" y="5577840"/>
            <a:ext cx="86868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OPERATE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68112" y="5559552"/>
            <a:ext cx="2331720" cy="6766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Two installer-training academies in Greater Noida and Roorkee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30184" y="210312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The economics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30184" y="2468880"/>
            <a:ext cx="13716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₹85 cr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47504" y="246888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Phase-1 capex (plant + ops + sales)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0184" y="3182112"/>
            <a:ext cx="13716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E7D6A"/>
                </a:solidFill>
                <a:latin typeface="Calibri"/>
              </a:rPr>
              <a:t>₹650 cr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47504" y="3182112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3-yr North revenue at ~14% market share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0184" y="3895344"/>
            <a:ext cx="13716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C8A951"/>
                </a:solidFill>
                <a:latin typeface="Calibri"/>
              </a:rPr>
              <a:t>22 months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7504" y="3895344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Cash-flow break-even from plant go-live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0184" y="4608576"/>
            <a:ext cx="13716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3A5C"/>
                </a:solidFill>
                <a:latin typeface="Calibri"/>
              </a:rPr>
              <a:t>30%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47504" y="4608576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Target share of total C-DISC revenue from North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30184" y="5321808"/>
            <a:ext cx="13716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E7D6A"/>
                </a:solidFill>
                <a:latin typeface="Calibri"/>
              </a:rPr>
              <a:t>IRR 28%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5321808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Levered IRR over 5-year strategic horizon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446520"/>
            <a:ext cx="11183112" cy="29260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Recommendation: approve Phase-1 (plant land, North leadership hires, first 3 reference projects) before next budget cycle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COMPANY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C-DISC has built a profitable Southern business on PEN panels — a category that is structurally faster, cheaper and stricter on G+1 than RCC or brick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The PEN proposition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17373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39111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40–50%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560319"/>
            <a:ext cx="1417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Faster build vs brick on ground-floor walls and sheds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39" y="1874519"/>
            <a:ext cx="17373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439" y="2039111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25–30%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1" y="2560319"/>
            <a:ext cx="1417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Lower per sq ft cost at scale vs RCC equivalents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59" y="1874519"/>
            <a:ext cx="173736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51959" y="2039111"/>
            <a:ext cx="1737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48 hrs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1" y="2560319"/>
            <a:ext cx="14173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55A60"/>
                </a:solidFill>
                <a:latin typeface="Calibri"/>
              </a:rPr>
              <a:t>From panel placement to load-bearing — no mortar curing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Five target segments — all G+1, all hard-rejecting multi-storey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77639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• Farm infra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3977639"/>
            <a:ext cx="374903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55A60"/>
                </a:solidFill>
                <a:latin typeface="Calibri"/>
              </a:rPr>
              <a:t>Poultry sheds · dairy barns · cold storage · agri godowns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88535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• Industrial shed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288535"/>
            <a:ext cx="374903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55A60"/>
                </a:solidFill>
                <a:latin typeface="Calibri"/>
              </a:rPr>
              <a:t>YEIDA / NCR light industrial G+1 sheds, logistics parks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599431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• Resort &amp; retreat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99431"/>
            <a:ext cx="374903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55A60"/>
                </a:solidFill>
                <a:latin typeface="Calibri"/>
              </a:rPr>
              <a:t>Eco-resorts · farm-stays · ground-floor cottage clusters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910327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• Self-build G+1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910327"/>
            <a:ext cx="374903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55A60"/>
                </a:solidFill>
                <a:latin typeface="Calibri"/>
              </a:rPr>
              <a:t>Plot owners building ground-floor homes and villas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21223"/>
            <a:ext cx="1691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• Compound wall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5221223"/>
            <a:ext cx="3749039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55A60"/>
                </a:solidFill>
                <a:latin typeface="Calibri"/>
              </a:rPr>
              <a:t>Boundary walls for factories, schools, institutions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1417320"/>
            <a:ext cx="5285232" cy="49834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1554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Today's revenue is overwhelmingly Southern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96596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6C7479"/>
                </a:solidFill>
                <a:latin typeface="Calibri"/>
              </a:rPr>
              <a:t>Revenue concentration by region · FY24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2331720"/>
            <a:ext cx="4937760" cy="502920"/>
          </a:xfrm>
          <a:prstGeom prst="rect">
            <a:avLst/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2331720"/>
            <a:ext cx="4542739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26419" y="2331720"/>
            <a:ext cx="246888" cy="5029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373307" y="2331720"/>
            <a:ext cx="148132" cy="502920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0840" y="2331720"/>
            <a:ext cx="1828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South  ·  92%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926080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↑ Bangalore HQ  ·  Chennai plant  ·  Hyderabad / Coimbatore distribution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33832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Why South works today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3749039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7D6A"/>
                </a:solidFill>
                <a:latin typeface="Calibri"/>
              </a:rPr>
              <a:t>Plant proximity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3749039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Chennai plant within 600 km radius of all major delivery sites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4114799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7D6A"/>
                </a:solidFill>
                <a:latin typeface="Calibri"/>
              </a:rPr>
              <a:t>Mature channel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114799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47 active dealers across TN / KA / TS / 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4480559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7D6A"/>
                </a:solidFill>
                <a:latin typeface="Calibri"/>
              </a:rPr>
              <a:t>Installer pool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0" y="4480559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180+ certified PEN-trained masons graduated since 2020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4846319"/>
            <a:ext cx="15544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7D6A"/>
                </a:solidFill>
                <a:latin typeface="Calibri"/>
              </a:rPr>
              <a:t>Reference base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846319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210+ completed G+1 shed projects visible to prospects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98932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3A3A"/>
                </a:solidFill>
                <a:latin typeface="Calibri"/>
              </a:rPr>
              <a:t>None of these four advantages currently exist in North India.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MARKET OPPORTUNITY · TAM / SAM / SOM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The North India G+1 precast opportunity is ₹8,400 cr today, projected to reach ₹13,200 cr at 12% CAGR by FY30 — C-DISC's realistic 5-year capture is ₹650 cr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-4754880" y="1508760"/>
            <a:ext cx="10972800" cy="11887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-4754880" y="1508760"/>
            <a:ext cx="10972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-4754880" y="1801368"/>
            <a:ext cx="10972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₹8,400 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-4754880" y="2221992"/>
            <a:ext cx="109728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North India G+1 construction market —</a:t>
            </a:r>
          </a:p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all buildable wall + shed segments where precast technology is viable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-3154680" y="2926080"/>
            <a:ext cx="7772400" cy="11887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-3154680" y="2926080"/>
            <a:ext cx="77724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-3154680" y="3218688"/>
            <a:ext cx="77724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₹3,400 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3154680" y="3639312"/>
            <a:ext cx="7772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C-DISC-addressable subset — segments where</a:t>
            </a:r>
          </a:p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PEN economics and logistics are competitive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-1783080" y="4343400"/>
            <a:ext cx="5029200" cy="11887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-1783080" y="4343400"/>
            <a:ext cx="5029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SOM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1783080" y="4636008"/>
            <a:ext cx="50292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₹650 cr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-1783080" y="5056632"/>
            <a:ext cx="50292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5-year realistic capture target —</a:t>
            </a:r>
          </a:p>
          <a:p>
            <a:pPr algn="ctr">
              <a:lnSpc>
                <a:spcPct val="12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beachhead-led, ~14% share of SAM by FY29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46304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3A5C"/>
                </a:solidFill>
                <a:latin typeface="Calibri"/>
              </a:rPr>
              <a:t>The five demand engines pulling growth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1920240"/>
            <a:ext cx="91440" cy="71323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168" y="1938528"/>
            <a:ext cx="237744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Jewar Airport &amp;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NICDC corridor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230428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₹10,050 cr airport project + 1,300+ vendor sheds plotted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10312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2E7D6A"/>
                </a:solidFill>
                <a:latin typeface="Calibri"/>
              </a:rPr>
              <a:t>₹2,200 cr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37744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6C7479"/>
                </a:solidFill>
                <a:latin typeface="Calibri"/>
              </a:rPr>
              <a:t>TAM by FY30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2788920"/>
            <a:ext cx="91440" cy="71323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59168" y="2807208"/>
            <a:ext cx="237744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YEIDA / NCR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industrial G+1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317296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4 industrial parks notified · 8,200 acres earmarked FY24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297180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2E7D6A"/>
                </a:solidFill>
                <a:latin typeface="Calibri"/>
              </a:rPr>
              <a:t>₹1,650 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324612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6C7479"/>
                </a:solidFill>
                <a:latin typeface="Calibri"/>
              </a:rPr>
              <a:t>TAM by FY30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3657600"/>
            <a:ext cx="91440" cy="71323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59168" y="3675888"/>
            <a:ext cx="237744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Rural UP / PMAY-G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agri infra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404164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Poultry + dairy alone ₹20K cr industry; UP holds 32% share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84048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2E7D6A"/>
                </a:solidFill>
                <a:latin typeface="Calibri"/>
              </a:rPr>
              <a:t>₹2,100 cr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411480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6C7479"/>
                </a:solidFill>
                <a:latin typeface="Calibri"/>
              </a:rPr>
              <a:t>TAM by FY30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0" y="4526280"/>
            <a:ext cx="91440" cy="71323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59168" y="4544568"/>
            <a:ext cx="237744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Uttarakhand resort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corridor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9168" y="49103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32% YoY rise in eco-stay registrations 2020–24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55480" y="470916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2E7D6A"/>
                </a:solidFill>
                <a:latin typeface="Calibri"/>
              </a:rPr>
              <a:t>₹720 cr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498348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6C7479"/>
                </a:solidFill>
                <a:latin typeface="Calibri"/>
              </a:rPr>
              <a:t>TAM by FY30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0" y="5394960"/>
            <a:ext cx="91440" cy="71323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59168" y="5413248"/>
            <a:ext cx="2377440" cy="38404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Defence / PSU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compound walls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59168" y="577900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Northern Command + BRO + railway boundary tenders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5577840"/>
            <a:ext cx="12801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2E7D6A"/>
                </a:solidFill>
                <a:latin typeface="Calibri"/>
              </a:rPr>
              <a:t>₹1,730 cr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852160"/>
            <a:ext cx="1280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1">
                <a:solidFill>
                  <a:srgbClr val="6C7479"/>
                </a:solidFill>
                <a:latin typeface="Calibri"/>
              </a:rPr>
              <a:t>TAM by FY30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0080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Sources: CRISIL Construction Outlook FY24, NICDC project list, MoCA Jewar airport plan, NABARD agri-infra dashboards, Uttarakhand Tourism Dept. registrations; C-DISC strategy team triangulation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THE GAP · CURRENT VS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Today C-DISC captures less than ₹40 cr from a ₹8,400 cr Northern market — that is a 99.5% miss rate, despite SAM being nearly equal to South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C-DISC revenue (FY24) vs market opportunity, by region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57400"/>
            <a:ext cx="1645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SOUTH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2103120"/>
            <a:ext cx="75129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4450" y="2103120"/>
            <a:ext cx="22860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A2D33"/>
                </a:solidFill>
                <a:latin typeface="Calibri"/>
              </a:rPr>
              <a:t>₹320 cr  ·  Current C-DISC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2697480"/>
            <a:ext cx="8452021" cy="411480"/>
          </a:xfrm>
          <a:prstGeom prst="rect">
            <a:avLst/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75181" y="2697480"/>
            <a:ext cx="22860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A2D33"/>
                </a:solidFill>
                <a:latin typeface="Calibri"/>
              </a:rPr>
              <a:t>₹3,600 cr  ·  Market opportunity (SAM)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74720"/>
            <a:ext cx="1645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NORTH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3520440"/>
            <a:ext cx="89215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2375" y="3520440"/>
            <a:ext cx="22860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A2D33"/>
                </a:solidFill>
                <a:latin typeface="Calibri"/>
              </a:rPr>
              <a:t>₹38 cr  ·  Current C-DISC revenue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31720" y="4114800"/>
            <a:ext cx="7982464" cy="411480"/>
          </a:xfrm>
          <a:prstGeom prst="rect">
            <a:avLst/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05624" y="4114800"/>
            <a:ext cx="22860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A2D33"/>
                </a:solidFill>
                <a:latin typeface="Calibri"/>
              </a:rPr>
              <a:t>₹3,400 cr  ·  Market opportunity (SAM)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54880"/>
            <a:ext cx="5303520" cy="1645920"/>
          </a:xfrm>
          <a:prstGeom prst="roundRect">
            <a:avLst>
              <a:gd name="adj" fmla="val 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84632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THE MISSED MARKET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502920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99.5%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943600"/>
            <a:ext cx="502920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of the addressable North India market is being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captured today by competitors, brick or RCC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4754880"/>
            <a:ext cx="5650992" cy="164592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0" y="4846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WHO IS WINNING TODAY (estimated)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166360"/>
            <a:ext cx="20116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Brick-and-mortar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5202936"/>
            <a:ext cx="2194560" cy="146304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5166360"/>
            <a:ext cx="11887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62.0%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5394960"/>
            <a:ext cx="20116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Cast-in-situ RCC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79" y="5431536"/>
            <a:ext cx="849507" cy="146304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24160" y="5394960"/>
            <a:ext cx="11887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24.0%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623560"/>
            <a:ext cx="20116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North precast SMEs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5660136"/>
            <a:ext cx="283169" cy="1463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24160" y="5623560"/>
            <a:ext cx="11887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8.0%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852160"/>
            <a:ext cx="20116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Big-cement captives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83879" y="5888736"/>
            <a:ext cx="141584" cy="14630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24160" y="5852160"/>
            <a:ext cx="11887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4.0%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6080760"/>
            <a:ext cx="20116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C-DISC (today)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83879" y="6117336"/>
            <a:ext cx="38935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24160" y="6080760"/>
            <a:ext cx="11887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1.1%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53796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C7479"/>
                </a:solidFill>
                <a:latin typeface="Calibri"/>
              </a:rPr>
              <a:t>Implication: C-DISC is not losing to a single competitor — it is losing to the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6537960"/>
            <a:ext cx="59436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absence of C-DISC. The category itself is wide open.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Ten structural friction points explain the North India gap — only three are about product, the rest are about presence, partnerships and proof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B3A5C"/>
                </a:solidFill>
                <a:latin typeface="Calibri"/>
              </a:rPr>
              <a:t>Categorised by where the friction sits in the buyer journey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697480" cy="4526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269748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26974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PRESENCE &amp; LOGISTICS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No North plant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58775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Chennai → Greater Noida freight adds 18% to landed cost; precast damage rate 4× South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6616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No regional sales office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2219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Field reps based in Bangalore/Chennai; per-visit cost ₹38K vs ₹3K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0060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Long lead 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21-day delivery window vs 7 days from a local plant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828800"/>
            <a:ext cx="2697480" cy="4526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7560" y="1828800"/>
            <a:ext cx="2697480" cy="36576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37560" y="1828800"/>
            <a:ext cx="26974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TRUST &amp; 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33172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Zero reference sites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258775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Buyer can't drive 20 km to see a finished C-DISC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56616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No local credentials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82219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C-DISC not on UP-RERA, PWD, or Haryana DGS&amp;D pre-qualification lists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480060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Brand awareness &lt;8%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05663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Aided awareness among NCR architects vs &gt;70% in Bangalore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828800"/>
            <a:ext cx="2697480" cy="4526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1828800"/>
            <a:ext cx="2697480" cy="36576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1828800"/>
            <a:ext cx="26974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CHANNEL &amp; RELATIONSHIPS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33172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No dealer network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58775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0 active distributors in NCR · UP · Haryana · Punjab · Uttarakhand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56616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Weak architect/EPC 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382219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Specification leads come from architects; relationships take 18 months to build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06840" y="1828800"/>
            <a:ext cx="2697480" cy="4526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006840" y="1828800"/>
            <a:ext cx="2697480" cy="36576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1828800"/>
            <a:ext cx="26974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PRODUCT &amp; PRICE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233172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Climate-spec mismatch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258775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Tarai winter frost cycles and Doon dust load not in current panel spec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566160"/>
            <a:ext cx="24231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• Pricing not localised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81160" y="3822192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55A60"/>
                </a:solidFill>
                <a:latin typeface="Calibri"/>
              </a:rPr>
              <a:t>Northern diesel + GST regime + cement basis differs by 11–14%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3796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Seven of the ten frictions are addressable within 18 months without product change — the strategy must lead with PRESENCE, not PRODUCT.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PRIORITISATION · IMPACT vs EFFORT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Plotting friction points on revenue impact vs effort to fix reveals seven "quick wins" worth ~₹260 cr of unlocked SAM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554480"/>
            <a:ext cx="3931920" cy="2148840"/>
          </a:xfrm>
          <a:prstGeom prst="rect">
            <a:avLst/>
          </a:prstGeom>
          <a:solidFill>
            <a:srgbClr val="E9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0" y="1554480"/>
            <a:ext cx="3931920" cy="2148840"/>
          </a:xfrm>
          <a:prstGeom prst="rect">
            <a:avLst/>
          </a:prstGeom>
          <a:solidFill>
            <a:srgbClr val="E6E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703320"/>
            <a:ext cx="3931920" cy="2148840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703320"/>
            <a:ext cx="3931920" cy="2148840"/>
          </a:xfrm>
          <a:prstGeom prst="rect">
            <a:avLst/>
          </a:prstGeom>
          <a:solidFill>
            <a:srgbClr val="F4E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48840" y="164592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E7D6A"/>
                </a:solidFill>
                <a:latin typeface="Calibri"/>
              </a:rPr>
              <a:t>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64592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MAJOR PROJECTS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6C7479"/>
                </a:solidFill>
                <a:latin typeface="Calibri"/>
              </a:rPr>
              <a:t>FILL-INS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3794760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B33A3A"/>
                </a:solidFill>
                <a:latin typeface="Calibri"/>
              </a:rPr>
              <a:t>AVOID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3703320.0"/>
            <a:ext cx="7863840" cy="0.0"/>
          </a:xfrm>
          <a:prstGeom prst="line">
            <a:avLst/>
          </a:prstGeom>
          <a:ln w="1905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43600.0" y="1554480"/>
            <a:ext cx="0.0" cy="4297680"/>
          </a:xfrm>
          <a:prstGeom prst="line">
            <a:avLst/>
          </a:prstGeom>
          <a:ln w="1905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011680" y="5925312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◀  LOW                                                       EFFORT TO FIX                                                       HIGH  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554480"/>
            <a:ext cx="1371600" cy="4297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HIGH</a:t>
            </a:r>
          </a:p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/>
            </a:r>
          </a:p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REVENUE</a:t>
            </a:r>
          </a:p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IMPACT</a:t>
            </a:r>
          </a:p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/>
            </a:r>
          </a:p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LOW</a:t>
            </a:r>
          </a:p>
        </p:txBody>
      </p:sp>
      <p:sp>
        <p:nvSpPr>
          <p:cNvPr id="20" name="Oval 19"/>
          <p:cNvSpPr/>
          <p:nvPr/>
        </p:nvSpPr>
        <p:spPr>
          <a:xfrm>
            <a:off x="2642616" y="1828800"/>
            <a:ext cx="310896" cy="310896"/>
          </a:xfrm>
          <a:prstGeom prst="ellipse">
            <a:avLst/>
          </a:prstGeom>
          <a:solidFill>
            <a:srgbClr val="2E7D6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42616" y="1828800"/>
            <a:ext cx="310896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22" name="Oval 21"/>
          <p:cNvSpPr/>
          <p:nvPr/>
        </p:nvSpPr>
        <p:spPr>
          <a:xfrm>
            <a:off x="3141878" y="2715768"/>
            <a:ext cx="256032" cy="256032"/>
          </a:xfrm>
          <a:prstGeom prst="ellipse">
            <a:avLst/>
          </a:prstGeom>
          <a:solidFill>
            <a:srgbClr val="2E7D6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41878" y="2715768"/>
            <a:ext cx="256032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4" name="Oval 23"/>
          <p:cNvSpPr/>
          <p:nvPr/>
        </p:nvSpPr>
        <p:spPr>
          <a:xfrm>
            <a:off x="3817620" y="2168042"/>
            <a:ext cx="320040" cy="320040"/>
          </a:xfrm>
          <a:prstGeom prst="ellipse">
            <a:avLst/>
          </a:prstGeom>
          <a:solidFill>
            <a:srgbClr val="2E7D6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7620" y="2168042"/>
            <a:ext cx="32004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6" name="Oval 25"/>
          <p:cNvSpPr/>
          <p:nvPr/>
        </p:nvSpPr>
        <p:spPr>
          <a:xfrm>
            <a:off x="4321454" y="2930652"/>
            <a:ext cx="256032" cy="256032"/>
          </a:xfrm>
          <a:prstGeom prst="ellipse">
            <a:avLst/>
          </a:prstGeom>
          <a:solidFill>
            <a:srgbClr val="2E7D6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21454" y="2930652"/>
            <a:ext cx="256032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8" name="Oval 27"/>
          <p:cNvSpPr/>
          <p:nvPr/>
        </p:nvSpPr>
        <p:spPr>
          <a:xfrm>
            <a:off x="3447288" y="3222345"/>
            <a:ext cx="274320" cy="274320"/>
          </a:xfrm>
          <a:prstGeom prst="ellipse">
            <a:avLst/>
          </a:prstGeom>
          <a:solidFill>
            <a:srgbClr val="2E7D6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7288" y="3222345"/>
            <a:ext cx="2743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Oval 29"/>
          <p:cNvSpPr/>
          <p:nvPr/>
        </p:nvSpPr>
        <p:spPr>
          <a:xfrm>
            <a:off x="7009790" y="1964131"/>
            <a:ext cx="384048" cy="384048"/>
          </a:xfrm>
          <a:prstGeom prst="ellipse">
            <a:avLst/>
          </a:prstGeom>
          <a:solidFill>
            <a:srgbClr val="1B3A5C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9790" y="1964131"/>
            <a:ext cx="384048" cy="38404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32" name="Oval 31"/>
          <p:cNvSpPr/>
          <p:nvPr/>
        </p:nvSpPr>
        <p:spPr>
          <a:xfrm>
            <a:off x="8147304" y="2344521"/>
            <a:ext cx="310896" cy="310896"/>
          </a:xfrm>
          <a:prstGeom prst="ellipse">
            <a:avLst/>
          </a:prstGeom>
          <a:solidFill>
            <a:srgbClr val="1B3A5C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344521"/>
            <a:ext cx="310896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34" name="Oval 33"/>
          <p:cNvSpPr/>
          <p:nvPr/>
        </p:nvSpPr>
        <p:spPr>
          <a:xfrm>
            <a:off x="7509052" y="2851099"/>
            <a:ext cx="329184" cy="329184"/>
          </a:xfrm>
          <a:prstGeom prst="ellipse">
            <a:avLst/>
          </a:prstGeom>
          <a:solidFill>
            <a:srgbClr val="1B3A5C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09052" y="2851099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36" name="Oval 35"/>
          <p:cNvSpPr/>
          <p:nvPr/>
        </p:nvSpPr>
        <p:spPr>
          <a:xfrm>
            <a:off x="8637422" y="3136392"/>
            <a:ext cx="274320" cy="274320"/>
          </a:xfrm>
          <a:prstGeom prst="ellipse">
            <a:avLst/>
          </a:prstGeom>
          <a:solidFill>
            <a:srgbClr val="1B3A5C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37422" y="3136392"/>
            <a:ext cx="27432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38" name="Oval 37"/>
          <p:cNvSpPr/>
          <p:nvPr/>
        </p:nvSpPr>
        <p:spPr>
          <a:xfrm>
            <a:off x="8017459" y="4434840"/>
            <a:ext cx="256032" cy="256032"/>
          </a:xfrm>
          <a:prstGeom prst="ellipse">
            <a:avLst/>
          </a:prstGeom>
          <a:solidFill>
            <a:srgbClr val="B33A3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17459" y="4434840"/>
            <a:ext cx="256032" cy="2560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40" name="Oval 39"/>
          <p:cNvSpPr/>
          <p:nvPr/>
        </p:nvSpPr>
        <p:spPr>
          <a:xfrm>
            <a:off x="8498433" y="4959705"/>
            <a:ext cx="237744" cy="237744"/>
          </a:xfrm>
          <a:prstGeom prst="ellipse">
            <a:avLst/>
          </a:prstGeom>
          <a:solidFill>
            <a:srgbClr val="B33A3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98433" y="4959705"/>
            <a:ext cx="237744" cy="23774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42" name="Oval 41"/>
          <p:cNvSpPr/>
          <p:nvPr/>
        </p:nvSpPr>
        <p:spPr>
          <a:xfrm>
            <a:off x="3317443" y="4367174"/>
            <a:ext cx="219456" cy="219456"/>
          </a:xfrm>
          <a:prstGeom prst="ellipse">
            <a:avLst/>
          </a:prstGeom>
          <a:solidFill>
            <a:srgbClr val="6C747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17443" y="4367174"/>
            <a:ext cx="219456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44" name="Oval 43"/>
          <p:cNvSpPr/>
          <p:nvPr/>
        </p:nvSpPr>
        <p:spPr>
          <a:xfrm>
            <a:off x="4261104" y="4882896"/>
            <a:ext cx="219456" cy="219456"/>
          </a:xfrm>
          <a:prstGeom prst="ellipse">
            <a:avLst/>
          </a:prstGeom>
          <a:solidFill>
            <a:srgbClr val="6C747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61104" y="4882896"/>
            <a:ext cx="219456" cy="21945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1554480"/>
            <a:ext cx="1828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KEY</a:t>
            </a:r>
          </a:p>
        </p:txBody>
      </p:sp>
      <p:sp>
        <p:nvSpPr>
          <p:cNvPr id="47" name="Oval 46"/>
          <p:cNvSpPr/>
          <p:nvPr/>
        </p:nvSpPr>
        <p:spPr>
          <a:xfrm>
            <a:off x="10058400" y="1869948"/>
            <a:ext cx="164592" cy="164592"/>
          </a:xfrm>
          <a:prstGeom prst="ellipse">
            <a:avLst/>
          </a:prstGeom>
          <a:solidFill>
            <a:srgbClr val="2E7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0" y="1847088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1847088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North sales head</a:t>
            </a:r>
          </a:p>
        </p:txBody>
      </p:sp>
      <p:sp>
        <p:nvSpPr>
          <p:cNvPr id="50" name="Oval 49"/>
          <p:cNvSpPr/>
          <p:nvPr/>
        </p:nvSpPr>
        <p:spPr>
          <a:xfrm>
            <a:off x="10058400" y="2116836"/>
            <a:ext cx="164592" cy="164592"/>
          </a:xfrm>
          <a:prstGeom prst="ellipse">
            <a:avLst/>
          </a:prstGeom>
          <a:solidFill>
            <a:srgbClr val="2E7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093976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87000" y="2093976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Hindi collateral</a:t>
            </a:r>
          </a:p>
        </p:txBody>
      </p:sp>
      <p:sp>
        <p:nvSpPr>
          <p:cNvPr id="53" name="Oval 52"/>
          <p:cNvSpPr/>
          <p:nvPr/>
        </p:nvSpPr>
        <p:spPr>
          <a:xfrm>
            <a:off x="10058400" y="2363724"/>
            <a:ext cx="164592" cy="164592"/>
          </a:xfrm>
          <a:prstGeom prst="ellipse">
            <a:avLst/>
          </a:prstGeom>
          <a:solidFill>
            <a:srgbClr val="2E7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0" y="2340864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2340864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YEIDA ref project</a:t>
            </a:r>
          </a:p>
        </p:txBody>
      </p:sp>
      <p:sp>
        <p:nvSpPr>
          <p:cNvPr id="56" name="Oval 55"/>
          <p:cNvSpPr/>
          <p:nvPr/>
        </p:nvSpPr>
        <p:spPr>
          <a:xfrm>
            <a:off x="10058400" y="2610612"/>
            <a:ext cx="164592" cy="164592"/>
          </a:xfrm>
          <a:prstGeom prst="ellipse">
            <a:avLst/>
          </a:prstGeom>
          <a:solidFill>
            <a:srgbClr val="2E7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058400" y="2587752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87000" y="2587752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NABET site demos</a:t>
            </a:r>
          </a:p>
        </p:txBody>
      </p:sp>
      <p:sp>
        <p:nvSpPr>
          <p:cNvPr id="59" name="Oval 58"/>
          <p:cNvSpPr/>
          <p:nvPr/>
        </p:nvSpPr>
        <p:spPr>
          <a:xfrm>
            <a:off x="10058400" y="2857500"/>
            <a:ext cx="164592" cy="164592"/>
          </a:xfrm>
          <a:prstGeom prst="ellipse">
            <a:avLst/>
          </a:prstGeom>
          <a:solidFill>
            <a:srgbClr val="2E7D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0" y="2834640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87000" y="2834640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Architect tie-ups</a:t>
            </a:r>
          </a:p>
        </p:txBody>
      </p:sp>
      <p:sp>
        <p:nvSpPr>
          <p:cNvPr id="62" name="Oval 61"/>
          <p:cNvSpPr/>
          <p:nvPr/>
        </p:nvSpPr>
        <p:spPr>
          <a:xfrm>
            <a:off x="10058400" y="3104388"/>
            <a:ext cx="164592" cy="164592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0" y="3081528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87000" y="3081528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North plant</a:t>
            </a:r>
          </a:p>
        </p:txBody>
      </p:sp>
      <p:sp>
        <p:nvSpPr>
          <p:cNvPr id="65" name="Oval 64"/>
          <p:cNvSpPr/>
          <p:nvPr/>
        </p:nvSpPr>
        <p:spPr>
          <a:xfrm>
            <a:off x="10058400" y="3351276"/>
            <a:ext cx="164592" cy="164592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0" y="3328416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87000" y="3328416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Installer academy</a:t>
            </a:r>
          </a:p>
        </p:txBody>
      </p:sp>
      <p:sp>
        <p:nvSpPr>
          <p:cNvPr id="68" name="Oval 67"/>
          <p:cNvSpPr/>
          <p:nvPr/>
        </p:nvSpPr>
        <p:spPr>
          <a:xfrm>
            <a:off x="10058400" y="3598164"/>
            <a:ext cx="164592" cy="164592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58400" y="3575304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87000" y="3575304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Channel network</a:t>
            </a:r>
          </a:p>
        </p:txBody>
      </p:sp>
      <p:sp>
        <p:nvSpPr>
          <p:cNvPr id="71" name="Oval 70"/>
          <p:cNvSpPr/>
          <p:nvPr/>
        </p:nvSpPr>
        <p:spPr>
          <a:xfrm>
            <a:off x="10058400" y="3845052"/>
            <a:ext cx="164592" cy="164592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58400" y="3822192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287000" y="3822192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Thermal spec</a:t>
            </a:r>
          </a:p>
        </p:txBody>
      </p:sp>
      <p:sp>
        <p:nvSpPr>
          <p:cNvPr id="74" name="Oval 73"/>
          <p:cNvSpPr/>
          <p:nvPr/>
        </p:nvSpPr>
        <p:spPr>
          <a:xfrm>
            <a:off x="10058400" y="4091940"/>
            <a:ext cx="164592" cy="164592"/>
          </a:xfrm>
          <a:prstGeom prst="ellipse">
            <a:avLst/>
          </a:prstGeom>
          <a:solidFill>
            <a:srgbClr val="B3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58400" y="4069080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87000" y="4069080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In-house fleet</a:t>
            </a:r>
          </a:p>
        </p:txBody>
      </p:sp>
      <p:sp>
        <p:nvSpPr>
          <p:cNvPr id="77" name="Oval 76"/>
          <p:cNvSpPr/>
          <p:nvPr/>
        </p:nvSpPr>
        <p:spPr>
          <a:xfrm>
            <a:off x="10058400" y="4338828"/>
            <a:ext cx="164592" cy="164592"/>
          </a:xfrm>
          <a:prstGeom prst="ellipse">
            <a:avLst/>
          </a:prstGeom>
          <a:solidFill>
            <a:srgbClr val="B3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58400" y="4315968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87000" y="4315968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BIS recertify</a:t>
            </a:r>
          </a:p>
        </p:txBody>
      </p:sp>
      <p:sp>
        <p:nvSpPr>
          <p:cNvPr id="80" name="Oval 79"/>
          <p:cNvSpPr/>
          <p:nvPr/>
        </p:nvSpPr>
        <p:spPr>
          <a:xfrm>
            <a:off x="10058400" y="4585716"/>
            <a:ext cx="164592" cy="164592"/>
          </a:xfrm>
          <a:prstGeom prst="ellipse">
            <a:avLst/>
          </a:prstGeom>
          <a:solidFill>
            <a:srgbClr val="6C74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058400" y="4562856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87000" y="4562856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WA templates</a:t>
            </a:r>
          </a:p>
        </p:txBody>
      </p:sp>
      <p:sp>
        <p:nvSpPr>
          <p:cNvPr id="83" name="Oval 82"/>
          <p:cNvSpPr/>
          <p:nvPr/>
        </p:nvSpPr>
        <p:spPr>
          <a:xfrm>
            <a:off x="10058400" y="4832604"/>
            <a:ext cx="164592" cy="164592"/>
          </a:xfrm>
          <a:prstGeom prst="ellipse">
            <a:avLst/>
          </a:prstGeom>
          <a:solidFill>
            <a:srgbClr val="6C74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058400" y="4809744"/>
            <a:ext cx="164592" cy="20116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287000" y="4809744"/>
            <a:ext cx="16002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0">
                <a:solidFill>
                  <a:srgbClr val="2A2D33"/>
                </a:solidFill>
                <a:latin typeface="Calibri"/>
              </a:rPr>
              <a:t>Trade shows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02920" y="640080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Move on QUICK WINS in parallel to launching the plant — they keep the funnel warm during the 18-month plant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STRATEGIC FRAMEWORK · WHERE TO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Where to play: three beachheads chosen by economic density, geographic clusterability and lowest CAC — together representing 67% of addressable opportunity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How each candidate territory scores on three filters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1183112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7451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Territory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87451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Economic density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87451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Cluster compactness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87451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CAC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87451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Total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874519"/>
            <a:ext cx="199339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377439"/>
            <a:ext cx="11183112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37743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YEIDA / NCR industrial belt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37743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37743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37743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37743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15/15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46920" y="2450591"/>
            <a:ext cx="1901952" cy="356616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46920" y="2377439"/>
            <a:ext cx="190195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BEACHHEAD #1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80359"/>
            <a:ext cx="11183112" cy="50292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288035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Rural UP agri-infra corridor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288035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88035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288035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288035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13/15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46920" y="2953511"/>
            <a:ext cx="1901952" cy="356616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46920" y="2880359"/>
            <a:ext cx="190195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BEACHHEAD #2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383279"/>
            <a:ext cx="11183112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38327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Uttarakhand resort belt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38327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0" y="338327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38327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338327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12/15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46920" y="3456431"/>
            <a:ext cx="1901952" cy="356616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20" y="3383279"/>
            <a:ext cx="190195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BEACHHEAD #3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886199"/>
            <a:ext cx="11183112" cy="50292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388619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Punjab / Haryana mixed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388619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8619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388619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388619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9/15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46920" y="3959351"/>
            <a:ext cx="1901952" cy="35661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46920" y="3886199"/>
            <a:ext cx="190195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389119"/>
            <a:ext cx="11183112" cy="50292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438911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Rajasthan industrial (Bhiwadi)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83280" y="438911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438911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438911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438911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8/15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20" y="4462271"/>
            <a:ext cx="1901952" cy="35661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46920" y="4389119"/>
            <a:ext cx="190195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892039"/>
            <a:ext cx="11183112" cy="50292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4892039"/>
            <a:ext cx="256032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Bihar / Jharkhand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80" y="4892039"/>
            <a:ext cx="14630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4892039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20840" y="4892039"/>
            <a:ext cx="12344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★★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38160" y="4892039"/>
            <a:ext cx="132588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A2D33"/>
                </a:solidFill>
                <a:latin typeface="Calibri"/>
              </a:rPr>
              <a:t>6/15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20" y="4965191"/>
            <a:ext cx="1901952" cy="35661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46920" y="4892039"/>
            <a:ext cx="190195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Defer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5349240"/>
            <a:ext cx="11183112" cy="109728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5800" y="5440680"/>
            <a:ext cx="109728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SCORING RUBRIC (★ = 1pt)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5715000"/>
            <a:ext cx="21945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Economic density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26080" y="571500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G+1 construction spend per sq km annually  ·  measured from NICDC/RERA records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5934456"/>
            <a:ext cx="21945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Cluster compactness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26080" y="5934456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Mean travel distance between target buyers  ·  determines installer-crew utilisation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6153912"/>
            <a:ext cx="21945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CAC ratio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26080" y="6153912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Inverse of relationship cycle length  ·  shorter cycle = higher score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583680"/>
            <a:ext cx="111556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Three beachheads form a tight 280-km-radius triangle anchored on the proposed Jewar plant — enabling shared sales, ops and installer pool.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BEACHHEAD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Each beachhead has a distinct buyer profile, demand driver and entry play — sequenced from highest-confidence to highest-growth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840480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84048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512" y="1554480"/>
            <a:ext cx="329184" cy="32918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55448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YEIDA / NCR industrial belt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084832"/>
            <a:ext cx="1371600" cy="2743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84832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₹2,200 cr 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10312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Beachhead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51460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WHO BUYS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1576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EPC contractors building G+1 sheds for Jewar Airport vendor zone, Greater Noida industrial plot allottees, Khurja ICD ecosystem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29184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WHY THEY HURT TODAY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49300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8–12 week shed delivery from incumbent RCC vendors makes them miss tenant move-in 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6908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ENTRY PLAY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27024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Anchor on one lighthouse project — bid Jewar Phase-1 vendor shed cluster (38 plots)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84632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CHANNEL MOTION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04748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Direct sales + YEIDA-approved EPC partners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62356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YEAR-1 KPI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2472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12 signed projects + 1 lighthouse reference within first wave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9976" y="1463040"/>
            <a:ext cx="3840480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9976" y="1463040"/>
            <a:ext cx="384048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44568" y="1554480"/>
            <a:ext cx="329184" cy="32918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44568" y="155448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4336" y="146304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Rural UP agri-infra corridor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62856" y="2084832"/>
            <a:ext cx="1371600" cy="2743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2856" y="2084832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₹2,100 cr SAM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71616" y="210312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Beachhead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51460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WHO BUYS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271576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Mid-sized poultry &amp; dairy operators (15–200 cr revenue) in Bareilly, Sitapur, Hardoi, Pilibhit, Shahjahanpur, Lakhimpur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62856" y="329184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WHY THEY HURT TODAY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62856" y="349300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Brick sheds need re-roofing every monsoon · cold storage compliance norms tightening · PMKSY / RIDF funds available but un-deployed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2856" y="406908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ENTRY PLAY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62856" y="427024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NABARD financed poultry shed cluster — 50% subsidy makes PEN economics undeniable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62856" y="484632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CHANNEL 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2856" y="504748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NABARD-empanelled vendor route + 8 district-level distributors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62856" y="562356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YEAR-1 KPI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2856" y="582472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40+ signed farm sheds + NABARD vendor empanelment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66175" y="1463040"/>
            <a:ext cx="3840480" cy="493776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66175" y="1463040"/>
            <a:ext cx="384048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30767" y="1554480"/>
            <a:ext cx="329184" cy="329184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30767" y="1554480"/>
            <a:ext cx="329184" cy="329184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0535" y="1463040"/>
            <a:ext cx="320040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Uttarakhand resort belt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49055" y="2084832"/>
            <a:ext cx="1371600" cy="2743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49055" y="2084832"/>
            <a:ext cx="1371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₹720 cr SAM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57815" y="2103120"/>
            <a:ext cx="19202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Beachhead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49055" y="251460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WHO BUYS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49055" y="271576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Independent resort developers building 6–24 cottage clusters in Nainital, Bhimtal, Mukteshwar, Jim Corbett, Ramnagar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49055" y="329184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WHY THEY HURT TODAY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49055" y="349300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Brick &amp; RCC require 90+ days per cottage and fight a 4-month monsoon window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49055" y="406908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ENTRY PLAY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49055" y="427024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Co-marketed cottage shell SKU with 3 anchor architects (Pauri / Nainital)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49055" y="484632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CHANNEL MOTION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9055" y="504748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Architect-led specification + direct sales to developer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49055" y="5623560"/>
            <a:ext cx="356616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C8A951"/>
                </a:solidFill>
                <a:latin typeface="Calibri"/>
              </a:rPr>
              <a:t>YEAR-1 KPI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49055" y="5824728"/>
            <a:ext cx="35204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6 anchor projects + 3 architect partnerships + 1 showcase resort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HOW TO WIN · 5-PILLAR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How to win: five strategic pillars — anchored on a Northern plant and backed by sales, proof, product and operations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5669280"/>
            <a:ext cx="11183112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5669280"/>
            <a:ext cx="11183112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FOUNDATION  ·  Northern beachhead-led GTM with shared resources across YEIDA, rural UP, Uttarakhand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11183112" cy="4114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17320"/>
            <a:ext cx="11183112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OUTCOME  ·  ₹650 cr revenue, 30% share of total C-DISC by FY29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216347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20240"/>
            <a:ext cx="216347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1. PLANT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23160"/>
            <a:ext cx="2163470" cy="31546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2487168"/>
            <a:ext cx="1944014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Local manufacturing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278892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Greenfield plant in YEIDA Sector 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329184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Initial capacity 4,500 sq m / month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379476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Cuts landed cost ~18% vs Chennai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429768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Land + machinery: ~₹38 cr capex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57830" y="1920240"/>
            <a:ext cx="216347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57830" y="1920240"/>
            <a:ext cx="216347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2. CHANNEL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7830" y="2423160"/>
            <a:ext cx="2163470" cy="31546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67558" y="2487168"/>
            <a:ext cx="1944014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Sales &amp; 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7558" y="278892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North India sales head (P&amp;L owner)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67558" y="329184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12-rep field force across 3 beachheads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67558" y="379476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35 dealers / 8 EPC channel partners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67558" y="429768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NABARD + UP-RERA empanelment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12740" y="1920240"/>
            <a:ext cx="216347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2740" y="1920240"/>
            <a:ext cx="216347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3. PROOF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12740" y="2423160"/>
            <a:ext cx="2163470" cy="31546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2468" y="2487168"/>
            <a:ext cx="1944014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Trust &amp; references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2468" y="278892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3 lighthouse reference projects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22468" y="329184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2 customer-facing showrooms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2468" y="379476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Site-demo events (NABET-accredited)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22468" y="429768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PR + trade-press push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67651" y="1920240"/>
            <a:ext cx="216347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7651" y="1920240"/>
            <a:ext cx="216347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4. PRODUCT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7651" y="2423160"/>
            <a:ext cx="2163470" cy="31546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77379" y="2487168"/>
            <a:ext cx="1944014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Localisation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77379" y="278892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Thermal-spec variant for Tarai winters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77379" y="329184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Hindi BoQ templates + WhatsApp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7379" y="379476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North-cost-base price card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77379" y="429768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PMAY-G / NABARD-compliant SKU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22561" y="1920240"/>
            <a:ext cx="216347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22561" y="1920240"/>
            <a:ext cx="216347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C8A951"/>
                </a:solidFill>
                <a:latin typeface="Calibri"/>
              </a:rPr>
              <a:t>5. OPERATE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522561" y="2423160"/>
            <a:ext cx="2163470" cy="31546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2289" y="2487168"/>
            <a:ext cx="1944014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Install &amp; service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32289" y="278892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Two installer-training academies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32289" y="329184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90 PEN-certified masons by Y2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32289" y="379476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Pan-N response SLA: 48 hrs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32289" y="4297680"/>
            <a:ext cx="1944014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• Local CRM ops team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1  ·  LOCAL MANUFACTURING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Pillar 1 · Plant: a 4,500 sqm/month greenfield in YEIDA Sector 32 eliminates the 1,800 km freight gap and unlocks ~18% landed-cost advantage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11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Why a Northern plant is non-negotiable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647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6C7479"/>
                </a:solidFill>
                <a:latin typeface="Calibri"/>
              </a:rPr>
              <a:t>The unit economics of long-haul precast freight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40280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Chennai → Greater Noida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(current ship route)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2359152"/>
            <a:ext cx="3200400" cy="320040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224028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₹100 (indexed)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898648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Hyderabad → Lucknow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(theoretical alt)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3017520"/>
            <a:ext cx="2944368" cy="320040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2898648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₹92 (indexed)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557016"/>
            <a:ext cx="224028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YEIDA Sector 32 plant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(proposed)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3675888"/>
            <a:ext cx="2624328" cy="32004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557016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₹82 (indexed)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9768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Landed cost per sq m to Greater Noida site, indexed (current = 100)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70916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800600"/>
            <a:ext cx="512064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PLANT SPECIFICATIONS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Location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5074920"/>
            <a:ext cx="38404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YEIDA Sector 32 (12 km from Jewar Airport, on NH-91)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94376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Land area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94376"/>
            <a:ext cx="38404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5.5 acres (industrial leasehold)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13832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Capacity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513832"/>
            <a:ext cx="38404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4,500 sq m / month at Phase-1 (scaleable to 9,000)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733288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Capex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5733288"/>
            <a:ext cx="38404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₹38 cr (land + civil + casting line + handling)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952744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Headcount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5952744"/>
            <a:ext cx="38404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64 direct + 22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172200"/>
            <a:ext cx="137160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Power / water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6172200"/>
            <a:ext cx="38404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YEIDA utility plus 220 kW solar PV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14173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Why YEIDA Sector 32 specifically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1911095"/>
            <a:ext cx="73152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1874519"/>
            <a:ext cx="507492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Distance economics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112263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Within 280 km radius of all three beachheads — every site reachable in &lt; 1 working day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679191"/>
            <a:ext cx="73152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2642615"/>
            <a:ext cx="507492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Anchor demand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2880359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Jewar Airport vendor zone next door; 1,300+ G+1 plots allotted = ₹220 cr captive demand window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3447287"/>
            <a:ext cx="73152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3410711"/>
            <a:ext cx="507492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Logistics ecosystem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0" y="3648455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NH-91 + Khurja ICD + Jewar cargo terminal converge — inbound aggregates and outbound panels both win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4215383"/>
            <a:ext cx="73152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4178807"/>
            <a:ext cx="507492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Incentives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416551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YEIDA Industrial Promotion Scheme: 50% land subsidy + 5-yr SGST refund (notified Aug-23)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4983479"/>
            <a:ext cx="73152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0" y="4946903"/>
            <a:ext cx="507492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Workforce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0" y="5184647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YEIDA Skill University: pipeline of 1,800 trained construction technicians per year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0" y="5751575"/>
            <a:ext cx="73152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5714999"/>
            <a:ext cx="507492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Time-to-go-live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5952743"/>
            <a:ext cx="507492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Brownfield-adjacent plot available; civil-only build keeps go-live within strategic horizon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2  ·  SALES &amp;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Pillar 2 · Channel: a North-only sales engine with a dedicated P&amp;L head, three beachhead teams and a 35-partner distribution network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12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Proposed North India organisation structure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0" y="1828800"/>
            <a:ext cx="2194560" cy="6400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828800"/>
            <a:ext cx="219456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Head of North India</a:t>
            </a:r>
          </a:p>
          <a:p>
            <a:pPr algn="ctr">
              <a:lnSpc>
                <a:spcPct val="12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(P&amp;L · reports to COO)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108960"/>
            <a:ext cx="2468880" cy="77724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154680"/>
            <a:ext cx="24688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RSM · NCR &amp; YEIDA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52958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>4 reps · 12 dealers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64608" y="3108960"/>
            <a:ext cx="2468880" cy="77724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4608" y="3154680"/>
            <a:ext cx="24688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RSM · Rural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64608" y="352958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>5 reps · NABARD desk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17152" y="3108960"/>
            <a:ext cx="2468880" cy="77724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7152" y="3154680"/>
            <a:ext cx="24688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RSM · Uttarakhand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3529584"/>
            <a:ext cx="246888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FFFFFF"/>
                </a:solidFill>
                <a:latin typeface="Calibri"/>
              </a:rPr>
              <a:t>3 reps · architect liaison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26480.0" y="2468880"/>
            <a:ext cx="0.0" cy="32004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737360.0" y="2788920.0"/>
            <a:ext cx="4389120.0" cy="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737360.0" y="2788920.0"/>
            <a:ext cx="0.0" cy="32004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26480.0" y="2468880"/>
            <a:ext cx="0.0" cy="32004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6099048.0" y="2788920.0"/>
            <a:ext cx="27432.0" cy="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099048.0" y="2788920.0"/>
            <a:ext cx="0.0" cy="32004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126480.0" y="2468880"/>
            <a:ext cx="0.0" cy="32004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126480.0" y="2788920.0"/>
            <a:ext cx="4325112.0" cy="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451592.0" y="2788920.0"/>
            <a:ext cx="0.0" cy="320040.0"/>
          </a:xfrm>
          <a:prstGeom prst="line">
            <a:avLst/>
          </a:prstGeom>
          <a:ln w="1270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02920" y="4251960"/>
            <a:ext cx="2606040" cy="6400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297680"/>
            <a:ext cx="260604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Marketing &amp; PR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599432"/>
            <a:ext cx="26060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B3A5C"/>
                </a:solidFill>
                <a:latin typeface="Calibri"/>
              </a:rPr>
              <a:t>1 head + 2 specialists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91840" y="4251960"/>
            <a:ext cx="2606040" cy="6400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1840" y="4297680"/>
            <a:ext cx="260604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Channel partners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599432"/>
            <a:ext cx="26060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B3A5C"/>
                </a:solidFill>
                <a:latin typeface="Calibri"/>
              </a:rPr>
              <a:t>35 dealers / EPCs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4251960"/>
            <a:ext cx="2606040" cy="6400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297680"/>
            <a:ext cx="260604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Technical pre-sales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4599432"/>
            <a:ext cx="26060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B3A5C"/>
                </a:solidFill>
                <a:latin typeface="Calibri"/>
              </a:rPr>
              <a:t>4 engineers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869680" y="4251960"/>
            <a:ext cx="2606040" cy="6400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9680" y="4297680"/>
            <a:ext cx="2606040" cy="292608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CRM / inside sales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4599432"/>
            <a:ext cx="26060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B3A5C"/>
                </a:solidFill>
                <a:latin typeface="Calibri"/>
              </a:rPr>
              <a:t>6 ops + 1 manager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257800"/>
            <a:ext cx="5349240" cy="128016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349240"/>
            <a:ext cx="516636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TOTAL NORTH HEADCOUNT (PHASE 1)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623560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5623560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Head of North India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5824728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824728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Regional sales managers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025896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80160" y="6025896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Field sales reps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227064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80160" y="6227064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Marketing head + 2 spec.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5623560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360" y="5623560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Pre-sales engineers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29000" y="5824728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23360" y="5824728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CRM / inside sales / ops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6025896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23360" y="6025896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Channel + dealer-mgmt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429000" y="6227064"/>
            <a:ext cx="5029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E7D6A"/>
                </a:solidFill>
                <a:latin typeface="Calibri"/>
              </a:rPr>
              <a:t>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6227064"/>
            <a:ext cx="210312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2A2D33"/>
                </a:solidFill>
                <a:latin typeface="Calibri"/>
              </a:rPr>
              <a:t>TOTAL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035040" y="5257800"/>
            <a:ext cx="5650992" cy="128016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534924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CHANNEL ECONOMICS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5623560"/>
            <a:ext cx="192024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Dealer margin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79" y="5623560"/>
            <a:ext cx="33832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7–9% on direct sales · 11% on subsidy projects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843016"/>
            <a:ext cx="192024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Architect spec fee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83879" y="5843016"/>
            <a:ext cx="33832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0.5% of project value · paid on commissioning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6062472"/>
            <a:ext cx="192024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Dealer credit terms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83879" y="6062472"/>
            <a:ext cx="33832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30-day credit · 60-day for NABARD-financed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6281928"/>
            <a:ext cx="192024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Performance bonus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83879" y="6281928"/>
            <a:ext cx="33832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Top-3 dealers get exclusivity rights in district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3  ·  PROOF &amp;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Pillar 3 · Proof: three lighthouse projects + two physical showrooms + an architect alliance — converting the "I haven't seen one" barrier into "I drove past one"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13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Three proof-building investments, in priority order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657600" cy="452628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36576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A · LIGHTHOUSE PROJECTS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3172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Three flagship sites — one per beachhead — built at near-cost to seed referenceability: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88036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YEIDA · 38-shed Jewar vendor cluster (industrial)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264408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Bareilly · 24-shed poultry mega-farm (agri)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48456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Mukteshwar · 12-cottage eco-resort (resort)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42232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Each site to be open for buyer walk-throughs with a permanent C-DISC liaison on-call. PR / case-study collateral built around outcomes (build time, cost, customer testimony).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9784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2A2D33"/>
                </a:solidFill>
                <a:latin typeface="Calibri"/>
              </a:rPr>
              <a:t>Investment: ~₹14 cr (concession on margin)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828800"/>
            <a:ext cx="3657600" cy="452628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828800"/>
            <a:ext cx="36576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70248" y="1828800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B · PHYSICAL SHOWROOMS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33172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Two customer-facing showrooms in dense buyer corridors: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715768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Greater Noida (NCR / Jewar buyers)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07408" y="2935224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Roorkee (Uttarakhand resort + UP corridor)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07408" y="342900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Each showroom: 1 full-size sample wall, 1 cottage mock-up, configurator screens, BoQ desk, samples to take away.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4087368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2A2D33"/>
                </a:solidFill>
                <a:latin typeface="Calibri"/>
              </a:rPr>
              <a:t>Investment: ~₹2.4 cr (combined fit-out + 18-mo opex)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6" y="1828800"/>
            <a:ext cx="3657600" cy="452628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37576" y="1828800"/>
            <a:ext cx="36576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6" y="1828800"/>
            <a:ext cx="365760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C · ARCHITECT / EPC ALLIANCE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233172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Targeted activation of the top 40 specifiers — architects, EPCs and consulting engineers in NCR + UP + UK: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288036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NABET-accredited tech-demo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3099816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Hindi + English design-spec library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74736" y="3319272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Spec-share fee (0.5% project value)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4736" y="3538728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• Annual North India design awards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4736" y="3867912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Goal: PEN appears in 35% of new G+1 design briefs in N. India by end of Phase 1.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Combined effect: by end of Phase 1, every target buyer in North India should be within 90 minutes' drive of at least one C-DISC reference site or showroom.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4  ·  PRODUCT &amp; PRICING LOCALISATION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Pillar 4 · Product: a North-spec PEN variant + Hindi commercial collateral + a North-cost-base price card — closing the 11–14% pricing mismatch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14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A · Product-spec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65376"/>
            <a:ext cx="73152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521208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Thermal envelope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66544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Adjusted panel core for Tarai winter frost (-2°C to 6°C) — additional XPS insert; tested up to 200 freeze-thaw cycles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42616"/>
            <a:ext cx="73152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06040"/>
            <a:ext cx="521208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Dust / wind 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43784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Strengthened panel-to-panel joinery for Doon-valley high-particulate dust loads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19856"/>
            <a:ext cx="73152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383280"/>
            <a:ext cx="521208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Surface finish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621024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Stone-texture and exposed-brick-look finishes for resort and self-build segments (N preference)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197096"/>
            <a:ext cx="73152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60520"/>
            <a:ext cx="521208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Aspect ratio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398264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Shorter modular height (3.3 m) suits typical N. India shed plus narrower NABARD subsidy template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74336"/>
            <a:ext cx="73152" cy="5486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37760"/>
            <a:ext cx="5212080" cy="256032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B3A5C"/>
                </a:solidFill>
                <a:latin typeface="Calibri"/>
              </a:rPr>
              <a:t>Certifications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175504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BIS IS 875-3 + IS 1893 update · UP-RERA empanelment · Defence Estates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B · Pricing &amp; commercial localisation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783080"/>
            <a:ext cx="5422392" cy="26060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NORTH-COST-BASE PRICE CARD (vs South card, indexed)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148840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Cost component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148840"/>
            <a:ext cx="96012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South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214884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North (now)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2148840"/>
            <a:ext cx="12344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North (planned)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423160"/>
            <a:ext cx="2103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2D33"/>
                </a:solidFill>
                <a:latin typeface="Calibri"/>
              </a:rPr>
              <a:t>Raw materials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2423160"/>
            <a:ext cx="960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2423160"/>
            <a:ext cx="10972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2423160"/>
            <a:ext cx="123444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2670048"/>
            <a:ext cx="2103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2D33"/>
                </a:solidFill>
                <a:latin typeface="Calibri"/>
              </a:rPr>
              <a:t>Labour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49640" y="2670048"/>
            <a:ext cx="960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2670048"/>
            <a:ext cx="10972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94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2670048"/>
            <a:ext cx="123444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2916936"/>
            <a:ext cx="2103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2D33"/>
                </a:solidFill>
                <a:latin typeface="Calibri"/>
              </a:rPr>
              <a:t>Logistics (inbound)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2916936"/>
            <a:ext cx="960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09760" y="2916936"/>
            <a:ext cx="10972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2916936"/>
            <a:ext cx="123444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93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163824"/>
            <a:ext cx="2103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2D33"/>
                </a:solidFill>
                <a:latin typeface="Calibri"/>
              </a:rPr>
              <a:t>Logistics (out)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9640" y="3163824"/>
            <a:ext cx="960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3163824"/>
            <a:ext cx="10972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3163824"/>
            <a:ext cx="123444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3410712"/>
            <a:ext cx="2103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2A2D33"/>
                </a:solidFill>
                <a:latin typeface="Calibri"/>
              </a:rPr>
              <a:t>SG&amp;A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49640" y="3410712"/>
            <a:ext cx="960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410712"/>
            <a:ext cx="10972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07040" y="3410712"/>
            <a:ext cx="123444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108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3657600"/>
            <a:ext cx="2103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Total landed (RC)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9640" y="3657600"/>
            <a:ext cx="96012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100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09760" y="3657600"/>
            <a:ext cx="10972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114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0" y="3657600"/>
            <a:ext cx="123444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1B3A5C"/>
                </a:solidFill>
                <a:latin typeface="Calibri"/>
              </a:rPr>
              <a:t>101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3950208"/>
            <a:ext cx="52120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2E7D6A"/>
                </a:solidFill>
                <a:latin typeface="Calibri"/>
              </a:rPr>
              <a:t>After Phase-1 plant + new price card, North landed cost = ~101 (parity with South).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263640" y="4526280"/>
            <a:ext cx="5422392" cy="19202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4617720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HINDI / HINGLISH COMMERCIAL COLLATERAL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4892040"/>
            <a:ext cx="182880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• Sales BoQ deck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4892040"/>
            <a:ext cx="338328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Hindi-Devanagari version with Hinglish technical glossary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6520" y="5184648"/>
            <a:ext cx="182880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• WhatsApp templates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184648"/>
            <a:ext cx="338328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Day-1 / Day-5 / Day-14 follow-up cadence in Hindi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5477256"/>
            <a:ext cx="182880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• Site board / signage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5477256"/>
            <a:ext cx="338328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Hindi + English bilingual safety + brand boards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46520" y="5769864"/>
            <a:ext cx="182880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• Training videos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5769864"/>
            <a:ext cx="338328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8-part installer training in Hindi, hosted on YouTube + offline DVD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6062472"/>
            <a:ext cx="182880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3A5C"/>
                </a:solidFill>
                <a:latin typeface="Calibri"/>
              </a:rPr>
              <a:t>• Customer agreements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75320" y="6062472"/>
            <a:ext cx="3383280" cy="21945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Hindi-translated commercial agreements (UP, HR, PB legal review)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PILLAR 5  ·  INSTALLATION &amp;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Pillar 5 · Operate: two installer-training academies + 90 PEN-certified masons + a 48-hour pan-North response SLA — fixing the install-quality risk that scares first-time buyers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15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What the operating model must deliver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157984" cy="10058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93392"/>
            <a:ext cx="2157984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E7D6A"/>
                </a:solidFill>
                <a:latin typeface="Calibri"/>
              </a:rPr>
              <a:t>90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23160"/>
            <a:ext cx="197510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PEN-certified masons within Phase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2344" y="1828800"/>
            <a:ext cx="2157984" cy="10058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52344" y="1993392"/>
            <a:ext cx="2157984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E7D6A"/>
                </a:solidFill>
                <a:latin typeface="Calibri"/>
              </a:rPr>
              <a:t>48 hr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3784" y="2423160"/>
            <a:ext cx="197510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Pan-North service response SLA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828800"/>
            <a:ext cx="2157984" cy="10058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1768" y="1993392"/>
            <a:ext cx="2157984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E7D6A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3208" y="2423160"/>
            <a:ext cx="197510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Installer-training academies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51192" y="1828800"/>
            <a:ext cx="2157984" cy="10058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1192" y="1993392"/>
            <a:ext cx="2157984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E7D6A"/>
                </a:solidFill>
                <a:latin typeface="Calibri"/>
              </a:rPr>
              <a:t>&lt; 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23160"/>
            <a:ext cx="197510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Install defect rate (Y1 target)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0616" y="1828800"/>
            <a:ext cx="2157984" cy="1005840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0616" y="1993392"/>
            <a:ext cx="2157984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E7D6A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2056" y="2423160"/>
            <a:ext cx="197510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55A60"/>
                </a:solidFill>
                <a:latin typeface="Calibri"/>
              </a:rPr>
              <a:t>Local service depots (one per state)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10896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Installer-training academies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5204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Greater Noida academy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5204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Co-located with the plant · 4-week NSDC-aligned course · 60 masons/quarter capacity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0690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Roorkee academy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406908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Inside IIT-R Heritage campus partner facility · resort + UK construction focus · 30/quarter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6177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Curriculum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461772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Module 1: PEN panel handling &amp; joinery   ·   Module 2: site preparation   ·   Module 3: finishing &amp; defect remediation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16636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Certification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51663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NSDC-graded credential + C-DISC ID badge · valid 2 years · annual refresher mandatory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71500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Mason economics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57150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₹620/day average vs ₹520 for brick — but 2× productivity, so net daily earning +44%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1089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Service operations model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52044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5 depot locations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520440"/>
            <a:ext cx="3429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Greater Noida · Bareilly · Roorkee · Ludhiana · Bhiwadi — each stocks panel inventory + service kit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06908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Field service teams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069080"/>
            <a:ext cx="3429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Each depot: 1 technician lead + 2 assistants + 1 driver-installer; bilingual (Hindi/English)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461772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Response SLA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617720"/>
            <a:ext cx="3429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Defect / damage report → on-site within 48 hours pan-North; remediation 5 working days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16636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CRM linkage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166360"/>
            <a:ext cx="3429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Service tickets logged against CRM lead; visible to sales rep + customer via WhatsApp updates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715000"/>
            <a:ext cx="1828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Quality gate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715000"/>
            <a:ext cx="34290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Every project signed off by certified installer + photo log uploaded to CRM before invoice release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EXECUTION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Phased execution: parallelise quick-wins with the plant build so revenue starts compounding before the plant fully ramps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16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63040"/>
            <a:ext cx="384048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35661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463040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Establish presence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9976" y="1463040"/>
            <a:ext cx="3840480" cy="50292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7136" y="1463040"/>
            <a:ext cx="35661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1463040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Scale beachheads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66175" y="1463040"/>
            <a:ext cx="3840480" cy="50292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03335" y="1463040"/>
            <a:ext cx="35661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0735" y="1463040"/>
            <a:ext cx="1508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Calibri"/>
              </a:rPr>
              <a:t>Adjacent expansion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201168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2011680"/>
            <a:ext cx="502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PLANT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27889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0" y="2788920"/>
            <a:ext cx="502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CHANNEL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356616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0" y="3566160"/>
            <a:ext cx="502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34340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0" y="4343400"/>
            <a:ext cx="502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PRODUCT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512064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0" y="5120640"/>
            <a:ext cx="502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i="0">
                <a:solidFill>
                  <a:srgbClr val="C8A951"/>
                </a:solidFill>
                <a:latin typeface="Calibri"/>
              </a:rPr>
              <a:t>OPERATE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05740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210312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YEIDA land award · plant civil works · machinery import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79976" y="205740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17136" y="210312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Plant go-live · capacity ramp 0→4,500 sqm/mo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66175" y="205740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03335" y="210312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Plant Phase-2 (4,500→9,000) · second site scouting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283464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288036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Hire Head of North · 3 RSMs · first 5 dealers · CRM in place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79976" y="283464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17136" y="288036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Full 35-dealer network · NABARD vendor empanelment · architect alliance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66175" y="283464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03335" y="288036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Punjab/Haryana expansion · Rajasthan probe · West-India scout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61188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65760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Sign 3 lighthouse sites (concession pricing) · Hindi collateral V1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79976" y="361188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17136" y="365760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Both showrooms live · 12 reference sites · 4 trade shows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66175" y="361188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03335" y="365760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Industry awards · 40+ reference sites · brand-building (TV / print)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38912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43484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North-spec panel R&amp;D · BIS / RERA certifications start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79976" y="438912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17136" y="443484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North-spec SKU launch · NABARD-compliant agri SKU · Hindi BoQ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66175" y="438912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5" y="443484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Architectural finish range · cottage-cluster SKU · defence-spec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16636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521208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Greater Noida academy build · first 30 certified masons · 2 depots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379976" y="5166360"/>
            <a:ext cx="3794760" cy="68580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17136" y="521208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Both academies live · 90 certified masons · 5 depots · 48hr SLA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66175" y="5166360"/>
            <a:ext cx="3794760" cy="68580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03335" y="5212080"/>
            <a:ext cx="3520440" cy="5943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2A2D33"/>
                </a:solidFill>
                <a:latin typeface="Calibri"/>
              </a:rPr>
              <a:t>180 masons · install certification royalty model · supplier audits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0080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Sequencing principle: every Phase-1 quick win is designed so its output (collateral, reference, certified mason) compounds into Phases 2 &amp; 3 — no throwaway 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INVESTMENT &amp; RETURNS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Investment: ₹85 cr Phase-1 commitment unlocks ₹650 cr cumulative revenue over 5 years — 28% levered IRR, cash-flow break-even in month 22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17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Phase-1 capital deployment · ₹85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Plant capex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23160" y="1828800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₹38 cr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40" y="1901952"/>
            <a:ext cx="2468880" cy="16459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1828800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45%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39696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Sales / org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139696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₹14 cr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63240" y="2212848"/>
            <a:ext cx="909587" cy="16459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2139696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450592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Lighthouse projects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2450592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₹14 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63240" y="2523744"/>
            <a:ext cx="909587" cy="164592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450592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761488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Showrooms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3160" y="2761488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₹2.4 cr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40" y="2834640"/>
            <a:ext cx="155929" cy="164592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2761488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3072384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Training academies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3072384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₹5.6 cr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3240" y="3145536"/>
            <a:ext cx="363834" cy="16459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072384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383280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Marketing / brand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3383280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₹4 cr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3240" y="3456432"/>
            <a:ext cx="259882" cy="16459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0" y="3383280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3694176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R&amp;D (north-spec)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694176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₹3 cr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40" y="3767328"/>
            <a:ext cx="194911" cy="164592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7840" y="3694176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4005072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2A2D33"/>
                </a:solidFill>
                <a:latin typeface="Calibri"/>
              </a:rPr>
              <a:t>Working capital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23160" y="4005072"/>
            <a:ext cx="5486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₹4 cr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3240" y="4078224"/>
            <a:ext cx="259882" cy="164592"/>
          </a:xfrm>
          <a:prstGeom prst="rect">
            <a:avLst/>
          </a:prstGeom>
          <a:solidFill>
            <a:srgbClr val="6C7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005072"/>
            <a:ext cx="36576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5%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2920" y="4361688"/>
            <a:ext cx="5440680" cy="0"/>
          </a:xfrm>
          <a:prstGeom prst="line">
            <a:avLst/>
          </a:prstGeom>
          <a:ln w="19050">
            <a:solidFill>
              <a:srgbClr val="1B3A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02920" y="4453128"/>
            <a:ext cx="192024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1B3A5C"/>
                </a:solidFill>
                <a:latin typeface="Calibri"/>
              </a:rPr>
              <a:t>TOTAL PHASE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23160" y="4453128"/>
            <a:ext cx="22860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E7D6A"/>
                </a:solidFill>
                <a:latin typeface="Calibri"/>
              </a:rPr>
              <a:t>₹85 cr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14173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Revenue ramp · ₹650 cr cumulative (FY25–FY29)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1828800"/>
            <a:ext cx="502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FY25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949440" y="1938528"/>
            <a:ext cx="235967" cy="20116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76847" y="1828800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₹18 cr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0" y="182880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Plant ramp · 3 lighthouse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2286000"/>
            <a:ext cx="502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FY26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49440" y="2395728"/>
            <a:ext cx="1022524" cy="20116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63404" y="2286000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₹78 cr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0" y="228600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Beachhead-1 + B2 active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0" y="2743200"/>
            <a:ext cx="502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FY27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2852928"/>
            <a:ext cx="1900846" cy="20116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41726" y="2743200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₹145 cr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274320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35-dealer net at full ops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00800" y="3200400"/>
            <a:ext cx="502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FY28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9440" y="3310128"/>
            <a:ext cx="2595639" cy="20116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36519" y="3200400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₹198 cr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320040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Plant Phase-2 online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3657600"/>
            <a:ext cx="5029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FY29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9440" y="3767328"/>
            <a:ext cx="2766060" cy="201168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06940" y="3657600"/>
            <a:ext cx="18288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₹211 cr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3657600"/>
            <a:ext cx="246888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PB/HR/RJ expansion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400800" y="4572000"/>
            <a:ext cx="5285232" cy="1874519"/>
          </a:xfrm>
          <a:prstGeom prst="roundRect">
            <a:avLst>
              <a:gd name="adj" fmla="val 5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0" y="4663440"/>
            <a:ext cx="5029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STRATEGIC FINANCIAL CASE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75120" y="4983480"/>
            <a:ext cx="16459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E7D6A"/>
                </a:solidFill>
                <a:latin typeface="Calibri"/>
              </a:rPr>
              <a:t>₹650 cr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4983480"/>
            <a:ext cx="32461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Cumulative 5-year North India revenue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675120" y="5349240"/>
            <a:ext cx="16459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C8A951"/>
                </a:solidFill>
                <a:latin typeface="Calibri"/>
              </a:rPr>
              <a:t>22 mo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12480" y="5349240"/>
            <a:ext cx="32461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Cash-flow break-even from plant go-live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75120" y="5715000"/>
            <a:ext cx="16459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E7D6A"/>
                </a:solidFill>
                <a:latin typeface="Calibri"/>
              </a:rPr>
              <a:t>IRR 28%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12480" y="5715000"/>
            <a:ext cx="32461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5-yr levered IRR @ 11% WACC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675120" y="6080760"/>
            <a:ext cx="16459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1B3A5C"/>
                </a:solidFill>
                <a:latin typeface="Calibri"/>
              </a:rPr>
              <a:t>30%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12480" y="6080760"/>
            <a:ext cx="324612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0">
                <a:solidFill>
                  <a:srgbClr val="555A60"/>
                </a:solidFill>
                <a:latin typeface="Calibri"/>
              </a:rPr>
              <a:t>Target share of total C-DISC revenue (FY29)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920" y="5440680"/>
            <a:ext cx="5577840" cy="1005840"/>
          </a:xfrm>
          <a:prstGeom prst="roundRect">
            <a:avLst>
              <a:gd name="adj" fmla="val 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5800" y="5532120"/>
            <a:ext cx="530352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C8A951"/>
                </a:solidFill>
                <a:latin typeface="Calibri"/>
              </a:rPr>
              <a:t>FUNDING ASK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5779008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Calibri"/>
              </a:rPr>
              <a:t>Phase-1 ₹85 cr split as ₹55 cr internal accrual + ₹30 cr debt against YEIDA plant land (LRD-style). No equity dilution required.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OPERATING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KPI scorecard: twelve metrics across leading and lagging indicators, reviewed monthly by the North India leadership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18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Twelve metrics across the four executive lenses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743200" cy="45720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828800"/>
            <a:ext cx="2743200" cy="411480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North revenue YTD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₹ cr   ·   vs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8036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Order pipeline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08152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₹ cr   ·   weighted 50%+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8328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Lead → quote conv.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58444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%   ·   monthly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88620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Quote → order conv.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8736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%   ·   monthly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1828800"/>
            <a:ext cx="2743200" cy="45720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337560" y="1828800"/>
            <a:ext cx="274320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37560" y="18288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COMMERCIAL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237744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Avg gross margin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57860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%   ·   project P&amp;L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288036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North landed cost index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08152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vs South   ·   monthly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0" y="338328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Channel partners active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358444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#   ·   last 60d sales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88620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Working capital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408736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days   ·   collections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1828800"/>
            <a:ext cx="2743200" cy="45720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1828800"/>
            <a:ext cx="2743200" cy="41148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72200" y="18288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CUSTOMER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237744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NPS · North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57860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score   ·   quarterly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8036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Install defect rate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08152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%   ·   sign-off photos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338328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Service SLA hit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358444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%   ·   48-hr response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6840" y="1828800"/>
            <a:ext cx="2743200" cy="4572000"/>
          </a:xfrm>
          <a:prstGeom prst="roundRect">
            <a:avLst>
              <a:gd name="adj" fmla="val 4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006840" y="1828800"/>
            <a:ext cx="2743200" cy="4114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06840" y="1828800"/>
            <a:ext cx="274320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CAPABILITY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2377440"/>
            <a:ext cx="2468880" cy="2286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Certified masons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2578608"/>
            <a:ext cx="2468880" cy="20116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C7479"/>
                </a:solidFill>
                <a:latin typeface="Calibri"/>
              </a:rPr>
              <a:t>unit · #   ·   cumulative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492240"/>
            <a:ext cx="11183112" cy="274320"/>
          </a:xfrm>
          <a:prstGeom prst="roundRect">
            <a:avLst>
              <a:gd name="adj" fmla="val 5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6492240"/>
            <a:ext cx="11183112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Cadence  ·  Weekly stand-up (RSMs)   |   Monthly business review (Head of North + COO)   |   Quarterly board update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RISKS &amp; MITIGATIONS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Six material risks tracked actively — five have clear mitigations, one (Jewar Airport delay) is a structural watch-item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19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B3A5C"/>
                </a:solidFill>
                <a:latin typeface="Calibri"/>
              </a:rPr>
              <a:t>Risk register · maintained by Head of North + COO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1183112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828800"/>
            <a:ext cx="28346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0168" y="1828800"/>
            <a:ext cx="10058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Likelihood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8888" y="1828800"/>
            <a:ext cx="100584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07608" y="1828800"/>
            <a:ext cx="4389120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Mitigation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9608" y="1828800"/>
            <a:ext cx="1033272" cy="4114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40280"/>
            <a:ext cx="11183112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24028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Jewar Airport phasing delay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0" y="2404872"/>
            <a:ext cx="502920" cy="31089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240487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404872"/>
            <a:ext cx="502920" cy="31089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240487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7608" y="2240280"/>
            <a:ext cx="438912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Diversify lighthouse: balance YEIDA reference with rural-UP NABARD project so demand pipeline not single-source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79608" y="2240280"/>
            <a:ext cx="103327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COO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880360"/>
            <a:ext cx="11183112" cy="64008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88036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YEIDA land allotment timing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3044952"/>
            <a:ext cx="502920" cy="31089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04495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3044952"/>
            <a:ext cx="502920" cy="31089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304495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7608" y="2880360"/>
            <a:ext cx="438912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Plan B brownfield in Greater Noida industrial; civil-only build cuts go-live time by ~9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79608" y="2880360"/>
            <a:ext cx="103327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CFO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520440"/>
            <a:ext cx="11183112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352044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Talent — North sales head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40480" y="3685032"/>
            <a:ext cx="502920" cy="310896"/>
          </a:xfrm>
          <a:prstGeom prst="rect">
            <a:avLst/>
          </a:prstGeom>
          <a:solidFill>
            <a:srgbClr val="2E7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40480" y="368503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0" y="3685032"/>
            <a:ext cx="502920" cy="31089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368503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07608" y="3520440"/>
            <a:ext cx="438912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Already in-flight with 3 retained-search firms; if no fill, interim from a top-2 cement major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79608" y="3520440"/>
            <a:ext cx="103327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CHRO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60520"/>
            <a:ext cx="11183112" cy="64008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" y="416052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Cement / steel inflation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0" y="4325112"/>
            <a:ext cx="502920" cy="31089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0" y="432511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4325112"/>
            <a:ext cx="502920" cy="31089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432511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07608" y="4160520"/>
            <a:ext cx="438912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Long-term offtake with 2 cement majors + index-linked clause in NABARD subsidy projects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79608" y="4160520"/>
            <a:ext cx="103327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Procurement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800600"/>
            <a:ext cx="11183112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8" y="480060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Local resistance from masons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0" y="4965192"/>
            <a:ext cx="502920" cy="31089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40480" y="496519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0" y="4965192"/>
            <a:ext cx="502920" cy="31089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0" y="496519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07608" y="4800600"/>
            <a:ext cx="438912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Wage card +44%/day vs brick; first 30 masons enrolled with retention bonus; PR around earning uplift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79608" y="4800600"/>
            <a:ext cx="103327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Head of North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40680"/>
            <a:ext cx="11183112" cy="640080"/>
          </a:xfrm>
          <a:prstGeom prst="rect">
            <a:avLst/>
          </a:prstGeom>
          <a:solidFill>
            <a:srgbClr val="F4F4F2"/>
          </a:solidFill>
          <a:ln w="5080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2648" y="5440680"/>
            <a:ext cx="28346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Counterparty payment risk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840480" y="5605272"/>
            <a:ext cx="502920" cy="310896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0480" y="560527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0" y="5605272"/>
            <a:ext cx="502920" cy="31089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5605272"/>
            <a:ext cx="502920" cy="310896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07608" y="5440680"/>
            <a:ext cx="438912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2A2D33"/>
                </a:solidFill>
                <a:latin typeface="Calibri"/>
              </a:rPr>
              <a:t>Tighter credit terms for non-NABARD projects · trade-credit insurance · LCs for projects &gt;₹2 cr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79608" y="5440680"/>
            <a:ext cx="1033272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CFO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C7479"/>
                </a:solidFill>
                <a:latin typeface="Calibri"/>
              </a:rPr>
              <a:t>L = low (&lt;25%) · M = medium (25–60%) · H = high (&gt;60%) likelihood and revenue/strategic impact. Status reviewed monthly.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7315200" cy="2926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C8A951"/>
                </a:solidFill>
                <a:latin typeface="Calibri"/>
              </a:rP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"/>
            <a:ext cx="10515600" cy="777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B3A5C"/>
                </a:solidFill>
                <a:latin typeface="Calibri"/>
              </a:rPr>
              <a:t>Recommended next steps: secure four irreversible decisions in the next board cycle to unlock the full Phase-1 motion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225296"/>
            <a:ext cx="11183112" cy="0"/>
          </a:xfrm>
          <a:prstGeom prst="line">
            <a:avLst/>
          </a:prstGeom>
          <a:ln w="6350">
            <a:solidFill>
              <a:srgbClr val="D9D9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607040" y="6519672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20 /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967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C7479"/>
                </a:solidFill>
                <a:latin typeface="Calibri"/>
              </a:rPr>
              <a:t>C-DISC  ·  North India GTM strategic plan  ·  Confidential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08760"/>
            <a:ext cx="1005840" cy="10972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50876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8A951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64592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3A5C"/>
                </a:solidFill>
                <a:latin typeface="Calibri"/>
              </a:rPr>
              <a:t>Approve Phase-1 capex envelope of ₹85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01168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₹55 cr internal accrual + ₹30 cr term debt against YEIDA plant land. Releases all five pillars in parallel.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46920" y="1828800"/>
            <a:ext cx="1828800" cy="45720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46920" y="182880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BOARD / CFO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97480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97480"/>
            <a:ext cx="1005840" cy="10972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9748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8A951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283464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3A5C"/>
                </a:solidFill>
                <a:latin typeface="Calibri"/>
              </a:rPr>
              <a:t>Commit to YEIDA Sector 32 plant location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0040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Issue land-allotment application to YEIDA. Trigger plant design tender. Lock the geographic anchor.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46920" y="3017520"/>
            <a:ext cx="1828800" cy="45720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301752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CEO + COO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86200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886200"/>
            <a:ext cx="1005840" cy="10972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8A951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02336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3A5C"/>
                </a:solidFill>
                <a:latin typeface="Calibri"/>
              </a:rPr>
              <a:t>Greenlight Head of North India hire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38912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Open retained search · target cement-major senior with NCR + UP P&amp;L history · interim from internal South leadership.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4206240"/>
            <a:ext cx="1828800" cy="45720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420624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CEO + CHRO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074920"/>
            <a:ext cx="11183112" cy="1097280"/>
          </a:xfrm>
          <a:prstGeom prst="roundRect">
            <a:avLst>
              <a:gd name="adj" fmla="val 3000"/>
            </a:avLst>
          </a:prstGeom>
          <a:solidFill>
            <a:srgbClr val="F4F4F2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074920"/>
            <a:ext cx="1005840" cy="10972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074920"/>
            <a:ext cx="1005840" cy="10972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C8A951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521208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B3A5C"/>
                </a:solidFill>
                <a:latin typeface="Calibri"/>
              </a:rPr>
              <a:t>Sign first three lighthouse projects at concession pricing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577840"/>
            <a:ext cx="77724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55A60"/>
                </a:solidFill>
                <a:latin typeface="Calibri"/>
              </a:rPr>
              <a:t>One per beachhead. Pre-empt the competition for the most-visible early sites. Acceptance criteria pre-defined.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5394960"/>
            <a:ext cx="1828800" cy="457200"/>
          </a:xfrm>
          <a:prstGeom prst="rect">
            <a:avLst/>
          </a:prstGeom>
          <a:solidFill>
            <a:srgbClr val="C8A9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5394960"/>
            <a:ext cx="182880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B3A5C"/>
                </a:solidFill>
                <a:latin typeface="Calibri"/>
              </a:rPr>
              <a:t>CCO + Head of North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46520"/>
            <a:ext cx="111556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1B3A5C"/>
                </a:solidFill>
                <a:latin typeface="Calibri"/>
              </a:rPr>
              <a:t>Together these four decisions unlock the full strategy. Delaying any one of them slips the strategic horizon by approximately one budget cycle.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