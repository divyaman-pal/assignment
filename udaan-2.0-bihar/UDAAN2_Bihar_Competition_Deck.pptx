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Bihar</c:v>
                </c:pt>
              </c:strCache>
            </c:strRef>
          </c:tx>
          <c:spPr>
            <a:solidFill>
              <a:srgbClr val="6B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Manufacturing
% GSDP</c:v>
                  </c:pt>
                  <c:pt idx="1">
                    <c:v>Workforce in
Manufacturing</c:v>
                  </c:pt>
                  <c:pt idx="2">
                    <c:v>FDI (5yr, $Mn)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5.7</c:v>
                </c:pt>
                <c:pt idx="2">
                  <c:v>21.6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3D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Manufacturing
% GSDP</c:v>
                  </c:pt>
                  <c:pt idx="1">
                    <c:v>Workforce in
Manufacturing</c:v>
                  </c:pt>
                  <c:pt idx="2">
                    <c:v>FDI (5yr, $Mn)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12</c:v>
                </c:pt>
                <c:pt idx="2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0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0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58368"/>
            <a:ext cx="64008" cy="3429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BREAKING BIHAR'S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44475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INDUSTRIAL STAGNATION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340864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2.0  ·  An Audience-Rooted, 24-Month Execution Framework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852928"/>
            <a:ext cx="36576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992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90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Private Capital  ·  Labour-Intensive Industries  ·  Proven Models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 Bihar  ·  GILP Hackathon 2026  ·  June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2340864"/>
            <a:ext cx="2697480" cy="2359152"/>
          </a:xfrm>
          <a:prstGeom prst="rect">
            <a:avLst/>
          </a:prstGeom>
          <a:solidFill>
            <a:srgbClr val="4A1010"/>
          </a:solidFill>
          <a:ln w="12700">
            <a:solidFill>
              <a:srgbClr val="4A1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340864"/>
            <a:ext cx="54864" cy="2359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231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MILLION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Biharis live &amp; work outside the state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3255264"/>
            <a:ext cx="2377440" cy="36576"/>
          </a:xfrm>
          <a:prstGeom prst="rect">
            <a:avLst/>
          </a:prstGeom>
          <a:solidFill>
            <a:srgbClr val="5A202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33756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 Trillion GSDP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6941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Manufacturing vs 17% National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40416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FDI: $215M (2019–24)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6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India's lowest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Is Rising — But Factories Are Disappearing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96112"/>
            <a:ext cx="2834640" cy="12070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978408"/>
            <a:ext cx="2615184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75488" y="1632387"/>
            <a:ext cx="26517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GSDP Growth (2024-25)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909999"/>
            <a:ext cx="265176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8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6.5% India avg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4048" y="2212848"/>
            <a:ext cx="2834640" cy="1207008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" y="2295144"/>
            <a:ext cx="2615184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E6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31.7%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75488" y="2949123"/>
            <a:ext cx="2651760" cy="289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per-capita income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226735"/>
            <a:ext cx="2651760" cy="193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8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₹36,342 vs ₹1,14,500 national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3529584"/>
            <a:ext cx="2834640" cy="100584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" y="3611880"/>
            <a:ext cx="2615184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3,307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75488" y="4143146"/>
            <a:ext cx="2651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factories (2023)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374490"/>
            <a:ext cx="2651760" cy="160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08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from 3,623 in 2016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29000" y="896112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11880" y="100584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% OF GSDP  ·  BIHAR vs. INDIA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493008" y="132588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3547872" y="3749040"/>
            <a:ext cx="5212080" cy="658368"/>
          </a:xfrm>
          <a:prstGeom prst="rect">
            <a:avLst/>
          </a:prstGeom>
          <a:solidFill>
            <a:srgbClr val="FBF5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39312" y="3776472"/>
            <a:ext cx="502920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percentage-point gap </a:t>
            </a:r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 share. FDI among India's lowest at $215.76 Mn (2019–24). Despite 8.6% real growth, </a:t>
            </a:r>
            <a:pPr indent="0" marL="0">
              <a:buNone/>
            </a:pPr>
            <a:r>
              <a:rPr lang="en-US" sz="10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are closing, not opening.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 headline growth sitting on top of deep under-industrialisation."  — Bihar Economic Survey 2025-26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Bihar Exports Workers, Not Products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60120"/>
            <a:ext cx="2286000" cy="338328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60120"/>
            <a:ext cx="22860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31673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BIHAR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66928" y="1993392"/>
            <a:ext cx="1920240" cy="27432"/>
          </a:xfrm>
          <a:prstGeom prst="rect">
            <a:avLst/>
          </a:prstGeom>
          <a:solidFill>
            <a:srgbClr val="5A202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Mn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outside state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₹10 Tn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GSDP, growing 8.6%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HH remittance-dependent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02920" y="3621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shock: remittances fell 50%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34640" y="1481328"/>
            <a:ext cx="2331720" cy="347472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 50 MILLION WORKERS DEPART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52928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· leather · construction · agriculture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834640" y="2487168"/>
            <a:ext cx="2331720" cy="347472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←  REMITTANCES FLOW BACK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52928" y="28712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income for 50% rural households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834640" y="3200400"/>
            <a:ext cx="2331720" cy="1051560"/>
          </a:xfrm>
          <a:prstGeom prst="rect">
            <a:avLst/>
          </a:prstGeom>
          <a:solidFill>
            <a:srgbClr val="FBF5D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32552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LOOP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0" y="35295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Remittances → consumption
</a:t>
            </a:r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→ no local enterprise
</a:t>
            </a:r>
            <a:pPr indent="0" marL="0">
              <a:buNone/>
            </a:pPr>
            <a:r>
              <a:rPr lang="en-US" sz="90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enterprise → next generation migrates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49240" y="960120"/>
            <a:ext cx="3520440" cy="338328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960120"/>
            <a:ext cx="352044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051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STATES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40680" y="1389888"/>
            <a:ext cx="3291840" cy="475488"/>
          </a:xfrm>
          <a:prstGeom prst="rect">
            <a:avLst/>
          </a:prstGeom>
          <a:solidFill>
            <a:srgbClr val="3C3C3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4264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Surat / Gujarat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16459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 &amp; garments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 Mn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40680" y="1956816"/>
            <a:ext cx="3291840" cy="475488"/>
          </a:xfrm>
          <a:prstGeom prst="rect">
            <a:avLst/>
          </a:prstGeom>
          <a:solidFill>
            <a:srgbClr val="3C3C3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9933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Punjab / Haryana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22128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0" y="20299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 Mn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40680" y="2523744"/>
            <a:ext cx="3291840" cy="475488"/>
          </a:xfrm>
          <a:prstGeom prst="rect">
            <a:avLst/>
          </a:prstGeom>
          <a:solidFill>
            <a:srgbClr val="3C3C3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560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Mumbai / Delhi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0" y="27797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15200" y="25968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 Mn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40680" y="3090672"/>
            <a:ext cx="3291840" cy="475488"/>
          </a:xfrm>
          <a:prstGeom prst="rect">
            <a:avLst/>
          </a:prstGeom>
          <a:solidFill>
            <a:srgbClr val="3C3C3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31272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Tirupur / Chennai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33467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knitwear &amp; factories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15200" y="31638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~4 Mn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40680" y="3657600"/>
            <a:ext cx="3291840" cy="475488"/>
          </a:xfrm>
          <a:prstGeom prst="rect">
            <a:avLst/>
          </a:prstGeom>
          <a:solidFill>
            <a:srgbClr val="3C3C3C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36941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Agra / Kanpur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0" y="39136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 &amp; footwear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15200" y="3730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 Mn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COVID struck in 2020, remittances fell over 50% — and returnees found no local work. The model is fragile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Is Not Policy Intent — It Is Execution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14400"/>
            <a:ext cx="2743200" cy="640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10241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 &amp; Industrial Supply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18–36 month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timelines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" y="22860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2951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greenfield projects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64408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914400"/>
            <a:ext cx="2743200" cy="64008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25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39896" y="10241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Reliability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444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5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55848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input cost (captive backup)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55848" y="22860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22951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hurts MSMEs who can't afford backup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44768" y="914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44768" y="914400"/>
            <a:ext cx="2743200" cy="64008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024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20256" y="10241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Skilled Labour Paradox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4447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36208" y="1901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out-migrants are low/unskilled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36208" y="22860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2951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youth &amp; women locked out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4048" y="2743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743200"/>
            <a:ext cx="2743200" cy="640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9536" y="28529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Shallow Finance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53.5%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75488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Credit-Deposit ratio (exports savings)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" y="41148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41239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₹1.5–2L Cr MSME credit gap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64408" y="2743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64408" y="2743200"/>
            <a:ext cx="2743200" cy="64008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3739896" y="28529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Logistics &amp; Cold Chain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55848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30–40%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3355848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loss (no cold chain)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55848" y="41148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41239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farmer loses at market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44768" y="27432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2743200"/>
            <a:ext cx="2743200" cy="64008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3620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620256" y="285292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&amp; Approvals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327355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5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₹6,800 Bn</a:t>
            </a:r>
            <a:endParaRPr lang="en-US" sz="2800" dirty="0"/>
          </a:p>
        </p:txBody>
      </p:sp>
      <p:sp>
        <p:nvSpPr>
          <p:cNvPr id="50" name="Text 48"/>
          <p:cNvSpPr/>
          <p:nvPr/>
        </p:nvSpPr>
        <p:spPr>
          <a:xfrm>
            <a:off x="6236208" y="37307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proposals, un-operationalised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236208" y="4114800"/>
            <a:ext cx="256032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41239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META-CONSTRAINT: affects all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mutually reinforcing failures — fix one and the others constrain it. Execution architecture, not policy, is the bottleneck.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The First Time, Four Conditions Are Simultaneously Aligned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32688"/>
            <a:ext cx="4160520" cy="1664208"/>
          </a:xfrm>
          <a:prstGeom prst="rect">
            <a:avLst/>
          </a:prstGeom>
          <a:solidFill>
            <a:srgbClr val="383838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932688"/>
            <a:ext cx="64008" cy="1664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27248" y="1024128"/>
            <a:ext cx="1325880" cy="2926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1024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9496" y="140817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STABLE 5-YEAR MANDATE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" y="175564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landslide: 200+ of 243 seats. Agenda built on 1 crore jobs + women's livelihoods. Political-continuity risk eliminated.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9496" y="2258568"/>
            <a:ext cx="3913632" cy="274320"/>
          </a:xfrm>
          <a:prstGeom prst="rect">
            <a:avLst/>
          </a:prstGeom>
          <a:solidFill>
            <a:srgbClr val="4A1010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2677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continuity is now a tailwind, not a risk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932688"/>
            <a:ext cx="4160520" cy="1664208"/>
          </a:xfrm>
          <a:prstGeom prst="rect">
            <a:avLst/>
          </a:prstGeom>
          <a:solidFill>
            <a:srgbClr val="383838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32688"/>
            <a:ext cx="64008" cy="1664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452360" y="1024128"/>
            <a:ext cx="1325880" cy="2926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0241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– Sept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64608" y="1408176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FISCAL AMMUNITION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175564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₹7,500-cr Mahila Rozgar Yojana active. ₹476-cr Makhana Board launched. BIPPP-2025 approved. Purvodaya allocations live.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64608" y="2258568"/>
            <a:ext cx="3913632" cy="274320"/>
          </a:xfrm>
          <a:prstGeom prst="rect">
            <a:avLst/>
          </a:prstGeom>
          <a:solidFill>
            <a:srgbClr val="4A1010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267712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deployed — not promised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743200"/>
            <a:ext cx="4160520" cy="1664208"/>
          </a:xfrm>
          <a:prstGeom prst="rect">
            <a:avLst/>
          </a:prstGeom>
          <a:solidFill>
            <a:srgbClr val="383838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2743200"/>
            <a:ext cx="64008" cy="1664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127248" y="2834640"/>
            <a:ext cx="1325880" cy="2926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27248" y="28346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operating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9496" y="321868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INSTITUTIONAL RAILS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" y="356616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Cr JEEViKA women in 11 lakh SHGs. ~50 Mn trained migrant workers. 1,497 ITIs. FPOs across 9 districts.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9496" y="4069080"/>
            <a:ext cx="3913632" cy="274320"/>
          </a:xfrm>
          <a:prstGeom prst="rect">
            <a:avLst/>
          </a:prstGeom>
          <a:solidFill>
            <a:srgbClr val="4A1010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" y="4078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network exists — it just needs wiring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2743200"/>
            <a:ext cx="4160520" cy="1664208"/>
          </a:xfrm>
          <a:prstGeom prst="rect">
            <a:avLst/>
          </a:prstGeom>
          <a:solidFill>
            <a:srgbClr val="383838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743200"/>
            <a:ext cx="64008" cy="1664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7452360" y="2834640"/>
            <a:ext cx="1325880" cy="2926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8346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3218688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CENTRAL INFRASTRUCTURE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356616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NIFTEM Bihar, AKIC-Gaya cluster, Purnea &amp; Bihta airports, Makhana Board HQ, EDFC connectivity all in motion.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64608" y="4069080"/>
            <a:ext cx="3913632" cy="274320"/>
          </a:xfrm>
          <a:prstGeom prst="rect">
            <a:avLst/>
          </a:prstGeom>
          <a:solidFill>
            <a:srgbClr val="4A1010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4078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 power and logistics — the hardest bottlenecks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24-month window aligns with the post-election mandate and the expiry of BIPPP-2025. Miss it and the conditions reset.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 Crore Women Already Form Bihar's Largest Industrial Network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9112" y="2221992"/>
            <a:ext cx="1133856" cy="1133856"/>
          </a:xfrm>
          <a:prstGeom prst="ellipse">
            <a:avLst/>
          </a:prstGeom>
          <a:solidFill>
            <a:srgbClr val="6B1A1A"/>
          </a:solidFill>
          <a:ln w="25400">
            <a:solidFill>
              <a:srgbClr val="C9A2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084832" y="256946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JEEViKA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84832" y="278892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Cr women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11L SHGs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45820"/>
            <a:ext cx="1371600" cy="59436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8915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₹7,500 Cr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flipH="1" flipV="1">
            <a:off x="1051560" y="1143000"/>
            <a:ext cx="1554480" cy="164592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331720" y="754380"/>
            <a:ext cx="1371600" cy="594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8001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Makhana 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flipV="1">
            <a:off x="2606040" y="1051560"/>
            <a:ext cx="411480" cy="173736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3474720" y="2080260"/>
            <a:ext cx="1371600" cy="5943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20440" y="21259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50Mn Migrants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2606040" y="2377440"/>
            <a:ext cx="1554480" cy="41148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2788920" y="3497580"/>
            <a:ext cx="1371600" cy="59436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34640" y="35433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Youth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&lt;30 yrs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788920"/>
            <a:ext cx="868680" cy="100584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548640" y="3817620"/>
            <a:ext cx="1371600" cy="59436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8633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Units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H="1">
            <a:off x="1234440" y="2788920"/>
            <a:ext cx="1371600" cy="132588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-274320" y="2537460"/>
            <a:ext cx="1371600" cy="59436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-228600" y="25831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Parks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BIADA PIDs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H="1">
            <a:off x="411480" y="2788920"/>
            <a:ext cx="2194560" cy="45720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5212080" y="896112"/>
            <a:ext cx="3703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21808" y="9692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 ·  REALITY  ·  DELIVERY RAIL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21808" y="1234440"/>
            <a:ext cx="3493008" cy="3657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21808" y="1362456"/>
            <a:ext cx="54864" cy="5120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9824" y="13624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Circular Migrant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14032" y="13624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 Mn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9824" y="161848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job at near-parity wage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21808" y="1911096"/>
            <a:ext cx="3493008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21808" y="2002536"/>
            <a:ext cx="54864" cy="5120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2002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JEEViKA Didi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14032" y="2002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1.4 Cr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9824" y="225856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+ buyer + skills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21808" y="2551176"/>
            <a:ext cx="3493008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21808" y="2642616"/>
            <a:ext cx="54864" cy="5120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26426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Marginal Farmer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14032" y="2642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0.39 ha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9824" y="289864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+ price + storage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21808" y="3191256"/>
            <a:ext cx="3493008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21808" y="3282696"/>
            <a:ext cx="54864" cy="5120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32826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ITI Youth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14032" y="328269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 &lt;30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9824" y="353872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Employer-linked cert + job near home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21808" y="3831336"/>
            <a:ext cx="3493008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21808" y="3922776"/>
            <a:ext cx="54864" cy="5120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9824" y="392277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Weaver / Artisan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14032" y="39227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 assets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9824" y="4178808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market + branding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policy in Bihar fails when it is written for a generic 'investor' and ignores the people who must staff, supply, and sustain factories.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Sectors Where Bihar Has An Unfair Advantage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14400"/>
            <a:ext cx="2057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14400"/>
            <a:ext cx="2057400" cy="82296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42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AGRO-PROCESSING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FOOD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" y="1682496"/>
            <a:ext cx="1837944" cy="713232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1907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12064" y="207568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per ₹1 Cr invested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3776" y="2496312"/>
            <a:ext cx="1837944" cy="109728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2496312"/>
            <a:ext cx="1323320" cy="10972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706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5488" y="29077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4th-largest veg producer · 90% India's makhana · Shahi Litchi GI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" y="3520440"/>
            <a:ext cx="1874520" cy="53035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547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24-MTH POTENTIAL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21208" y="3712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 → 35% processed locally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5488" y="41513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female workforce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32888" y="914400"/>
            <a:ext cx="2057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32888" y="914400"/>
            <a:ext cx="2057400" cy="82296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1042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TEXTILES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APPAREL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42616" y="1682496"/>
            <a:ext cx="1837944" cy="713232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60904" y="171907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50–80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660904" y="207568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per ₹1 Cr invested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42616" y="2496312"/>
            <a:ext cx="1837944" cy="109728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42616" y="2496312"/>
            <a:ext cx="1764426" cy="109728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2706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624328" y="29077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Bhagalpuri Silk GI · 2Mn Biharis in Tirupur/Surat ready to return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24328" y="3520440"/>
            <a:ext cx="1874520" cy="53035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0048" y="3547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24-MTH POTENTIAL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670048" y="3712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model — $40Bn+ trajectory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624328" y="41513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female-friendly sector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81728" y="914400"/>
            <a:ext cx="2057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81728" y="914400"/>
            <a:ext cx="2057400" cy="822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042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 ENGINEERING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ELECTRONICS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91456" y="1682496"/>
            <a:ext cx="1837944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171907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20–35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809744" y="207568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per ₹1 Cr invested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91456" y="2496312"/>
            <a:ext cx="1837944" cy="109728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91456" y="2496312"/>
            <a:ext cx="771936" cy="1097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706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73168" y="29077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lower wages vs Mumbai/Chennai · AKIC-Gaya cluster ready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73168" y="3520440"/>
            <a:ext cx="1874520" cy="53035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547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24-MTH POTENTIAL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818888" y="3712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China+1 assembly; Bihar defence corridor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73168" y="41513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female participation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830568" y="914400"/>
            <a:ext cx="2057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30568" y="914400"/>
            <a:ext cx="2057400" cy="82296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22008" y="104241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LEATHER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FOOTWEAR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940296" y="1682496"/>
            <a:ext cx="1837944" cy="713232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58584" y="171907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40–60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6958584" y="207568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per ₹1 Cr invested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940296" y="2496312"/>
            <a:ext cx="1837944" cy="109728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40296" y="2496312"/>
            <a:ext cx="1066008" cy="109728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22008" y="2706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22008" y="290779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diaspora in Agra/Kanpur/Chennai — certified, ready to return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22008" y="3520440"/>
            <a:ext cx="1874520" cy="530352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67728" y="35478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24-MTH POTENTIAL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967728" y="37124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50,000–100,000 jobs in 24 months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922008" y="415137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Facility Centre model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 alone — 8–12 workers per ₹1 Cr invested, 60–70% female — is the single best fit for Bihar's workforce and the Mahila Rozgar mandate.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Solution Has Already Been Proven — Just Not In Bihar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93268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32688"/>
            <a:ext cx="64008" cy="1078992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AMUL / GCMMF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1024128"/>
            <a:ext cx="1097280" cy="2286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74136" y="1024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9496" y="1298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marginal dairy farmers into cooperative owners — captured processing margin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39496" y="1572768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1609344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389888" y="16093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Makhana/litchi FPOs under Makhana Board; farmers own the brand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932688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32688"/>
            <a:ext cx="64008" cy="1078992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SEWA + Lijjat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99248" y="1024128"/>
            <a:ext cx="1097280" cy="22860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024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/ Maharashtra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64608" y="12984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Home-based women's work → branded, bankable enterprise at national scale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64608" y="1572768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609344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D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15000" y="160934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JEEViKA producer groups via MMRY (₹10K → ₹2L) for food-pack &amp; garment-stitch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" y="21031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103120"/>
            <a:ext cx="64008" cy="10789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TIRUPUR Cluster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74136" y="2194560"/>
            <a:ext cx="1097280" cy="2286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9496" y="24688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garment production created mass formal jobs without mega-plants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39496" y="2743200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77977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389888" y="27797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garment clusters under OBOP; return 2Mn Surat/Tirupur Biharis as supervisors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210312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103120"/>
            <a:ext cx="64008" cy="1078992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TS-iPASS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99248" y="2194560"/>
            <a:ext cx="1097280" cy="22860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2194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4608" y="246888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15-day deemed clearances eliminated inspector raj, lifted FDI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64608" y="2743200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779776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3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715000" y="27797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single window: 45-day MSME / 90-day large — statutory, dashboarded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" y="327355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" y="3273552"/>
            <a:ext cx="64008" cy="1078992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9496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Kerala NORKA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74136" y="3364992"/>
            <a:ext cx="1097280" cy="22860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74136" y="3364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9496" y="3639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Tracked, re-skilled &amp; reintegrated returning migrants with credit + welfare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39496" y="3913632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" y="395020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389888" y="39502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Bihar Migrant &amp; Returnee Mission: registry + Homecoming loan + PID hiring priority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327355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273552"/>
            <a:ext cx="64008" cy="1078992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3346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 ODOP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699248" y="3364992"/>
            <a:ext cx="1097280" cy="228600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9248" y="33649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64608" y="363931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per district — GI branding + credit + e-market — scalable &amp; low-cost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64608" y="3913632"/>
            <a:ext cx="3913632" cy="18288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950208"/>
            <a:ext cx="877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BIHAR ADAPTATION: 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715000" y="39502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Bihar's OBOP to one product per block; GI + ONDC/e-commerce onboarding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 is not in the idea — it is in the transfer. Each model is re-rooted in a named Bihar audience and an existing delivery rail.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UDAAN 2.0: Five Execution Levers, One Architecture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950976"/>
            <a:ext cx="2231136" cy="347472"/>
          </a:xfrm>
          <a:prstGeom prst="rect">
            <a:avLst/>
          </a:prstGeom>
          <a:solidFill>
            <a:srgbClr val="5A1515"/>
          </a:solidFill>
          <a:ln w="12700">
            <a:solidFill>
              <a:srgbClr val="5A151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92224" y="969264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 ·  M1–6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792224" y="1133856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Lock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023360" y="950976"/>
            <a:ext cx="3236976" cy="347472"/>
          </a:xfrm>
          <a:prstGeom prst="rect">
            <a:avLst/>
          </a:prstGeom>
          <a:solidFill>
            <a:srgbClr val="3B1C5A"/>
          </a:solidFill>
          <a:ln w="12700">
            <a:solidFill>
              <a:srgbClr val="3B1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78224" y="969264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 ·  M7–18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78224" y="1133856"/>
            <a:ext cx="3127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Commission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315200" y="950976"/>
            <a:ext cx="1481328" cy="347472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969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 ·  M19–24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70064" y="11338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23360" y="950976"/>
            <a:ext cx="0" cy="3712464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7315200" y="950976"/>
            <a:ext cx="0" cy="3712464"/>
          </a:xfrm>
          <a:prstGeom prst="line">
            <a:avLst/>
          </a:prstGeom>
          <a:noFill/>
          <a:ln w="19050">
            <a:solidFill>
              <a:srgbClr val="D8CFC4"/>
            </a:solidFill>
            <a:prstDash val="sysDash"/>
          </a:ln>
        </p:spPr>
      </p:sp>
      <p:sp>
        <p:nvSpPr>
          <p:cNvPr id="16" name="Shape 14"/>
          <p:cNvSpPr/>
          <p:nvPr/>
        </p:nvSpPr>
        <p:spPr>
          <a:xfrm>
            <a:off x="384048" y="1371600"/>
            <a:ext cx="1298448" cy="5486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08176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 &amp; INFRA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737360" y="1371600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1371600"/>
            <a:ext cx="45720" cy="5486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41732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Priority Industrial Districts · 500–1,000 ac each · 90-day SLA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78224" y="1371600"/>
            <a:ext cx="3127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78224" y="1371600"/>
            <a:ext cx="45720" cy="5486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9664" y="14173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sheds (5K–20K sqft) · 10 cold-stores · solar feeders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70064" y="1371600"/>
            <a:ext cx="1426464" cy="548640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70064" y="1371600"/>
            <a:ext cx="45720" cy="54864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61504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shed occupancy · 1 anchor per park · 2 Mega Food Parks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84048" y="2048256"/>
            <a:ext cx="1298448" cy="54864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084832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WOMEN &amp; RETURNEES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37360" y="2048256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0" y="2048256"/>
            <a:ext cx="45720" cy="54864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09397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JEEViKA producer groups · MMRY follow-on capital · Returnee Registry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078224" y="2048256"/>
            <a:ext cx="3127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78224" y="2048256"/>
            <a:ext cx="45720" cy="54864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9664" y="209397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groups to PID anchors · Homecoming loan · Crèches + safe transport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370064" y="2048256"/>
            <a:ext cx="1426464" cy="548640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70064" y="2048256"/>
            <a:ext cx="45720" cy="54864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61504" y="20939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FPO-owned processing units · 1L Lakhpati Didi · 10K returnee-led units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84048" y="2724912"/>
            <a:ext cx="1298448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2761488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CLUSTERS (OBOP)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37360" y="2724912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37360" y="2724912"/>
            <a:ext cx="457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277063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1 product/block · Bhagalpur silk · Madhubani · Footwear CFCs designed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078224" y="2724912"/>
            <a:ext cx="3127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78224" y="2724912"/>
            <a:ext cx="457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9664" y="2770632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CFCs in PPP · GI branding · ONDC / e-commerce onboarding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370064" y="2724912"/>
            <a:ext cx="1426464" cy="548640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70064" y="2724912"/>
            <a:ext cx="4572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770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active OBOP clusters · live export &amp; retail orders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84048" y="3401568"/>
            <a:ext cx="1298448" cy="54864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3438144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PIPELINE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737360" y="3401568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37360" y="3401568"/>
            <a:ext cx="45720" cy="54864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0" y="3447288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1,497 ITIs · Top 300 upgraded · 5 new trades added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078224" y="3401568"/>
            <a:ext cx="3127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78224" y="3401568"/>
            <a:ext cx="45720" cy="54864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9664" y="344728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 Skill Academies · 6-month apprenticeship · 40% seats for women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370064" y="3401568"/>
            <a:ext cx="1426464" cy="548640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70064" y="3401568"/>
            <a:ext cx="45720" cy="54864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61504" y="3447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to named anchor spec · 2L certifications · 70% placement rate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84048" y="4078224"/>
            <a:ext cx="1298448" cy="54864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" y="411480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FINANCE &amp; GOVERNANCE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737360" y="4078224"/>
            <a:ext cx="2176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37360" y="4078224"/>
            <a:ext cx="45720" cy="54864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0" y="4123944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window legislated (45/90 day SLA) · ₹500 Cr MSME Credit Fund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078224" y="4078224"/>
            <a:ext cx="31272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78224" y="4078224"/>
            <a:ext cx="45720" cy="54864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69664" y="4123944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C-D ratio commitment · ₹1,000 Cr Industrial Growth Fund (blended)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370064" y="4078224"/>
            <a:ext cx="1426464" cy="548640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70064" y="4078224"/>
            <a:ext cx="45720" cy="548640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61504" y="412394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Task Forces · CEO-level Investment Activation Office in CMO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is an execution engine, not a new policy. Each pillar names the audience it serves, the model it borrows, and the live rail it runs 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Months. 5 Districts. 2.5 Lakh Jobs.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96112"/>
            <a:ext cx="3474720" cy="37124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96112"/>
            <a:ext cx="347472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87552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PRIORITY INDUSTRIAL DISTRICTS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3236976" cy="548640"/>
          </a:xfrm>
          <a:prstGeom prst="rect">
            <a:avLst/>
          </a:prstGeom>
          <a:solidFill>
            <a:srgbClr val="4A101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08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GAYA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426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AKIC cluster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66928" y="166420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engineering · electronics · defence corridor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2002536"/>
            <a:ext cx="3236976" cy="548640"/>
          </a:xfrm>
          <a:prstGeom prst="rect">
            <a:avLst/>
          </a:prstGeom>
          <a:solidFill>
            <a:srgbClr val="4A101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39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MUZAFFARPUR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+ NH-57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66928" y="229514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Agro-processing · litchi · dairy (COMFED hub)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3236976" cy="548640"/>
          </a:xfrm>
          <a:prstGeom prst="rect">
            <a:avLst/>
          </a:prstGeom>
          <a:solidFill>
            <a:srgbClr val="4A101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DARBHANGA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6883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+ Makhana Board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66928" y="2926080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Makhana processing · handloom · food tech (NIFTEM)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3264408"/>
            <a:ext cx="3236976" cy="548640"/>
          </a:xfrm>
          <a:prstGeom prst="rect">
            <a:avLst/>
          </a:prstGeom>
          <a:solidFill>
            <a:srgbClr val="4A101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00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BHAGALPUR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319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EDFC corridor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66928" y="355701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 · garments · OBOP textiles · returnee enterprise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3895344"/>
            <a:ext cx="3236976" cy="548640"/>
          </a:xfrm>
          <a:prstGeom prst="rect">
            <a:avLst/>
          </a:prstGeom>
          <a:solidFill>
            <a:srgbClr val="4A101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931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BEGUSARAI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3950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Pirpainti power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6928" y="418795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4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Petrochemicals anchor · light manufacturing · ITI hub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69080" y="896112"/>
            <a:ext cx="1627632" cy="42062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0" y="9144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M1–6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10972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LOCK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33872" y="896112"/>
            <a:ext cx="1627632" cy="420624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9144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M7–18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79592" y="10972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COMMISSION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607808" y="896112"/>
            <a:ext cx="1627632" cy="420624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9144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M19–24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53528" y="1097280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041648" y="1426464"/>
            <a:ext cx="0" cy="0"/>
          </a:xfrm>
          <a:prstGeom prst="rect">
            <a:avLst/>
          </a:prstGeom>
          <a:noFill/>
          <a:ln/>
        </p:spPr>
      </p:sp>
      <p:sp>
        <p:nvSpPr>
          <p:cNvPr id="38" name="Text 36"/>
          <p:cNvSpPr/>
          <p:nvPr/>
        </p:nvSpPr>
        <p:spPr>
          <a:xfrm>
            <a:off x="3977640" y="1426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069080" y="1700784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9080" y="1700784"/>
            <a:ext cx="1627632" cy="457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1773936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5 PIDs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500–1,000 ac each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14800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₹6,800 Bn pipeline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 begins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833872" y="1700784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33872" y="1700784"/>
            <a:ext cx="1627632" cy="457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9592" y="1773936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sheds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solar feeders ready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879592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Mega Food Parks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PMKSY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607808" y="1700784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07808" y="1700784"/>
            <a:ext cx="1627632" cy="457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53528" y="1773936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shed occupancy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anchor per park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653528" y="20848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cold-storage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operational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041648" y="2395728"/>
            <a:ext cx="0" cy="0"/>
          </a:xfrm>
          <a:prstGeom prst="rect">
            <a:avLst/>
          </a:prstGeom>
          <a:noFill/>
          <a:ln/>
        </p:spPr>
      </p:sp>
      <p:sp>
        <p:nvSpPr>
          <p:cNvPr id="52" name="Text 50"/>
          <p:cNvSpPr/>
          <p:nvPr/>
        </p:nvSpPr>
        <p:spPr>
          <a:xfrm>
            <a:off x="3977640" y="23957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069080" y="2670048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69080" y="2670048"/>
            <a:ext cx="1627632" cy="4572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0" y="27432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JEEViKA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groups live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114800" y="305409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Returnee Registry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833872" y="2670048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33872" y="2670048"/>
            <a:ext cx="1627632" cy="4572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592" y="27432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 linked to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anchor buyers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879592" y="305409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Homecoming loan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Surat/Tirupur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7607808" y="2670048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07808" y="2670048"/>
            <a:ext cx="1627632" cy="45720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53528" y="2743200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1L Lakhpati Didi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returnee units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653528" y="305409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₹1,000 Cr Growth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deployed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041648" y="3364992"/>
            <a:ext cx="0" cy="0"/>
          </a:xfrm>
          <a:prstGeom prst="rect">
            <a:avLst/>
          </a:prstGeom>
          <a:noFill/>
          <a:ln/>
        </p:spPr>
      </p:sp>
      <p:sp>
        <p:nvSpPr>
          <p:cNvPr id="66" name="Text 64"/>
          <p:cNvSpPr/>
          <p:nvPr/>
        </p:nvSpPr>
        <p:spPr>
          <a:xfrm>
            <a:off x="3977640" y="33649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069080" y="3639312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69080" y="3639312"/>
            <a:ext cx="1627632" cy="4572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0" y="37124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audit complete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upgraded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114800" y="40233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window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legislated (45d SLA)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5833872" y="3639312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3872" y="3639312"/>
            <a:ext cx="1627632" cy="4572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9592" y="37124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District Skill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Academies open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5879592" y="40233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C-D ratio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607808" y="3639312"/>
            <a:ext cx="16276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607808" y="3639312"/>
            <a:ext cx="1627632" cy="45720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53528" y="3712464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2L certifications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placement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653528" y="40233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→ 11% of GSDP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4005072" y="4343400"/>
            <a:ext cx="4864608" cy="292608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41648" y="4343400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2,50,000 direct industrial jobs  ·  1,00,000 Lakhpati Didi  ·  4,200+ registered factories  by Month 24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districts chosen for comparative advantage, not proximity to Patna. Each district has an anchor sector, a delivery rail, and a measurable 24-month output.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Scoreboard: From Policy to Proof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84048" y="804672"/>
            <a:ext cx="8558784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8558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public reporting  ·  Independent review committee (NITI Aayog + CII/FICCI + academic economists)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2057400" cy="640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252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Registered Factories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591056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91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3,307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18836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04672" y="18653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3,600+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" y="2157984"/>
            <a:ext cx="1874520" cy="493776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17627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12064" y="232257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4,200+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32888" y="1115568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32888" y="1115568"/>
            <a:ext cx="2057400" cy="64008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2252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Industrial Jobs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24328" y="1591056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0048" y="1591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Baseline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24328" y="18836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53512" y="18653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75,000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24328" y="2157984"/>
            <a:ext cx="1874520" cy="493776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217627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660904" y="232257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2,50,000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681728" y="1115568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1115568"/>
            <a:ext cx="2057400" cy="64008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2252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Lakhpati Didi Enterprises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1591056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1591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MMRY seed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73168" y="18836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02352" y="18653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B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40,000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73168" y="2157984"/>
            <a:ext cx="1874520" cy="493776"/>
          </a:xfrm>
          <a:prstGeom prst="rect">
            <a:avLst/>
          </a:prstGeom>
          <a:solidFill>
            <a:srgbClr val="3D6B4A"/>
          </a:solidFill>
          <a:ln w="12700">
            <a:solidFill>
              <a:srgbClr val="3D6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217627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809744" y="232257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1,00,000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830568" y="1115568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30568" y="1115568"/>
            <a:ext cx="2057400" cy="640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22529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Private Investment (ann.)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22008" y="1591056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159105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$216M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22008" y="18836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251192" y="18653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$150M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22008" y="2157984"/>
            <a:ext cx="1874520" cy="49377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2176272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958584" y="232257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$300M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384048" y="283464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" y="2834640"/>
            <a:ext cx="2057400" cy="64008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29443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% of GSDP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" y="3310128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33101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~7%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488" y="36027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04672" y="358444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8.5%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75488" y="3877056"/>
            <a:ext cx="1874520" cy="493776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2064" y="3895344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512064" y="404164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11%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2532888" y="283464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32888" y="2834640"/>
            <a:ext cx="2057400" cy="64008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24328" y="29443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Credit-Deposit Ratio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24328" y="3310128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70048" y="33101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53.5%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624328" y="36027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953512" y="358444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58%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2624328" y="3877056"/>
            <a:ext cx="1874520" cy="493776"/>
          </a:xfrm>
          <a:prstGeom prst="rect">
            <a:avLst/>
          </a:prstGeom>
          <a:solidFill>
            <a:srgbClr val="5A3B1A"/>
          </a:solidFill>
          <a:ln w="12700">
            <a:solidFill>
              <a:srgbClr val="5A3B1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60904" y="3895344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2660904" y="404164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65%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4681728" y="283464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81728" y="2834640"/>
            <a:ext cx="2057400" cy="64008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73168" y="29443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MSME Approval Time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73168" y="3310128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18888" y="33101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18–36 mo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73168" y="36027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102352" y="358444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days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4773168" y="3877056"/>
            <a:ext cx="1874520" cy="493776"/>
          </a:xfrm>
          <a:prstGeom prst="rect">
            <a:avLst/>
          </a:prstGeom>
          <a:solidFill>
            <a:srgbClr val="1A5A5A"/>
          </a:solidFill>
          <a:ln w="12700">
            <a:solidFill>
              <a:srgbClr val="1A5A5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09744" y="3895344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4809744" y="404164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days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6830568" y="2834640"/>
            <a:ext cx="2057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830568" y="2834640"/>
            <a:ext cx="2057400" cy="64008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22008" y="29443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2C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ITI Placement Rate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922008" y="3310128"/>
            <a:ext cx="1874520" cy="219456"/>
          </a:xfrm>
          <a:prstGeom prst="rect">
            <a:avLst/>
          </a:prstGeom>
          <a:solidFill>
            <a:srgbClr val="EDE6DC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967728" y="331012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&lt;30%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922008" y="36027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251192" y="3584448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252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922008" y="3877056"/>
            <a:ext cx="1874520" cy="493776"/>
          </a:xfrm>
          <a:prstGeom prst="rect">
            <a:avLst/>
          </a:prstGeom>
          <a:solidFill>
            <a:srgbClr val="8B2525"/>
          </a:solidFill>
          <a:ln w="12700">
            <a:solidFill>
              <a:srgbClr val="8B252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58584" y="3895344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100" kern="0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 TARGET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6958584" y="404164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4745736"/>
            <a:ext cx="8375904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without measurement is aspiration. Every KPI links to a named audience outcome — not just factory counts — with quarterly independent review.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66928"/>
            <a:ext cx="64008" cy="38404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5486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WINDOW IS OPEN —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131673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EXACTLY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 MONTHS.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2889504"/>
            <a:ext cx="411480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017520"/>
            <a:ext cx="73152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175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mandate aligns with BIPPP-2025 expiry — a successor framework must be operational before March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73152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year of stagnation adds hundreds of thousands more to the migration 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785616"/>
            <a:ext cx="73152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8561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assets are funded and live: ₹7,500 Cr, 1.4 Cr JEEViKA, Makhana Board — waiting to be wired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224528"/>
            <a:ext cx="8046720" cy="658368"/>
          </a:xfrm>
          <a:prstGeom prst="rect">
            <a:avLst/>
          </a:prstGeom>
          <a:solidFill>
            <a:srgbClr val="4A1010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51960"/>
            <a:ext cx="7863840" cy="5943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E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2.0 is not more strategy — it is the machinery to convert paper commitments into factories, and approved proposals into wages for Bihari families, in their own districts.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201168" cy="5061204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920240"/>
            <a:ext cx="8558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384048" y="2944368"/>
            <a:ext cx="27432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0632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0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tables  ·  Source references  ·  Risk register  ·  Sector deep-dives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UDAAN 2.0 — Breaking Bihar's Industrial Stagnation</dc:title>
  <dc:subject>PptxGenJS Presentation</dc:subject>
  <dc:creator>GILP 2026</dc:creator>
  <cp:lastModifiedBy>GILP 2026</cp:lastModifiedBy>
  <cp:revision>1</cp:revision>
  <dcterms:created xsi:type="dcterms:W3CDTF">2026-06-10T10:09:30Z</dcterms:created>
  <dcterms:modified xsi:type="dcterms:W3CDTF">2026-06-10T10:09:30Z</dcterms:modified>
</cp:coreProperties>
</file>