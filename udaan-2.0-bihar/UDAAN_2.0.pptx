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Bihar</c:v>
                </c:pt>
              </c:strCache>
            </c:strRef>
          </c:tx>
          <c:spPr>
            <a:solidFill>
              <a:srgbClr val="0E8C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2A43"/>
                    </a:solidFill>
                    <a:latin typeface="PT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Mfg % of GSDP</c:v>
                  </c:pt>
                  <c:pt idx="1">
                    <c:v>Mfg workforce</c:v>
                  </c:pt>
                  <c:pt idx="2">
                    <c:v>Per-capita NSDP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</c:v>
                </c:pt>
                <c:pt idx="1">
                  <c:v>48</c:v>
                </c:pt>
                <c:pt idx="2">
                  <c:v>32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0F2A43"/>
                  </a:solidFill>
                  <a:latin typeface="PT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F2A43"/>
                </a:solidFill>
                <a:latin typeface="PT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C8A"/>
                </a:solidFill>
                <a:latin typeface="PT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1.png"/><Relationship Id="rId8" Type="http://schemas.openxmlformats.org/officeDocument/2006/relationships/image" Target="../media/image-3-2.png"/><Relationship Id="rId9" Type="http://schemas.openxmlformats.org/officeDocument/2006/relationships/image" Target="../media/image-3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901F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0E8C8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DB7C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GILP FELLOWSHIP 2026   ·   GOVERNMENT OF BIHAR   ·   24-MONTH INDUSTRIAL FRAMEWORK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UDAAN </a:t>
            </a:r>
            <a:pPr indent="0" marL="0">
              <a:buNone/>
            </a:pPr>
            <a:r>
              <a:rPr lang="en-US" sz="170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2.0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3504" y="1298448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6200" spc="5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BREAKING BIHAR'S</a:t>
            </a:r>
            <a:endParaRPr lang="en-US" sz="6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6200" spc="5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INDUSTRIAL STAGNATION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640080" y="305409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6E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Unleashing District-level Agro-manufacturing &amp; Advanced iNdustrialisation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54864" cy="896112"/>
          </a:xfrm>
          <a:prstGeom prst="rect">
            <a:avLst/>
          </a:prstGeom>
          <a:solidFill>
            <a:srgbClr val="0E8C84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520440"/>
            <a:ext cx="10698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Bihar's stagnation is an execution gap, not a policy gap.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7D6E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For the first time in two decades the assets, the money and the mandate are aligned — UDAAN 2.0 wires proven models onto Bihar's own delivery rails to convert approved paper into operating factories within 24 months.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553712"/>
            <a:ext cx="3484778" cy="1097280"/>
          </a:xfrm>
          <a:prstGeom prst="roundRect">
            <a:avLst>
              <a:gd name="adj" fmla="val 5833"/>
            </a:avLst>
          </a:prstGeom>
          <a:solidFill>
            <a:srgbClr val="1B3E5C"/>
          </a:solidFill>
          <a:ln w="12700">
            <a:solidFill>
              <a:srgbClr val="2749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4553712"/>
            <a:ext cx="73152" cy="1097280"/>
          </a:xfrm>
          <a:prstGeom prst="rect">
            <a:avLst/>
          </a:prstGeom>
          <a:solidFill>
            <a:srgbClr val="E0901F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" y="4681728"/>
            <a:ext cx="3119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E0901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96112" y="5175504"/>
            <a:ext cx="3027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7D6E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mfg share of GSDP — vs 17% nationally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53458" y="4553712"/>
            <a:ext cx="3484778" cy="1097280"/>
          </a:xfrm>
          <a:prstGeom prst="roundRect">
            <a:avLst>
              <a:gd name="adj" fmla="val 5833"/>
            </a:avLst>
          </a:prstGeom>
          <a:solidFill>
            <a:srgbClr val="1B3E5C"/>
          </a:solidFill>
          <a:ln w="12700">
            <a:solidFill>
              <a:srgbClr val="2749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3458" y="4553712"/>
            <a:ext cx="73152" cy="1097280"/>
          </a:xfrm>
          <a:prstGeom prst="rect">
            <a:avLst/>
          </a:prstGeom>
          <a:solidFill>
            <a:srgbClr val="E0901F"/>
          </a:solidFill>
          <a:ln/>
        </p:spPr>
      </p:sp>
      <p:sp>
        <p:nvSpPr>
          <p:cNvPr id="16" name="Text 14"/>
          <p:cNvSpPr/>
          <p:nvPr/>
        </p:nvSpPr>
        <p:spPr>
          <a:xfrm>
            <a:off x="4591202" y="4681728"/>
            <a:ext cx="3119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E0901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~50 Mn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09490" y="5175504"/>
            <a:ext cx="3027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7D6E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out-migrants — 2x since 2005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66837" y="4553712"/>
            <a:ext cx="3484778" cy="1097280"/>
          </a:xfrm>
          <a:prstGeom prst="roundRect">
            <a:avLst>
              <a:gd name="adj" fmla="val 5833"/>
            </a:avLst>
          </a:prstGeom>
          <a:solidFill>
            <a:srgbClr val="1B3E5C"/>
          </a:solidFill>
          <a:ln w="12700">
            <a:solidFill>
              <a:srgbClr val="2749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6837" y="4553712"/>
            <a:ext cx="73152" cy="1097280"/>
          </a:xfrm>
          <a:prstGeom prst="rect">
            <a:avLst/>
          </a:prstGeom>
          <a:solidFill>
            <a:srgbClr val="E0901F"/>
          </a:solidFill>
          <a:ln/>
        </p:spPr>
      </p:sp>
      <p:sp>
        <p:nvSpPr>
          <p:cNvPr id="20" name="Text 18"/>
          <p:cNvSpPr/>
          <p:nvPr/>
        </p:nvSpPr>
        <p:spPr>
          <a:xfrm>
            <a:off x="8304581" y="4681728"/>
            <a:ext cx="3119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E0901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24 mo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322869" y="5175504"/>
            <a:ext cx="3027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7D6E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paper-to-factory delivery window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053328"/>
            <a:ext cx="12191695" cy="804672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6089904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8C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PREPARED FOR  </a:t>
            </a:r>
            <a:pPr indent="0" marL="0">
              <a:buNone/>
            </a:pPr>
            <a:r>
              <a:rPr lang="en-US" sz="1050" dirty="0">
                <a:solidFill>
                  <a:srgbClr val="AEC4D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Government of Bihar senior officials + GILP 2026 jury     </a:t>
            </a:r>
            <a:pPr indent="0" marL="0">
              <a:buNone/>
            </a:pPr>
            <a:r>
              <a:rPr lang="en-US" sz="950" b="1" spc="100" kern="0" dirty="0">
                <a:solidFill>
                  <a:srgbClr val="0E8C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TONE  </a:t>
            </a:r>
            <a:pPr indent="0" marL="0">
              <a:buNone/>
            </a:pPr>
            <a:r>
              <a:rPr lang="en-US" sz="1050" dirty="0">
                <a:solidFill>
                  <a:srgbClr val="AEC4D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Non-partisan · governance-focused · citizen-centric · execution-oriented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643737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8B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AI-usage disclosure:  </a:t>
            </a:r>
            <a:pPr indent="0" marL="0">
              <a:buNone/>
            </a:pPr>
            <a:r>
              <a:rPr lang="en-US" sz="900" i="1" dirty="0">
                <a:solidFill>
                  <a:srgbClr val="8FA8B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Drafting and layout were AI-assisted; every figure was human-verified against the cited public sources (see Slide 10 references). No data was generated by the model.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C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CONTEXT · THE CASE FOR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spc="50" kern="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THE GROWTH–DEVELOPMENT PARADOX — AND WHY NOW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311335" y="274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UDAAN </a:t>
            </a:r>
            <a:pPr algn="r" indent="0" marL="0">
              <a:buNone/>
            </a:pPr>
            <a:r>
              <a:rPr lang="en-US" sz="120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2.0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311335" y="548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01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5074920" cy="2258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4356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BIHAR vs THE NATIONAL BENCHMARK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Bihar's level as % of India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43400" y="1453896"/>
            <a:ext cx="1078992" cy="310896"/>
          </a:xfrm>
          <a:prstGeom prst="roundRect">
            <a:avLst>
              <a:gd name="adj" fmla="val 14706"/>
            </a:avLst>
          </a:prstGeom>
          <a:solidFill>
            <a:srgbClr val="FBEBD3"/>
          </a:solidFill>
          <a:ln w="12700">
            <a:solidFill>
              <a:srgbClr val="E090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45389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INDIA = 100</a:t>
            </a:r>
            <a:endParaRPr lang="en-US" sz="9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94360" y="1892808"/>
          <a:ext cx="4846320" cy="15453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5852160" y="1325880"/>
            <a:ext cx="280400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52160" y="1325880"/>
            <a:ext cx="2804008" cy="82296"/>
          </a:xfrm>
          <a:prstGeom prst="rect">
            <a:avLst/>
          </a:prstGeom>
          <a:solidFill>
            <a:srgbClr val="0E8C84"/>
          </a:solidFill>
          <a:ln/>
        </p:spPr>
      </p:sp>
      <p:sp>
        <p:nvSpPr>
          <p:cNvPr id="14" name="Text 11"/>
          <p:cNvSpPr/>
          <p:nvPr/>
        </p:nvSpPr>
        <p:spPr>
          <a:xfrm>
            <a:off x="6016752" y="1481328"/>
            <a:ext cx="2529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8.6%</a:t>
            </a:r>
            <a:pPr algn="l" indent="0" marL="0">
              <a:buNone/>
            </a:pPr>
            <a:r>
              <a:rPr lang="en-US" sz="1200" b="1" dirty="0">
                <a:solidFill>
                  <a:srgbClr val="0E8C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real growth</a:t>
            </a:r>
            <a:endParaRPr lang="en-US" sz="3300" dirty="0"/>
          </a:p>
        </p:txBody>
      </p:sp>
      <p:sp>
        <p:nvSpPr>
          <p:cNvPr id="15" name="Text 12"/>
          <p:cNvSpPr/>
          <p:nvPr/>
        </p:nvSpPr>
        <p:spPr>
          <a:xfrm>
            <a:off x="6016752" y="2011680"/>
            <a:ext cx="251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Among India's fastest (vs 6.5% national) — GSDP Rs 9,91,997 cr in 2024-25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8884768" y="1325880"/>
            <a:ext cx="280400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884768" y="1325880"/>
            <a:ext cx="2804008" cy="82296"/>
          </a:xfrm>
          <a:prstGeom prst="rect">
            <a:avLst/>
          </a:prstGeom>
          <a:solidFill>
            <a:srgbClr val="E0901F"/>
          </a:solidFill>
          <a:ln/>
        </p:spPr>
      </p:sp>
      <p:sp>
        <p:nvSpPr>
          <p:cNvPr id="18" name="Text 15"/>
          <p:cNvSpPr/>
          <p:nvPr/>
        </p:nvSpPr>
        <p:spPr>
          <a:xfrm>
            <a:off x="9049360" y="1481328"/>
            <a:ext cx="2529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31.7%</a:t>
            </a:r>
            <a:pPr algn="l" indent="0" marL="0">
              <a:buNone/>
            </a:pPr>
            <a:r>
              <a:rPr lang="en-US" sz="120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of national</a:t>
            </a:r>
            <a:endParaRPr lang="en-US" sz="3300" dirty="0"/>
          </a:p>
        </p:txBody>
      </p:sp>
      <p:sp>
        <p:nvSpPr>
          <p:cNvPr id="19" name="Text 16"/>
          <p:cNvSpPr/>
          <p:nvPr/>
        </p:nvSpPr>
        <p:spPr>
          <a:xfrm>
            <a:off x="9049360" y="2011680"/>
            <a:ext cx="251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Per-capita NSDP just Rs 36,342 vs ~Rs 1,14,500 — fast growth, stalled development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5852160" y="2743200"/>
            <a:ext cx="5836615" cy="841248"/>
          </a:xfrm>
          <a:prstGeom prst="rect">
            <a:avLst/>
          </a:prstGeom>
          <a:solidFill>
            <a:srgbClr val="E7ECF1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35040" y="2743200"/>
            <a:ext cx="5470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Industry never arrived.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Registered factories </a:t>
            </a:r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3,623 (FY16) → 3,307 (FY23)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·    FDI Oct-2019–Dec-2024 only </a:t>
            </a:r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$215.76 Mn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·    mfg workforce </a:t>
            </a:r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5.7% vs ~12%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02920" y="3712464"/>
            <a:ext cx="11185855" cy="566928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02920" y="3712464"/>
            <a:ext cx="82296" cy="566928"/>
          </a:xfrm>
          <a:prstGeom prst="rect">
            <a:avLst/>
          </a:prstGeom>
          <a:solidFill>
            <a:srgbClr val="E0901F"/>
          </a:solidFill>
          <a:ln/>
        </p:spPr>
      </p:sp>
      <p:sp>
        <p:nvSpPr>
          <p:cNvPr id="24" name="Shape 21"/>
          <p:cNvSpPr/>
          <p:nvPr/>
        </p:nvSpPr>
        <p:spPr>
          <a:xfrm>
            <a:off x="704088" y="3831336"/>
            <a:ext cx="329184" cy="329184"/>
          </a:xfrm>
          <a:prstGeom prst="ellipse">
            <a:avLst/>
          </a:prstGeom>
          <a:solidFill>
            <a:srgbClr val="E0901F"/>
          </a:solidFill>
          <a:ln/>
        </p:spPr>
      </p:sp>
      <p:pic>
        <p:nvPicPr>
          <p:cNvPr id="25" name="Image 0" descr="/workspace/deck/assets/walk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508" y="3903756"/>
            <a:ext cx="184343" cy="18434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43000" y="3712464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cost is human export: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~50 Mn Biharis out-migrate (2x since 2005); remittances are the primary income for half of all rural households.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02920" y="442569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WHY NOW — ASSETS, MONEY &amp; MANDATE ARE ALIGNED FOR THE FIRST TIME IN TWO DECADES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502920" y="4700016"/>
            <a:ext cx="2090867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02920" y="4700016"/>
            <a:ext cx="2090867" cy="64008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0" name="Shape 26"/>
          <p:cNvSpPr/>
          <p:nvPr/>
        </p:nvSpPr>
        <p:spPr>
          <a:xfrm>
            <a:off x="649224" y="4864608"/>
            <a:ext cx="420624" cy="420624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31" name="Image 1" descr="/workspace/deck/assets/vo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74" y="4965558"/>
            <a:ext cx="218724" cy="21872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143000" y="4846320"/>
            <a:ext cx="13593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7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Stable 5-yr mandate</a:t>
            </a:r>
            <a:endParaRPr lang="en-US" sz="970" dirty="0"/>
          </a:p>
        </p:txBody>
      </p:sp>
      <p:sp>
        <p:nvSpPr>
          <p:cNvPr id="33" name="Text 28"/>
          <p:cNvSpPr/>
          <p:nvPr/>
        </p:nvSpPr>
        <p:spPr>
          <a:xfrm>
            <a:off x="630936" y="5303520"/>
            <a:ext cx="18348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2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Nov 2025, 200+/243 — jobs + women's livelihoods</a:t>
            </a:r>
            <a:endParaRPr lang="en-US" sz="820" dirty="0"/>
          </a:p>
        </p:txBody>
      </p:sp>
      <p:sp>
        <p:nvSpPr>
          <p:cNvPr id="34" name="Shape 29"/>
          <p:cNvSpPr/>
          <p:nvPr/>
        </p:nvSpPr>
        <p:spPr>
          <a:xfrm>
            <a:off x="2776667" y="4700016"/>
            <a:ext cx="2090867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2776667" y="4700016"/>
            <a:ext cx="2090867" cy="64008"/>
          </a:xfrm>
          <a:prstGeom prst="rect">
            <a:avLst/>
          </a:prstGeom>
          <a:solidFill>
            <a:srgbClr val="0E8C84"/>
          </a:solidFill>
          <a:ln/>
        </p:spPr>
      </p:sp>
      <p:sp>
        <p:nvSpPr>
          <p:cNvPr id="36" name="Shape 31"/>
          <p:cNvSpPr/>
          <p:nvPr/>
        </p:nvSpPr>
        <p:spPr>
          <a:xfrm>
            <a:off x="2922971" y="4864608"/>
            <a:ext cx="420624" cy="420624"/>
          </a:xfrm>
          <a:prstGeom prst="ellipse">
            <a:avLst/>
          </a:prstGeom>
          <a:solidFill>
            <a:srgbClr val="0E8C84"/>
          </a:solidFill>
          <a:ln/>
        </p:spPr>
      </p:sp>
      <p:pic>
        <p:nvPicPr>
          <p:cNvPr id="37" name="Image 2" descr="/workspace/deck/assets/handmone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3921" y="4965558"/>
            <a:ext cx="218724" cy="21872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3416747" y="4846320"/>
            <a:ext cx="13593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7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Rs 7,500-cr MMRY</a:t>
            </a:r>
            <a:endParaRPr lang="en-US" sz="970" dirty="0"/>
          </a:p>
        </p:txBody>
      </p:sp>
      <p:sp>
        <p:nvSpPr>
          <p:cNvPr id="39" name="Text 33"/>
          <p:cNvSpPr/>
          <p:nvPr/>
        </p:nvSpPr>
        <p:spPr>
          <a:xfrm>
            <a:off x="2904683" y="5303520"/>
            <a:ext cx="18348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2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Rs 10,000 seed to ~1 cr+ women; up to Rs 2 L follow-on</a:t>
            </a:r>
            <a:endParaRPr lang="en-US" sz="820" dirty="0"/>
          </a:p>
        </p:txBody>
      </p:sp>
      <p:sp>
        <p:nvSpPr>
          <p:cNvPr id="40" name="Shape 34"/>
          <p:cNvSpPr/>
          <p:nvPr/>
        </p:nvSpPr>
        <p:spPr>
          <a:xfrm>
            <a:off x="5050414" y="4700016"/>
            <a:ext cx="2090867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5050414" y="4700016"/>
            <a:ext cx="2090867" cy="64008"/>
          </a:xfrm>
          <a:prstGeom prst="rect">
            <a:avLst/>
          </a:prstGeom>
          <a:solidFill>
            <a:srgbClr val="0E8C84"/>
          </a:solidFill>
          <a:ln/>
        </p:spPr>
      </p:sp>
      <p:sp>
        <p:nvSpPr>
          <p:cNvPr id="42" name="Shape 36"/>
          <p:cNvSpPr/>
          <p:nvPr/>
        </p:nvSpPr>
        <p:spPr>
          <a:xfrm>
            <a:off x="5196718" y="4864608"/>
            <a:ext cx="420624" cy="420624"/>
          </a:xfrm>
          <a:prstGeom prst="ellipse">
            <a:avLst/>
          </a:prstGeom>
          <a:solidFill>
            <a:srgbClr val="0E8C84"/>
          </a:solidFill>
          <a:ln/>
        </p:spPr>
      </p:sp>
      <p:pic>
        <p:nvPicPr>
          <p:cNvPr id="43" name="Image 3" descr="/workspace/deck/assets/seedlin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7668" y="4965558"/>
            <a:ext cx="218724" cy="218724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690494" y="4846320"/>
            <a:ext cx="13593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7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National Makhana Board</a:t>
            </a:r>
            <a:endParaRPr lang="en-US" sz="970" dirty="0"/>
          </a:p>
        </p:txBody>
      </p:sp>
      <p:sp>
        <p:nvSpPr>
          <p:cNvPr id="45" name="Text 38"/>
          <p:cNvSpPr/>
          <p:nvPr/>
        </p:nvSpPr>
        <p:spPr>
          <a:xfrm>
            <a:off x="5178430" y="5303520"/>
            <a:ext cx="18348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2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Rs 476-cr scheme; Bihar = ~90% of India's makhana</a:t>
            </a:r>
            <a:endParaRPr lang="en-US" sz="820" dirty="0"/>
          </a:p>
        </p:txBody>
      </p:sp>
      <p:sp>
        <p:nvSpPr>
          <p:cNvPr id="46" name="Shape 39"/>
          <p:cNvSpPr/>
          <p:nvPr/>
        </p:nvSpPr>
        <p:spPr>
          <a:xfrm>
            <a:off x="7324161" y="4700016"/>
            <a:ext cx="2090867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47" name="Shape 40"/>
          <p:cNvSpPr/>
          <p:nvPr/>
        </p:nvSpPr>
        <p:spPr>
          <a:xfrm>
            <a:off x="7324161" y="4700016"/>
            <a:ext cx="2090867" cy="64008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48" name="Shape 41"/>
          <p:cNvSpPr/>
          <p:nvPr/>
        </p:nvSpPr>
        <p:spPr>
          <a:xfrm>
            <a:off x="7470465" y="4864608"/>
            <a:ext cx="420624" cy="420624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49" name="Image 4" descr="/workspace/deck/assets/plan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415" y="4965558"/>
            <a:ext cx="218724" cy="218724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7964241" y="4846320"/>
            <a:ext cx="13593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7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Anchor infra funded</a:t>
            </a:r>
            <a:endParaRPr lang="en-US" sz="970" dirty="0"/>
          </a:p>
        </p:txBody>
      </p:sp>
      <p:sp>
        <p:nvSpPr>
          <p:cNvPr id="51" name="Text 43"/>
          <p:cNvSpPr/>
          <p:nvPr/>
        </p:nvSpPr>
        <p:spPr>
          <a:xfrm>
            <a:off x="7452177" y="5303520"/>
            <a:ext cx="18348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2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NIFTEM, AKIC-Gaya, Purnea+Bihta airports, Pirpainti</a:t>
            </a:r>
            <a:endParaRPr lang="en-US" sz="820" dirty="0"/>
          </a:p>
        </p:txBody>
      </p:sp>
      <p:sp>
        <p:nvSpPr>
          <p:cNvPr id="52" name="Shape 44"/>
          <p:cNvSpPr/>
          <p:nvPr/>
        </p:nvSpPr>
        <p:spPr>
          <a:xfrm>
            <a:off x="9597908" y="4700016"/>
            <a:ext cx="2090867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53" name="Shape 45"/>
          <p:cNvSpPr/>
          <p:nvPr/>
        </p:nvSpPr>
        <p:spPr>
          <a:xfrm>
            <a:off x="9597908" y="4700016"/>
            <a:ext cx="2090867" cy="64008"/>
          </a:xfrm>
          <a:prstGeom prst="rect">
            <a:avLst/>
          </a:prstGeom>
          <a:solidFill>
            <a:srgbClr val="E0901F"/>
          </a:solidFill>
          <a:ln/>
        </p:spPr>
      </p:sp>
      <p:sp>
        <p:nvSpPr>
          <p:cNvPr id="54" name="Shape 46"/>
          <p:cNvSpPr/>
          <p:nvPr/>
        </p:nvSpPr>
        <p:spPr>
          <a:xfrm>
            <a:off x="9744212" y="4864608"/>
            <a:ext cx="420624" cy="420624"/>
          </a:xfrm>
          <a:prstGeom prst="ellipse">
            <a:avLst/>
          </a:prstGeom>
          <a:solidFill>
            <a:srgbClr val="E0901F"/>
          </a:solidFill>
          <a:ln/>
        </p:spPr>
      </p:sp>
      <p:pic>
        <p:nvPicPr>
          <p:cNvPr id="55" name="Image 5" descr="/workspace/deck/assets/hourglass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5162" y="4965558"/>
            <a:ext cx="218724" cy="218724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10237988" y="4846320"/>
            <a:ext cx="13593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7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BIPPP-2025 expires Mar-26</a:t>
            </a:r>
            <a:endParaRPr lang="en-US" sz="970" dirty="0"/>
          </a:p>
        </p:txBody>
      </p:sp>
      <p:sp>
        <p:nvSpPr>
          <p:cNvPr id="57" name="Text 48"/>
          <p:cNvSpPr/>
          <p:nvPr/>
        </p:nvSpPr>
        <p:spPr>
          <a:xfrm>
            <a:off x="9725924" y="5303520"/>
            <a:ext cx="18348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2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Policy window open — a successor is needed now</a:t>
            </a:r>
            <a:endParaRPr lang="en-US" sz="820" dirty="0"/>
          </a:p>
        </p:txBody>
      </p:sp>
      <p:sp>
        <p:nvSpPr>
          <p:cNvPr id="58" name="Text 49"/>
          <p:cNvSpPr/>
          <p:nvPr/>
        </p:nvSpPr>
        <p:spPr>
          <a:xfrm>
            <a:off x="502920" y="59618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WHO THIS SERVES:</a:t>
            </a:r>
            <a:endParaRPr lang="en-US" sz="850" dirty="0"/>
          </a:p>
        </p:txBody>
      </p:sp>
      <p:sp>
        <p:nvSpPr>
          <p:cNvPr id="59" name="Shape 50"/>
          <p:cNvSpPr/>
          <p:nvPr/>
        </p:nvSpPr>
        <p:spPr>
          <a:xfrm>
            <a:off x="2103120" y="5980176"/>
            <a:ext cx="292608" cy="292608"/>
          </a:xfrm>
          <a:prstGeom prst="ellipse">
            <a:avLst/>
          </a:prstGeom>
          <a:solidFill>
            <a:srgbClr val="E4F1F0"/>
          </a:solidFill>
          <a:ln/>
        </p:spPr>
      </p:sp>
      <p:pic>
        <p:nvPicPr>
          <p:cNvPr id="60" name="Image 6" descr="/workspace/deck/assets/walking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61642" y="6038698"/>
            <a:ext cx="175565" cy="175565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2432304" y="5961888"/>
            <a:ext cx="10401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Migrant / returnee ~50 Mn</a:t>
            </a:r>
            <a:endParaRPr lang="en-US" sz="780" dirty="0"/>
          </a:p>
        </p:txBody>
      </p:sp>
      <p:sp>
        <p:nvSpPr>
          <p:cNvPr id="62" name="Shape 52"/>
          <p:cNvSpPr/>
          <p:nvPr/>
        </p:nvSpPr>
        <p:spPr>
          <a:xfrm>
            <a:off x="3472499" y="5980176"/>
            <a:ext cx="292608" cy="292608"/>
          </a:xfrm>
          <a:prstGeom prst="ellipse">
            <a:avLst/>
          </a:prstGeom>
          <a:solidFill>
            <a:srgbClr val="E4F1F0"/>
          </a:solidFill>
          <a:ln/>
        </p:spPr>
      </p:sp>
      <p:pic>
        <p:nvPicPr>
          <p:cNvPr id="63" name="Image 7" descr="/workspace/deck/assets/female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1021" y="6038698"/>
            <a:ext cx="175565" cy="175565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3801683" y="5961888"/>
            <a:ext cx="10401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JEEViKA Didi ~1.4 cr</a:t>
            </a:r>
            <a:endParaRPr lang="en-US" sz="780" dirty="0"/>
          </a:p>
        </p:txBody>
      </p:sp>
      <p:sp>
        <p:nvSpPr>
          <p:cNvPr id="65" name="Shape 54"/>
          <p:cNvSpPr/>
          <p:nvPr/>
        </p:nvSpPr>
        <p:spPr>
          <a:xfrm>
            <a:off x="4841879" y="5980176"/>
            <a:ext cx="292608" cy="292608"/>
          </a:xfrm>
          <a:prstGeom prst="ellipse">
            <a:avLst/>
          </a:prstGeom>
          <a:solidFill>
            <a:srgbClr val="E4F1F0"/>
          </a:solidFill>
          <a:ln/>
        </p:spPr>
      </p:sp>
      <p:pic>
        <p:nvPicPr>
          <p:cNvPr id="66" name="Image 8" descr="/workspace/deck/assets/tractor_t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00400" y="6038698"/>
            <a:ext cx="175565" cy="175565"/>
          </a:xfrm>
          <a:prstGeom prst="rect">
            <a:avLst/>
          </a:prstGeom>
        </p:spPr>
      </p:pic>
      <p:sp>
        <p:nvSpPr>
          <p:cNvPr id="67" name="Text 55"/>
          <p:cNvSpPr/>
          <p:nvPr/>
        </p:nvSpPr>
        <p:spPr>
          <a:xfrm>
            <a:off x="5171063" y="5961888"/>
            <a:ext cx="10401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Marginal farmer 0.39 ha</a:t>
            </a:r>
            <a:endParaRPr lang="en-US" sz="780" dirty="0"/>
          </a:p>
        </p:txBody>
      </p:sp>
      <p:sp>
        <p:nvSpPr>
          <p:cNvPr id="68" name="Shape 56"/>
          <p:cNvSpPr/>
          <p:nvPr/>
        </p:nvSpPr>
        <p:spPr>
          <a:xfrm>
            <a:off x="6211258" y="5980176"/>
            <a:ext cx="292608" cy="292608"/>
          </a:xfrm>
          <a:prstGeom prst="ellipse">
            <a:avLst/>
          </a:prstGeom>
          <a:solidFill>
            <a:srgbClr val="E4F1F0"/>
          </a:solidFill>
          <a:ln/>
        </p:spPr>
      </p:sp>
      <p:pic>
        <p:nvPicPr>
          <p:cNvPr id="69" name="Image 9" descr="/workspace/deck/assets/grad_tea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9780" y="6038698"/>
            <a:ext cx="175565" cy="175565"/>
          </a:xfrm>
          <a:prstGeom prst="rect">
            <a:avLst/>
          </a:prstGeom>
        </p:spPr>
      </p:pic>
      <p:sp>
        <p:nvSpPr>
          <p:cNvPr id="70" name="Text 57"/>
          <p:cNvSpPr/>
          <p:nvPr/>
        </p:nvSpPr>
        <p:spPr>
          <a:xfrm>
            <a:off x="6540442" y="5961888"/>
            <a:ext cx="10401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ITI youth 58% &lt;30</a:t>
            </a:r>
            <a:endParaRPr lang="en-US" sz="780" dirty="0"/>
          </a:p>
        </p:txBody>
      </p:sp>
      <p:sp>
        <p:nvSpPr>
          <p:cNvPr id="71" name="Shape 58"/>
          <p:cNvSpPr/>
          <p:nvPr/>
        </p:nvSpPr>
        <p:spPr>
          <a:xfrm>
            <a:off x="7580637" y="5980176"/>
            <a:ext cx="292608" cy="292608"/>
          </a:xfrm>
          <a:prstGeom prst="ellipse">
            <a:avLst/>
          </a:prstGeom>
          <a:solidFill>
            <a:srgbClr val="E4F1F0"/>
          </a:solidFill>
          <a:ln/>
        </p:spPr>
      </p:sp>
      <p:pic>
        <p:nvPicPr>
          <p:cNvPr id="72" name="Image 10" descr="/workspace/deck/assets/globe_teal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39159" y="6038698"/>
            <a:ext cx="175565" cy="175565"/>
          </a:xfrm>
          <a:prstGeom prst="rect">
            <a:avLst/>
          </a:prstGeom>
        </p:spPr>
      </p:pic>
      <p:sp>
        <p:nvSpPr>
          <p:cNvPr id="73" name="Text 59"/>
          <p:cNvSpPr/>
          <p:nvPr/>
        </p:nvSpPr>
        <p:spPr>
          <a:xfrm>
            <a:off x="7909821" y="5961888"/>
            <a:ext cx="10401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Skilled diaspora</a:t>
            </a:r>
            <a:endParaRPr lang="en-US" sz="780" dirty="0"/>
          </a:p>
        </p:txBody>
      </p:sp>
      <p:sp>
        <p:nvSpPr>
          <p:cNvPr id="74" name="Shape 60"/>
          <p:cNvSpPr/>
          <p:nvPr/>
        </p:nvSpPr>
        <p:spPr>
          <a:xfrm>
            <a:off x="8950017" y="5980176"/>
            <a:ext cx="292608" cy="292608"/>
          </a:xfrm>
          <a:prstGeom prst="ellipse">
            <a:avLst/>
          </a:prstGeom>
          <a:solidFill>
            <a:srgbClr val="E4F1F0"/>
          </a:solidFill>
          <a:ln/>
        </p:spPr>
      </p:sp>
      <p:pic>
        <p:nvPicPr>
          <p:cNvPr id="75" name="Image 11" descr="/workspace/deck/assets/hands_teal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08538" y="6038698"/>
            <a:ext cx="175565" cy="175565"/>
          </a:xfrm>
          <a:prstGeom prst="rect">
            <a:avLst/>
          </a:prstGeom>
        </p:spPr>
      </p:pic>
      <p:sp>
        <p:nvSpPr>
          <p:cNvPr id="76" name="Text 61"/>
          <p:cNvSpPr/>
          <p:nvPr/>
        </p:nvSpPr>
        <p:spPr>
          <a:xfrm>
            <a:off x="9279201" y="5961888"/>
            <a:ext cx="10401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Weaver / artisan (GI)</a:t>
            </a:r>
            <a:endParaRPr lang="en-US" sz="780" dirty="0"/>
          </a:p>
        </p:txBody>
      </p:sp>
      <p:sp>
        <p:nvSpPr>
          <p:cNvPr id="77" name="Shape 62"/>
          <p:cNvSpPr/>
          <p:nvPr/>
        </p:nvSpPr>
        <p:spPr>
          <a:xfrm>
            <a:off x="10319396" y="5980176"/>
            <a:ext cx="292608" cy="292608"/>
          </a:xfrm>
          <a:prstGeom prst="ellipse">
            <a:avLst/>
          </a:prstGeom>
          <a:solidFill>
            <a:srgbClr val="E4F1F0"/>
          </a:solidFill>
          <a:ln/>
        </p:spPr>
      </p:sp>
      <p:pic>
        <p:nvPicPr>
          <p:cNvPr id="78" name="Image 12" descr="/workspace/deck/assets/store_teal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7917" y="6038698"/>
            <a:ext cx="175565" cy="175565"/>
          </a:xfrm>
          <a:prstGeom prst="rect">
            <a:avLst/>
          </a:prstGeom>
        </p:spPr>
      </p:pic>
      <p:sp>
        <p:nvSpPr>
          <p:cNvPr id="79" name="Text 63"/>
          <p:cNvSpPr/>
          <p:nvPr/>
        </p:nvSpPr>
        <p:spPr>
          <a:xfrm>
            <a:off x="10648580" y="5961888"/>
            <a:ext cx="10401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MSME 53.5% C-D</a:t>
            </a:r>
            <a:endParaRPr lang="en-US" sz="780" dirty="0"/>
          </a:p>
        </p:txBody>
      </p:sp>
      <p:sp>
        <p:nvSpPr>
          <p:cNvPr id="80" name="Text 64"/>
          <p:cNvSpPr/>
          <p:nvPr/>
        </p:nvSpPr>
        <p:spPr>
          <a:xfrm>
            <a:off x="502920" y="652881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Source:  </a:t>
            </a:r>
            <a:pPr algn="l" indent="0" marL="0">
              <a:buNone/>
            </a:pPr>
            <a:r>
              <a:rPr lang="en-US" sz="85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Bihar Economic Survey 2025-26; ECI Bihar 2025; PIB (MMRY, JEEViKA Nidhi, National Makhana Board); Union Budget 2025-26; IBEF / Invest India; Census 2011 / Journal of Migration Affairs.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C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ROOT-CAUSE ANALYSIS · 1 OF 2 · THE DIAGNOSTIC CORE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spc="50" kern="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THE SYSTEM — SIX BOTTLENECKS THAT FEED EACH OTHER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311335" y="274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UDAAN </a:t>
            </a:r>
            <a:pPr algn="r" indent="0" marL="0">
              <a:buNone/>
            </a:pPr>
            <a:r>
              <a:rPr lang="en-US" sz="120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2.0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311335" y="548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02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9436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481328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REINFORCING SYSTEM — NOT SIX SEPARATE PROBLEMS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0" y="2542032"/>
            <a:ext cx="0" cy="484632"/>
          </a:xfrm>
          <a:prstGeom prst="line">
            <a:avLst/>
          </a:prstGeom>
          <a:noFill/>
          <a:ln w="19050">
            <a:solidFill>
              <a:srgbClr val="CBD5D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884933" y="2978656"/>
            <a:ext cx="-282471" cy="391919"/>
          </a:xfrm>
          <a:prstGeom prst="line">
            <a:avLst/>
          </a:prstGeom>
          <a:noFill/>
          <a:ln w="19050">
            <a:solidFill>
              <a:srgbClr val="CBD5D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84933" y="4080512"/>
            <a:ext cx="-282471" cy="-391919"/>
          </a:xfrm>
          <a:prstGeom prst="line">
            <a:avLst/>
          </a:prstGeom>
          <a:noFill/>
          <a:ln w="19050">
            <a:solidFill>
              <a:srgbClr val="CBD5D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74720" y="4517136"/>
            <a:ext cx="0" cy="-484632"/>
          </a:xfrm>
          <a:prstGeom prst="line">
            <a:avLst/>
          </a:prstGeom>
          <a:noFill/>
          <a:ln w="19050">
            <a:solidFill>
              <a:srgbClr val="CBD5D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064507" y="4080512"/>
            <a:ext cx="282471" cy="-391919"/>
          </a:xfrm>
          <a:prstGeom prst="line">
            <a:avLst/>
          </a:prstGeom>
          <a:noFill/>
          <a:ln w="19050">
            <a:solidFill>
              <a:srgbClr val="CBD5DD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064507" y="2978656"/>
            <a:ext cx="282471" cy="391919"/>
          </a:xfrm>
          <a:prstGeom prst="line">
            <a:avLst/>
          </a:prstGeom>
          <a:noFill/>
          <a:ln w="28575">
            <a:solidFill>
              <a:srgbClr val="E0901F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225296" y="2231136"/>
            <a:ext cx="4498848" cy="2596896"/>
          </a:xfrm>
          <a:prstGeom prst="ellipse">
            <a:avLst/>
          </a:prstGeom>
          <a:ln w="12700">
            <a:solidFill>
              <a:srgbClr val="0E8C84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766060" y="1956816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0F2A43"/>
          </a:solidFill>
          <a:ln/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pic>
        <p:nvPicPr>
          <p:cNvPr id="16" name="Image 0" descr="/workspace/deck/assets/map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5788" y="2121408"/>
            <a:ext cx="21945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150108" y="1956816"/>
            <a:ext cx="97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LAND</a:t>
            </a:r>
            <a:endParaRPr lang="en-US" sz="870" dirty="0"/>
          </a:p>
        </p:txBody>
      </p:sp>
      <p:sp>
        <p:nvSpPr>
          <p:cNvPr id="18" name="Shape 15"/>
          <p:cNvSpPr/>
          <p:nvPr/>
        </p:nvSpPr>
        <p:spPr>
          <a:xfrm>
            <a:off x="4714118" y="2606040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0F2A43"/>
          </a:solidFill>
          <a:ln/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pic>
        <p:nvPicPr>
          <p:cNvPr id="19" name="Image 1" descr="/workspace/deck/assets/bo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846" y="2770632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098166" y="2606040"/>
            <a:ext cx="97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POWER</a:t>
            </a:r>
            <a:endParaRPr lang="en-US" sz="870" dirty="0"/>
          </a:p>
        </p:txBody>
      </p:sp>
      <p:sp>
        <p:nvSpPr>
          <p:cNvPr id="21" name="Shape 17"/>
          <p:cNvSpPr/>
          <p:nvPr/>
        </p:nvSpPr>
        <p:spPr>
          <a:xfrm>
            <a:off x="4714118" y="3904488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0F2A43"/>
          </a:solidFill>
          <a:ln/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pic>
        <p:nvPicPr>
          <p:cNvPr id="22" name="Image 2" descr="/workspace/deck/assets/ban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846" y="4069080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98166" y="3904488"/>
            <a:ext cx="97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FINANCE</a:t>
            </a:r>
            <a:endParaRPr lang="en-US" sz="870" dirty="0"/>
          </a:p>
        </p:txBody>
      </p:sp>
      <p:sp>
        <p:nvSpPr>
          <p:cNvPr id="24" name="Shape 19"/>
          <p:cNvSpPr/>
          <p:nvPr/>
        </p:nvSpPr>
        <p:spPr>
          <a:xfrm>
            <a:off x="2766060" y="4553712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0F2A43"/>
          </a:solidFill>
          <a:ln/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pic>
        <p:nvPicPr>
          <p:cNvPr id="25" name="Image 3" descr="/workspace/deck/assets/gra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5788" y="4718304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150108" y="4553712"/>
            <a:ext cx="97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SKILLS</a:t>
            </a:r>
            <a:endParaRPr lang="en-US" sz="870" dirty="0"/>
          </a:p>
        </p:txBody>
      </p:sp>
      <p:sp>
        <p:nvSpPr>
          <p:cNvPr id="27" name="Shape 21"/>
          <p:cNvSpPr/>
          <p:nvPr/>
        </p:nvSpPr>
        <p:spPr>
          <a:xfrm>
            <a:off x="818002" y="3904488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0F2A43"/>
          </a:solidFill>
          <a:ln/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pic>
        <p:nvPicPr>
          <p:cNvPr id="28" name="Image 4" descr="/workspace/deck/assets/tru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730" y="4069080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02050" y="3904488"/>
            <a:ext cx="97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LOGISTICS</a:t>
            </a:r>
            <a:endParaRPr lang="en-US" sz="870" dirty="0"/>
          </a:p>
        </p:txBody>
      </p:sp>
      <p:sp>
        <p:nvSpPr>
          <p:cNvPr id="30" name="Shape 23"/>
          <p:cNvSpPr/>
          <p:nvPr/>
        </p:nvSpPr>
        <p:spPr>
          <a:xfrm>
            <a:off x="818002" y="2606040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E0901F"/>
          </a:solidFill>
          <a:ln/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pic>
        <p:nvPicPr>
          <p:cNvPr id="31" name="Image 5" descr="/workspace/deck/assets/balanc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730" y="2770632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202050" y="2606040"/>
            <a:ext cx="97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GOVERNANCE</a:t>
            </a:r>
            <a:endParaRPr lang="en-US" sz="870" dirty="0"/>
          </a:p>
        </p:txBody>
      </p:sp>
      <p:sp>
        <p:nvSpPr>
          <p:cNvPr id="33" name="Shape 25"/>
          <p:cNvSpPr/>
          <p:nvPr/>
        </p:nvSpPr>
        <p:spPr>
          <a:xfrm>
            <a:off x="2331720" y="3081528"/>
            <a:ext cx="2286000" cy="896112"/>
          </a:xfrm>
          <a:prstGeom prst="roundRect">
            <a:avLst>
              <a:gd name="adj" fmla="val 7143"/>
            </a:avLst>
          </a:prstGeom>
          <a:solidFill>
            <a:srgbClr val="0F2A43"/>
          </a:solidFill>
          <a:ln w="25400">
            <a:solidFill>
              <a:srgbClr val="E0901F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6000"/>
              </a:srgbClr>
            </a:outerShdw>
          </a:effectLst>
        </p:spPr>
      </p:sp>
      <p:sp>
        <p:nvSpPr>
          <p:cNvPr id="34" name="Text 26"/>
          <p:cNvSpPr/>
          <p:nvPr/>
        </p:nvSpPr>
        <p:spPr>
          <a:xfrm>
            <a:off x="2377440" y="3081528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STALLED</a:t>
            </a:r>
            <a:endParaRPr lang="en-US" sz="10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INDUSTRIALISATION</a:t>
            </a:r>
            <a:endParaRPr lang="en-US" sz="10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+ OUT-MIGRATION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685800" y="5276088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8C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—— </a:t>
            </a:r>
            <a:pPr indent="0" marL="0">
              <a:buNone/>
            </a:pPr>
            <a:r>
              <a:rPr lang="en-US" sz="8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reinforcing cycle      </a:t>
            </a:r>
            <a:pPr indent="0" marL="0">
              <a:buNone/>
            </a:pPr>
            <a:r>
              <a:rPr lang="en-US" sz="80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▲ </a:t>
            </a:r>
            <a:pPr indent="0" marL="0">
              <a:buNone/>
            </a:pPr>
            <a:r>
              <a:rPr lang="en-US" sz="8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Governance is the meta-constraint (feeds all)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6720840" y="1371600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HARD-INFRASTRUCTURE GAPS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6720840" y="1700784"/>
            <a:ext cx="4967935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6720840" y="1700784"/>
            <a:ext cx="82296" cy="1078992"/>
          </a:xfrm>
          <a:prstGeom prst="rect">
            <a:avLst/>
          </a:prstGeom>
          <a:solidFill>
            <a:srgbClr val="0E8C84"/>
          </a:solidFill>
          <a:ln/>
        </p:spPr>
      </p:sp>
      <p:sp>
        <p:nvSpPr>
          <p:cNvPr id="39" name="Shape 31"/>
          <p:cNvSpPr/>
          <p:nvPr/>
        </p:nvSpPr>
        <p:spPr>
          <a:xfrm>
            <a:off x="6922008" y="1883664"/>
            <a:ext cx="475488" cy="47548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40" name="Image 6" descr="/workspace/deck/assets/mapmar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6125" y="1997781"/>
            <a:ext cx="247254" cy="24725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507224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50" kern="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LAND</a:t>
            </a:r>
            <a:endParaRPr lang="en-US" sz="1900" dirty="0"/>
          </a:p>
        </p:txBody>
      </p:sp>
      <p:sp>
        <p:nvSpPr>
          <p:cNvPr id="42" name="Text 33"/>
          <p:cNvSpPr/>
          <p:nvPr/>
        </p:nvSpPr>
        <p:spPr>
          <a:xfrm>
            <a:off x="7507224" y="2103120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18–36-month conversion vs 3–6 in Gujarat / TN</a:t>
            </a:r>
            <a:endParaRPr lang="en-US" sz="1050" dirty="0"/>
          </a:p>
        </p:txBody>
      </p:sp>
      <p:sp>
        <p:nvSpPr>
          <p:cNvPr id="43" name="Text 34"/>
          <p:cNvSpPr/>
          <p:nvPr/>
        </p:nvSpPr>
        <p:spPr>
          <a:xfrm>
            <a:off x="6922008" y="2377440"/>
            <a:ext cx="46570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Fragmented 0.39-ha holdings · flood-prone · acquisition unreformed</a:t>
            </a:r>
            <a:endParaRPr lang="en-US" sz="880" dirty="0"/>
          </a:p>
        </p:txBody>
      </p:sp>
      <p:sp>
        <p:nvSpPr>
          <p:cNvPr id="44" name="Text 35"/>
          <p:cNvSpPr/>
          <p:nvPr/>
        </p:nvSpPr>
        <p:spPr>
          <a:xfrm>
            <a:off x="6922008" y="2578608"/>
            <a:ext cx="46570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Hurts: investor + job-seeker</a:t>
            </a:r>
            <a:endParaRPr lang="en-US" sz="860" dirty="0"/>
          </a:p>
        </p:txBody>
      </p:sp>
      <p:sp>
        <p:nvSpPr>
          <p:cNvPr id="45" name="Shape 36"/>
          <p:cNvSpPr/>
          <p:nvPr/>
        </p:nvSpPr>
        <p:spPr>
          <a:xfrm>
            <a:off x="6720840" y="2898648"/>
            <a:ext cx="4967935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6720840" y="2898648"/>
            <a:ext cx="82296" cy="1078992"/>
          </a:xfrm>
          <a:prstGeom prst="rect">
            <a:avLst/>
          </a:prstGeom>
          <a:solidFill>
            <a:srgbClr val="0E8C84"/>
          </a:solidFill>
          <a:ln/>
        </p:spPr>
      </p:sp>
      <p:sp>
        <p:nvSpPr>
          <p:cNvPr id="47" name="Shape 38"/>
          <p:cNvSpPr/>
          <p:nvPr/>
        </p:nvSpPr>
        <p:spPr>
          <a:xfrm>
            <a:off x="6922008" y="3081528"/>
            <a:ext cx="475488" cy="47548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48" name="Image 7" descr="/workspace/deck/assets/bolt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6125" y="3195645"/>
            <a:ext cx="247254" cy="247254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7507224" y="3008376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50" kern="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POWER</a:t>
            </a:r>
            <a:endParaRPr lang="en-US" sz="1900" dirty="0"/>
          </a:p>
        </p:txBody>
      </p:sp>
      <p:sp>
        <p:nvSpPr>
          <p:cNvPr id="50" name="Text 40"/>
          <p:cNvSpPr/>
          <p:nvPr/>
        </p:nvSpPr>
        <p:spPr>
          <a:xfrm>
            <a:off x="7507224" y="3300984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Captive backup adds +15–20% to unit cost</a:t>
            </a:r>
            <a:endParaRPr lang="en-US" sz="1050" dirty="0"/>
          </a:p>
        </p:txBody>
      </p:sp>
      <p:sp>
        <p:nvSpPr>
          <p:cNvPr id="51" name="Text 41"/>
          <p:cNvSpPr/>
          <p:nvPr/>
        </p:nvSpPr>
        <p:spPr>
          <a:xfrm>
            <a:off x="6922008" y="3575304"/>
            <a:ext cx="46570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Electrification ≠ 24×7 industrial supply for factories</a:t>
            </a:r>
            <a:endParaRPr lang="en-US" sz="880" dirty="0"/>
          </a:p>
        </p:txBody>
      </p:sp>
      <p:sp>
        <p:nvSpPr>
          <p:cNvPr id="52" name="Text 42"/>
          <p:cNvSpPr/>
          <p:nvPr/>
        </p:nvSpPr>
        <p:spPr>
          <a:xfrm>
            <a:off x="6922008" y="3776472"/>
            <a:ext cx="46570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Hurts: MSMEs</a:t>
            </a:r>
            <a:endParaRPr lang="en-US" sz="860" dirty="0"/>
          </a:p>
        </p:txBody>
      </p:sp>
      <p:sp>
        <p:nvSpPr>
          <p:cNvPr id="53" name="Shape 43"/>
          <p:cNvSpPr/>
          <p:nvPr/>
        </p:nvSpPr>
        <p:spPr>
          <a:xfrm>
            <a:off x="6720840" y="4096512"/>
            <a:ext cx="4967935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54" name="Shape 44"/>
          <p:cNvSpPr/>
          <p:nvPr/>
        </p:nvSpPr>
        <p:spPr>
          <a:xfrm>
            <a:off x="6720840" y="4096512"/>
            <a:ext cx="82296" cy="1078992"/>
          </a:xfrm>
          <a:prstGeom prst="rect">
            <a:avLst/>
          </a:prstGeom>
          <a:solidFill>
            <a:srgbClr val="0E8C84"/>
          </a:solidFill>
          <a:ln/>
        </p:spPr>
      </p:sp>
      <p:sp>
        <p:nvSpPr>
          <p:cNvPr id="55" name="Shape 45"/>
          <p:cNvSpPr/>
          <p:nvPr/>
        </p:nvSpPr>
        <p:spPr>
          <a:xfrm>
            <a:off x="6922008" y="4279392"/>
            <a:ext cx="475488" cy="47548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56" name="Image 8" descr="/workspace/deck/assets/truck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36125" y="4393509"/>
            <a:ext cx="247254" cy="247254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7507224" y="4206240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50" kern="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LOGISTICS</a:t>
            </a:r>
            <a:endParaRPr lang="en-US" sz="1900" dirty="0"/>
          </a:p>
        </p:txBody>
      </p:sp>
      <p:sp>
        <p:nvSpPr>
          <p:cNvPr id="58" name="Text 47"/>
          <p:cNvSpPr/>
          <p:nvPr/>
        </p:nvSpPr>
        <p:spPr>
          <a:xfrm>
            <a:off x="7507224" y="449884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30–40% post-harvest loss · EDFC under-used</a:t>
            </a:r>
            <a:endParaRPr lang="en-US" sz="1050" dirty="0"/>
          </a:p>
        </p:txBody>
      </p:sp>
      <p:sp>
        <p:nvSpPr>
          <p:cNvPr id="59" name="Text 48"/>
          <p:cNvSpPr/>
          <p:nvPr/>
        </p:nvSpPr>
        <p:spPr>
          <a:xfrm>
            <a:off x="6922008" y="4773168"/>
            <a:ext cx="46570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Produce rots before it reaches a processor or market</a:t>
            </a:r>
            <a:endParaRPr lang="en-US" sz="880" dirty="0"/>
          </a:p>
        </p:txBody>
      </p:sp>
      <p:sp>
        <p:nvSpPr>
          <p:cNvPr id="60" name="Text 49"/>
          <p:cNvSpPr/>
          <p:nvPr/>
        </p:nvSpPr>
        <p:spPr>
          <a:xfrm>
            <a:off x="6922008" y="4974336"/>
            <a:ext cx="46570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Hurts: marginal farmer</a:t>
            </a:r>
            <a:endParaRPr lang="en-US" sz="860" dirty="0"/>
          </a:p>
        </p:txBody>
      </p:sp>
      <p:sp>
        <p:nvSpPr>
          <p:cNvPr id="61" name="Shape 50"/>
          <p:cNvSpPr/>
          <p:nvPr/>
        </p:nvSpPr>
        <p:spPr>
          <a:xfrm>
            <a:off x="502920" y="5650992"/>
            <a:ext cx="11185855" cy="566928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62" name="Shape 51"/>
          <p:cNvSpPr/>
          <p:nvPr/>
        </p:nvSpPr>
        <p:spPr>
          <a:xfrm>
            <a:off x="502920" y="5650992"/>
            <a:ext cx="82296" cy="566928"/>
          </a:xfrm>
          <a:prstGeom prst="rect">
            <a:avLst/>
          </a:prstGeom>
          <a:solidFill>
            <a:srgbClr val="E0901F"/>
          </a:solidFill>
          <a:ln/>
        </p:spPr>
      </p:sp>
      <p:sp>
        <p:nvSpPr>
          <p:cNvPr id="63" name="Text 52"/>
          <p:cNvSpPr/>
          <p:nvPr/>
        </p:nvSpPr>
        <p:spPr>
          <a:xfrm>
            <a:off x="758952" y="5650992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TAKEAWAY   </a:t>
            </a:r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These physical gaps starve greenfield projects and rot produce before market — capital and labour leave together.</a:t>
            </a:r>
            <a:endParaRPr lang="en-US" sz="1100" dirty="0"/>
          </a:p>
        </p:txBody>
      </p:sp>
      <p:sp>
        <p:nvSpPr>
          <p:cNvPr id="64" name="Text 53"/>
          <p:cNvSpPr/>
          <p:nvPr/>
        </p:nvSpPr>
        <p:spPr>
          <a:xfrm>
            <a:off x="502920" y="652881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Source:  </a:t>
            </a:r>
            <a:pPr algn="l" indent="0" marL="0">
              <a:buNone/>
            </a:pPr>
            <a:r>
              <a:rPr lang="en-US" sz="85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Bihar Economic Survey 2025-26; IBEF / Invest India (EDFC, land-conversion timelines); comparative: Gujarat &amp; Tamil Nadu single-window data.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C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ROOT-CAUSE ANALYSIS · 2 OF 2 · THE BRIDGE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spc="50" kern="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THE INSTITUTIONAL CONSTRAINTS — AND THE FIX 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311335" y="274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UDAAN </a:t>
            </a:r>
            <a:pPr algn="r" indent="0" marL="0">
              <a:buNone/>
            </a:pPr>
            <a:r>
              <a:rPr lang="en-US" sz="120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2.0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311335" y="548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03 /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HUMAN &amp; INSTITUTIONAL GAPS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45262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645920"/>
            <a:ext cx="82296" cy="1207008"/>
          </a:xfrm>
          <a:prstGeom prst="rect">
            <a:avLst/>
          </a:prstGeom>
          <a:solidFill>
            <a:srgbClr val="0E8C84"/>
          </a:solidFill>
          <a:ln/>
        </p:spPr>
      </p:sp>
      <p:sp>
        <p:nvSpPr>
          <p:cNvPr id="9" name="Shape 7"/>
          <p:cNvSpPr/>
          <p:nvPr/>
        </p:nvSpPr>
        <p:spPr>
          <a:xfrm>
            <a:off x="704088" y="1828800"/>
            <a:ext cx="475488" cy="47548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0" name="Image 0" descr="/workspace/deck/assets/gra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205" y="1942917"/>
            <a:ext cx="247254" cy="24725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9304" y="17373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50" kern="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SKILLS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289304" y="204825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58% under 30 — but 80% of out-migrants are low-skilled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04088" y="2432304"/>
            <a:ext cx="4215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Weak ITIs · very low female labour-force participation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704088" y="2633472"/>
            <a:ext cx="4215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Hurts: youth + women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502920" y="2962656"/>
            <a:ext cx="45262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" y="2962656"/>
            <a:ext cx="82296" cy="1207008"/>
          </a:xfrm>
          <a:prstGeom prst="rect">
            <a:avLst/>
          </a:prstGeom>
          <a:solidFill>
            <a:srgbClr val="0E8C84"/>
          </a:solidFill>
          <a:ln/>
        </p:spPr>
      </p:sp>
      <p:sp>
        <p:nvSpPr>
          <p:cNvPr id="17" name="Shape 14"/>
          <p:cNvSpPr/>
          <p:nvPr/>
        </p:nvSpPr>
        <p:spPr>
          <a:xfrm>
            <a:off x="704088" y="3145536"/>
            <a:ext cx="475488" cy="47548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8" name="Image 1" descr="/workspace/deck/assets/ban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05" y="3259653"/>
            <a:ext cx="247254" cy="24725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89304" y="305409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50" kern="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FINANCE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1289304" y="336499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53.5% credit-deposit ratio — banks export Bihar's deposits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04088" y="3749040"/>
            <a:ext cx="4215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MSME credit gap of Rs 1.5–2 lakh cr</a:t>
            </a:r>
            <a:endParaRPr lang="en-US" sz="880" dirty="0"/>
          </a:p>
        </p:txBody>
      </p:sp>
      <p:sp>
        <p:nvSpPr>
          <p:cNvPr id="22" name="Text 18"/>
          <p:cNvSpPr/>
          <p:nvPr/>
        </p:nvSpPr>
        <p:spPr>
          <a:xfrm>
            <a:off x="704088" y="3950208"/>
            <a:ext cx="4215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Hurts: MSME + scaling Didi</a:t>
            </a:r>
            <a:endParaRPr lang="en-US" sz="880" dirty="0"/>
          </a:p>
        </p:txBody>
      </p:sp>
      <p:sp>
        <p:nvSpPr>
          <p:cNvPr id="23" name="Shape 19"/>
          <p:cNvSpPr/>
          <p:nvPr/>
        </p:nvSpPr>
        <p:spPr>
          <a:xfrm>
            <a:off x="502920" y="4279392"/>
            <a:ext cx="4526280" cy="1207008"/>
          </a:xfrm>
          <a:prstGeom prst="rect">
            <a:avLst/>
          </a:prstGeom>
          <a:solidFill>
            <a:srgbClr val="FFF7EA"/>
          </a:solidFill>
          <a:ln w="19050">
            <a:solidFill>
              <a:srgbClr val="E0901F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02920" y="4279392"/>
            <a:ext cx="82296" cy="1207008"/>
          </a:xfrm>
          <a:prstGeom prst="rect">
            <a:avLst/>
          </a:prstGeom>
          <a:solidFill>
            <a:srgbClr val="E0901F"/>
          </a:solidFill>
          <a:ln/>
        </p:spPr>
      </p:sp>
      <p:sp>
        <p:nvSpPr>
          <p:cNvPr id="25" name="Shape 21"/>
          <p:cNvSpPr/>
          <p:nvPr/>
        </p:nvSpPr>
        <p:spPr>
          <a:xfrm>
            <a:off x="704088" y="4462272"/>
            <a:ext cx="475488" cy="475488"/>
          </a:xfrm>
          <a:prstGeom prst="ellipse">
            <a:avLst/>
          </a:prstGeom>
          <a:solidFill>
            <a:srgbClr val="E0901F"/>
          </a:solidFill>
          <a:ln/>
        </p:spPr>
      </p:sp>
      <p:pic>
        <p:nvPicPr>
          <p:cNvPr id="26" name="Image 2" descr="/workspace/deck/assets/balanc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205" y="4576389"/>
            <a:ext cx="247254" cy="24725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89304" y="437083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50" kern="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GOVERNANCE</a:t>
            </a:r>
            <a:pPr indent="0" marL="0">
              <a:buNone/>
            </a:pPr>
            <a:r>
              <a:rPr lang="en-US" sz="900" b="1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META</a:t>
            </a:r>
            <a:endParaRPr lang="en-US" sz="1900" dirty="0"/>
          </a:p>
        </p:txBody>
      </p:sp>
      <p:sp>
        <p:nvSpPr>
          <p:cNvPr id="28" name="Text 23"/>
          <p:cNvSpPr/>
          <p:nvPr/>
        </p:nvSpPr>
        <p:spPr>
          <a:xfrm>
            <a:off x="1289304" y="46817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Rs 6,800 bn approved proposals un-operationalised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704088" y="5065776"/>
            <a:ext cx="4215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 true single window · 9.2%-of-GSDP fiscal deficit (FY24)</a:t>
            </a:r>
            <a:endParaRPr lang="en-US" sz="880" dirty="0"/>
          </a:p>
        </p:txBody>
      </p:sp>
      <p:sp>
        <p:nvSpPr>
          <p:cNvPr id="30" name="Text 25"/>
          <p:cNvSpPr/>
          <p:nvPr/>
        </p:nvSpPr>
        <p:spPr>
          <a:xfrm>
            <a:off x="704088" y="5266944"/>
            <a:ext cx="4215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meta-constraint — hurts everyone</a:t>
            </a:r>
            <a:endParaRPr lang="en-US" sz="880" dirty="0"/>
          </a:p>
        </p:txBody>
      </p:sp>
      <p:sp>
        <p:nvSpPr>
          <p:cNvPr id="31" name="Shape 26"/>
          <p:cNvSpPr/>
          <p:nvPr/>
        </p:nvSpPr>
        <p:spPr>
          <a:xfrm>
            <a:off x="5321808" y="1325880"/>
            <a:ext cx="6366967" cy="713232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5321808" y="1325880"/>
            <a:ext cx="82296" cy="713232"/>
          </a:xfrm>
          <a:prstGeom prst="rect">
            <a:avLst/>
          </a:prstGeom>
          <a:solidFill>
            <a:srgbClr val="E0901F"/>
          </a:solidFill>
          <a:ln/>
        </p:spPr>
      </p:sp>
      <p:sp>
        <p:nvSpPr>
          <p:cNvPr id="33" name="Text 28"/>
          <p:cNvSpPr/>
          <p:nvPr/>
        </p:nvSpPr>
        <p:spPr>
          <a:xfrm>
            <a:off x="5577840" y="1325880"/>
            <a:ext cx="590976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DIAGNOSIS: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 execution-architecture failure, not a deficit of policy intent.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5321808" y="2212848"/>
            <a:ext cx="63669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BRIDGE — EACH BOTTLENECK MAPS TO A UDAAN PILLAR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5321808" y="2505456"/>
            <a:ext cx="6366967" cy="310896"/>
          </a:xfrm>
          <a:prstGeom prst="rect">
            <a:avLst/>
          </a:prstGeom>
          <a:solidFill>
            <a:srgbClr val="1B3E5C"/>
          </a:solidFill>
          <a:ln/>
        </p:spPr>
      </p:sp>
      <p:sp>
        <p:nvSpPr>
          <p:cNvPr id="36" name="Text 31"/>
          <p:cNvSpPr/>
          <p:nvPr/>
        </p:nvSpPr>
        <p:spPr>
          <a:xfrm>
            <a:off x="5431536" y="250545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BOTTLENECK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7653528" y="25054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WHO IT HURTS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9345168" y="2505456"/>
            <a:ext cx="23436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FIXED BY</a:t>
            </a:r>
            <a:endParaRPr lang="en-US" sz="850" dirty="0"/>
          </a:p>
        </p:txBody>
      </p:sp>
      <p:sp>
        <p:nvSpPr>
          <p:cNvPr id="39" name="Shape 34"/>
          <p:cNvSpPr/>
          <p:nvPr/>
        </p:nvSpPr>
        <p:spPr>
          <a:xfrm>
            <a:off x="5321808" y="2816352"/>
            <a:ext cx="6366967" cy="489204"/>
          </a:xfrm>
          <a:prstGeom prst="rect">
            <a:avLst/>
          </a:prstGeom>
          <a:solidFill>
            <a:srgbClr val="EEF2F5"/>
          </a:solidFill>
          <a:ln w="6350">
            <a:solidFill>
              <a:srgbClr val="E3E8EC"/>
            </a:solidFill>
            <a:prstDash val="solid"/>
          </a:ln>
        </p:spPr>
      </p:sp>
      <p:pic>
        <p:nvPicPr>
          <p:cNvPr id="40" name="Image 3" descr="/workspace/deck/assets/mapmar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536" y="2960370"/>
            <a:ext cx="201168" cy="20116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5687568" y="2816352"/>
            <a:ext cx="19202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Land + flood risk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7653528" y="2816352"/>
            <a:ext cx="16916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Investor · job-seeker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9345168" y="2914650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0E8C84"/>
          </a:solidFill>
          <a:ln/>
        </p:spPr>
      </p:sp>
      <p:sp>
        <p:nvSpPr>
          <p:cNvPr id="44" name="Text 38"/>
          <p:cNvSpPr/>
          <p:nvPr/>
        </p:nvSpPr>
        <p:spPr>
          <a:xfrm>
            <a:off x="9345168" y="291465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P1</a:t>
            </a:r>
            <a:endParaRPr lang="en-US" sz="950" dirty="0"/>
          </a:p>
        </p:txBody>
      </p:sp>
      <p:sp>
        <p:nvSpPr>
          <p:cNvPr id="45" name="Text 39"/>
          <p:cNvSpPr/>
          <p:nvPr/>
        </p:nvSpPr>
        <p:spPr>
          <a:xfrm>
            <a:off x="9985248" y="2816352"/>
            <a:ext cx="1630375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Land &amp; plug-and-play sheds</a:t>
            </a:r>
            <a:endParaRPr lang="en-US" sz="860" dirty="0"/>
          </a:p>
        </p:txBody>
      </p:sp>
      <p:sp>
        <p:nvSpPr>
          <p:cNvPr id="46" name="Shape 40"/>
          <p:cNvSpPr/>
          <p:nvPr/>
        </p:nvSpPr>
        <p:spPr>
          <a:xfrm>
            <a:off x="5321808" y="3305556"/>
            <a:ext cx="6366967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</p:sp>
      <p:pic>
        <p:nvPicPr>
          <p:cNvPr id="47" name="Image 4" descr="/workspace/deck/assets/bol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3449574"/>
            <a:ext cx="201168" cy="201168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5687568" y="3305556"/>
            <a:ext cx="19202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Power reliability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7653528" y="3305556"/>
            <a:ext cx="16916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MSMEs</a:t>
            </a:r>
            <a:endParaRPr lang="en-US" sz="850" dirty="0"/>
          </a:p>
        </p:txBody>
      </p:sp>
      <p:sp>
        <p:nvSpPr>
          <p:cNvPr id="50" name="Shape 43"/>
          <p:cNvSpPr/>
          <p:nvPr/>
        </p:nvSpPr>
        <p:spPr>
          <a:xfrm>
            <a:off x="9345168" y="3403854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0E8C84"/>
          </a:solidFill>
          <a:ln/>
        </p:spPr>
      </p:sp>
      <p:sp>
        <p:nvSpPr>
          <p:cNvPr id="51" name="Text 44"/>
          <p:cNvSpPr/>
          <p:nvPr/>
        </p:nvSpPr>
        <p:spPr>
          <a:xfrm>
            <a:off x="9345168" y="340385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P1</a:t>
            </a:r>
            <a:endParaRPr lang="en-US" sz="950" dirty="0"/>
          </a:p>
        </p:txBody>
      </p:sp>
      <p:sp>
        <p:nvSpPr>
          <p:cNvPr id="52" name="Text 45"/>
          <p:cNvSpPr/>
          <p:nvPr/>
        </p:nvSpPr>
        <p:spPr>
          <a:xfrm>
            <a:off x="9985248" y="3305556"/>
            <a:ext cx="1630375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Ready-shed power + solar feeder</a:t>
            </a:r>
            <a:endParaRPr lang="en-US" sz="860" dirty="0"/>
          </a:p>
        </p:txBody>
      </p:sp>
      <p:sp>
        <p:nvSpPr>
          <p:cNvPr id="53" name="Shape 46"/>
          <p:cNvSpPr/>
          <p:nvPr/>
        </p:nvSpPr>
        <p:spPr>
          <a:xfrm>
            <a:off x="5321808" y="3794760"/>
            <a:ext cx="6366967" cy="489204"/>
          </a:xfrm>
          <a:prstGeom prst="rect">
            <a:avLst/>
          </a:prstGeom>
          <a:solidFill>
            <a:srgbClr val="EEF2F5"/>
          </a:solidFill>
          <a:ln w="6350">
            <a:solidFill>
              <a:srgbClr val="E3E8EC"/>
            </a:solidFill>
            <a:prstDash val="solid"/>
          </a:ln>
        </p:spPr>
      </p:sp>
      <p:pic>
        <p:nvPicPr>
          <p:cNvPr id="54" name="Image 5" descr="/workspace/deck/assets/truc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1536" y="3938778"/>
            <a:ext cx="201168" cy="201168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5687568" y="3794760"/>
            <a:ext cx="19202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Logistics + farm value-loss</a:t>
            </a:r>
            <a:endParaRPr lang="en-US" sz="900" dirty="0"/>
          </a:p>
        </p:txBody>
      </p:sp>
      <p:sp>
        <p:nvSpPr>
          <p:cNvPr id="56" name="Text 48"/>
          <p:cNvSpPr/>
          <p:nvPr/>
        </p:nvSpPr>
        <p:spPr>
          <a:xfrm>
            <a:off x="7653528" y="3794760"/>
            <a:ext cx="16916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Marginal farmer</a:t>
            </a:r>
            <a:endParaRPr lang="en-US" sz="850" dirty="0"/>
          </a:p>
        </p:txBody>
      </p:sp>
      <p:sp>
        <p:nvSpPr>
          <p:cNvPr id="57" name="Shape 49"/>
          <p:cNvSpPr/>
          <p:nvPr/>
        </p:nvSpPr>
        <p:spPr>
          <a:xfrm>
            <a:off x="9345168" y="3893058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0B6F69"/>
          </a:solidFill>
          <a:ln/>
        </p:spPr>
      </p:sp>
      <p:sp>
        <p:nvSpPr>
          <p:cNvPr id="58" name="Text 50"/>
          <p:cNvSpPr/>
          <p:nvPr/>
        </p:nvSpPr>
        <p:spPr>
          <a:xfrm>
            <a:off x="9345168" y="389305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P2/P3</a:t>
            </a:r>
            <a:endParaRPr lang="en-US" sz="950" dirty="0"/>
          </a:p>
        </p:txBody>
      </p:sp>
      <p:sp>
        <p:nvSpPr>
          <p:cNvPr id="59" name="Text 51"/>
          <p:cNvSpPr/>
          <p:nvPr/>
        </p:nvSpPr>
        <p:spPr>
          <a:xfrm>
            <a:off x="9985248" y="3794760"/>
            <a:ext cx="1630375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FPO units + OBOP cold-chain/CFCs</a:t>
            </a:r>
            <a:endParaRPr lang="en-US" sz="860" dirty="0"/>
          </a:p>
        </p:txBody>
      </p:sp>
      <p:sp>
        <p:nvSpPr>
          <p:cNvPr id="60" name="Shape 52"/>
          <p:cNvSpPr/>
          <p:nvPr/>
        </p:nvSpPr>
        <p:spPr>
          <a:xfrm>
            <a:off x="5321808" y="4283964"/>
            <a:ext cx="6366967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</p:sp>
      <p:pic>
        <p:nvPicPr>
          <p:cNvPr id="61" name="Image 6" descr="/workspace/deck/assets/grad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1536" y="4427982"/>
            <a:ext cx="201168" cy="201168"/>
          </a:xfrm>
          <a:prstGeom prst="rect">
            <a:avLst/>
          </a:prstGeom>
        </p:spPr>
      </p:pic>
      <p:sp>
        <p:nvSpPr>
          <p:cNvPr id="62" name="Text 53"/>
          <p:cNvSpPr/>
          <p:nvPr/>
        </p:nvSpPr>
        <p:spPr>
          <a:xfrm>
            <a:off x="5687568" y="4283964"/>
            <a:ext cx="19202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Skilled-labour paradox</a:t>
            </a:r>
            <a:endParaRPr lang="en-US" sz="900" dirty="0"/>
          </a:p>
        </p:txBody>
      </p:sp>
      <p:sp>
        <p:nvSpPr>
          <p:cNvPr id="63" name="Text 54"/>
          <p:cNvSpPr/>
          <p:nvPr/>
        </p:nvSpPr>
        <p:spPr>
          <a:xfrm>
            <a:off x="7653528" y="4283964"/>
            <a:ext cx="16916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Youth · women</a:t>
            </a:r>
            <a:endParaRPr lang="en-US" sz="850" dirty="0"/>
          </a:p>
        </p:txBody>
      </p:sp>
      <p:sp>
        <p:nvSpPr>
          <p:cNvPr id="64" name="Shape 55"/>
          <p:cNvSpPr/>
          <p:nvPr/>
        </p:nvSpPr>
        <p:spPr>
          <a:xfrm>
            <a:off x="9345168" y="4382262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0E8C84"/>
          </a:solidFill>
          <a:ln/>
        </p:spPr>
      </p:sp>
      <p:sp>
        <p:nvSpPr>
          <p:cNvPr id="65" name="Text 56"/>
          <p:cNvSpPr/>
          <p:nvPr/>
        </p:nvSpPr>
        <p:spPr>
          <a:xfrm>
            <a:off x="9345168" y="438226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P4</a:t>
            </a:r>
            <a:endParaRPr lang="en-US" sz="950" dirty="0"/>
          </a:p>
        </p:txBody>
      </p:sp>
      <p:sp>
        <p:nvSpPr>
          <p:cNvPr id="66" name="Text 57"/>
          <p:cNvSpPr/>
          <p:nvPr/>
        </p:nvSpPr>
        <p:spPr>
          <a:xfrm>
            <a:off x="9985248" y="4283964"/>
            <a:ext cx="1630375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Skills-to-job pipeline</a:t>
            </a:r>
            <a:endParaRPr lang="en-US" sz="860" dirty="0"/>
          </a:p>
        </p:txBody>
      </p:sp>
      <p:sp>
        <p:nvSpPr>
          <p:cNvPr id="67" name="Shape 58"/>
          <p:cNvSpPr/>
          <p:nvPr/>
        </p:nvSpPr>
        <p:spPr>
          <a:xfrm>
            <a:off x="5321808" y="4773168"/>
            <a:ext cx="6366967" cy="489204"/>
          </a:xfrm>
          <a:prstGeom prst="rect">
            <a:avLst/>
          </a:prstGeom>
          <a:solidFill>
            <a:srgbClr val="EEF2F5"/>
          </a:solidFill>
          <a:ln w="6350">
            <a:solidFill>
              <a:srgbClr val="E3E8EC"/>
            </a:solidFill>
            <a:prstDash val="solid"/>
          </a:ln>
        </p:spPr>
      </p:sp>
      <p:pic>
        <p:nvPicPr>
          <p:cNvPr id="68" name="Image 7" descr="/workspace/deck/assets/bank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1536" y="4917186"/>
            <a:ext cx="201168" cy="201168"/>
          </a:xfrm>
          <a:prstGeom prst="rect">
            <a:avLst/>
          </a:prstGeom>
        </p:spPr>
      </p:pic>
      <p:sp>
        <p:nvSpPr>
          <p:cNvPr id="69" name="Text 59"/>
          <p:cNvSpPr/>
          <p:nvPr/>
        </p:nvSpPr>
        <p:spPr>
          <a:xfrm>
            <a:off x="5687568" y="4773168"/>
            <a:ext cx="19202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Shallow finance</a:t>
            </a:r>
            <a:endParaRPr lang="en-US" sz="900" dirty="0"/>
          </a:p>
        </p:txBody>
      </p:sp>
      <p:sp>
        <p:nvSpPr>
          <p:cNvPr id="70" name="Text 60"/>
          <p:cNvSpPr/>
          <p:nvPr/>
        </p:nvSpPr>
        <p:spPr>
          <a:xfrm>
            <a:off x="7653528" y="4773168"/>
            <a:ext cx="16916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MSME · scaling Didi</a:t>
            </a:r>
            <a:endParaRPr lang="en-US" sz="850" dirty="0"/>
          </a:p>
        </p:txBody>
      </p:sp>
      <p:sp>
        <p:nvSpPr>
          <p:cNvPr id="71" name="Shape 61"/>
          <p:cNvSpPr/>
          <p:nvPr/>
        </p:nvSpPr>
        <p:spPr>
          <a:xfrm>
            <a:off x="9345168" y="4871466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0F2A43"/>
          </a:solidFill>
          <a:ln/>
        </p:spPr>
      </p:sp>
      <p:sp>
        <p:nvSpPr>
          <p:cNvPr id="72" name="Text 62"/>
          <p:cNvSpPr/>
          <p:nvPr/>
        </p:nvSpPr>
        <p:spPr>
          <a:xfrm>
            <a:off x="9345168" y="487146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P5</a:t>
            </a:r>
            <a:endParaRPr lang="en-US" sz="950" dirty="0"/>
          </a:p>
        </p:txBody>
      </p:sp>
      <p:sp>
        <p:nvSpPr>
          <p:cNvPr id="73" name="Text 63"/>
          <p:cNvSpPr/>
          <p:nvPr/>
        </p:nvSpPr>
        <p:spPr>
          <a:xfrm>
            <a:off x="9985248" y="4773168"/>
            <a:ext cx="1630375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Guarantee fund + 65% C-D</a:t>
            </a:r>
            <a:endParaRPr lang="en-US" sz="860" dirty="0"/>
          </a:p>
        </p:txBody>
      </p:sp>
      <p:sp>
        <p:nvSpPr>
          <p:cNvPr id="74" name="Shape 64"/>
          <p:cNvSpPr/>
          <p:nvPr/>
        </p:nvSpPr>
        <p:spPr>
          <a:xfrm>
            <a:off x="5321808" y="5262372"/>
            <a:ext cx="6366967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</p:sp>
      <p:pic>
        <p:nvPicPr>
          <p:cNvPr id="75" name="Image 8" descr="/workspace/deck/assets/balance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31536" y="5406390"/>
            <a:ext cx="201168" cy="201168"/>
          </a:xfrm>
          <a:prstGeom prst="rect">
            <a:avLst/>
          </a:prstGeom>
        </p:spPr>
      </p:pic>
      <p:sp>
        <p:nvSpPr>
          <p:cNvPr id="76" name="Text 65"/>
          <p:cNvSpPr/>
          <p:nvPr/>
        </p:nvSpPr>
        <p:spPr>
          <a:xfrm>
            <a:off x="5687568" y="5262372"/>
            <a:ext cx="19202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Governance (meta)</a:t>
            </a:r>
            <a:endParaRPr lang="en-US" sz="900" dirty="0"/>
          </a:p>
        </p:txBody>
      </p:sp>
      <p:sp>
        <p:nvSpPr>
          <p:cNvPr id="77" name="Text 66"/>
          <p:cNvSpPr/>
          <p:nvPr/>
        </p:nvSpPr>
        <p:spPr>
          <a:xfrm>
            <a:off x="7653528" y="5262372"/>
            <a:ext cx="16916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Everyone</a:t>
            </a:r>
            <a:endParaRPr lang="en-US" sz="850" dirty="0"/>
          </a:p>
        </p:txBody>
      </p:sp>
      <p:sp>
        <p:nvSpPr>
          <p:cNvPr id="78" name="Shape 67"/>
          <p:cNvSpPr/>
          <p:nvPr/>
        </p:nvSpPr>
        <p:spPr>
          <a:xfrm>
            <a:off x="9345168" y="5360670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E0901F"/>
          </a:solidFill>
          <a:ln/>
        </p:spPr>
      </p:sp>
      <p:sp>
        <p:nvSpPr>
          <p:cNvPr id="79" name="Text 68"/>
          <p:cNvSpPr/>
          <p:nvPr/>
        </p:nvSpPr>
        <p:spPr>
          <a:xfrm>
            <a:off x="9345168" y="536067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P5</a:t>
            </a:r>
            <a:endParaRPr lang="en-US" sz="950" dirty="0"/>
          </a:p>
        </p:txBody>
      </p:sp>
      <p:sp>
        <p:nvSpPr>
          <p:cNvPr id="80" name="Text 69"/>
          <p:cNvSpPr/>
          <p:nvPr/>
        </p:nvSpPr>
        <p:spPr>
          <a:xfrm>
            <a:off x="9985248" y="5262372"/>
            <a:ext cx="1630375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Statutory single window + activation office</a:t>
            </a:r>
            <a:endParaRPr lang="en-US" sz="860" dirty="0"/>
          </a:p>
        </p:txBody>
      </p:sp>
      <p:sp>
        <p:nvSpPr>
          <p:cNvPr id="81" name="Text 70"/>
          <p:cNvSpPr/>
          <p:nvPr/>
        </p:nvSpPr>
        <p:spPr>
          <a:xfrm>
            <a:off x="5321808" y="5788152"/>
            <a:ext cx="63669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→ The five solution slides that follow take these pillars one at a time.</a:t>
            </a:r>
            <a:endParaRPr lang="en-US" sz="880" dirty="0"/>
          </a:p>
        </p:txBody>
      </p:sp>
      <p:sp>
        <p:nvSpPr>
          <p:cNvPr id="82" name="Text 71"/>
          <p:cNvSpPr/>
          <p:nvPr/>
        </p:nvSpPr>
        <p:spPr>
          <a:xfrm>
            <a:off x="502920" y="652881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Source:  </a:t>
            </a:r>
            <a:pPr algn="l" indent="0" marL="0">
              <a:buNone/>
            </a:pPr>
            <a:r>
              <a:rPr lang="en-US" sz="85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Bihar Economic Survey 2025-26; RBI / SLBC Bihar (C-D ratio); CAG / state finance accounts (fiscal deficit); BIPPP-2025; Invest India approved-investment pipeline.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C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ACTION CORE · ONE SLIDE PER PILLAR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spc="50" kern="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SOLUTION 1 — LAND &amp; PLUG-AND-PLAY READINESS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311335" y="274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UDAAN </a:t>
            </a:r>
            <a:pPr algn="r" indent="0" marL="0">
              <a:buNone/>
            </a:pPr>
            <a:r>
              <a:rPr lang="en-US" sz="120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2.0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311335" y="548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04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2120128" cy="457200"/>
          </a:xfrm>
          <a:prstGeom prst="roundRect">
            <a:avLst>
              <a:gd name="adj" fmla="val 12000"/>
            </a:avLst>
          </a:prstGeom>
          <a:solidFill>
            <a:srgbClr val="0E8C84"/>
          </a:solidFill>
          <a:ln w="12700">
            <a:solidFill>
              <a:srgbClr val="0E8C84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57784" y="1207008"/>
            <a:ext cx="202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P1  </a:t>
            </a:r>
            <a:pPr algn="ctr" indent="0" marL="0">
              <a:buNone/>
            </a:pPr>
            <a:r>
              <a:rPr lang="en-US" sz="800" b="1" dirty="0">
                <a:solidFill>
                  <a:srgbClr val="F1FBF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LAND &amp; SHEDS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69352" y="1207008"/>
            <a:ext cx="2120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24216" y="1207008"/>
            <a:ext cx="202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P2  </a:t>
            </a:r>
            <a:pPr algn="ctr" indent="0" marL="0">
              <a:buNone/>
            </a:pPr>
            <a:r>
              <a:rPr lang="en-US" sz="8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WOMEN + RETURNEE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35784" y="1207008"/>
            <a:ext cx="2120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90648" y="1207008"/>
            <a:ext cx="202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P3  </a:t>
            </a:r>
            <a:pPr algn="ctr" indent="0" marL="0">
              <a:buNone/>
            </a:pPr>
            <a:r>
              <a:rPr lang="en-US" sz="8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OBOP CLUSTERS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02216" y="1207008"/>
            <a:ext cx="2120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57080" y="1207008"/>
            <a:ext cx="202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P4  </a:t>
            </a:r>
            <a:pPr algn="ctr" indent="0" marL="0">
              <a:buNone/>
            </a:pPr>
            <a:r>
              <a:rPr lang="en-US" sz="8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SKILLS-TO-JOB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568647" y="1207008"/>
            <a:ext cx="2120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23511" y="1207008"/>
            <a:ext cx="202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P5  </a:t>
            </a:r>
            <a:pPr algn="ctr" indent="0" marL="0">
              <a:buNone/>
            </a:pPr>
            <a:r>
              <a:rPr lang="en-US" sz="8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FINANCE + GOV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1810512"/>
            <a:ext cx="11185855" cy="676656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1810512"/>
            <a:ext cx="82296" cy="676656"/>
          </a:xfrm>
          <a:prstGeom prst="rect">
            <a:avLst/>
          </a:prstGeom>
          <a:solidFill>
            <a:srgbClr val="0E8C84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" y="1810512"/>
            <a:ext cx="107286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b="1" spc="100" kern="0" dirty="0">
                <a:solidFill>
                  <a:srgbClr val="0E8C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GOVERNING THOUGHT   </a:t>
            </a:r>
            <a:pPr indent="0" marL="0">
              <a:lnSpc>
                <a:spcPct val="98000"/>
              </a:lnSpc>
              <a:buNone/>
            </a:pPr>
            <a:r>
              <a:rPr lang="en-US" sz="1030" dirty="0">
                <a:solidFill>
                  <a:srgbClr val="EAF1F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Bihar's stagnation is an execution gap, not a policy gap. The assets, money and mandate are finally aligned — UDAAN 2.0 wires proven models onto Bihar's own delivery rails to turn approved paper into operating factories in 24 months.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2615184"/>
            <a:ext cx="359450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2615184"/>
            <a:ext cx="64008" cy="749808"/>
          </a:xfrm>
          <a:prstGeom prst="rect">
            <a:avLst/>
          </a:prstGeom>
          <a:solidFill>
            <a:srgbClr val="0E8C84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2770632"/>
            <a:ext cx="438912" cy="438912"/>
          </a:xfrm>
          <a:prstGeom prst="ellipse">
            <a:avLst/>
          </a:prstGeom>
          <a:solidFill>
            <a:srgbClr val="0E8C84"/>
          </a:solidFill>
          <a:ln/>
        </p:spPr>
      </p:sp>
      <p:pic>
        <p:nvPicPr>
          <p:cNvPr id="22" name="Image 0" descr="/workspace/deck/asset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851" y="2875971"/>
            <a:ext cx="228234" cy="22823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79576" y="2706624"/>
            <a:ext cx="28264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E8C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AUDIENCE SERVED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79576" y="2889504"/>
            <a:ext cx="2826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Local job-seekers + investors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4298594" y="2615184"/>
            <a:ext cx="359450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298594" y="2615184"/>
            <a:ext cx="64008" cy="749808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27" name="Shape 24"/>
          <p:cNvSpPr/>
          <p:nvPr/>
        </p:nvSpPr>
        <p:spPr>
          <a:xfrm>
            <a:off x="4463186" y="2770632"/>
            <a:ext cx="438912" cy="438912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28" name="Image 1" descr="/workspace/deck/assets/aw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525" y="2875971"/>
            <a:ext cx="228234" cy="22823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975250" y="2706624"/>
            <a:ext cx="28264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PROVEN MODEL BORROWED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975250" y="2889504"/>
            <a:ext cx="2826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Sri City / Tamil Nadu ready-park + anchor model</a:t>
            </a:r>
            <a:endParaRPr lang="en-US" sz="930" dirty="0"/>
          </a:p>
        </p:txBody>
      </p:sp>
      <p:sp>
        <p:nvSpPr>
          <p:cNvPr id="31" name="Shape 27"/>
          <p:cNvSpPr/>
          <p:nvPr/>
        </p:nvSpPr>
        <p:spPr>
          <a:xfrm>
            <a:off x="8094269" y="2615184"/>
            <a:ext cx="359450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8094269" y="2615184"/>
            <a:ext cx="64008" cy="749808"/>
          </a:xfrm>
          <a:prstGeom prst="rect">
            <a:avLst/>
          </a:prstGeom>
          <a:solidFill>
            <a:srgbClr val="E0901F"/>
          </a:solidFill>
          <a:ln/>
        </p:spPr>
      </p:sp>
      <p:sp>
        <p:nvSpPr>
          <p:cNvPr id="33" name="Shape 29"/>
          <p:cNvSpPr/>
          <p:nvPr/>
        </p:nvSpPr>
        <p:spPr>
          <a:xfrm>
            <a:off x="8258861" y="2770632"/>
            <a:ext cx="438912" cy="438912"/>
          </a:xfrm>
          <a:prstGeom prst="ellipse">
            <a:avLst/>
          </a:prstGeom>
          <a:solidFill>
            <a:srgbClr val="E0901F"/>
          </a:solidFill>
          <a:ln/>
        </p:spPr>
      </p:sp>
      <p:pic>
        <p:nvPicPr>
          <p:cNvPr id="34" name="Image 2" descr="/workspace/deck/assets/rou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200" y="2875971"/>
            <a:ext cx="228234" cy="22823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770925" y="2706624"/>
            <a:ext cx="28264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LIVE DELIVERY RAIL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8770925" y="2889504"/>
            <a:ext cx="2826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BIADA + 10 new parks + AKIC-Gaya</a:t>
            </a:r>
            <a:endParaRPr lang="en-US" sz="930" dirty="0"/>
          </a:p>
        </p:txBody>
      </p:sp>
      <p:sp>
        <p:nvSpPr>
          <p:cNvPr id="37" name="Shape 32"/>
          <p:cNvSpPr/>
          <p:nvPr/>
        </p:nvSpPr>
        <p:spPr>
          <a:xfrm>
            <a:off x="502920" y="3529584"/>
            <a:ext cx="3521354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502920" y="3529584"/>
            <a:ext cx="3521354" cy="512064"/>
          </a:xfrm>
          <a:prstGeom prst="rect">
            <a:avLst/>
          </a:prstGeom>
          <a:solidFill>
            <a:srgbClr val="0E8C84"/>
          </a:solidFill>
          <a:ln/>
        </p:spPr>
      </p:sp>
      <p:sp>
        <p:nvSpPr>
          <p:cNvPr id="39" name="Shape 34"/>
          <p:cNvSpPr/>
          <p:nvPr/>
        </p:nvSpPr>
        <p:spPr>
          <a:xfrm>
            <a:off x="630936" y="363931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35"/>
          <p:cNvSpPr/>
          <p:nvPr/>
        </p:nvSpPr>
        <p:spPr>
          <a:xfrm>
            <a:off x="630936" y="3639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8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6"/>
          <p:cNvSpPr/>
          <p:nvPr/>
        </p:nvSpPr>
        <p:spPr>
          <a:xfrm>
            <a:off x="996696" y="3529584"/>
            <a:ext cx="29544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MONTHS 1–6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spc="50" kern="0" dirty="0">
                <a:solidFill>
                  <a:srgbClr val="EAF1F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IDENTIFY / LAUNCH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667512" y="4133088"/>
            <a:ext cx="321045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Designate 5 Priority Industrial Districts: Gaya, Muzaffarpur, Darbhanga, Bhagalpur, Begusarai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500–1,000 acres each, govt land first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90-day land-allotment SLA</a:t>
            </a:r>
            <a:endParaRPr lang="en-US" sz="960" dirty="0"/>
          </a:p>
        </p:txBody>
      </p:sp>
      <p:sp>
        <p:nvSpPr>
          <p:cNvPr id="43" name="Shape 38"/>
          <p:cNvSpPr/>
          <p:nvPr/>
        </p:nvSpPr>
        <p:spPr>
          <a:xfrm>
            <a:off x="4060850" y="4526280"/>
            <a:ext cx="237744" cy="0"/>
          </a:xfrm>
          <a:prstGeom prst="line">
            <a:avLst/>
          </a:prstGeom>
          <a:noFill/>
          <a:ln w="31750">
            <a:solidFill>
              <a:srgbClr val="E0901F"/>
            </a:solidFill>
            <a:prstDash val="solid"/>
            <a:tailEnd type="triangle"/>
          </a:ln>
        </p:spPr>
      </p:sp>
      <p:sp>
        <p:nvSpPr>
          <p:cNvPr id="44" name="Shape 39"/>
          <p:cNvSpPr/>
          <p:nvPr/>
        </p:nvSpPr>
        <p:spPr>
          <a:xfrm>
            <a:off x="4335170" y="3529584"/>
            <a:ext cx="3521354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4335170" y="3529584"/>
            <a:ext cx="3521354" cy="512064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46" name="Shape 41"/>
          <p:cNvSpPr/>
          <p:nvPr/>
        </p:nvSpPr>
        <p:spPr>
          <a:xfrm>
            <a:off x="4463186" y="363931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Text 42"/>
          <p:cNvSpPr/>
          <p:nvPr/>
        </p:nvSpPr>
        <p:spPr>
          <a:xfrm>
            <a:off x="4463186" y="3639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</a:t>
            </a:r>
            <a:endParaRPr lang="en-US" sz="1600" dirty="0"/>
          </a:p>
        </p:txBody>
      </p:sp>
      <p:sp>
        <p:nvSpPr>
          <p:cNvPr id="48" name="Text 43"/>
          <p:cNvSpPr/>
          <p:nvPr/>
        </p:nvSpPr>
        <p:spPr>
          <a:xfrm>
            <a:off x="4828946" y="3529584"/>
            <a:ext cx="29544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MONTHS 7–18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spc="50" kern="0" dirty="0">
                <a:solidFill>
                  <a:srgbClr val="EAF1F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BUILD / COMMISSION</a:t>
            </a:r>
            <a:endParaRPr lang="en-US" sz="1050" dirty="0"/>
          </a:p>
        </p:txBody>
      </p:sp>
      <p:sp>
        <p:nvSpPr>
          <p:cNvPr id="49" name="Text 44"/>
          <p:cNvSpPr/>
          <p:nvPr/>
        </p:nvSpPr>
        <p:spPr>
          <a:xfrm>
            <a:off x="4499762" y="4133088"/>
            <a:ext cx="321045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Build plug-and-play sheds: power, water, ETP, solar feeder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10 cold stores at production clusters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Stand up 2 Mega Food Parks</a:t>
            </a:r>
            <a:endParaRPr lang="en-US" sz="960" dirty="0"/>
          </a:p>
        </p:txBody>
      </p:sp>
      <p:sp>
        <p:nvSpPr>
          <p:cNvPr id="50" name="Shape 45"/>
          <p:cNvSpPr/>
          <p:nvPr/>
        </p:nvSpPr>
        <p:spPr>
          <a:xfrm>
            <a:off x="7893101" y="4526280"/>
            <a:ext cx="237744" cy="0"/>
          </a:xfrm>
          <a:prstGeom prst="line">
            <a:avLst/>
          </a:prstGeom>
          <a:noFill/>
          <a:ln w="31750">
            <a:solidFill>
              <a:srgbClr val="E0901F"/>
            </a:solidFill>
            <a:prstDash val="solid"/>
            <a:tailEnd type="triangle"/>
          </a:ln>
        </p:spPr>
      </p:sp>
      <p:sp>
        <p:nvSpPr>
          <p:cNvPr id="51" name="Shape 46"/>
          <p:cNvSpPr/>
          <p:nvPr/>
        </p:nvSpPr>
        <p:spPr>
          <a:xfrm>
            <a:off x="8167421" y="3529584"/>
            <a:ext cx="3521354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52" name="Shape 47"/>
          <p:cNvSpPr/>
          <p:nvPr/>
        </p:nvSpPr>
        <p:spPr>
          <a:xfrm>
            <a:off x="8167421" y="3529584"/>
            <a:ext cx="3521354" cy="512064"/>
          </a:xfrm>
          <a:prstGeom prst="rect">
            <a:avLst/>
          </a:prstGeom>
          <a:solidFill>
            <a:srgbClr val="E0901F"/>
          </a:solidFill>
          <a:ln/>
        </p:spPr>
      </p:sp>
      <p:sp>
        <p:nvSpPr>
          <p:cNvPr id="53" name="Shape 48"/>
          <p:cNvSpPr/>
          <p:nvPr/>
        </p:nvSpPr>
        <p:spPr>
          <a:xfrm>
            <a:off x="8295437" y="363931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4" name="Text 49"/>
          <p:cNvSpPr/>
          <p:nvPr/>
        </p:nvSpPr>
        <p:spPr>
          <a:xfrm>
            <a:off x="8295437" y="3639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901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3</a:t>
            </a:r>
            <a:endParaRPr lang="en-US" sz="1600" dirty="0"/>
          </a:p>
        </p:txBody>
      </p:sp>
      <p:sp>
        <p:nvSpPr>
          <p:cNvPr id="55" name="Text 50"/>
          <p:cNvSpPr/>
          <p:nvPr/>
        </p:nvSpPr>
        <p:spPr>
          <a:xfrm>
            <a:off x="8661197" y="3529584"/>
            <a:ext cx="29544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MONTHS 19–24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spc="50" kern="0" dirty="0">
                <a:solidFill>
                  <a:srgbClr val="EAF1F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OPERATIONALISE / SCALE</a:t>
            </a:r>
            <a:endParaRPr lang="en-US" sz="1050" dirty="0"/>
          </a:p>
        </p:txBody>
      </p:sp>
      <p:sp>
        <p:nvSpPr>
          <p:cNvPr id="56" name="Text 51"/>
          <p:cNvSpPr/>
          <p:nvPr/>
        </p:nvSpPr>
        <p:spPr>
          <a:xfrm>
            <a:off x="8332013" y="4133088"/>
            <a:ext cx="321045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Reach 60% shed occupancy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Land 1 anchor tenant per park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Captive solar live across parks</a:t>
            </a:r>
            <a:endParaRPr lang="en-US" sz="960" dirty="0"/>
          </a:p>
        </p:txBody>
      </p:sp>
      <p:sp>
        <p:nvSpPr>
          <p:cNvPr id="57" name="Shape 52"/>
          <p:cNvSpPr/>
          <p:nvPr/>
        </p:nvSpPr>
        <p:spPr>
          <a:xfrm>
            <a:off x="502920" y="5669280"/>
            <a:ext cx="11185855" cy="768096"/>
          </a:xfrm>
          <a:prstGeom prst="rect">
            <a:avLst/>
          </a:prstGeom>
          <a:solidFill>
            <a:srgbClr val="E0901F"/>
          </a:solidFill>
          <a:ln/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58" name="Shape 53"/>
          <p:cNvSpPr/>
          <p:nvPr/>
        </p:nvSpPr>
        <p:spPr>
          <a:xfrm>
            <a:off x="502920" y="5669280"/>
            <a:ext cx="109728" cy="768096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59" name="Shape 54"/>
          <p:cNvSpPr/>
          <p:nvPr/>
        </p:nvSpPr>
        <p:spPr>
          <a:xfrm>
            <a:off x="758952" y="5824728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60" name="Image 3" descr="/workspace/deck/assets/bullsey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934456"/>
            <a:ext cx="237744" cy="237744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1344168" y="57790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3A0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24-MONTH TARGET</a:t>
            </a:r>
            <a:endParaRPr lang="en-US" sz="950" dirty="0"/>
          </a:p>
        </p:txBody>
      </p:sp>
      <p:sp>
        <p:nvSpPr>
          <p:cNvPr id="62" name="Text 56"/>
          <p:cNvSpPr/>
          <p:nvPr/>
        </p:nvSpPr>
        <p:spPr>
          <a:xfrm>
            <a:off x="1344168" y="596188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50" kern="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60% shed occupancy + 1 anchor per park</a:t>
            </a:r>
            <a:endParaRPr lang="en-US" sz="2500" dirty="0"/>
          </a:p>
        </p:txBody>
      </p:sp>
      <p:sp>
        <p:nvSpPr>
          <p:cNvPr id="63" name="Shape 57"/>
          <p:cNvSpPr/>
          <p:nvPr/>
        </p:nvSpPr>
        <p:spPr>
          <a:xfrm>
            <a:off x="7528255" y="5788152"/>
            <a:ext cx="40233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58"/>
          <p:cNvSpPr/>
          <p:nvPr/>
        </p:nvSpPr>
        <p:spPr>
          <a:xfrm>
            <a:off x="7647127" y="5797296"/>
            <a:ext cx="3803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b="1" spc="50" kern="0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SECTOR LEVER   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Anchors light engineering &amp; electronics — AKIC-Gaya PCB/EMS + defence corridor; wages 30–40% below Mumbai/Chennai.</a:t>
            </a:r>
            <a:endParaRPr lang="en-US" sz="800" dirty="0"/>
          </a:p>
        </p:txBody>
      </p:sp>
      <p:sp>
        <p:nvSpPr>
          <p:cNvPr id="65" name="Text 59"/>
          <p:cNvSpPr/>
          <p:nvPr/>
        </p:nvSpPr>
        <p:spPr>
          <a:xfrm>
            <a:off x="502920" y="652881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Source:  </a:t>
            </a:r>
            <a:pPr algn="l" indent="0" marL="0">
              <a:buNone/>
            </a:pPr>
            <a:r>
              <a:rPr lang="en-US" sz="85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BIADA; IBEF / Invest India (AKIC-Gaya); model transfer: Sri City &amp; Tamil Nadu plug-and-play parks.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C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ACTION CORE · ONE SLIDE PER PILLAR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spc="50" kern="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SOLUTION 2 — WOMEN-LED &amp; RETURNEE ENTERPRISE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311335" y="274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UDAAN </a:t>
            </a:r>
            <a:pPr algn="r" indent="0" marL="0">
              <a:buNone/>
            </a:pPr>
            <a:r>
              <a:rPr lang="en-US" sz="120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2.0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311335" y="548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05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2120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207008"/>
            <a:ext cx="202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P1  </a:t>
            </a:r>
            <a:pPr algn="ctr" indent="0" marL="0">
              <a:buNone/>
            </a:pPr>
            <a:r>
              <a:rPr lang="en-US" sz="8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LAND &amp; SHEDS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69352" y="1207008"/>
            <a:ext cx="2120128" cy="457200"/>
          </a:xfrm>
          <a:prstGeom prst="roundRect">
            <a:avLst>
              <a:gd name="adj" fmla="val 12000"/>
            </a:avLst>
          </a:prstGeom>
          <a:solidFill>
            <a:srgbClr val="0E8C84"/>
          </a:solidFill>
          <a:ln w="12700">
            <a:solidFill>
              <a:srgbClr val="0E8C84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24216" y="1207008"/>
            <a:ext cx="202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P2  </a:t>
            </a:r>
            <a:pPr algn="ctr" indent="0" marL="0">
              <a:buNone/>
            </a:pPr>
            <a:r>
              <a:rPr lang="en-US" sz="800" b="1" dirty="0">
                <a:solidFill>
                  <a:srgbClr val="F1FBF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WOMEN + RETURNEE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35784" y="1207008"/>
            <a:ext cx="2120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90648" y="1207008"/>
            <a:ext cx="202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P3  </a:t>
            </a:r>
            <a:pPr algn="ctr" indent="0" marL="0">
              <a:buNone/>
            </a:pPr>
            <a:r>
              <a:rPr lang="en-US" sz="8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OBOP CLUSTERS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02216" y="1207008"/>
            <a:ext cx="2120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57080" y="1207008"/>
            <a:ext cx="202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P4  </a:t>
            </a:r>
            <a:pPr algn="ctr" indent="0" marL="0">
              <a:buNone/>
            </a:pPr>
            <a:r>
              <a:rPr lang="en-US" sz="8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SKILLS-TO-JOB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568647" y="1207008"/>
            <a:ext cx="2120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23511" y="1207008"/>
            <a:ext cx="202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P5  </a:t>
            </a:r>
            <a:pPr algn="ctr" indent="0" marL="0">
              <a:buNone/>
            </a:pPr>
            <a:r>
              <a:rPr lang="en-US" sz="8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FINANCE + GOV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1810512"/>
            <a:ext cx="359450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1810512"/>
            <a:ext cx="64008" cy="749808"/>
          </a:xfrm>
          <a:prstGeom prst="rect">
            <a:avLst/>
          </a:prstGeom>
          <a:solidFill>
            <a:srgbClr val="0E8C84"/>
          </a:solidFill>
          <a:ln/>
        </p:spPr>
      </p:sp>
      <p:sp>
        <p:nvSpPr>
          <p:cNvPr id="18" name="Shape 16"/>
          <p:cNvSpPr/>
          <p:nvPr/>
        </p:nvSpPr>
        <p:spPr>
          <a:xfrm>
            <a:off x="667512" y="1965960"/>
            <a:ext cx="438912" cy="438912"/>
          </a:xfrm>
          <a:prstGeom prst="ellipse">
            <a:avLst/>
          </a:prstGeom>
          <a:solidFill>
            <a:srgbClr val="0E8C84"/>
          </a:solidFill>
          <a:ln/>
        </p:spPr>
      </p:sp>
      <p:pic>
        <p:nvPicPr>
          <p:cNvPr id="19" name="Image 0" descr="/workspace/deck/asset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851" y="2071299"/>
            <a:ext cx="228234" cy="22823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79576" y="1901952"/>
            <a:ext cx="28264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E8C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AUDIENCE SERVED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79576" y="2084832"/>
            <a:ext cx="2826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1.4 cr JEEViKA women + ~50 Mn migrants</a:t>
            </a:r>
            <a:endParaRPr lang="en-US" sz="930" dirty="0"/>
          </a:p>
        </p:txBody>
      </p:sp>
      <p:sp>
        <p:nvSpPr>
          <p:cNvPr id="22" name="Shape 19"/>
          <p:cNvSpPr/>
          <p:nvPr/>
        </p:nvSpPr>
        <p:spPr>
          <a:xfrm>
            <a:off x="4298594" y="1810512"/>
            <a:ext cx="359450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298594" y="1810512"/>
            <a:ext cx="64008" cy="749808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24" name="Shape 21"/>
          <p:cNvSpPr/>
          <p:nvPr/>
        </p:nvSpPr>
        <p:spPr>
          <a:xfrm>
            <a:off x="4463186" y="1965960"/>
            <a:ext cx="438912" cy="438912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25" name="Image 1" descr="/workspace/deck/assets/aw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525" y="2071299"/>
            <a:ext cx="228234" cy="22823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975250" y="1901952"/>
            <a:ext cx="28264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PROVEN MODEL BORROWED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975250" y="2084832"/>
            <a:ext cx="2826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Amul + SEWA / Lijjat + Kerala NORKA</a:t>
            </a:r>
            <a:endParaRPr lang="en-US" sz="930" dirty="0"/>
          </a:p>
        </p:txBody>
      </p:sp>
      <p:sp>
        <p:nvSpPr>
          <p:cNvPr id="28" name="Shape 24"/>
          <p:cNvSpPr/>
          <p:nvPr/>
        </p:nvSpPr>
        <p:spPr>
          <a:xfrm>
            <a:off x="8094269" y="1810512"/>
            <a:ext cx="359450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094269" y="1810512"/>
            <a:ext cx="64008" cy="749808"/>
          </a:xfrm>
          <a:prstGeom prst="rect">
            <a:avLst/>
          </a:prstGeom>
          <a:solidFill>
            <a:srgbClr val="E0901F"/>
          </a:solidFill>
          <a:ln/>
        </p:spPr>
      </p:sp>
      <p:sp>
        <p:nvSpPr>
          <p:cNvPr id="30" name="Shape 26"/>
          <p:cNvSpPr/>
          <p:nvPr/>
        </p:nvSpPr>
        <p:spPr>
          <a:xfrm>
            <a:off x="8258861" y="1965960"/>
            <a:ext cx="438912" cy="438912"/>
          </a:xfrm>
          <a:prstGeom prst="ellipse">
            <a:avLst/>
          </a:prstGeom>
          <a:solidFill>
            <a:srgbClr val="E0901F"/>
          </a:solidFill>
          <a:ln/>
        </p:spPr>
      </p:sp>
      <p:pic>
        <p:nvPicPr>
          <p:cNvPr id="31" name="Image 2" descr="/workspace/deck/assets/rou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200" y="2071299"/>
            <a:ext cx="228234" cy="22823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770925" y="1901952"/>
            <a:ext cx="28264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LIVE DELIVERY RAIL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8770925" y="2084832"/>
            <a:ext cx="2826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JEEViKA + MMRY + Makhana Board FPOs + new Returnee Mission</a:t>
            </a:r>
            <a:endParaRPr lang="en-US" sz="930" dirty="0"/>
          </a:p>
        </p:txBody>
      </p:sp>
      <p:sp>
        <p:nvSpPr>
          <p:cNvPr id="34" name="Shape 29"/>
          <p:cNvSpPr/>
          <p:nvPr/>
        </p:nvSpPr>
        <p:spPr>
          <a:xfrm>
            <a:off x="502920" y="2724912"/>
            <a:ext cx="3521354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502920" y="2724912"/>
            <a:ext cx="3521354" cy="512064"/>
          </a:xfrm>
          <a:prstGeom prst="rect">
            <a:avLst/>
          </a:prstGeom>
          <a:solidFill>
            <a:srgbClr val="0E8C84"/>
          </a:solidFill>
          <a:ln/>
        </p:spPr>
      </p:sp>
      <p:sp>
        <p:nvSpPr>
          <p:cNvPr id="36" name="Shape 31"/>
          <p:cNvSpPr/>
          <p:nvPr/>
        </p:nvSpPr>
        <p:spPr>
          <a:xfrm>
            <a:off x="630936" y="28346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2"/>
          <p:cNvSpPr/>
          <p:nvPr/>
        </p:nvSpPr>
        <p:spPr>
          <a:xfrm>
            <a:off x="630936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8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3"/>
          <p:cNvSpPr/>
          <p:nvPr/>
        </p:nvSpPr>
        <p:spPr>
          <a:xfrm>
            <a:off x="996696" y="2724912"/>
            <a:ext cx="29544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MONTHS 1–6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spc="50" kern="0" dirty="0">
                <a:solidFill>
                  <a:srgbClr val="EAF1F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IDENTIFY / LAUNCH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667512" y="3328416"/>
            <a:ext cx="321045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Form 200+ JEEViKA producer groups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Launch a Migrant &amp; Returnee Registry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Map returnee skills to anchor demand</a:t>
            </a:r>
            <a:endParaRPr lang="en-US" sz="960" dirty="0"/>
          </a:p>
        </p:txBody>
      </p:sp>
      <p:sp>
        <p:nvSpPr>
          <p:cNvPr id="40" name="Shape 35"/>
          <p:cNvSpPr/>
          <p:nvPr/>
        </p:nvSpPr>
        <p:spPr>
          <a:xfrm>
            <a:off x="4060850" y="3922776"/>
            <a:ext cx="237744" cy="0"/>
          </a:xfrm>
          <a:prstGeom prst="line">
            <a:avLst/>
          </a:prstGeom>
          <a:noFill/>
          <a:ln w="31750">
            <a:solidFill>
              <a:srgbClr val="E0901F"/>
            </a:solidFill>
            <a:prstDash val="solid"/>
            <a:tailEnd type="triangle"/>
          </a:ln>
        </p:spPr>
      </p:sp>
      <p:sp>
        <p:nvSpPr>
          <p:cNvPr id="41" name="Shape 36"/>
          <p:cNvSpPr/>
          <p:nvPr/>
        </p:nvSpPr>
        <p:spPr>
          <a:xfrm>
            <a:off x="4335170" y="2724912"/>
            <a:ext cx="3521354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4335170" y="2724912"/>
            <a:ext cx="3521354" cy="512064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43" name="Shape 38"/>
          <p:cNvSpPr/>
          <p:nvPr/>
        </p:nvSpPr>
        <p:spPr>
          <a:xfrm>
            <a:off x="4463186" y="28346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/>
          <p:nvPr/>
        </p:nvSpPr>
        <p:spPr>
          <a:xfrm>
            <a:off x="4463186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Text 40"/>
          <p:cNvSpPr/>
          <p:nvPr/>
        </p:nvSpPr>
        <p:spPr>
          <a:xfrm>
            <a:off x="4828946" y="2724912"/>
            <a:ext cx="29544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MONTHS 7–18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spc="50" kern="0" dirty="0">
                <a:solidFill>
                  <a:srgbClr val="EAF1F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BUILD / COMMISSION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4499762" y="3328416"/>
            <a:ext cx="321045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MMRY follow-on credit up to Rs 2 lakh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'Homecoming' loan for returnee founders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Creches + safe transport for women lines</a:t>
            </a:r>
            <a:endParaRPr lang="en-US" sz="960" dirty="0"/>
          </a:p>
        </p:txBody>
      </p:sp>
      <p:sp>
        <p:nvSpPr>
          <p:cNvPr id="47" name="Shape 42"/>
          <p:cNvSpPr/>
          <p:nvPr/>
        </p:nvSpPr>
        <p:spPr>
          <a:xfrm>
            <a:off x="7893101" y="3922776"/>
            <a:ext cx="237744" cy="0"/>
          </a:xfrm>
          <a:prstGeom prst="line">
            <a:avLst/>
          </a:prstGeom>
          <a:noFill/>
          <a:ln w="31750">
            <a:solidFill>
              <a:srgbClr val="E0901F"/>
            </a:solidFill>
            <a:prstDash val="solid"/>
            <a:tailEnd type="triangle"/>
          </a:ln>
        </p:spPr>
      </p:sp>
      <p:sp>
        <p:nvSpPr>
          <p:cNvPr id="48" name="Shape 43"/>
          <p:cNvSpPr/>
          <p:nvPr/>
        </p:nvSpPr>
        <p:spPr>
          <a:xfrm>
            <a:off x="8167421" y="2724912"/>
            <a:ext cx="3521354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49" name="Shape 44"/>
          <p:cNvSpPr/>
          <p:nvPr/>
        </p:nvSpPr>
        <p:spPr>
          <a:xfrm>
            <a:off x="8167421" y="2724912"/>
            <a:ext cx="3521354" cy="512064"/>
          </a:xfrm>
          <a:prstGeom prst="rect">
            <a:avLst/>
          </a:prstGeom>
          <a:solidFill>
            <a:srgbClr val="E0901F"/>
          </a:solidFill>
          <a:ln/>
        </p:spPr>
      </p:sp>
      <p:sp>
        <p:nvSpPr>
          <p:cNvPr id="50" name="Shape 45"/>
          <p:cNvSpPr/>
          <p:nvPr/>
        </p:nvSpPr>
        <p:spPr>
          <a:xfrm>
            <a:off x="8295437" y="28346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Text 46"/>
          <p:cNvSpPr/>
          <p:nvPr/>
        </p:nvSpPr>
        <p:spPr>
          <a:xfrm>
            <a:off x="8295437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901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Text 47"/>
          <p:cNvSpPr/>
          <p:nvPr/>
        </p:nvSpPr>
        <p:spPr>
          <a:xfrm>
            <a:off x="8661197" y="2724912"/>
            <a:ext cx="29544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MONTHS 19–24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spc="50" kern="0" dirty="0">
                <a:solidFill>
                  <a:srgbClr val="EAF1F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OPERATIONALISE / SCALE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8332013" y="3328416"/>
            <a:ext cx="321045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Commission FPO-owned processing units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Scale Lakhpati Didi enterprises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Wage-parity + owner tracks to retain returnees</a:t>
            </a:r>
            <a:endParaRPr lang="en-US" sz="960" dirty="0"/>
          </a:p>
        </p:txBody>
      </p:sp>
      <p:sp>
        <p:nvSpPr>
          <p:cNvPr id="54" name="Shape 49"/>
          <p:cNvSpPr/>
          <p:nvPr/>
        </p:nvSpPr>
        <p:spPr>
          <a:xfrm>
            <a:off x="502920" y="5266944"/>
            <a:ext cx="11185855" cy="768096"/>
          </a:xfrm>
          <a:prstGeom prst="rect">
            <a:avLst/>
          </a:prstGeom>
          <a:solidFill>
            <a:srgbClr val="E0901F"/>
          </a:solidFill>
          <a:ln/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55" name="Shape 50"/>
          <p:cNvSpPr/>
          <p:nvPr/>
        </p:nvSpPr>
        <p:spPr>
          <a:xfrm>
            <a:off x="502920" y="5266944"/>
            <a:ext cx="109728" cy="768096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56" name="Shape 51"/>
          <p:cNvSpPr/>
          <p:nvPr/>
        </p:nvSpPr>
        <p:spPr>
          <a:xfrm>
            <a:off x="758952" y="5422392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57" name="Image 3" descr="/workspace/deck/assets/bullsey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532120"/>
            <a:ext cx="237744" cy="237744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1344168" y="53766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3A0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24-MONTH TARGET</a:t>
            </a:r>
            <a:endParaRPr lang="en-US" sz="950" dirty="0"/>
          </a:p>
        </p:txBody>
      </p:sp>
      <p:sp>
        <p:nvSpPr>
          <p:cNvPr id="59" name="Text 53"/>
          <p:cNvSpPr/>
          <p:nvPr/>
        </p:nvSpPr>
        <p:spPr>
          <a:xfrm>
            <a:off x="1344168" y="555955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50" kern="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 lakh Lakhpati Didi + 10,000 returnee units</a:t>
            </a:r>
            <a:endParaRPr lang="en-US" sz="2500" dirty="0"/>
          </a:p>
        </p:txBody>
      </p:sp>
      <p:sp>
        <p:nvSpPr>
          <p:cNvPr id="60" name="Shape 54"/>
          <p:cNvSpPr/>
          <p:nvPr/>
        </p:nvSpPr>
        <p:spPr>
          <a:xfrm>
            <a:off x="7528255" y="5385816"/>
            <a:ext cx="40233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5"/>
          <p:cNvSpPr/>
          <p:nvPr/>
        </p:nvSpPr>
        <p:spPr>
          <a:xfrm>
            <a:off x="7647127" y="5394960"/>
            <a:ext cx="3803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b="1" spc="50" kern="0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SECTOR LEVER   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Agro-processing — 8–12 jobs per Rs 1 cr, 60–70% female; makhana processed in-state = 3–4x the jobs of raw.</a:t>
            </a:r>
            <a:endParaRPr lang="en-US" sz="800" dirty="0"/>
          </a:p>
        </p:txBody>
      </p:sp>
      <p:sp>
        <p:nvSpPr>
          <p:cNvPr id="62" name="Text 56"/>
          <p:cNvSpPr/>
          <p:nvPr/>
        </p:nvSpPr>
        <p:spPr>
          <a:xfrm>
            <a:off x="502920" y="652881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Source:  </a:t>
            </a:r>
            <a:pPr algn="l" indent="0" marL="0">
              <a:buNone/>
            </a:pPr>
            <a:r>
              <a:rPr lang="en-US" sz="85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PIB (MMRY, JEEViKA Nidhi); National Makhana Board (Rs 476.03-cr scheme); model transfer: Amul/GCMMF, SEWA/Lijjat, Kerala NORKA.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C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ACTION CORE · ONE SLIDE PER PILLAR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spc="50" kern="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SOLUTION 3 — DISTRIBUTED CLUSTER ACTIVATION (OBOP)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311335" y="274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UDAAN </a:t>
            </a:r>
            <a:pPr algn="r" indent="0" marL="0">
              <a:buNone/>
            </a:pPr>
            <a:r>
              <a:rPr lang="en-US" sz="120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2.0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311335" y="548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06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2120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207008"/>
            <a:ext cx="202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P1  </a:t>
            </a:r>
            <a:pPr algn="ctr" indent="0" marL="0">
              <a:buNone/>
            </a:pPr>
            <a:r>
              <a:rPr lang="en-US" sz="8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LAND &amp; SHEDS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69352" y="1207008"/>
            <a:ext cx="2120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24216" y="1207008"/>
            <a:ext cx="202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P2  </a:t>
            </a:r>
            <a:pPr algn="ctr" indent="0" marL="0">
              <a:buNone/>
            </a:pPr>
            <a:r>
              <a:rPr lang="en-US" sz="8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WOMEN + RETURNEE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35784" y="1207008"/>
            <a:ext cx="2120128" cy="457200"/>
          </a:xfrm>
          <a:prstGeom prst="roundRect">
            <a:avLst>
              <a:gd name="adj" fmla="val 12000"/>
            </a:avLst>
          </a:prstGeom>
          <a:solidFill>
            <a:srgbClr val="0E8C84"/>
          </a:solidFill>
          <a:ln w="12700">
            <a:solidFill>
              <a:srgbClr val="0E8C84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90648" y="1207008"/>
            <a:ext cx="202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P3  </a:t>
            </a:r>
            <a:pPr algn="ctr" indent="0" marL="0">
              <a:buNone/>
            </a:pPr>
            <a:r>
              <a:rPr lang="en-US" sz="800" b="1" dirty="0">
                <a:solidFill>
                  <a:srgbClr val="F1FBF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OBOP CLUSTERS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02216" y="1207008"/>
            <a:ext cx="2120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57080" y="1207008"/>
            <a:ext cx="202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P4  </a:t>
            </a:r>
            <a:pPr algn="ctr" indent="0" marL="0">
              <a:buNone/>
            </a:pPr>
            <a:r>
              <a:rPr lang="en-US" sz="8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SKILLS-TO-JOB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568647" y="1207008"/>
            <a:ext cx="2120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23511" y="1207008"/>
            <a:ext cx="202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P5  </a:t>
            </a:r>
            <a:pPr algn="ctr" indent="0" marL="0">
              <a:buNone/>
            </a:pPr>
            <a:r>
              <a:rPr lang="en-US" sz="8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FINANCE + GOV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1810512"/>
            <a:ext cx="359450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1810512"/>
            <a:ext cx="64008" cy="749808"/>
          </a:xfrm>
          <a:prstGeom prst="rect">
            <a:avLst/>
          </a:prstGeom>
          <a:solidFill>
            <a:srgbClr val="0E8C84"/>
          </a:solidFill>
          <a:ln/>
        </p:spPr>
      </p:sp>
      <p:sp>
        <p:nvSpPr>
          <p:cNvPr id="18" name="Shape 16"/>
          <p:cNvSpPr/>
          <p:nvPr/>
        </p:nvSpPr>
        <p:spPr>
          <a:xfrm>
            <a:off x="667512" y="1965960"/>
            <a:ext cx="438912" cy="438912"/>
          </a:xfrm>
          <a:prstGeom prst="ellipse">
            <a:avLst/>
          </a:prstGeom>
          <a:solidFill>
            <a:srgbClr val="0E8C84"/>
          </a:solidFill>
          <a:ln/>
        </p:spPr>
      </p:sp>
      <p:pic>
        <p:nvPicPr>
          <p:cNvPr id="19" name="Image 0" descr="/workspace/deck/asset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851" y="2071299"/>
            <a:ext cx="228234" cy="22823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79576" y="1901952"/>
            <a:ext cx="28264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E8C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AUDIENCE SERVED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79576" y="2084832"/>
            <a:ext cx="2826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Weavers, artisans + district MSMEs</a:t>
            </a:r>
            <a:endParaRPr lang="en-US" sz="930" dirty="0"/>
          </a:p>
        </p:txBody>
      </p:sp>
      <p:sp>
        <p:nvSpPr>
          <p:cNvPr id="22" name="Shape 19"/>
          <p:cNvSpPr/>
          <p:nvPr/>
        </p:nvSpPr>
        <p:spPr>
          <a:xfrm>
            <a:off x="4298594" y="1810512"/>
            <a:ext cx="359450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298594" y="1810512"/>
            <a:ext cx="64008" cy="749808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24" name="Shape 21"/>
          <p:cNvSpPr/>
          <p:nvPr/>
        </p:nvSpPr>
        <p:spPr>
          <a:xfrm>
            <a:off x="4463186" y="1965960"/>
            <a:ext cx="438912" cy="438912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25" name="Image 1" descr="/workspace/deck/assets/aw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525" y="2071299"/>
            <a:ext cx="228234" cy="22823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975250" y="1901952"/>
            <a:ext cx="28264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PROVEN MODEL BORROWED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975250" y="2084832"/>
            <a:ext cx="2826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UP ODOP + Tirupur RMG + Sialkot CFCs</a:t>
            </a:r>
            <a:endParaRPr lang="en-US" sz="930" dirty="0"/>
          </a:p>
        </p:txBody>
      </p:sp>
      <p:sp>
        <p:nvSpPr>
          <p:cNvPr id="28" name="Shape 24"/>
          <p:cNvSpPr/>
          <p:nvPr/>
        </p:nvSpPr>
        <p:spPr>
          <a:xfrm>
            <a:off x="8094269" y="1810512"/>
            <a:ext cx="359450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094269" y="1810512"/>
            <a:ext cx="64008" cy="749808"/>
          </a:xfrm>
          <a:prstGeom prst="rect">
            <a:avLst/>
          </a:prstGeom>
          <a:solidFill>
            <a:srgbClr val="E0901F"/>
          </a:solidFill>
          <a:ln/>
        </p:spPr>
      </p:sp>
      <p:sp>
        <p:nvSpPr>
          <p:cNvPr id="30" name="Shape 26"/>
          <p:cNvSpPr/>
          <p:nvPr/>
        </p:nvSpPr>
        <p:spPr>
          <a:xfrm>
            <a:off x="8258861" y="1965960"/>
            <a:ext cx="438912" cy="438912"/>
          </a:xfrm>
          <a:prstGeom prst="ellipse">
            <a:avLst/>
          </a:prstGeom>
          <a:solidFill>
            <a:srgbClr val="E0901F"/>
          </a:solidFill>
          <a:ln/>
        </p:spPr>
      </p:sp>
      <p:pic>
        <p:nvPicPr>
          <p:cNvPr id="31" name="Image 2" descr="/workspace/deck/assets/rou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200" y="2071299"/>
            <a:ext cx="228234" cy="22823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770925" y="1901952"/>
            <a:ext cx="28264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LIVE DELIVERY RAIL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8770925" y="2084832"/>
            <a:ext cx="2826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OBOP + District Industries Centres</a:t>
            </a:r>
            <a:endParaRPr lang="en-US" sz="930" dirty="0"/>
          </a:p>
        </p:txBody>
      </p:sp>
      <p:sp>
        <p:nvSpPr>
          <p:cNvPr id="34" name="Shape 29"/>
          <p:cNvSpPr/>
          <p:nvPr/>
        </p:nvSpPr>
        <p:spPr>
          <a:xfrm>
            <a:off x="502920" y="2724912"/>
            <a:ext cx="3521354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502920" y="2724912"/>
            <a:ext cx="3521354" cy="512064"/>
          </a:xfrm>
          <a:prstGeom prst="rect">
            <a:avLst/>
          </a:prstGeom>
          <a:solidFill>
            <a:srgbClr val="0E8C84"/>
          </a:solidFill>
          <a:ln/>
        </p:spPr>
      </p:sp>
      <p:sp>
        <p:nvSpPr>
          <p:cNvPr id="36" name="Shape 31"/>
          <p:cNvSpPr/>
          <p:nvPr/>
        </p:nvSpPr>
        <p:spPr>
          <a:xfrm>
            <a:off x="630936" y="28346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2"/>
          <p:cNvSpPr/>
          <p:nvPr/>
        </p:nvSpPr>
        <p:spPr>
          <a:xfrm>
            <a:off x="630936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8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3"/>
          <p:cNvSpPr/>
          <p:nvPr/>
        </p:nvSpPr>
        <p:spPr>
          <a:xfrm>
            <a:off x="996696" y="2724912"/>
            <a:ext cx="29544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MONTHS 1–6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spc="50" kern="0" dirty="0">
                <a:solidFill>
                  <a:srgbClr val="EAF1F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IDENTIFY / LAUNCH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667512" y="3328416"/>
            <a:ext cx="321045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One product per block: Bhagalpur silk, Madhubani, footwear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Design Common Facility Centres (CFCs)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Map cluster demand + buyers</a:t>
            </a:r>
            <a:endParaRPr lang="en-US" sz="960" dirty="0"/>
          </a:p>
        </p:txBody>
      </p:sp>
      <p:sp>
        <p:nvSpPr>
          <p:cNvPr id="40" name="Shape 35"/>
          <p:cNvSpPr/>
          <p:nvPr/>
        </p:nvSpPr>
        <p:spPr>
          <a:xfrm>
            <a:off x="4060850" y="3922776"/>
            <a:ext cx="237744" cy="0"/>
          </a:xfrm>
          <a:prstGeom prst="line">
            <a:avLst/>
          </a:prstGeom>
          <a:noFill/>
          <a:ln w="31750">
            <a:solidFill>
              <a:srgbClr val="E0901F"/>
            </a:solidFill>
            <a:prstDash val="solid"/>
            <a:tailEnd type="triangle"/>
          </a:ln>
        </p:spPr>
      </p:sp>
      <p:sp>
        <p:nvSpPr>
          <p:cNvPr id="41" name="Shape 36"/>
          <p:cNvSpPr/>
          <p:nvPr/>
        </p:nvSpPr>
        <p:spPr>
          <a:xfrm>
            <a:off x="4335170" y="2724912"/>
            <a:ext cx="3521354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4335170" y="2724912"/>
            <a:ext cx="3521354" cy="512064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43" name="Shape 38"/>
          <p:cNvSpPr/>
          <p:nvPr/>
        </p:nvSpPr>
        <p:spPr>
          <a:xfrm>
            <a:off x="4463186" y="28346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/>
          <p:nvPr/>
        </p:nvSpPr>
        <p:spPr>
          <a:xfrm>
            <a:off x="4463186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Text 40"/>
          <p:cNvSpPr/>
          <p:nvPr/>
        </p:nvSpPr>
        <p:spPr>
          <a:xfrm>
            <a:off x="4828946" y="2724912"/>
            <a:ext cx="29544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MONTHS 7–18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spc="50" kern="0" dirty="0">
                <a:solidFill>
                  <a:srgbClr val="EAF1F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BUILD / COMMISSION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4499762" y="3328416"/>
            <a:ext cx="321045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Commission CFCs on PPP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Secure GI tags for cluster products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Onboard clusters to ONDC</a:t>
            </a:r>
            <a:endParaRPr lang="en-US" sz="960" dirty="0"/>
          </a:p>
        </p:txBody>
      </p:sp>
      <p:sp>
        <p:nvSpPr>
          <p:cNvPr id="47" name="Shape 42"/>
          <p:cNvSpPr/>
          <p:nvPr/>
        </p:nvSpPr>
        <p:spPr>
          <a:xfrm>
            <a:off x="7893101" y="3922776"/>
            <a:ext cx="237744" cy="0"/>
          </a:xfrm>
          <a:prstGeom prst="line">
            <a:avLst/>
          </a:prstGeom>
          <a:noFill/>
          <a:ln w="31750">
            <a:solidFill>
              <a:srgbClr val="E0901F"/>
            </a:solidFill>
            <a:prstDash val="solid"/>
            <a:tailEnd type="triangle"/>
          </a:ln>
        </p:spPr>
      </p:sp>
      <p:sp>
        <p:nvSpPr>
          <p:cNvPr id="48" name="Shape 43"/>
          <p:cNvSpPr/>
          <p:nvPr/>
        </p:nvSpPr>
        <p:spPr>
          <a:xfrm>
            <a:off x="8167421" y="2724912"/>
            <a:ext cx="3521354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49" name="Shape 44"/>
          <p:cNvSpPr/>
          <p:nvPr/>
        </p:nvSpPr>
        <p:spPr>
          <a:xfrm>
            <a:off x="8167421" y="2724912"/>
            <a:ext cx="3521354" cy="512064"/>
          </a:xfrm>
          <a:prstGeom prst="rect">
            <a:avLst/>
          </a:prstGeom>
          <a:solidFill>
            <a:srgbClr val="E0901F"/>
          </a:solidFill>
          <a:ln/>
        </p:spPr>
      </p:sp>
      <p:sp>
        <p:nvSpPr>
          <p:cNvPr id="50" name="Shape 45"/>
          <p:cNvSpPr/>
          <p:nvPr/>
        </p:nvSpPr>
        <p:spPr>
          <a:xfrm>
            <a:off x="8295437" y="28346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Text 46"/>
          <p:cNvSpPr/>
          <p:nvPr/>
        </p:nvSpPr>
        <p:spPr>
          <a:xfrm>
            <a:off x="8295437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901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Text 47"/>
          <p:cNvSpPr/>
          <p:nvPr/>
        </p:nvSpPr>
        <p:spPr>
          <a:xfrm>
            <a:off x="8661197" y="2724912"/>
            <a:ext cx="29544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MONTHS 19–24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spc="50" kern="0" dirty="0">
                <a:solidFill>
                  <a:srgbClr val="EAF1F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OPERATIONALISE / SCALE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8332013" y="3328416"/>
            <a:ext cx="321045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Activate 15–20 clusters with live orders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Link clusters to OBOP marketing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Aggregate exports via district hubs</a:t>
            </a:r>
            <a:endParaRPr lang="en-US" sz="960" dirty="0"/>
          </a:p>
        </p:txBody>
      </p:sp>
      <p:sp>
        <p:nvSpPr>
          <p:cNvPr id="54" name="Shape 49"/>
          <p:cNvSpPr/>
          <p:nvPr/>
        </p:nvSpPr>
        <p:spPr>
          <a:xfrm>
            <a:off x="502920" y="5266944"/>
            <a:ext cx="11185855" cy="768096"/>
          </a:xfrm>
          <a:prstGeom prst="rect">
            <a:avLst/>
          </a:prstGeom>
          <a:solidFill>
            <a:srgbClr val="E0901F"/>
          </a:solidFill>
          <a:ln/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55" name="Shape 50"/>
          <p:cNvSpPr/>
          <p:nvPr/>
        </p:nvSpPr>
        <p:spPr>
          <a:xfrm>
            <a:off x="502920" y="5266944"/>
            <a:ext cx="109728" cy="768096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56" name="Shape 51"/>
          <p:cNvSpPr/>
          <p:nvPr/>
        </p:nvSpPr>
        <p:spPr>
          <a:xfrm>
            <a:off x="758952" y="5422392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57" name="Image 3" descr="/workspace/deck/assets/bullsey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532120"/>
            <a:ext cx="237744" cy="237744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1344168" y="53766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3A0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24-MONTH TARGET</a:t>
            </a:r>
            <a:endParaRPr lang="en-US" sz="950" dirty="0"/>
          </a:p>
        </p:txBody>
      </p:sp>
      <p:sp>
        <p:nvSpPr>
          <p:cNvPr id="59" name="Text 53"/>
          <p:cNvSpPr/>
          <p:nvPr/>
        </p:nvSpPr>
        <p:spPr>
          <a:xfrm>
            <a:off x="1344168" y="555955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50" kern="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15–20 OBOP clusters with live orders</a:t>
            </a:r>
            <a:endParaRPr lang="en-US" sz="2500" dirty="0"/>
          </a:p>
        </p:txBody>
      </p:sp>
      <p:sp>
        <p:nvSpPr>
          <p:cNvPr id="60" name="Shape 54"/>
          <p:cNvSpPr/>
          <p:nvPr/>
        </p:nvSpPr>
        <p:spPr>
          <a:xfrm>
            <a:off x="7528255" y="5385816"/>
            <a:ext cx="40233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5"/>
          <p:cNvSpPr/>
          <p:nvPr/>
        </p:nvSpPr>
        <p:spPr>
          <a:xfrm>
            <a:off x="7647127" y="5394960"/>
            <a:ext cx="3803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b="1" spc="50" kern="0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SECTOR LEVER   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Textiles / apparel / handloom — 50–80 jobs per Rs 1 cr (Bhagalpuri silk GI); leather &amp; footwear 50,000–100,000 jobs in 24 months.</a:t>
            </a:r>
            <a:endParaRPr lang="en-US" sz="800" dirty="0"/>
          </a:p>
        </p:txBody>
      </p:sp>
      <p:sp>
        <p:nvSpPr>
          <p:cNvPr id="62" name="Text 56"/>
          <p:cNvSpPr/>
          <p:nvPr/>
        </p:nvSpPr>
        <p:spPr>
          <a:xfrm>
            <a:off x="502920" y="652881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Source:  </a:t>
            </a:r>
            <a:pPr algn="l" indent="0" marL="0">
              <a:buNone/>
            </a:pPr>
            <a:r>
              <a:rPr lang="en-US" sz="85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OBOP / District Industries Centres; model transfer: UP ODOP, Tirupur &amp; Bangladesh RMG, Sialkot CFCs; Bhagalpur silk GI.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C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ACTION CORE · ONE SLIDE PER PILLAR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spc="50" kern="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SOLUTION 4 — SKILLS-TO-JOB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311335" y="274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UDAAN </a:t>
            </a:r>
            <a:pPr algn="r" indent="0" marL="0">
              <a:buNone/>
            </a:pPr>
            <a:r>
              <a:rPr lang="en-US" sz="120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2.0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311335" y="548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07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2120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207008"/>
            <a:ext cx="202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P1  </a:t>
            </a:r>
            <a:pPr algn="ctr" indent="0" marL="0">
              <a:buNone/>
            </a:pPr>
            <a:r>
              <a:rPr lang="en-US" sz="8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LAND &amp; SHEDS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69352" y="1207008"/>
            <a:ext cx="2120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24216" y="1207008"/>
            <a:ext cx="202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P2  </a:t>
            </a:r>
            <a:pPr algn="ctr" indent="0" marL="0">
              <a:buNone/>
            </a:pPr>
            <a:r>
              <a:rPr lang="en-US" sz="8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WOMEN + RETURNEE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35784" y="1207008"/>
            <a:ext cx="2120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90648" y="1207008"/>
            <a:ext cx="202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P3  </a:t>
            </a:r>
            <a:pPr algn="ctr" indent="0" marL="0">
              <a:buNone/>
            </a:pPr>
            <a:r>
              <a:rPr lang="en-US" sz="8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OBOP CLUSTERS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02216" y="1207008"/>
            <a:ext cx="2120128" cy="457200"/>
          </a:xfrm>
          <a:prstGeom prst="roundRect">
            <a:avLst>
              <a:gd name="adj" fmla="val 12000"/>
            </a:avLst>
          </a:prstGeom>
          <a:solidFill>
            <a:srgbClr val="0E8C84"/>
          </a:solidFill>
          <a:ln w="12700">
            <a:solidFill>
              <a:srgbClr val="0E8C84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57080" y="1207008"/>
            <a:ext cx="202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P4  </a:t>
            </a:r>
            <a:pPr algn="ctr" indent="0" marL="0">
              <a:buNone/>
            </a:pPr>
            <a:r>
              <a:rPr lang="en-US" sz="800" b="1" dirty="0">
                <a:solidFill>
                  <a:srgbClr val="F1FBF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SKILLS-TO-JOB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568647" y="1207008"/>
            <a:ext cx="2120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23511" y="1207008"/>
            <a:ext cx="202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P5  </a:t>
            </a:r>
            <a:pPr algn="ctr" indent="0" marL="0">
              <a:buNone/>
            </a:pPr>
            <a:r>
              <a:rPr lang="en-US" sz="8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FINANCE + GOV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1810512"/>
            <a:ext cx="359450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1810512"/>
            <a:ext cx="64008" cy="749808"/>
          </a:xfrm>
          <a:prstGeom prst="rect">
            <a:avLst/>
          </a:prstGeom>
          <a:solidFill>
            <a:srgbClr val="0E8C84"/>
          </a:solidFill>
          <a:ln/>
        </p:spPr>
      </p:sp>
      <p:sp>
        <p:nvSpPr>
          <p:cNvPr id="18" name="Shape 16"/>
          <p:cNvSpPr/>
          <p:nvPr/>
        </p:nvSpPr>
        <p:spPr>
          <a:xfrm>
            <a:off x="667512" y="1965960"/>
            <a:ext cx="438912" cy="438912"/>
          </a:xfrm>
          <a:prstGeom prst="ellipse">
            <a:avLst/>
          </a:prstGeom>
          <a:solidFill>
            <a:srgbClr val="0E8C84"/>
          </a:solidFill>
          <a:ln/>
        </p:spPr>
      </p:sp>
      <p:pic>
        <p:nvPicPr>
          <p:cNvPr id="19" name="Image 0" descr="/workspace/deck/asset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851" y="2071299"/>
            <a:ext cx="228234" cy="22823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79576" y="1901952"/>
            <a:ext cx="28264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E8C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AUDIENCE SERVED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79576" y="2084832"/>
            <a:ext cx="2826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ITI youth + skilled diaspora</a:t>
            </a:r>
            <a:endParaRPr lang="en-US" sz="930" dirty="0"/>
          </a:p>
        </p:txBody>
      </p:sp>
      <p:sp>
        <p:nvSpPr>
          <p:cNvPr id="22" name="Shape 19"/>
          <p:cNvSpPr/>
          <p:nvPr/>
        </p:nvSpPr>
        <p:spPr>
          <a:xfrm>
            <a:off x="4298594" y="1810512"/>
            <a:ext cx="359450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298594" y="1810512"/>
            <a:ext cx="64008" cy="749808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24" name="Shape 21"/>
          <p:cNvSpPr/>
          <p:nvPr/>
        </p:nvSpPr>
        <p:spPr>
          <a:xfrm>
            <a:off x="4463186" y="1965960"/>
            <a:ext cx="438912" cy="438912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25" name="Image 1" descr="/workspace/deck/assets/aw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525" y="2071299"/>
            <a:ext cx="228234" cy="22823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975250" y="1901952"/>
            <a:ext cx="28264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PROVEN MODEL BORROWED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975250" y="2084832"/>
            <a:ext cx="2826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German dual-VET + Vietnam pre-trained cohorts</a:t>
            </a:r>
            <a:endParaRPr lang="en-US" sz="930" dirty="0"/>
          </a:p>
        </p:txBody>
      </p:sp>
      <p:sp>
        <p:nvSpPr>
          <p:cNvPr id="28" name="Shape 24"/>
          <p:cNvSpPr/>
          <p:nvPr/>
        </p:nvSpPr>
        <p:spPr>
          <a:xfrm>
            <a:off x="8094269" y="1810512"/>
            <a:ext cx="359450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094269" y="1810512"/>
            <a:ext cx="64008" cy="749808"/>
          </a:xfrm>
          <a:prstGeom prst="rect">
            <a:avLst/>
          </a:prstGeom>
          <a:solidFill>
            <a:srgbClr val="E0901F"/>
          </a:solidFill>
          <a:ln/>
        </p:spPr>
      </p:sp>
      <p:sp>
        <p:nvSpPr>
          <p:cNvPr id="30" name="Shape 26"/>
          <p:cNvSpPr/>
          <p:nvPr/>
        </p:nvSpPr>
        <p:spPr>
          <a:xfrm>
            <a:off x="8258861" y="1965960"/>
            <a:ext cx="438912" cy="438912"/>
          </a:xfrm>
          <a:prstGeom prst="ellipse">
            <a:avLst/>
          </a:prstGeom>
          <a:solidFill>
            <a:srgbClr val="E0901F"/>
          </a:solidFill>
          <a:ln/>
        </p:spPr>
      </p:sp>
      <p:pic>
        <p:nvPicPr>
          <p:cNvPr id="31" name="Image 2" descr="/workspace/deck/assets/rou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200" y="2071299"/>
            <a:ext cx="228234" cy="22823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770925" y="1901952"/>
            <a:ext cx="28264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LIVE DELIVERY RAIL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8770925" y="2084832"/>
            <a:ext cx="2826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1,497 ITIs + Kaushal Vikas Kendras</a:t>
            </a:r>
            <a:endParaRPr lang="en-US" sz="930" dirty="0"/>
          </a:p>
        </p:txBody>
      </p:sp>
      <p:sp>
        <p:nvSpPr>
          <p:cNvPr id="34" name="Shape 29"/>
          <p:cNvSpPr/>
          <p:nvPr/>
        </p:nvSpPr>
        <p:spPr>
          <a:xfrm>
            <a:off x="502920" y="2724912"/>
            <a:ext cx="3521354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502920" y="2724912"/>
            <a:ext cx="3521354" cy="512064"/>
          </a:xfrm>
          <a:prstGeom prst="rect">
            <a:avLst/>
          </a:prstGeom>
          <a:solidFill>
            <a:srgbClr val="0E8C84"/>
          </a:solidFill>
          <a:ln/>
        </p:spPr>
      </p:sp>
      <p:sp>
        <p:nvSpPr>
          <p:cNvPr id="36" name="Shape 31"/>
          <p:cNvSpPr/>
          <p:nvPr/>
        </p:nvSpPr>
        <p:spPr>
          <a:xfrm>
            <a:off x="630936" y="28346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2"/>
          <p:cNvSpPr/>
          <p:nvPr/>
        </p:nvSpPr>
        <p:spPr>
          <a:xfrm>
            <a:off x="630936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8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3"/>
          <p:cNvSpPr/>
          <p:nvPr/>
        </p:nvSpPr>
        <p:spPr>
          <a:xfrm>
            <a:off x="996696" y="2724912"/>
            <a:ext cx="29544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MONTHS 1–6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spc="50" kern="0" dirty="0">
                <a:solidFill>
                  <a:srgbClr val="EAF1F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IDENTIFY / LAUNCH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667512" y="3328416"/>
            <a:ext cx="321045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Audit all ITIs; invest in the top 300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Add 5 demand-led trades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Anchor curricula to live employer needs</a:t>
            </a:r>
            <a:endParaRPr lang="en-US" sz="960" dirty="0"/>
          </a:p>
        </p:txBody>
      </p:sp>
      <p:sp>
        <p:nvSpPr>
          <p:cNvPr id="40" name="Shape 35"/>
          <p:cNvSpPr/>
          <p:nvPr/>
        </p:nvSpPr>
        <p:spPr>
          <a:xfrm>
            <a:off x="4060850" y="3922776"/>
            <a:ext cx="237744" cy="0"/>
          </a:xfrm>
          <a:prstGeom prst="line">
            <a:avLst/>
          </a:prstGeom>
          <a:noFill/>
          <a:ln w="31750">
            <a:solidFill>
              <a:srgbClr val="E0901F"/>
            </a:solidFill>
            <a:prstDash val="solid"/>
            <a:tailEnd type="triangle"/>
          </a:ln>
        </p:spPr>
      </p:sp>
      <p:sp>
        <p:nvSpPr>
          <p:cNvPr id="41" name="Shape 36"/>
          <p:cNvSpPr/>
          <p:nvPr/>
        </p:nvSpPr>
        <p:spPr>
          <a:xfrm>
            <a:off x="4335170" y="2724912"/>
            <a:ext cx="3521354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4335170" y="2724912"/>
            <a:ext cx="3521354" cy="512064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43" name="Shape 38"/>
          <p:cNvSpPr/>
          <p:nvPr/>
        </p:nvSpPr>
        <p:spPr>
          <a:xfrm>
            <a:off x="4463186" y="28346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/>
          <p:nvPr/>
        </p:nvSpPr>
        <p:spPr>
          <a:xfrm>
            <a:off x="4463186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Text 40"/>
          <p:cNvSpPr/>
          <p:nvPr/>
        </p:nvSpPr>
        <p:spPr>
          <a:xfrm>
            <a:off x="4828946" y="2724912"/>
            <a:ext cx="29544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MONTHS 7–18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spc="50" kern="0" dirty="0">
                <a:solidFill>
                  <a:srgbClr val="EAF1F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BUILD / COMMISSION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4499762" y="3328416"/>
            <a:ext cx="321045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Stand up 5 District Skill Academies (PPP)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6-month apprenticeship link to employers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Reserve 40% of seats for women</a:t>
            </a:r>
            <a:endParaRPr lang="en-US" sz="960" dirty="0"/>
          </a:p>
        </p:txBody>
      </p:sp>
      <p:sp>
        <p:nvSpPr>
          <p:cNvPr id="47" name="Shape 42"/>
          <p:cNvSpPr/>
          <p:nvPr/>
        </p:nvSpPr>
        <p:spPr>
          <a:xfrm>
            <a:off x="7893101" y="3922776"/>
            <a:ext cx="237744" cy="0"/>
          </a:xfrm>
          <a:prstGeom prst="line">
            <a:avLst/>
          </a:prstGeom>
          <a:noFill/>
          <a:ln w="31750">
            <a:solidFill>
              <a:srgbClr val="E0901F"/>
            </a:solidFill>
            <a:prstDash val="solid"/>
            <a:tailEnd type="triangle"/>
          </a:ln>
        </p:spPr>
      </p:sp>
      <p:sp>
        <p:nvSpPr>
          <p:cNvPr id="48" name="Shape 43"/>
          <p:cNvSpPr/>
          <p:nvPr/>
        </p:nvSpPr>
        <p:spPr>
          <a:xfrm>
            <a:off x="8167421" y="2724912"/>
            <a:ext cx="3521354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49" name="Shape 44"/>
          <p:cNvSpPr/>
          <p:nvPr/>
        </p:nvSpPr>
        <p:spPr>
          <a:xfrm>
            <a:off x="8167421" y="2724912"/>
            <a:ext cx="3521354" cy="512064"/>
          </a:xfrm>
          <a:prstGeom prst="rect">
            <a:avLst/>
          </a:prstGeom>
          <a:solidFill>
            <a:srgbClr val="E0901F"/>
          </a:solidFill>
          <a:ln/>
        </p:spPr>
      </p:sp>
      <p:sp>
        <p:nvSpPr>
          <p:cNvPr id="50" name="Shape 45"/>
          <p:cNvSpPr/>
          <p:nvPr/>
        </p:nvSpPr>
        <p:spPr>
          <a:xfrm>
            <a:off x="8295437" y="28346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Text 46"/>
          <p:cNvSpPr/>
          <p:nvPr/>
        </p:nvSpPr>
        <p:spPr>
          <a:xfrm>
            <a:off x="8295437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901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Text 47"/>
          <p:cNvSpPr/>
          <p:nvPr/>
        </p:nvSpPr>
        <p:spPr>
          <a:xfrm>
            <a:off x="8661197" y="2724912"/>
            <a:ext cx="29544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MONTHS 19–24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spc="50" kern="0" dirty="0">
                <a:solidFill>
                  <a:srgbClr val="EAF1F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OPERATIONALISE / SCALE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8332013" y="3328416"/>
            <a:ext cx="321045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Pre-train cohorts to named-anchor specs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Place into park anchors + clusters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Track placements to 70%</a:t>
            </a:r>
            <a:endParaRPr lang="en-US" sz="960" dirty="0"/>
          </a:p>
        </p:txBody>
      </p:sp>
      <p:sp>
        <p:nvSpPr>
          <p:cNvPr id="54" name="Shape 49"/>
          <p:cNvSpPr/>
          <p:nvPr/>
        </p:nvSpPr>
        <p:spPr>
          <a:xfrm>
            <a:off x="502920" y="5266944"/>
            <a:ext cx="11185855" cy="768096"/>
          </a:xfrm>
          <a:prstGeom prst="rect">
            <a:avLst/>
          </a:prstGeom>
          <a:solidFill>
            <a:srgbClr val="E0901F"/>
          </a:solidFill>
          <a:ln/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55" name="Shape 50"/>
          <p:cNvSpPr/>
          <p:nvPr/>
        </p:nvSpPr>
        <p:spPr>
          <a:xfrm>
            <a:off x="502920" y="5266944"/>
            <a:ext cx="109728" cy="768096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56" name="Shape 51"/>
          <p:cNvSpPr/>
          <p:nvPr/>
        </p:nvSpPr>
        <p:spPr>
          <a:xfrm>
            <a:off x="758952" y="5422392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57" name="Image 3" descr="/workspace/deck/assets/bullsey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532120"/>
            <a:ext cx="237744" cy="237744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1344168" y="53766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3A0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24-MONTH TARGET</a:t>
            </a:r>
            <a:endParaRPr lang="en-US" sz="950" dirty="0"/>
          </a:p>
        </p:txBody>
      </p:sp>
      <p:sp>
        <p:nvSpPr>
          <p:cNvPr id="59" name="Text 53"/>
          <p:cNvSpPr/>
          <p:nvPr/>
        </p:nvSpPr>
        <p:spPr>
          <a:xfrm>
            <a:off x="1344168" y="555955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50" kern="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200,000 certifications · 70% placement</a:t>
            </a:r>
            <a:endParaRPr lang="en-US" sz="2500" dirty="0"/>
          </a:p>
        </p:txBody>
      </p:sp>
      <p:sp>
        <p:nvSpPr>
          <p:cNvPr id="60" name="Shape 54"/>
          <p:cNvSpPr/>
          <p:nvPr/>
        </p:nvSpPr>
        <p:spPr>
          <a:xfrm>
            <a:off x="7528255" y="5385816"/>
            <a:ext cx="40233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5"/>
          <p:cNvSpPr/>
          <p:nvPr/>
        </p:nvSpPr>
        <p:spPr>
          <a:xfrm>
            <a:off x="7647127" y="5394960"/>
            <a:ext cx="3803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b="1" spc="50" kern="0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SECTOR LEVER   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Feeds every pillar — pre-trained cohorts de-risk anchors (China+1 / Vietnam playbook) and unlock female workforce entry.</a:t>
            </a:r>
            <a:endParaRPr lang="en-US" sz="800" dirty="0"/>
          </a:p>
        </p:txBody>
      </p:sp>
      <p:sp>
        <p:nvSpPr>
          <p:cNvPr id="62" name="Text 56"/>
          <p:cNvSpPr/>
          <p:nvPr/>
        </p:nvSpPr>
        <p:spPr>
          <a:xfrm>
            <a:off x="502920" y="652881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Source:  </a:t>
            </a:r>
            <a:pPr algn="l" indent="0" marL="0">
              <a:buNone/>
            </a:pPr>
            <a:r>
              <a:rPr lang="en-US" sz="85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Bihar Economic Survey 2025-26 (ITIs, youth demography); model transfer: German dual-VET, Vietnam China+1 pre-training.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C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ACTION CORE · ONE SLIDE PER PILLAR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spc="50" kern="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SOLUTION 5 — FINANCE &amp; GOVERNANCE ACCELERATION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311335" y="274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UDAAN </a:t>
            </a:r>
            <a:pPr algn="r" indent="0" marL="0">
              <a:buNone/>
            </a:pPr>
            <a:r>
              <a:rPr lang="en-US" sz="120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2.0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311335" y="548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08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2120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207008"/>
            <a:ext cx="202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P1  </a:t>
            </a:r>
            <a:pPr algn="ctr" indent="0" marL="0">
              <a:buNone/>
            </a:pPr>
            <a:r>
              <a:rPr lang="en-US" sz="8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LAND &amp; SHEDS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69352" y="1207008"/>
            <a:ext cx="2120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24216" y="1207008"/>
            <a:ext cx="202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P2  </a:t>
            </a:r>
            <a:pPr algn="ctr" indent="0" marL="0">
              <a:buNone/>
            </a:pPr>
            <a:r>
              <a:rPr lang="en-US" sz="8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WOMEN + RETURNEE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35784" y="1207008"/>
            <a:ext cx="2120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90648" y="1207008"/>
            <a:ext cx="202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P3  </a:t>
            </a:r>
            <a:pPr algn="ctr" indent="0" marL="0">
              <a:buNone/>
            </a:pPr>
            <a:r>
              <a:rPr lang="en-US" sz="8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OBOP CLUSTERS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02216" y="1207008"/>
            <a:ext cx="2120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57080" y="1207008"/>
            <a:ext cx="202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P4  </a:t>
            </a:r>
            <a:pPr algn="ctr" indent="0" marL="0">
              <a:buNone/>
            </a:pPr>
            <a:r>
              <a:rPr lang="en-US" sz="8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SKILLS-TO-JOB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568647" y="1207008"/>
            <a:ext cx="2120128" cy="457200"/>
          </a:xfrm>
          <a:prstGeom prst="roundRect">
            <a:avLst>
              <a:gd name="adj" fmla="val 12000"/>
            </a:avLst>
          </a:prstGeom>
          <a:solidFill>
            <a:srgbClr val="0E8C84"/>
          </a:solidFill>
          <a:ln w="12700">
            <a:solidFill>
              <a:srgbClr val="0E8C84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23511" y="1207008"/>
            <a:ext cx="202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P5  </a:t>
            </a:r>
            <a:pPr algn="ctr" indent="0" marL="0">
              <a:buNone/>
            </a:pPr>
            <a:r>
              <a:rPr lang="en-US" sz="800" b="1" dirty="0">
                <a:solidFill>
                  <a:srgbClr val="F1FBF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FINANCE + GOV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1810512"/>
            <a:ext cx="359450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1810512"/>
            <a:ext cx="64008" cy="749808"/>
          </a:xfrm>
          <a:prstGeom prst="rect">
            <a:avLst/>
          </a:prstGeom>
          <a:solidFill>
            <a:srgbClr val="0E8C84"/>
          </a:solidFill>
          <a:ln/>
        </p:spPr>
      </p:sp>
      <p:sp>
        <p:nvSpPr>
          <p:cNvPr id="18" name="Shape 16"/>
          <p:cNvSpPr/>
          <p:nvPr/>
        </p:nvSpPr>
        <p:spPr>
          <a:xfrm>
            <a:off x="667512" y="1965960"/>
            <a:ext cx="438912" cy="438912"/>
          </a:xfrm>
          <a:prstGeom prst="ellipse">
            <a:avLst/>
          </a:prstGeom>
          <a:solidFill>
            <a:srgbClr val="0E8C84"/>
          </a:solidFill>
          <a:ln/>
        </p:spPr>
      </p:sp>
      <p:pic>
        <p:nvPicPr>
          <p:cNvPr id="19" name="Image 0" descr="/workspace/deck/asset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851" y="2071299"/>
            <a:ext cx="228234" cy="22823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79576" y="1901952"/>
            <a:ext cx="28264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E8C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AUDIENCE SERVED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79576" y="2084832"/>
            <a:ext cx="2826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MSMEs + investors</a:t>
            </a:r>
            <a:endParaRPr lang="en-US" sz="930" dirty="0"/>
          </a:p>
        </p:txBody>
      </p:sp>
      <p:sp>
        <p:nvSpPr>
          <p:cNvPr id="22" name="Shape 19"/>
          <p:cNvSpPr/>
          <p:nvPr/>
        </p:nvSpPr>
        <p:spPr>
          <a:xfrm>
            <a:off x="4298594" y="1810512"/>
            <a:ext cx="359450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298594" y="1810512"/>
            <a:ext cx="64008" cy="749808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24" name="Shape 21"/>
          <p:cNvSpPr/>
          <p:nvPr/>
        </p:nvSpPr>
        <p:spPr>
          <a:xfrm>
            <a:off x="4463186" y="1965960"/>
            <a:ext cx="438912" cy="438912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25" name="Image 1" descr="/workspace/deck/assets/aw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525" y="2071299"/>
            <a:ext cx="228234" cy="22823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975250" y="1901952"/>
            <a:ext cx="28264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PROVEN MODEL BORROWED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975250" y="2084832"/>
            <a:ext cx="2826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Telangana TS-iPASS + CGTMSE / SIDBI</a:t>
            </a:r>
            <a:endParaRPr lang="en-US" sz="930" dirty="0"/>
          </a:p>
        </p:txBody>
      </p:sp>
      <p:sp>
        <p:nvSpPr>
          <p:cNvPr id="28" name="Shape 24"/>
          <p:cNvSpPr/>
          <p:nvPr/>
        </p:nvSpPr>
        <p:spPr>
          <a:xfrm>
            <a:off x="8094269" y="1810512"/>
            <a:ext cx="359450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094269" y="1810512"/>
            <a:ext cx="64008" cy="749808"/>
          </a:xfrm>
          <a:prstGeom prst="rect">
            <a:avLst/>
          </a:prstGeom>
          <a:solidFill>
            <a:srgbClr val="E0901F"/>
          </a:solidFill>
          <a:ln/>
        </p:spPr>
      </p:sp>
      <p:sp>
        <p:nvSpPr>
          <p:cNvPr id="30" name="Shape 26"/>
          <p:cNvSpPr/>
          <p:nvPr/>
        </p:nvSpPr>
        <p:spPr>
          <a:xfrm>
            <a:off x="8258861" y="1965960"/>
            <a:ext cx="438912" cy="438912"/>
          </a:xfrm>
          <a:prstGeom prst="ellipse">
            <a:avLst/>
          </a:prstGeom>
          <a:solidFill>
            <a:srgbClr val="E0901F"/>
          </a:solidFill>
          <a:ln/>
        </p:spPr>
      </p:sp>
      <p:pic>
        <p:nvPicPr>
          <p:cNvPr id="31" name="Image 2" descr="/workspace/deck/assets/rou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200" y="2071299"/>
            <a:ext cx="228234" cy="22823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770925" y="1901952"/>
            <a:ext cx="28264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LIVE DELIVERY RAIL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8770925" y="2084832"/>
            <a:ext cx="2826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Statutory single window + Credit Guarantee Fund</a:t>
            </a:r>
            <a:endParaRPr lang="en-US" sz="930" dirty="0"/>
          </a:p>
        </p:txBody>
      </p:sp>
      <p:sp>
        <p:nvSpPr>
          <p:cNvPr id="34" name="Shape 29"/>
          <p:cNvSpPr/>
          <p:nvPr/>
        </p:nvSpPr>
        <p:spPr>
          <a:xfrm>
            <a:off x="502920" y="2724912"/>
            <a:ext cx="3521354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502920" y="2724912"/>
            <a:ext cx="3521354" cy="512064"/>
          </a:xfrm>
          <a:prstGeom prst="rect">
            <a:avLst/>
          </a:prstGeom>
          <a:solidFill>
            <a:srgbClr val="0E8C84"/>
          </a:solidFill>
          <a:ln/>
        </p:spPr>
      </p:sp>
      <p:sp>
        <p:nvSpPr>
          <p:cNvPr id="36" name="Shape 31"/>
          <p:cNvSpPr/>
          <p:nvPr/>
        </p:nvSpPr>
        <p:spPr>
          <a:xfrm>
            <a:off x="630936" y="28346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2"/>
          <p:cNvSpPr/>
          <p:nvPr/>
        </p:nvSpPr>
        <p:spPr>
          <a:xfrm>
            <a:off x="630936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8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3"/>
          <p:cNvSpPr/>
          <p:nvPr/>
        </p:nvSpPr>
        <p:spPr>
          <a:xfrm>
            <a:off x="996696" y="2724912"/>
            <a:ext cx="29544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MONTHS 1–6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spc="50" kern="0" dirty="0">
                <a:solidFill>
                  <a:srgbClr val="EAF1F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IDENTIFY / LAUNCH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667512" y="3328416"/>
            <a:ext cx="321045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Legislate a statutory single window: 45/90-day deemed clearance + public dashboard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Seed a Rs 500-cr MSME Credit Guarantee Fund (20% first-loss → ~5x lending)</a:t>
            </a:r>
            <a:endParaRPr lang="en-US" sz="960" dirty="0"/>
          </a:p>
        </p:txBody>
      </p:sp>
      <p:sp>
        <p:nvSpPr>
          <p:cNvPr id="40" name="Shape 35"/>
          <p:cNvSpPr/>
          <p:nvPr/>
        </p:nvSpPr>
        <p:spPr>
          <a:xfrm>
            <a:off x="4060850" y="3922776"/>
            <a:ext cx="237744" cy="0"/>
          </a:xfrm>
          <a:prstGeom prst="line">
            <a:avLst/>
          </a:prstGeom>
          <a:noFill/>
          <a:ln w="31750">
            <a:solidFill>
              <a:srgbClr val="E0901F"/>
            </a:solidFill>
            <a:prstDash val="solid"/>
            <a:tailEnd type="triangle"/>
          </a:ln>
        </p:spPr>
      </p:sp>
      <p:sp>
        <p:nvSpPr>
          <p:cNvPr id="41" name="Shape 36"/>
          <p:cNvSpPr/>
          <p:nvPr/>
        </p:nvSpPr>
        <p:spPr>
          <a:xfrm>
            <a:off x="4335170" y="2724912"/>
            <a:ext cx="3521354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4335170" y="2724912"/>
            <a:ext cx="3521354" cy="512064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43" name="Shape 38"/>
          <p:cNvSpPr/>
          <p:nvPr/>
        </p:nvSpPr>
        <p:spPr>
          <a:xfrm>
            <a:off x="4463186" y="28346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/>
          <p:nvPr/>
        </p:nvSpPr>
        <p:spPr>
          <a:xfrm>
            <a:off x="4463186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Text 40"/>
          <p:cNvSpPr/>
          <p:nvPr/>
        </p:nvSpPr>
        <p:spPr>
          <a:xfrm>
            <a:off x="4828946" y="2724912"/>
            <a:ext cx="29544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MONTHS 7–18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spc="50" kern="0" dirty="0">
                <a:solidFill>
                  <a:srgbClr val="EAF1F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BUILD / COMMISSION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4499762" y="3328416"/>
            <a:ext cx="321045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Secure a 65% C-D-ratio commitment from banks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Launch a Rs 1,000-cr Bihar Industrial Growth Fund</a:t>
            </a:r>
            <a:endParaRPr lang="en-US" sz="960" dirty="0"/>
          </a:p>
        </p:txBody>
      </p:sp>
      <p:sp>
        <p:nvSpPr>
          <p:cNvPr id="47" name="Shape 42"/>
          <p:cNvSpPr/>
          <p:nvPr/>
        </p:nvSpPr>
        <p:spPr>
          <a:xfrm>
            <a:off x="7893101" y="3922776"/>
            <a:ext cx="237744" cy="0"/>
          </a:xfrm>
          <a:prstGeom prst="line">
            <a:avLst/>
          </a:prstGeom>
          <a:noFill/>
          <a:ln w="31750">
            <a:solidFill>
              <a:srgbClr val="E0901F"/>
            </a:solidFill>
            <a:prstDash val="solid"/>
            <a:tailEnd type="triangle"/>
          </a:ln>
        </p:spPr>
      </p:sp>
      <p:sp>
        <p:nvSpPr>
          <p:cNvPr id="48" name="Shape 43"/>
          <p:cNvSpPr/>
          <p:nvPr/>
        </p:nvSpPr>
        <p:spPr>
          <a:xfrm>
            <a:off x="8167421" y="2724912"/>
            <a:ext cx="3521354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49" name="Shape 44"/>
          <p:cNvSpPr/>
          <p:nvPr/>
        </p:nvSpPr>
        <p:spPr>
          <a:xfrm>
            <a:off x="8167421" y="2724912"/>
            <a:ext cx="3521354" cy="512064"/>
          </a:xfrm>
          <a:prstGeom prst="rect">
            <a:avLst/>
          </a:prstGeom>
          <a:solidFill>
            <a:srgbClr val="E0901F"/>
          </a:solidFill>
          <a:ln/>
        </p:spPr>
      </p:sp>
      <p:sp>
        <p:nvSpPr>
          <p:cNvPr id="50" name="Shape 45"/>
          <p:cNvSpPr/>
          <p:nvPr/>
        </p:nvSpPr>
        <p:spPr>
          <a:xfrm>
            <a:off x="8295437" y="28346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Text 46"/>
          <p:cNvSpPr/>
          <p:nvPr/>
        </p:nvSpPr>
        <p:spPr>
          <a:xfrm>
            <a:off x="8295437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901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Text 47"/>
          <p:cNvSpPr/>
          <p:nvPr/>
        </p:nvSpPr>
        <p:spPr>
          <a:xfrm>
            <a:off x="8661197" y="2724912"/>
            <a:ext cx="29544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MONTHS 19–24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spc="50" kern="0" dirty="0">
                <a:solidFill>
                  <a:srgbClr val="EAF1F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OPERATIONALISE / SCALE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8332013" y="3328416"/>
            <a:ext cx="321045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District Industrial Task Forces under DMs</a:t>
            </a:r>
            <a:endParaRPr lang="en-US" sz="960" dirty="0"/>
          </a:p>
          <a:p>
            <a:pPr marL="127000" indent="-127000">
              <a:lnSpc>
                <a:spcPct val="96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CMO Investment Activation Office runs 60-day health-checks on the Rs 6,800-bn pipeline</a:t>
            </a:r>
            <a:endParaRPr lang="en-US" sz="960" dirty="0"/>
          </a:p>
        </p:txBody>
      </p:sp>
      <p:sp>
        <p:nvSpPr>
          <p:cNvPr id="54" name="Shape 49"/>
          <p:cNvSpPr/>
          <p:nvPr/>
        </p:nvSpPr>
        <p:spPr>
          <a:xfrm>
            <a:off x="502920" y="5266944"/>
            <a:ext cx="11185855" cy="768096"/>
          </a:xfrm>
          <a:prstGeom prst="rect">
            <a:avLst/>
          </a:prstGeom>
          <a:solidFill>
            <a:srgbClr val="E0901F"/>
          </a:solidFill>
          <a:ln/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55" name="Shape 50"/>
          <p:cNvSpPr/>
          <p:nvPr/>
        </p:nvSpPr>
        <p:spPr>
          <a:xfrm>
            <a:off x="502920" y="5266944"/>
            <a:ext cx="109728" cy="768096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56" name="Shape 51"/>
          <p:cNvSpPr/>
          <p:nvPr/>
        </p:nvSpPr>
        <p:spPr>
          <a:xfrm>
            <a:off x="758952" y="5422392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57" name="Image 3" descr="/workspace/deck/assets/bullsey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532120"/>
            <a:ext cx="237744" cy="237744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1344168" y="53766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3A0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24-MONTH TARGET</a:t>
            </a:r>
            <a:endParaRPr lang="en-US" sz="950" dirty="0"/>
          </a:p>
        </p:txBody>
      </p:sp>
      <p:sp>
        <p:nvSpPr>
          <p:cNvPr id="59" name="Text 53"/>
          <p:cNvSpPr/>
          <p:nvPr/>
        </p:nvSpPr>
        <p:spPr>
          <a:xfrm>
            <a:off x="1344168" y="555955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50" kern="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45/90-day single-window SLA + 65% C-D ratio</a:t>
            </a:r>
            <a:endParaRPr lang="en-US" sz="2500" dirty="0"/>
          </a:p>
        </p:txBody>
      </p:sp>
      <p:sp>
        <p:nvSpPr>
          <p:cNvPr id="60" name="Shape 54"/>
          <p:cNvSpPr/>
          <p:nvPr/>
        </p:nvSpPr>
        <p:spPr>
          <a:xfrm>
            <a:off x="7528255" y="5385816"/>
            <a:ext cx="40233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5"/>
          <p:cNvSpPr/>
          <p:nvPr/>
        </p:nvSpPr>
        <p:spPr>
          <a:xfrm>
            <a:off x="7647127" y="5394960"/>
            <a:ext cx="3803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b="1" spc="50" kern="0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SECTOR LEVER   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meta-fix — unblocks the Rs 6,800-bn stalled pipeline and closes the Rs 1.5–2 lakh-cr MSME credit gap.</a:t>
            </a:r>
            <a:endParaRPr lang="en-US" sz="800" dirty="0"/>
          </a:p>
        </p:txBody>
      </p:sp>
      <p:sp>
        <p:nvSpPr>
          <p:cNvPr id="62" name="Text 56"/>
          <p:cNvSpPr/>
          <p:nvPr/>
        </p:nvSpPr>
        <p:spPr>
          <a:xfrm>
            <a:off x="502920" y="652881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Source:  </a:t>
            </a:r>
            <a:pPr algn="l" indent="0" marL="0">
              <a:buNone/>
            </a:pPr>
            <a:r>
              <a:rPr lang="en-US" sz="85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Model transfer: Telangana TS-iPASS, CGTMSE / SIDBI; BIPPP-2025; RBI / SLBC Bihar (C-D ratio).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C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EXECUTION · 24-MONTH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spc="50" kern="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EXECUTION ROADMAP + KPI DASHBOARD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311335" y="274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UDAAN </a:t>
            </a:r>
            <a:pPr algn="r" indent="0" marL="0">
              <a:buNone/>
            </a:pPr>
            <a:r>
              <a:rPr lang="en-US" sz="120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2.0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311335" y="548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09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9893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" y="1481328"/>
            <a:ext cx="5715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3-PHASE GANTT — 5 PILLARS x 24 MONTHS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76272" y="1792224"/>
            <a:ext cx="103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80" b="1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M1–6 IDENTIFY/LAUNCH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3214116" y="1792224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8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M7–18 BUILD/COMMISSION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5289804" y="1792224"/>
            <a:ext cx="103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80" b="1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M19–24 SCALE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3214116" y="2084832"/>
            <a:ext cx="0" cy="3337560"/>
          </a:xfrm>
          <a:prstGeom prst="line">
            <a:avLst/>
          </a:prstGeom>
          <a:noFill/>
          <a:ln w="9525">
            <a:solidFill>
              <a:srgbClr val="E3E8EC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289804" y="2084832"/>
            <a:ext cx="0" cy="3337560"/>
          </a:xfrm>
          <a:prstGeom prst="line">
            <a:avLst/>
          </a:prstGeom>
          <a:noFill/>
          <a:ln w="9525">
            <a:solidFill>
              <a:srgbClr val="E3E8EC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67512" y="2336292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0F2A43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23362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61288" y="2139696"/>
            <a:ext cx="10515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Land &amp; sheds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176272" y="2459736"/>
            <a:ext cx="4151376" cy="27432"/>
          </a:xfrm>
          <a:prstGeom prst="rect">
            <a:avLst/>
          </a:prstGeom>
          <a:solidFill>
            <a:srgbClr val="E3E8EC"/>
          </a:solidFill>
          <a:ln/>
        </p:spPr>
      </p:sp>
      <p:sp>
        <p:nvSpPr>
          <p:cNvPr id="17" name="Shape 15"/>
          <p:cNvSpPr/>
          <p:nvPr/>
        </p:nvSpPr>
        <p:spPr>
          <a:xfrm>
            <a:off x="2176272" y="2372868"/>
            <a:ext cx="1868119" cy="201168"/>
          </a:xfrm>
          <a:prstGeom prst="roundRect">
            <a:avLst>
              <a:gd name="adj" fmla="val 18182"/>
            </a:avLst>
          </a:prstGeom>
          <a:solidFill>
            <a:srgbClr val="0E8C84"/>
          </a:solidFill>
          <a:ln/>
        </p:spPr>
      </p:sp>
      <p:sp>
        <p:nvSpPr>
          <p:cNvPr id="18" name="Shape 16"/>
          <p:cNvSpPr/>
          <p:nvPr/>
        </p:nvSpPr>
        <p:spPr>
          <a:xfrm>
            <a:off x="3919850" y="2372868"/>
            <a:ext cx="1826605" cy="201168"/>
          </a:xfrm>
          <a:prstGeom prst="roundRect">
            <a:avLst>
              <a:gd name="adj" fmla="val 18182"/>
            </a:avLst>
          </a:prstGeom>
          <a:solidFill>
            <a:srgbClr val="1B3E5C"/>
          </a:solidFill>
          <a:ln/>
        </p:spPr>
      </p:sp>
      <p:sp>
        <p:nvSpPr>
          <p:cNvPr id="19" name="Shape 17"/>
          <p:cNvSpPr/>
          <p:nvPr/>
        </p:nvSpPr>
        <p:spPr>
          <a:xfrm>
            <a:off x="5497373" y="2372868"/>
            <a:ext cx="830275" cy="201168"/>
          </a:xfrm>
          <a:prstGeom prst="roundRect">
            <a:avLst>
              <a:gd name="adj" fmla="val 18182"/>
            </a:avLst>
          </a:prstGeom>
          <a:solidFill>
            <a:srgbClr val="E0901F"/>
          </a:solidFill>
          <a:ln/>
        </p:spPr>
      </p:sp>
      <p:sp>
        <p:nvSpPr>
          <p:cNvPr id="20" name="Shape 18"/>
          <p:cNvSpPr/>
          <p:nvPr/>
        </p:nvSpPr>
        <p:spPr>
          <a:xfrm>
            <a:off x="667512" y="3003804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0F2A43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30038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61288" y="2807208"/>
            <a:ext cx="10515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Women + returnee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176272" y="3127248"/>
            <a:ext cx="4151376" cy="27432"/>
          </a:xfrm>
          <a:prstGeom prst="rect">
            <a:avLst/>
          </a:prstGeom>
          <a:solidFill>
            <a:srgbClr val="E3E8EC"/>
          </a:solidFill>
          <a:ln/>
        </p:spPr>
      </p:sp>
      <p:sp>
        <p:nvSpPr>
          <p:cNvPr id="24" name="Shape 22"/>
          <p:cNvSpPr/>
          <p:nvPr/>
        </p:nvSpPr>
        <p:spPr>
          <a:xfrm>
            <a:off x="2176272" y="3040380"/>
            <a:ext cx="1660550" cy="201168"/>
          </a:xfrm>
          <a:prstGeom prst="roundRect">
            <a:avLst>
              <a:gd name="adj" fmla="val 18182"/>
            </a:avLst>
          </a:prstGeom>
          <a:solidFill>
            <a:srgbClr val="0E8C84"/>
          </a:solidFill>
          <a:ln/>
        </p:spPr>
      </p:sp>
      <p:sp>
        <p:nvSpPr>
          <p:cNvPr id="25" name="Shape 23"/>
          <p:cNvSpPr/>
          <p:nvPr/>
        </p:nvSpPr>
        <p:spPr>
          <a:xfrm>
            <a:off x="3670767" y="3040380"/>
            <a:ext cx="1826605" cy="201168"/>
          </a:xfrm>
          <a:prstGeom prst="roundRect">
            <a:avLst>
              <a:gd name="adj" fmla="val 18182"/>
            </a:avLst>
          </a:prstGeom>
          <a:solidFill>
            <a:srgbClr val="1B3E5C"/>
          </a:solidFill>
          <a:ln/>
        </p:spPr>
      </p:sp>
      <p:sp>
        <p:nvSpPr>
          <p:cNvPr id="26" name="Shape 24"/>
          <p:cNvSpPr/>
          <p:nvPr/>
        </p:nvSpPr>
        <p:spPr>
          <a:xfrm>
            <a:off x="5082235" y="3040380"/>
            <a:ext cx="1245413" cy="201168"/>
          </a:xfrm>
          <a:prstGeom prst="roundRect">
            <a:avLst>
              <a:gd name="adj" fmla="val 18182"/>
            </a:avLst>
          </a:prstGeom>
          <a:solidFill>
            <a:srgbClr val="E0901F"/>
          </a:solidFill>
          <a:ln/>
        </p:spPr>
      </p:sp>
      <p:sp>
        <p:nvSpPr>
          <p:cNvPr id="27" name="Shape 25"/>
          <p:cNvSpPr/>
          <p:nvPr/>
        </p:nvSpPr>
        <p:spPr>
          <a:xfrm>
            <a:off x="667512" y="3671316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0F2A43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" y="3671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61288" y="3474720"/>
            <a:ext cx="10515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OBOP clusters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176272" y="3794760"/>
            <a:ext cx="4151376" cy="27432"/>
          </a:xfrm>
          <a:prstGeom prst="rect">
            <a:avLst/>
          </a:prstGeom>
          <a:solidFill>
            <a:srgbClr val="E3E8EC"/>
          </a:solidFill>
          <a:ln/>
        </p:spPr>
      </p:sp>
      <p:sp>
        <p:nvSpPr>
          <p:cNvPr id="31" name="Shape 29"/>
          <p:cNvSpPr/>
          <p:nvPr/>
        </p:nvSpPr>
        <p:spPr>
          <a:xfrm>
            <a:off x="2176272" y="3707892"/>
            <a:ext cx="1868119" cy="201168"/>
          </a:xfrm>
          <a:prstGeom prst="roundRect">
            <a:avLst>
              <a:gd name="adj" fmla="val 18182"/>
            </a:avLst>
          </a:prstGeom>
          <a:solidFill>
            <a:srgbClr val="0E8C84"/>
          </a:solidFill>
          <a:ln/>
        </p:spPr>
      </p:sp>
      <p:sp>
        <p:nvSpPr>
          <p:cNvPr id="32" name="Shape 30"/>
          <p:cNvSpPr/>
          <p:nvPr/>
        </p:nvSpPr>
        <p:spPr>
          <a:xfrm>
            <a:off x="3836822" y="3707892"/>
            <a:ext cx="1743578" cy="201168"/>
          </a:xfrm>
          <a:prstGeom prst="roundRect">
            <a:avLst>
              <a:gd name="adj" fmla="val 18182"/>
            </a:avLst>
          </a:prstGeom>
          <a:solidFill>
            <a:srgbClr val="1B3E5C"/>
          </a:solidFill>
          <a:ln/>
        </p:spPr>
      </p:sp>
      <p:sp>
        <p:nvSpPr>
          <p:cNvPr id="33" name="Shape 31"/>
          <p:cNvSpPr/>
          <p:nvPr/>
        </p:nvSpPr>
        <p:spPr>
          <a:xfrm>
            <a:off x="5414345" y="3707892"/>
            <a:ext cx="913303" cy="201168"/>
          </a:xfrm>
          <a:prstGeom prst="roundRect">
            <a:avLst>
              <a:gd name="adj" fmla="val 18182"/>
            </a:avLst>
          </a:prstGeom>
          <a:solidFill>
            <a:srgbClr val="E0901F"/>
          </a:solidFill>
          <a:ln/>
        </p:spPr>
      </p:sp>
      <p:sp>
        <p:nvSpPr>
          <p:cNvPr id="34" name="Shape 32"/>
          <p:cNvSpPr/>
          <p:nvPr/>
        </p:nvSpPr>
        <p:spPr>
          <a:xfrm>
            <a:off x="667512" y="4338828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0F2A43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" y="43388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61288" y="4142232"/>
            <a:ext cx="10515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Skills-to-job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76272" y="4462272"/>
            <a:ext cx="4151376" cy="27432"/>
          </a:xfrm>
          <a:prstGeom prst="rect">
            <a:avLst/>
          </a:prstGeom>
          <a:solidFill>
            <a:srgbClr val="E3E8EC"/>
          </a:solidFill>
          <a:ln/>
        </p:spPr>
      </p:sp>
      <p:sp>
        <p:nvSpPr>
          <p:cNvPr id="38" name="Shape 36"/>
          <p:cNvSpPr/>
          <p:nvPr/>
        </p:nvSpPr>
        <p:spPr>
          <a:xfrm>
            <a:off x="2176272" y="4375404"/>
            <a:ext cx="1743578" cy="201168"/>
          </a:xfrm>
          <a:prstGeom prst="roundRect">
            <a:avLst>
              <a:gd name="adj" fmla="val 18182"/>
            </a:avLst>
          </a:prstGeom>
          <a:solidFill>
            <a:srgbClr val="0E8C84"/>
          </a:solidFill>
          <a:ln/>
        </p:spPr>
      </p:sp>
      <p:sp>
        <p:nvSpPr>
          <p:cNvPr id="39" name="Shape 37"/>
          <p:cNvSpPr/>
          <p:nvPr/>
        </p:nvSpPr>
        <p:spPr>
          <a:xfrm>
            <a:off x="3753795" y="4375404"/>
            <a:ext cx="1951147" cy="201168"/>
          </a:xfrm>
          <a:prstGeom prst="roundRect">
            <a:avLst>
              <a:gd name="adj" fmla="val 18182"/>
            </a:avLst>
          </a:prstGeom>
          <a:solidFill>
            <a:srgbClr val="1B3E5C"/>
          </a:solidFill>
          <a:ln/>
        </p:spPr>
      </p:sp>
      <p:sp>
        <p:nvSpPr>
          <p:cNvPr id="40" name="Shape 38"/>
          <p:cNvSpPr/>
          <p:nvPr/>
        </p:nvSpPr>
        <p:spPr>
          <a:xfrm>
            <a:off x="5497373" y="4375404"/>
            <a:ext cx="830275" cy="201168"/>
          </a:xfrm>
          <a:prstGeom prst="roundRect">
            <a:avLst>
              <a:gd name="adj" fmla="val 18182"/>
            </a:avLst>
          </a:prstGeom>
          <a:solidFill>
            <a:srgbClr val="E0901F"/>
          </a:solidFill>
          <a:ln/>
        </p:spPr>
      </p:sp>
      <p:sp>
        <p:nvSpPr>
          <p:cNvPr id="41" name="Shape 39"/>
          <p:cNvSpPr/>
          <p:nvPr/>
        </p:nvSpPr>
        <p:spPr>
          <a:xfrm>
            <a:off x="667512" y="500634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0F2A43"/>
          </a:solidFill>
          <a:ln/>
        </p:spPr>
      </p:sp>
      <p:sp>
        <p:nvSpPr>
          <p:cNvPr id="42" name="Text 40"/>
          <p:cNvSpPr/>
          <p:nvPr/>
        </p:nvSpPr>
        <p:spPr>
          <a:xfrm>
            <a:off x="667512" y="50063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61288" y="4809744"/>
            <a:ext cx="10515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Finance + gov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176272" y="5129784"/>
            <a:ext cx="4151376" cy="27432"/>
          </a:xfrm>
          <a:prstGeom prst="rect">
            <a:avLst/>
          </a:prstGeom>
          <a:solidFill>
            <a:srgbClr val="E3E8EC"/>
          </a:solidFill>
          <a:ln/>
        </p:spPr>
      </p:sp>
      <p:sp>
        <p:nvSpPr>
          <p:cNvPr id="45" name="Shape 43"/>
          <p:cNvSpPr/>
          <p:nvPr/>
        </p:nvSpPr>
        <p:spPr>
          <a:xfrm>
            <a:off x="2176272" y="5042916"/>
            <a:ext cx="1245413" cy="201168"/>
          </a:xfrm>
          <a:prstGeom prst="roundRect">
            <a:avLst>
              <a:gd name="adj" fmla="val 18182"/>
            </a:avLst>
          </a:prstGeom>
          <a:solidFill>
            <a:srgbClr val="0E8C84"/>
          </a:solidFill>
          <a:ln/>
        </p:spPr>
      </p:sp>
      <p:sp>
        <p:nvSpPr>
          <p:cNvPr id="46" name="Shape 44"/>
          <p:cNvSpPr/>
          <p:nvPr/>
        </p:nvSpPr>
        <p:spPr>
          <a:xfrm>
            <a:off x="3214116" y="5042916"/>
            <a:ext cx="1868119" cy="201168"/>
          </a:xfrm>
          <a:prstGeom prst="roundRect">
            <a:avLst>
              <a:gd name="adj" fmla="val 18182"/>
            </a:avLst>
          </a:prstGeom>
          <a:solidFill>
            <a:srgbClr val="1B3E5C"/>
          </a:solidFill>
          <a:ln/>
        </p:spPr>
      </p:sp>
      <p:sp>
        <p:nvSpPr>
          <p:cNvPr id="47" name="Shape 45"/>
          <p:cNvSpPr/>
          <p:nvPr/>
        </p:nvSpPr>
        <p:spPr>
          <a:xfrm>
            <a:off x="4667098" y="5042916"/>
            <a:ext cx="1660550" cy="201168"/>
          </a:xfrm>
          <a:prstGeom prst="roundRect">
            <a:avLst>
              <a:gd name="adj" fmla="val 18182"/>
            </a:avLst>
          </a:prstGeom>
          <a:solidFill>
            <a:srgbClr val="E0901F"/>
          </a:solidFill>
          <a:ln/>
        </p:spPr>
      </p:sp>
      <p:sp>
        <p:nvSpPr>
          <p:cNvPr id="48" name="Shape 46"/>
          <p:cNvSpPr/>
          <p:nvPr/>
        </p:nvSpPr>
        <p:spPr>
          <a:xfrm>
            <a:off x="685800" y="5468112"/>
            <a:ext cx="164592" cy="109728"/>
          </a:xfrm>
          <a:prstGeom prst="rect">
            <a:avLst/>
          </a:prstGeom>
          <a:solidFill>
            <a:srgbClr val="0E8C84"/>
          </a:solidFill>
          <a:ln/>
        </p:spPr>
      </p:sp>
      <p:sp>
        <p:nvSpPr>
          <p:cNvPr id="49" name="Text 47"/>
          <p:cNvSpPr/>
          <p:nvPr/>
        </p:nvSpPr>
        <p:spPr>
          <a:xfrm>
            <a:off x="886968" y="54315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IDENTIFY/LAUNCH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606040" y="5468112"/>
            <a:ext cx="164592" cy="109728"/>
          </a:xfrm>
          <a:prstGeom prst="rect">
            <a:avLst/>
          </a:prstGeom>
          <a:solidFill>
            <a:srgbClr val="1B3E5C"/>
          </a:solidFill>
          <a:ln/>
        </p:spPr>
      </p:sp>
      <p:sp>
        <p:nvSpPr>
          <p:cNvPr id="51" name="Text 49"/>
          <p:cNvSpPr/>
          <p:nvPr/>
        </p:nvSpPr>
        <p:spPr>
          <a:xfrm>
            <a:off x="2807208" y="54315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BUILD/COMMISSION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526280" y="5468112"/>
            <a:ext cx="164592" cy="109728"/>
          </a:xfrm>
          <a:prstGeom prst="rect">
            <a:avLst/>
          </a:prstGeom>
          <a:solidFill>
            <a:srgbClr val="E0901F"/>
          </a:solidFill>
          <a:ln/>
        </p:spPr>
      </p:sp>
      <p:sp>
        <p:nvSpPr>
          <p:cNvPr id="53" name="Text 51"/>
          <p:cNvSpPr/>
          <p:nvPr/>
        </p:nvSpPr>
        <p:spPr>
          <a:xfrm>
            <a:off x="4727448" y="54315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SCALE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766560" y="1371600"/>
            <a:ext cx="4922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KPI DASHBOARD — BASELINE → M12 → M24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766560" y="1645920"/>
            <a:ext cx="4922215" cy="329184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56" name="Text 54"/>
          <p:cNvSpPr/>
          <p:nvPr/>
        </p:nvSpPr>
        <p:spPr>
          <a:xfrm>
            <a:off x="6858000" y="1645920"/>
            <a:ext cx="20673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METRIC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833890" y="1645920"/>
            <a:ext cx="9844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BASE '25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9818333" y="1645920"/>
            <a:ext cx="9352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M12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0753554" y="1645920"/>
            <a:ext cx="9352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M24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766560" y="1975104"/>
            <a:ext cx="4922215" cy="344147"/>
          </a:xfrm>
          <a:prstGeom prst="rect">
            <a:avLst/>
          </a:prstGeom>
          <a:solidFill>
            <a:srgbClr val="EEF2F5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8000" y="1975104"/>
            <a:ext cx="1957602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Registered factories</a:t>
            </a:r>
            <a:endParaRPr lang="en-US" sz="860" dirty="0"/>
          </a:p>
        </p:txBody>
      </p:sp>
      <p:sp>
        <p:nvSpPr>
          <p:cNvPr id="62" name="Text 60"/>
          <p:cNvSpPr/>
          <p:nvPr/>
        </p:nvSpPr>
        <p:spPr>
          <a:xfrm>
            <a:off x="8833890" y="1975104"/>
            <a:ext cx="984443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3,307</a:t>
            </a:r>
            <a:endParaRPr lang="en-US" sz="840" dirty="0"/>
          </a:p>
        </p:txBody>
      </p:sp>
      <p:sp>
        <p:nvSpPr>
          <p:cNvPr id="63" name="Text 61"/>
          <p:cNvSpPr/>
          <p:nvPr/>
        </p:nvSpPr>
        <p:spPr>
          <a:xfrm>
            <a:off x="9818333" y="1975104"/>
            <a:ext cx="935221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3,600+</a:t>
            </a:r>
            <a:endParaRPr lang="en-US" sz="840" dirty="0"/>
          </a:p>
        </p:txBody>
      </p:sp>
      <p:sp>
        <p:nvSpPr>
          <p:cNvPr id="64" name="Shape 62"/>
          <p:cNvSpPr/>
          <p:nvPr/>
        </p:nvSpPr>
        <p:spPr>
          <a:xfrm>
            <a:off x="10753554" y="1975104"/>
            <a:ext cx="935221" cy="344147"/>
          </a:xfrm>
          <a:prstGeom prst="rect">
            <a:avLst/>
          </a:prstGeom>
          <a:solidFill>
            <a:srgbClr val="FBEBD3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753554" y="1975104"/>
            <a:ext cx="935221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4,200+</a:t>
            </a:r>
            <a:endParaRPr lang="en-US" sz="870" dirty="0"/>
          </a:p>
        </p:txBody>
      </p:sp>
      <p:sp>
        <p:nvSpPr>
          <p:cNvPr id="66" name="Shape 64"/>
          <p:cNvSpPr/>
          <p:nvPr/>
        </p:nvSpPr>
        <p:spPr>
          <a:xfrm>
            <a:off x="6766560" y="2319251"/>
            <a:ext cx="4922215" cy="344147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58000" y="2319251"/>
            <a:ext cx="1957602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Private investment / yr</a:t>
            </a:r>
            <a:endParaRPr lang="en-US" sz="860" dirty="0"/>
          </a:p>
        </p:txBody>
      </p:sp>
      <p:sp>
        <p:nvSpPr>
          <p:cNvPr id="68" name="Text 66"/>
          <p:cNvSpPr/>
          <p:nvPr/>
        </p:nvSpPr>
        <p:spPr>
          <a:xfrm>
            <a:off x="8833890" y="2319251"/>
            <a:ext cx="984443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$216 Mn*</a:t>
            </a:r>
            <a:endParaRPr lang="en-US" sz="840" dirty="0"/>
          </a:p>
        </p:txBody>
      </p:sp>
      <p:sp>
        <p:nvSpPr>
          <p:cNvPr id="69" name="Text 67"/>
          <p:cNvSpPr/>
          <p:nvPr/>
        </p:nvSpPr>
        <p:spPr>
          <a:xfrm>
            <a:off x="9818333" y="2319251"/>
            <a:ext cx="935221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$150 Mn</a:t>
            </a:r>
            <a:endParaRPr lang="en-US" sz="840" dirty="0"/>
          </a:p>
        </p:txBody>
      </p:sp>
      <p:sp>
        <p:nvSpPr>
          <p:cNvPr id="70" name="Shape 68"/>
          <p:cNvSpPr/>
          <p:nvPr/>
        </p:nvSpPr>
        <p:spPr>
          <a:xfrm>
            <a:off x="10753554" y="2319251"/>
            <a:ext cx="935221" cy="344147"/>
          </a:xfrm>
          <a:prstGeom prst="rect">
            <a:avLst/>
          </a:prstGeom>
          <a:solidFill>
            <a:srgbClr val="FBEBD3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753554" y="2319251"/>
            <a:ext cx="935221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$300 Mn</a:t>
            </a:r>
            <a:endParaRPr lang="en-US" sz="870" dirty="0"/>
          </a:p>
        </p:txBody>
      </p:sp>
      <p:sp>
        <p:nvSpPr>
          <p:cNvPr id="72" name="Shape 70"/>
          <p:cNvSpPr/>
          <p:nvPr/>
        </p:nvSpPr>
        <p:spPr>
          <a:xfrm>
            <a:off x="6766560" y="2663398"/>
            <a:ext cx="4922215" cy="344147"/>
          </a:xfrm>
          <a:prstGeom prst="rect">
            <a:avLst/>
          </a:prstGeom>
          <a:solidFill>
            <a:srgbClr val="EEF2F5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58000" y="2663398"/>
            <a:ext cx="1957602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Mfg % of GSDP</a:t>
            </a:r>
            <a:endParaRPr lang="en-US" sz="860" dirty="0"/>
          </a:p>
        </p:txBody>
      </p:sp>
      <p:sp>
        <p:nvSpPr>
          <p:cNvPr id="74" name="Text 72"/>
          <p:cNvSpPr/>
          <p:nvPr/>
        </p:nvSpPr>
        <p:spPr>
          <a:xfrm>
            <a:off x="8833890" y="2663398"/>
            <a:ext cx="984443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~7%</a:t>
            </a:r>
            <a:endParaRPr lang="en-US" sz="840" dirty="0"/>
          </a:p>
        </p:txBody>
      </p:sp>
      <p:sp>
        <p:nvSpPr>
          <p:cNvPr id="75" name="Text 73"/>
          <p:cNvSpPr/>
          <p:nvPr/>
        </p:nvSpPr>
        <p:spPr>
          <a:xfrm>
            <a:off x="9818333" y="2663398"/>
            <a:ext cx="935221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8.5%</a:t>
            </a:r>
            <a:endParaRPr lang="en-US" sz="840" dirty="0"/>
          </a:p>
        </p:txBody>
      </p:sp>
      <p:sp>
        <p:nvSpPr>
          <p:cNvPr id="76" name="Shape 74"/>
          <p:cNvSpPr/>
          <p:nvPr/>
        </p:nvSpPr>
        <p:spPr>
          <a:xfrm>
            <a:off x="10753554" y="2663398"/>
            <a:ext cx="935221" cy="344147"/>
          </a:xfrm>
          <a:prstGeom prst="rect">
            <a:avLst/>
          </a:prstGeom>
          <a:solidFill>
            <a:srgbClr val="FBEBD3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753554" y="2663398"/>
            <a:ext cx="935221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11%</a:t>
            </a:r>
            <a:endParaRPr lang="en-US" sz="870" dirty="0"/>
          </a:p>
        </p:txBody>
      </p:sp>
      <p:sp>
        <p:nvSpPr>
          <p:cNvPr id="78" name="Shape 76"/>
          <p:cNvSpPr/>
          <p:nvPr/>
        </p:nvSpPr>
        <p:spPr>
          <a:xfrm>
            <a:off x="6766560" y="3007545"/>
            <a:ext cx="4922215" cy="344147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858000" y="3007545"/>
            <a:ext cx="1957602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Direct industrial jobs</a:t>
            </a:r>
            <a:endParaRPr lang="en-US" sz="860" dirty="0"/>
          </a:p>
        </p:txBody>
      </p:sp>
      <p:sp>
        <p:nvSpPr>
          <p:cNvPr id="80" name="Text 78"/>
          <p:cNvSpPr/>
          <p:nvPr/>
        </p:nvSpPr>
        <p:spPr>
          <a:xfrm>
            <a:off x="8833890" y="3007545"/>
            <a:ext cx="984443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—</a:t>
            </a:r>
            <a:endParaRPr lang="en-US" sz="840" dirty="0"/>
          </a:p>
        </p:txBody>
      </p:sp>
      <p:sp>
        <p:nvSpPr>
          <p:cNvPr id="81" name="Text 79"/>
          <p:cNvSpPr/>
          <p:nvPr/>
        </p:nvSpPr>
        <p:spPr>
          <a:xfrm>
            <a:off x="9818333" y="3007545"/>
            <a:ext cx="935221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75,000</a:t>
            </a:r>
            <a:endParaRPr lang="en-US" sz="840" dirty="0"/>
          </a:p>
        </p:txBody>
      </p:sp>
      <p:sp>
        <p:nvSpPr>
          <p:cNvPr id="82" name="Shape 80"/>
          <p:cNvSpPr/>
          <p:nvPr/>
        </p:nvSpPr>
        <p:spPr>
          <a:xfrm>
            <a:off x="10753554" y="3007545"/>
            <a:ext cx="935221" cy="344147"/>
          </a:xfrm>
          <a:prstGeom prst="rect">
            <a:avLst/>
          </a:prstGeom>
          <a:solidFill>
            <a:srgbClr val="FBEBD3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753554" y="3007545"/>
            <a:ext cx="935221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2,50,000</a:t>
            </a:r>
            <a:endParaRPr lang="en-US" sz="870" dirty="0"/>
          </a:p>
        </p:txBody>
      </p:sp>
      <p:sp>
        <p:nvSpPr>
          <p:cNvPr id="84" name="Shape 82"/>
          <p:cNvSpPr/>
          <p:nvPr/>
        </p:nvSpPr>
        <p:spPr>
          <a:xfrm>
            <a:off x="6766560" y="3351692"/>
            <a:ext cx="4922215" cy="344147"/>
          </a:xfrm>
          <a:prstGeom prst="rect">
            <a:avLst/>
          </a:prstGeom>
          <a:solidFill>
            <a:srgbClr val="EEF2F5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858000" y="3351692"/>
            <a:ext cx="1957602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Lakhpati Didi enterprises</a:t>
            </a:r>
            <a:endParaRPr lang="en-US" sz="860" dirty="0"/>
          </a:p>
        </p:txBody>
      </p:sp>
      <p:sp>
        <p:nvSpPr>
          <p:cNvPr id="86" name="Text 84"/>
          <p:cNvSpPr/>
          <p:nvPr/>
        </p:nvSpPr>
        <p:spPr>
          <a:xfrm>
            <a:off x="8833890" y="3351692"/>
            <a:ext cx="984443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seeded</a:t>
            </a:r>
            <a:endParaRPr lang="en-US" sz="840" dirty="0"/>
          </a:p>
        </p:txBody>
      </p:sp>
      <p:sp>
        <p:nvSpPr>
          <p:cNvPr id="87" name="Text 85"/>
          <p:cNvSpPr/>
          <p:nvPr/>
        </p:nvSpPr>
        <p:spPr>
          <a:xfrm>
            <a:off x="9818333" y="3351692"/>
            <a:ext cx="935221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40,000</a:t>
            </a:r>
            <a:endParaRPr lang="en-US" sz="840" dirty="0"/>
          </a:p>
        </p:txBody>
      </p:sp>
      <p:sp>
        <p:nvSpPr>
          <p:cNvPr id="88" name="Shape 86"/>
          <p:cNvSpPr/>
          <p:nvPr/>
        </p:nvSpPr>
        <p:spPr>
          <a:xfrm>
            <a:off x="10753554" y="3351692"/>
            <a:ext cx="935221" cy="344147"/>
          </a:xfrm>
          <a:prstGeom prst="rect">
            <a:avLst/>
          </a:prstGeom>
          <a:solidFill>
            <a:srgbClr val="FBEBD3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753554" y="3351692"/>
            <a:ext cx="935221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1,00,000</a:t>
            </a:r>
            <a:endParaRPr lang="en-US" sz="870" dirty="0"/>
          </a:p>
        </p:txBody>
      </p:sp>
      <p:sp>
        <p:nvSpPr>
          <p:cNvPr id="90" name="Shape 88"/>
          <p:cNvSpPr/>
          <p:nvPr/>
        </p:nvSpPr>
        <p:spPr>
          <a:xfrm>
            <a:off x="6766560" y="3695839"/>
            <a:ext cx="4922215" cy="344147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858000" y="3695839"/>
            <a:ext cx="1957602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Returnee-led enterprises</a:t>
            </a:r>
            <a:endParaRPr lang="en-US" sz="860" dirty="0"/>
          </a:p>
        </p:txBody>
      </p:sp>
      <p:sp>
        <p:nvSpPr>
          <p:cNvPr id="92" name="Text 90"/>
          <p:cNvSpPr/>
          <p:nvPr/>
        </p:nvSpPr>
        <p:spPr>
          <a:xfrm>
            <a:off x="8833890" y="3695839"/>
            <a:ext cx="984443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</a:t>
            </a:r>
            <a:endParaRPr lang="en-US" sz="840" dirty="0"/>
          </a:p>
        </p:txBody>
      </p:sp>
      <p:sp>
        <p:nvSpPr>
          <p:cNvPr id="93" name="Text 91"/>
          <p:cNvSpPr/>
          <p:nvPr/>
        </p:nvSpPr>
        <p:spPr>
          <a:xfrm>
            <a:off x="9818333" y="3695839"/>
            <a:ext cx="935221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3,000</a:t>
            </a:r>
            <a:endParaRPr lang="en-US" sz="840" dirty="0"/>
          </a:p>
        </p:txBody>
      </p:sp>
      <p:sp>
        <p:nvSpPr>
          <p:cNvPr id="94" name="Shape 92"/>
          <p:cNvSpPr/>
          <p:nvPr/>
        </p:nvSpPr>
        <p:spPr>
          <a:xfrm>
            <a:off x="10753554" y="3695839"/>
            <a:ext cx="935221" cy="344147"/>
          </a:xfrm>
          <a:prstGeom prst="rect">
            <a:avLst/>
          </a:prstGeom>
          <a:solidFill>
            <a:srgbClr val="FBEBD3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753554" y="3695839"/>
            <a:ext cx="935221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10,000</a:t>
            </a:r>
            <a:endParaRPr lang="en-US" sz="870" dirty="0"/>
          </a:p>
        </p:txBody>
      </p:sp>
      <p:sp>
        <p:nvSpPr>
          <p:cNvPr id="96" name="Shape 94"/>
          <p:cNvSpPr/>
          <p:nvPr/>
        </p:nvSpPr>
        <p:spPr>
          <a:xfrm>
            <a:off x="6766560" y="4039985"/>
            <a:ext cx="4922215" cy="344147"/>
          </a:xfrm>
          <a:prstGeom prst="rect">
            <a:avLst/>
          </a:prstGeom>
          <a:solidFill>
            <a:srgbClr val="EEF2F5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858000" y="4039985"/>
            <a:ext cx="1957602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Women in industrial workforce</a:t>
            </a:r>
            <a:endParaRPr lang="en-US" sz="860" dirty="0"/>
          </a:p>
        </p:txBody>
      </p:sp>
      <p:sp>
        <p:nvSpPr>
          <p:cNvPr id="98" name="Text 96"/>
          <p:cNvSpPr/>
          <p:nvPr/>
        </p:nvSpPr>
        <p:spPr>
          <a:xfrm>
            <a:off x="8833890" y="4039985"/>
            <a:ext cx="984443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very low</a:t>
            </a:r>
            <a:endParaRPr lang="en-US" sz="840" dirty="0"/>
          </a:p>
        </p:txBody>
      </p:sp>
      <p:sp>
        <p:nvSpPr>
          <p:cNvPr id="99" name="Text 97"/>
          <p:cNvSpPr/>
          <p:nvPr/>
        </p:nvSpPr>
        <p:spPr>
          <a:xfrm>
            <a:off x="9818333" y="4039985"/>
            <a:ext cx="935221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+30,000</a:t>
            </a:r>
            <a:endParaRPr lang="en-US" sz="840" dirty="0"/>
          </a:p>
        </p:txBody>
      </p:sp>
      <p:sp>
        <p:nvSpPr>
          <p:cNvPr id="100" name="Shape 98"/>
          <p:cNvSpPr/>
          <p:nvPr/>
        </p:nvSpPr>
        <p:spPr>
          <a:xfrm>
            <a:off x="10753554" y="4039985"/>
            <a:ext cx="935221" cy="344147"/>
          </a:xfrm>
          <a:prstGeom prst="rect">
            <a:avLst/>
          </a:prstGeom>
          <a:solidFill>
            <a:srgbClr val="FBEBD3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753554" y="4039985"/>
            <a:ext cx="935221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+80,000</a:t>
            </a:r>
            <a:endParaRPr lang="en-US" sz="870" dirty="0"/>
          </a:p>
        </p:txBody>
      </p:sp>
      <p:sp>
        <p:nvSpPr>
          <p:cNvPr id="102" name="Shape 100"/>
          <p:cNvSpPr/>
          <p:nvPr/>
        </p:nvSpPr>
        <p:spPr>
          <a:xfrm>
            <a:off x="6766560" y="4384132"/>
            <a:ext cx="4922215" cy="344147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858000" y="4384132"/>
            <a:ext cx="1957602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FPO / OBOP clusters</a:t>
            </a:r>
            <a:endParaRPr lang="en-US" sz="860" dirty="0"/>
          </a:p>
        </p:txBody>
      </p:sp>
      <p:sp>
        <p:nvSpPr>
          <p:cNvPr id="104" name="Text 102"/>
          <p:cNvSpPr/>
          <p:nvPr/>
        </p:nvSpPr>
        <p:spPr>
          <a:xfrm>
            <a:off x="8833890" y="4384132"/>
            <a:ext cx="984443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few</a:t>
            </a:r>
            <a:endParaRPr lang="en-US" sz="840" dirty="0"/>
          </a:p>
        </p:txBody>
      </p:sp>
      <p:sp>
        <p:nvSpPr>
          <p:cNvPr id="105" name="Text 103"/>
          <p:cNvSpPr/>
          <p:nvPr/>
        </p:nvSpPr>
        <p:spPr>
          <a:xfrm>
            <a:off x="9818333" y="4384132"/>
            <a:ext cx="935221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</a:t>
            </a:r>
            <a:endParaRPr lang="en-US" sz="840" dirty="0"/>
          </a:p>
        </p:txBody>
      </p:sp>
      <p:sp>
        <p:nvSpPr>
          <p:cNvPr id="106" name="Shape 104"/>
          <p:cNvSpPr/>
          <p:nvPr/>
        </p:nvSpPr>
        <p:spPr>
          <a:xfrm>
            <a:off x="10753554" y="4384132"/>
            <a:ext cx="935221" cy="344147"/>
          </a:xfrm>
          <a:prstGeom prst="rect">
            <a:avLst/>
          </a:prstGeom>
          <a:solidFill>
            <a:srgbClr val="FBEBD3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0753554" y="4384132"/>
            <a:ext cx="935221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15–20</a:t>
            </a:r>
            <a:endParaRPr lang="en-US" sz="870" dirty="0"/>
          </a:p>
        </p:txBody>
      </p:sp>
      <p:sp>
        <p:nvSpPr>
          <p:cNvPr id="108" name="Shape 106"/>
          <p:cNvSpPr/>
          <p:nvPr/>
        </p:nvSpPr>
        <p:spPr>
          <a:xfrm>
            <a:off x="6766560" y="4728279"/>
            <a:ext cx="4922215" cy="344147"/>
          </a:xfrm>
          <a:prstGeom prst="rect">
            <a:avLst/>
          </a:prstGeom>
          <a:solidFill>
            <a:srgbClr val="EEF2F5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858000" y="4728279"/>
            <a:ext cx="1957602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Credit-deposit ratio</a:t>
            </a:r>
            <a:endParaRPr lang="en-US" sz="860" dirty="0"/>
          </a:p>
        </p:txBody>
      </p:sp>
      <p:sp>
        <p:nvSpPr>
          <p:cNvPr id="110" name="Text 108"/>
          <p:cNvSpPr/>
          <p:nvPr/>
        </p:nvSpPr>
        <p:spPr>
          <a:xfrm>
            <a:off x="8833890" y="4728279"/>
            <a:ext cx="984443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53.5%</a:t>
            </a:r>
            <a:endParaRPr lang="en-US" sz="840" dirty="0"/>
          </a:p>
        </p:txBody>
      </p:sp>
      <p:sp>
        <p:nvSpPr>
          <p:cNvPr id="111" name="Text 109"/>
          <p:cNvSpPr/>
          <p:nvPr/>
        </p:nvSpPr>
        <p:spPr>
          <a:xfrm>
            <a:off x="9818333" y="4728279"/>
            <a:ext cx="935221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58%</a:t>
            </a:r>
            <a:endParaRPr lang="en-US" sz="840" dirty="0"/>
          </a:p>
        </p:txBody>
      </p:sp>
      <p:sp>
        <p:nvSpPr>
          <p:cNvPr id="112" name="Shape 110"/>
          <p:cNvSpPr/>
          <p:nvPr/>
        </p:nvSpPr>
        <p:spPr>
          <a:xfrm>
            <a:off x="10753554" y="4728279"/>
            <a:ext cx="935221" cy="344147"/>
          </a:xfrm>
          <a:prstGeom prst="rect">
            <a:avLst/>
          </a:prstGeom>
          <a:solidFill>
            <a:srgbClr val="FBEBD3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753554" y="4728279"/>
            <a:ext cx="935221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65%</a:t>
            </a:r>
            <a:endParaRPr lang="en-US" sz="870" dirty="0"/>
          </a:p>
        </p:txBody>
      </p:sp>
      <p:sp>
        <p:nvSpPr>
          <p:cNvPr id="114" name="Shape 112"/>
          <p:cNvSpPr/>
          <p:nvPr/>
        </p:nvSpPr>
        <p:spPr>
          <a:xfrm>
            <a:off x="6766560" y="5072426"/>
            <a:ext cx="4922215" cy="344147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858000" y="5072426"/>
            <a:ext cx="1957602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MSME approval time</a:t>
            </a:r>
            <a:endParaRPr lang="en-US" sz="860" dirty="0"/>
          </a:p>
        </p:txBody>
      </p:sp>
      <p:sp>
        <p:nvSpPr>
          <p:cNvPr id="116" name="Text 114"/>
          <p:cNvSpPr/>
          <p:nvPr/>
        </p:nvSpPr>
        <p:spPr>
          <a:xfrm>
            <a:off x="8833890" y="5072426"/>
            <a:ext cx="984443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18–36 mo</a:t>
            </a:r>
            <a:endParaRPr lang="en-US" sz="840" dirty="0"/>
          </a:p>
        </p:txBody>
      </p:sp>
      <p:sp>
        <p:nvSpPr>
          <p:cNvPr id="117" name="Text 115"/>
          <p:cNvSpPr/>
          <p:nvPr/>
        </p:nvSpPr>
        <p:spPr>
          <a:xfrm>
            <a:off x="9818333" y="5072426"/>
            <a:ext cx="935221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60 days</a:t>
            </a:r>
            <a:endParaRPr lang="en-US" sz="840" dirty="0"/>
          </a:p>
        </p:txBody>
      </p:sp>
      <p:sp>
        <p:nvSpPr>
          <p:cNvPr id="118" name="Shape 116"/>
          <p:cNvSpPr/>
          <p:nvPr/>
        </p:nvSpPr>
        <p:spPr>
          <a:xfrm>
            <a:off x="10753554" y="5072426"/>
            <a:ext cx="935221" cy="344147"/>
          </a:xfrm>
          <a:prstGeom prst="rect">
            <a:avLst/>
          </a:prstGeom>
          <a:solidFill>
            <a:srgbClr val="FBEBD3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0753554" y="5072426"/>
            <a:ext cx="935221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45 days</a:t>
            </a:r>
            <a:endParaRPr lang="en-US" sz="870" dirty="0"/>
          </a:p>
        </p:txBody>
      </p:sp>
      <p:sp>
        <p:nvSpPr>
          <p:cNvPr id="120" name="Shape 118"/>
          <p:cNvSpPr/>
          <p:nvPr/>
        </p:nvSpPr>
        <p:spPr>
          <a:xfrm>
            <a:off x="6766560" y="5416573"/>
            <a:ext cx="4922215" cy="344147"/>
          </a:xfrm>
          <a:prstGeom prst="rect">
            <a:avLst/>
          </a:prstGeom>
          <a:solidFill>
            <a:srgbClr val="EEF2F5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858000" y="5416573"/>
            <a:ext cx="1957602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ITI placement</a:t>
            </a:r>
            <a:endParaRPr lang="en-US" sz="860" dirty="0"/>
          </a:p>
        </p:txBody>
      </p:sp>
      <p:sp>
        <p:nvSpPr>
          <p:cNvPr id="122" name="Text 120"/>
          <p:cNvSpPr/>
          <p:nvPr/>
        </p:nvSpPr>
        <p:spPr>
          <a:xfrm>
            <a:off x="8833890" y="5416573"/>
            <a:ext cx="984443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&lt;30%</a:t>
            </a:r>
            <a:endParaRPr lang="en-US" sz="840" dirty="0"/>
          </a:p>
        </p:txBody>
      </p:sp>
      <p:sp>
        <p:nvSpPr>
          <p:cNvPr id="123" name="Text 121"/>
          <p:cNvSpPr/>
          <p:nvPr/>
        </p:nvSpPr>
        <p:spPr>
          <a:xfrm>
            <a:off x="9818333" y="5416573"/>
            <a:ext cx="935221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6F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50%</a:t>
            </a:r>
            <a:endParaRPr lang="en-US" sz="840" dirty="0"/>
          </a:p>
        </p:txBody>
      </p:sp>
      <p:sp>
        <p:nvSpPr>
          <p:cNvPr id="124" name="Shape 122"/>
          <p:cNvSpPr/>
          <p:nvPr/>
        </p:nvSpPr>
        <p:spPr>
          <a:xfrm>
            <a:off x="10753554" y="5416573"/>
            <a:ext cx="935221" cy="344147"/>
          </a:xfrm>
          <a:prstGeom prst="rect">
            <a:avLst/>
          </a:prstGeom>
          <a:solidFill>
            <a:srgbClr val="FBEBD3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0753554" y="5416573"/>
            <a:ext cx="935221" cy="34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C57A1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70%</a:t>
            </a:r>
            <a:endParaRPr lang="en-US" sz="870" dirty="0"/>
          </a:p>
        </p:txBody>
      </p:sp>
      <p:sp>
        <p:nvSpPr>
          <p:cNvPr id="126" name="Text 124"/>
          <p:cNvSpPr/>
          <p:nvPr/>
        </p:nvSpPr>
        <p:spPr>
          <a:xfrm>
            <a:off x="6766560" y="5779008"/>
            <a:ext cx="49222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* baseline private investment is the $215.76 Mn total recorded across Oct-2019–Dec-2024 (≈ 5 years).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502920" y="652881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Source:  </a:t>
            </a:r>
            <a:pPr algn="l" indent="0" marL="0">
              <a:buNone/>
            </a:pPr>
            <a:r>
              <a:rPr lang="en-US" sz="85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UDAAN 2.0 targets vs Bihar Economic Survey 2025-26 baselines; RBI / SLBC Bihar (C-D ratio); Invest India (investment, factories). Targets are programme commitments.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C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RISK · TRADE-OFFS · REFERENCES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spc="50" kern="0" dirty="0">
                <a:solidFill>
                  <a:srgbClr val="0F2A4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RISKS, MITIGATIONS &amp; REFERENCES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311335" y="274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UDAAN </a:t>
            </a:r>
            <a:pPr algn="r" indent="0" marL="0">
              <a:buNone/>
            </a:pPr>
            <a:r>
              <a:rPr lang="en-US" sz="120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2.0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311335" y="548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10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1546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444752"/>
            <a:ext cx="899160" cy="868680"/>
          </a:xfrm>
          <a:prstGeom prst="rect">
            <a:avLst/>
          </a:prstGeom>
          <a:solidFill>
            <a:srgbClr val="FBEF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59280" y="1444752"/>
            <a:ext cx="899160" cy="868680"/>
          </a:xfrm>
          <a:prstGeom prst="rect">
            <a:avLst/>
          </a:prstGeom>
          <a:solidFill>
            <a:srgbClr val="FBE2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58440" y="1444752"/>
            <a:ext cx="899160" cy="868680"/>
          </a:xfrm>
          <a:prstGeom prst="rect">
            <a:avLst/>
          </a:prstGeom>
          <a:solidFill>
            <a:srgbClr val="FBE2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313432"/>
            <a:ext cx="899160" cy="868680"/>
          </a:xfrm>
          <a:prstGeom prst="rect">
            <a:avLst/>
          </a:prstGeom>
          <a:solidFill>
            <a:srgbClr val="EAF3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59280" y="2313432"/>
            <a:ext cx="899160" cy="868680"/>
          </a:xfrm>
          <a:prstGeom prst="rect">
            <a:avLst/>
          </a:prstGeom>
          <a:solidFill>
            <a:srgbClr val="FBEF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58440" y="2313432"/>
            <a:ext cx="899160" cy="868680"/>
          </a:xfrm>
          <a:prstGeom prst="rect">
            <a:avLst/>
          </a:prstGeom>
          <a:solidFill>
            <a:srgbClr val="FBE2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3182112"/>
            <a:ext cx="899160" cy="868680"/>
          </a:xfrm>
          <a:prstGeom prst="rect">
            <a:avLst/>
          </a:prstGeom>
          <a:solidFill>
            <a:srgbClr val="EAF3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59280" y="3182112"/>
            <a:ext cx="899160" cy="868680"/>
          </a:xfrm>
          <a:prstGeom prst="rect">
            <a:avLst/>
          </a:prstGeom>
          <a:solidFill>
            <a:srgbClr val="EAF3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58440" y="3182112"/>
            <a:ext cx="899160" cy="868680"/>
          </a:xfrm>
          <a:prstGeom prst="rect">
            <a:avLst/>
          </a:prstGeom>
          <a:solidFill>
            <a:srgbClr val="FBEF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 rot="16200000">
            <a:off x="539496" y="1463040"/>
            <a:ext cx="31089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PROBABILITY →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60120" y="423367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IMPACT →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60120" y="4069080"/>
            <a:ext cx="89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58952" y="1444752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859280" y="4069080"/>
            <a:ext cx="89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58952" y="2313432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758440" y="4069080"/>
            <a:ext cx="89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58952" y="3182112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951988" y="1751076"/>
            <a:ext cx="256032" cy="256032"/>
          </a:xfrm>
          <a:prstGeom prst="ellipse">
            <a:avLst/>
          </a:prstGeom>
          <a:solidFill>
            <a:srgbClr val="0F2A4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951988" y="17510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8020" y="1751076"/>
            <a:ext cx="256032" cy="256032"/>
          </a:xfrm>
          <a:prstGeom prst="ellipse">
            <a:avLst/>
          </a:prstGeom>
          <a:solidFill>
            <a:srgbClr val="0F2A4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08020" y="17510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823972" y="2619756"/>
            <a:ext cx="256032" cy="256032"/>
          </a:xfrm>
          <a:prstGeom prst="ellipse">
            <a:avLst/>
          </a:prstGeom>
          <a:solidFill>
            <a:srgbClr val="0F2A4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823972" y="26197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080004" y="2619756"/>
            <a:ext cx="256032" cy="256032"/>
          </a:xfrm>
          <a:prstGeom prst="ellipse">
            <a:avLst/>
          </a:prstGeom>
          <a:solidFill>
            <a:srgbClr val="0F2A4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080004" y="26197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36036" y="2619756"/>
            <a:ext cx="256032" cy="256032"/>
          </a:xfrm>
          <a:prstGeom prst="ellipse">
            <a:avLst/>
          </a:prstGeom>
          <a:solidFill>
            <a:srgbClr val="0F2A4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336036" y="26197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180844" y="2619756"/>
            <a:ext cx="256032" cy="256032"/>
          </a:xfrm>
          <a:prstGeom prst="ellipse">
            <a:avLst/>
          </a:prstGeom>
          <a:solidFill>
            <a:srgbClr val="0F2A4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180844" y="26197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6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94360" y="140817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Red = act first (high severity)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931920" y="1371600"/>
            <a:ext cx="7756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RISK REGISTER — PROBABILITY / IMPACT + MITIGATION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931920" y="1664208"/>
            <a:ext cx="7756855" cy="420624"/>
          </a:xfrm>
          <a:prstGeom prst="rect">
            <a:avLst/>
          </a:prstGeom>
          <a:solidFill>
            <a:srgbClr val="EEF2F5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05072" y="1755648"/>
            <a:ext cx="237744" cy="237744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40" name="Text 38"/>
          <p:cNvSpPr/>
          <p:nvPr/>
        </p:nvSpPr>
        <p:spPr>
          <a:xfrm>
            <a:off x="4005072" y="1755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315968" y="16916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Flood disruption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6126480" y="1700784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D9534F"/>
          </a:solidFill>
          <a:ln/>
        </p:spPr>
      </p:sp>
      <p:sp>
        <p:nvSpPr>
          <p:cNvPr id="43" name="Text 41"/>
          <p:cNvSpPr/>
          <p:nvPr/>
        </p:nvSpPr>
        <p:spPr>
          <a:xfrm>
            <a:off x="6126480" y="17007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 / H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4315968" y="1901952"/>
            <a:ext cx="7299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2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Elevated non-flood sites · flood insurance · raised plinths · Kosi-Mechi alignment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3931920" y="2139696"/>
            <a:ext cx="7756855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05072" y="2231136"/>
            <a:ext cx="237744" cy="237744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47" name="Text 45"/>
          <p:cNvSpPr/>
          <p:nvPr/>
        </p:nvSpPr>
        <p:spPr>
          <a:xfrm>
            <a:off x="4005072" y="2231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315968" y="216712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Elite / caste capture</a:t>
            </a:r>
            <a:endParaRPr lang="en-US" sz="930" dirty="0"/>
          </a:p>
        </p:txBody>
      </p:sp>
      <p:sp>
        <p:nvSpPr>
          <p:cNvPr id="49" name="Shape 47"/>
          <p:cNvSpPr/>
          <p:nvPr/>
        </p:nvSpPr>
        <p:spPr>
          <a:xfrm>
            <a:off x="6126480" y="2176272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C57A12"/>
          </a:solidFill>
          <a:ln/>
        </p:spPr>
      </p:sp>
      <p:sp>
        <p:nvSpPr>
          <p:cNvPr id="50" name="Text 48"/>
          <p:cNvSpPr/>
          <p:nvPr/>
        </p:nvSpPr>
        <p:spPr>
          <a:xfrm>
            <a:off x="6126480" y="21762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 / H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4315968" y="2377440"/>
            <a:ext cx="7299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2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EBC / Mahadalit / landless quotas · social audits · public beneficiary lists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3931920" y="2615184"/>
            <a:ext cx="7756855" cy="420624"/>
          </a:xfrm>
          <a:prstGeom prst="rect">
            <a:avLst/>
          </a:prstGeom>
          <a:solidFill>
            <a:srgbClr val="EEF2F5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005072" y="2706624"/>
            <a:ext cx="237744" cy="237744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54" name="Text 52"/>
          <p:cNvSpPr/>
          <p:nvPr/>
        </p:nvSpPr>
        <p:spPr>
          <a:xfrm>
            <a:off x="4005072" y="2706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315968" y="264261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Women's mobility / safety</a:t>
            </a:r>
            <a:endParaRPr lang="en-US" sz="930" dirty="0"/>
          </a:p>
        </p:txBody>
      </p:sp>
      <p:sp>
        <p:nvSpPr>
          <p:cNvPr id="56" name="Shape 54"/>
          <p:cNvSpPr/>
          <p:nvPr/>
        </p:nvSpPr>
        <p:spPr>
          <a:xfrm>
            <a:off x="6126480" y="2651760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C57A12"/>
          </a:solidFill>
          <a:ln/>
        </p:spPr>
      </p:sp>
      <p:sp>
        <p:nvSpPr>
          <p:cNvPr id="57" name="Text 55"/>
          <p:cNvSpPr/>
          <p:nvPr/>
        </p:nvSpPr>
        <p:spPr>
          <a:xfrm>
            <a:off x="6126480" y="26517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 / H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4315968" y="2852928"/>
            <a:ext cx="7299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2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Units near villages · creches · women-only production lines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3931920" y="3090672"/>
            <a:ext cx="7756855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05072" y="3182112"/>
            <a:ext cx="237744" cy="237744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61" name="Text 59"/>
          <p:cNvSpPr/>
          <p:nvPr/>
        </p:nvSpPr>
        <p:spPr>
          <a:xfrm>
            <a:off x="4005072" y="3182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315968" y="311810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Returnee re-migration</a:t>
            </a:r>
            <a:endParaRPr lang="en-US" sz="930" dirty="0"/>
          </a:p>
        </p:txBody>
      </p:sp>
      <p:sp>
        <p:nvSpPr>
          <p:cNvPr id="63" name="Shape 61"/>
          <p:cNvSpPr/>
          <p:nvPr/>
        </p:nvSpPr>
        <p:spPr>
          <a:xfrm>
            <a:off x="6126480" y="3127248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C57A12"/>
          </a:solidFill>
          <a:ln/>
        </p:spPr>
      </p:sp>
      <p:sp>
        <p:nvSpPr>
          <p:cNvPr id="64" name="Text 62"/>
          <p:cNvSpPr/>
          <p:nvPr/>
        </p:nvSpPr>
        <p:spPr>
          <a:xfrm>
            <a:off x="6126480" y="3127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 / H</a:t>
            </a:r>
            <a:endParaRPr lang="en-US" sz="780" dirty="0"/>
          </a:p>
        </p:txBody>
      </p:sp>
      <p:sp>
        <p:nvSpPr>
          <p:cNvPr id="65" name="Text 63"/>
          <p:cNvSpPr/>
          <p:nvPr/>
        </p:nvSpPr>
        <p:spPr>
          <a:xfrm>
            <a:off x="4315968" y="3328416"/>
            <a:ext cx="7299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2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Wage parity + housing / childcare + owner tracks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3931920" y="3566160"/>
            <a:ext cx="7756855" cy="420624"/>
          </a:xfrm>
          <a:prstGeom prst="rect">
            <a:avLst/>
          </a:prstGeom>
          <a:solidFill>
            <a:srgbClr val="EEF2F5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005072" y="3657600"/>
            <a:ext cx="237744" cy="237744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68" name="Text 66"/>
          <p:cNvSpPr/>
          <p:nvPr/>
        </p:nvSpPr>
        <p:spPr>
          <a:xfrm>
            <a:off x="4005072" y="3657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315968" y="35935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Land delay / litigation</a:t>
            </a:r>
            <a:endParaRPr lang="en-US" sz="930" dirty="0"/>
          </a:p>
        </p:txBody>
      </p:sp>
      <p:sp>
        <p:nvSpPr>
          <p:cNvPr id="70" name="Shape 68"/>
          <p:cNvSpPr/>
          <p:nvPr/>
        </p:nvSpPr>
        <p:spPr>
          <a:xfrm>
            <a:off x="6126480" y="3602736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D9534F"/>
          </a:solidFill>
          <a:ln/>
        </p:spPr>
      </p:sp>
      <p:sp>
        <p:nvSpPr>
          <p:cNvPr id="71" name="Text 69"/>
          <p:cNvSpPr/>
          <p:nvPr/>
        </p:nvSpPr>
        <p:spPr>
          <a:xfrm>
            <a:off x="6126480" y="36027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 / H</a:t>
            </a:r>
            <a:endParaRPr lang="en-US" sz="780" dirty="0"/>
          </a:p>
        </p:txBody>
      </p:sp>
      <p:sp>
        <p:nvSpPr>
          <p:cNvPr id="72" name="Text 70"/>
          <p:cNvSpPr/>
          <p:nvPr/>
        </p:nvSpPr>
        <p:spPr>
          <a:xfrm>
            <a:off x="4315968" y="3803904"/>
            <a:ext cx="7299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2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Govt land first · willing-seller · legal fast-track</a:t>
            </a:r>
            <a:endParaRPr lang="en-US" sz="820" dirty="0"/>
          </a:p>
        </p:txBody>
      </p:sp>
      <p:sp>
        <p:nvSpPr>
          <p:cNvPr id="73" name="Shape 71"/>
          <p:cNvSpPr/>
          <p:nvPr/>
        </p:nvSpPr>
        <p:spPr>
          <a:xfrm>
            <a:off x="3931920" y="4041648"/>
            <a:ext cx="7756855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005072" y="4133088"/>
            <a:ext cx="237744" cy="237744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75" name="Text 73"/>
          <p:cNvSpPr/>
          <p:nvPr/>
        </p:nvSpPr>
        <p:spPr>
          <a:xfrm>
            <a:off x="4005072" y="4133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6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315968" y="406908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F2A4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Banking inertia on C-D</a:t>
            </a:r>
            <a:endParaRPr lang="en-US" sz="930" dirty="0"/>
          </a:p>
        </p:txBody>
      </p:sp>
      <p:sp>
        <p:nvSpPr>
          <p:cNvPr id="77" name="Shape 75"/>
          <p:cNvSpPr/>
          <p:nvPr/>
        </p:nvSpPr>
        <p:spPr>
          <a:xfrm>
            <a:off x="6126480" y="4078224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0B6F69"/>
          </a:solidFill>
          <a:ln/>
        </p:spPr>
      </p:sp>
      <p:sp>
        <p:nvSpPr>
          <p:cNvPr id="78" name="Text 76"/>
          <p:cNvSpPr/>
          <p:nvPr/>
        </p:nvSpPr>
        <p:spPr>
          <a:xfrm>
            <a:off x="6126480" y="407822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 / M</a:t>
            </a:r>
            <a:endParaRPr lang="en-US" sz="780" dirty="0"/>
          </a:p>
        </p:txBody>
      </p:sp>
      <p:sp>
        <p:nvSpPr>
          <p:cNvPr id="79" name="Text 77"/>
          <p:cNvSpPr/>
          <p:nvPr/>
        </p:nvSpPr>
        <p:spPr>
          <a:xfrm>
            <a:off x="4315968" y="4279392"/>
            <a:ext cx="7299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20" dirty="0">
                <a:solidFill>
                  <a:srgbClr val="1B2B3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State-deposit pressure · RBI engagement · guarantee de-risking</a:t>
            </a:r>
            <a:endParaRPr lang="en-US" sz="820" dirty="0"/>
          </a:p>
        </p:txBody>
      </p:sp>
      <p:sp>
        <p:nvSpPr>
          <p:cNvPr id="80" name="Shape 78"/>
          <p:cNvSpPr/>
          <p:nvPr/>
        </p:nvSpPr>
        <p:spPr>
          <a:xfrm>
            <a:off x="502920" y="4645152"/>
            <a:ext cx="11185855" cy="1481328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63500" dist="25400" dir="5400000">
              <a:srgbClr val="0F2A43">
                <a:alpha val="12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502920" y="4645152"/>
            <a:ext cx="82296" cy="1481328"/>
          </a:xfrm>
          <a:prstGeom prst="rect">
            <a:avLst/>
          </a:prstGeom>
          <a:solidFill>
            <a:srgbClr val="E0901F"/>
          </a:solidFill>
          <a:ln/>
        </p:spPr>
      </p:sp>
      <p:sp>
        <p:nvSpPr>
          <p:cNvPr id="82" name="Text 80"/>
          <p:cNvSpPr/>
          <p:nvPr/>
        </p:nvSpPr>
        <p:spPr>
          <a:xfrm>
            <a:off x="740664" y="47183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740664" y="4956048"/>
            <a:ext cx="522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C7D6E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1.  Bihar Economic Survey 2025-26 (GSDP, per-capita, factories, ITIs, mfg share).</a:t>
            </a:r>
            <a:endParaRPr lang="en-US" sz="800" dirty="0"/>
          </a:p>
          <a:p>
            <a:pPr indent="0" marL="0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C7D6E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2.  ECI Bihar 2025 (mandate / seat share).</a:t>
            </a:r>
            <a:endParaRPr lang="en-US" sz="800" dirty="0"/>
          </a:p>
          <a:p>
            <a:pPr indent="0" marL="0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C7D6E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3.  PIB — MMRY, JEEViKA Nidhi, National Makhana Board (Rs 476.03-cr scheme).</a:t>
            </a:r>
            <a:endParaRPr lang="en-US" sz="800" dirty="0"/>
          </a:p>
          <a:p>
            <a:pPr indent="0" marL="0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C7D6E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4.  BIPPP-2025 cabinet approval; Union Budget 2025-26 (Makhana Board, NIFTEM, airports).</a:t>
            </a:r>
            <a:endParaRPr lang="en-US" sz="800" dirty="0"/>
          </a:p>
          <a:p>
            <a:pPr indent="0" marL="0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C7D6E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5.  IBEF / Invest India — AKIC-Gaya, EDFC, FDI inflow.</a:t>
            </a:r>
            <a:endParaRPr lang="en-US" sz="800" dirty="0"/>
          </a:p>
          <a:p>
            <a:pPr indent="0" marL="0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C7D6E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6.  Census 2011 / Journal of Migration Affairs (out-migration, remittances).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6141568" y="4956048"/>
            <a:ext cx="5318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C7D6E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7.  RBI / SLBC Bihar — credit-deposit ratio; SIDBI / CGTMSE — guarantee model.</a:t>
            </a:r>
            <a:endParaRPr lang="en-US" sz="800" dirty="0"/>
          </a:p>
          <a:p>
            <a:pPr indent="0" marL="0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C7D6E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8.  Telangana TS-iPASS (statutory single window).</a:t>
            </a:r>
            <a:endParaRPr lang="en-US" sz="800" dirty="0"/>
          </a:p>
          <a:p>
            <a:pPr indent="0" marL="0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C7D6E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9.  UP ODOP; Tirupur &amp; Bangladesh RMG; Sialkot CFCs.</a:t>
            </a:r>
            <a:endParaRPr lang="en-US" sz="800" dirty="0"/>
          </a:p>
          <a:p>
            <a:pPr indent="0" marL="0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C7D6E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10. Kerala NORKA (migrant &amp; returnee mission).</a:t>
            </a:r>
            <a:endParaRPr lang="en-US" sz="800" dirty="0"/>
          </a:p>
          <a:p>
            <a:pPr indent="0" marL="0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C7D6E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11. Amul / GCMMF; SEWA / Lijjat (producer-group models).</a:t>
            </a:r>
            <a:endParaRPr lang="en-US" sz="800" dirty="0"/>
          </a:p>
          <a:p>
            <a:pPr indent="0" marL="0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C7D6E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12. German dual-VET; Vietnam China+1 pre-training.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740664" y="5870448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90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AI-usage disclosure:  </a:t>
            </a:r>
            <a:pPr indent="0" marL="0">
              <a:buNone/>
            </a:pPr>
            <a:r>
              <a:rPr lang="en-US" sz="800" i="1" dirty="0">
                <a:solidFill>
                  <a:srgbClr val="9DB7C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Drafting and layout were AI-assisted. Every figure was human-verified against the cited public sources above; no data was generated by the model.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502920" y="652881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Source:  </a:t>
            </a:r>
            <a:pPr algn="l" indent="0" marL="0">
              <a:buNone/>
            </a:pPr>
            <a:r>
              <a:rPr lang="en-US" sz="850" dirty="0">
                <a:solidFill>
                  <a:srgbClr val="6B7C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Risk assessment is the authors' analysis; mitigations align to Bihar's existing delivery institutions and the cited model transfers.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Breaking Bihar's Industrial Stagnation — UDAAN 2.0</dc:title>
  <dc:subject>PptxGenJS Presentation</dc:subject>
  <dc:creator>GILP Fellowship 2026 submission</dc:creator>
  <cp:lastModifiedBy>GILP Fellowship 2026 submission</cp:lastModifiedBy>
  <cp:revision>1</cp:revision>
  <dcterms:created xsi:type="dcterms:W3CDTF">2026-06-10T02:50:17Z</dcterms:created>
  <dcterms:modified xsi:type="dcterms:W3CDTF">2026-06-10T02:50:17Z</dcterms:modified>
</cp:coreProperties>
</file>